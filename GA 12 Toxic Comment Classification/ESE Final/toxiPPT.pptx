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media/image3.jpg" ContentType="image/jpg"/>
  <Override PartName="/ppt/notesSlides/notesSlide2.xml" ContentType="application/vnd.openxmlformats-officedocument.presentationml.notesSlide+xml"/>
  <Override PartName="/ppt/media/image5.jpg" ContentType="image/jpg"/>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7" r:id="rId2"/>
    <p:sldId id="258" r:id="rId3"/>
    <p:sldId id="270" r:id="rId4"/>
    <p:sldId id="267" r:id="rId5"/>
    <p:sldId id="260" r:id="rId6"/>
    <p:sldId id="261" r:id="rId7"/>
    <p:sldId id="268" r:id="rId8"/>
    <p:sldId id="263" r:id="rId9"/>
    <p:sldId id="264" r:id="rId10"/>
    <p:sldId id="271" r:id="rId11"/>
  </p:sldIdLst>
  <p:sldSz cx="14630400" cy="8229600"/>
  <p:notesSz cx="8229600" cy="14630400"/>
  <p:embeddedFontLst>
    <p:embeddedFont>
      <p:font typeface="Harlow Solid Italic" panose="04030604020F02020D02" pitchFamily="82" charset="0"/>
      <p:italic r:id="rId13"/>
    </p:embeddedFont>
    <p:embeddedFont>
      <p:font typeface="Lucida Sans Unicode" panose="020B0602030504020204" pitchFamily="34" charset="0"/>
      <p:regular r:id="rId14"/>
    </p:embeddedFont>
    <p:embeddedFont>
      <p:font typeface="Overpass Light" panose="020B0604020202020204"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D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41" autoAdjust="0"/>
  </p:normalViewPr>
  <p:slideViewPr>
    <p:cSldViewPr snapToGrid="0" snapToObjects="1">
      <p:cViewPr varScale="1">
        <p:scale>
          <a:sx n="65" d="100"/>
          <a:sy n="65" d="100"/>
        </p:scale>
        <p:origin x="830" y="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916947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7680" b="0" i="0">
                <a:solidFill>
                  <a:srgbClr val="0E1212"/>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5/27/2025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9307036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6.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9.xml"/><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3760351"/>
            <a:ext cx="5670590" cy="708779"/>
          </a:xfrm>
          <a:prstGeom prst="rect">
            <a:avLst/>
          </a:prstGeom>
          <a:noFill/>
          <a:ln/>
        </p:spPr>
        <p:txBody>
          <a:bodyPr wrap="none" lIns="0" tIns="0" rIns="0" bIns="0" rtlCol="0" anchor="t"/>
          <a:lstStyle/>
          <a:p>
            <a:pPr marL="0" indent="0" algn="l">
              <a:lnSpc>
                <a:spcPts val="5550"/>
              </a:lnSpc>
              <a:buNone/>
            </a:pPr>
            <a:endParaRPr lang="en-US" sz="4450" dirty="0"/>
          </a:p>
        </p:txBody>
      </p:sp>
      <p:sp>
        <p:nvSpPr>
          <p:cNvPr id="3" name="Subtitle 2">
            <a:extLst>
              <a:ext uri="{FF2B5EF4-FFF2-40B4-BE49-F238E27FC236}">
                <a16:creationId xmlns:a16="http://schemas.microsoft.com/office/drawing/2014/main" id="{4E11830A-5144-2E64-9273-DAC9A38995B4}"/>
              </a:ext>
            </a:extLst>
          </p:cNvPr>
          <p:cNvSpPr txBox="1">
            <a:spLocks/>
          </p:cNvSpPr>
          <p:nvPr/>
        </p:nvSpPr>
        <p:spPr>
          <a:xfrm>
            <a:off x="9156700" y="5634038"/>
            <a:ext cx="3035300" cy="12239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n-IN" b="1" u="sng" dirty="0">
                <a:latin typeface="Times New Roman" panose="02020603050405020304" pitchFamily="18" charset="0"/>
                <a:cs typeface="Times New Roman" panose="02020603050405020304" pitchFamily="18" charset="0"/>
              </a:rPr>
              <a:t>Project Supervisor:</a:t>
            </a:r>
          </a:p>
          <a:p>
            <a:pPr lvl="1" algn="just"/>
            <a:r>
              <a:rPr lang="en-IN" dirty="0">
                <a:solidFill>
                  <a:srgbClr val="FF0000"/>
                </a:solidFill>
                <a:latin typeface="Times New Roman" panose="02020603050405020304" pitchFamily="18" charset="0"/>
                <a:cs typeface="Times New Roman" panose="02020603050405020304" pitchFamily="18" charset="0"/>
              </a:rPr>
              <a:t>Mr. </a:t>
            </a:r>
            <a:r>
              <a:rPr lang="en-IN" dirty="0" err="1">
                <a:solidFill>
                  <a:srgbClr val="FF0000"/>
                </a:solidFill>
                <a:latin typeface="Times New Roman" panose="02020603050405020304" pitchFamily="18" charset="0"/>
                <a:cs typeface="Times New Roman" panose="02020603050405020304" pitchFamily="18" charset="0"/>
              </a:rPr>
              <a:t>Apoorv</a:t>
            </a:r>
            <a:r>
              <a:rPr lang="en-IN" dirty="0">
                <a:solidFill>
                  <a:srgbClr val="FF0000"/>
                </a:solidFill>
                <a:latin typeface="Times New Roman" panose="02020603050405020304" pitchFamily="18" charset="0"/>
                <a:cs typeface="Times New Roman" panose="02020603050405020304" pitchFamily="18" charset="0"/>
              </a:rPr>
              <a:t> Jain</a:t>
            </a:r>
          </a:p>
          <a:p>
            <a:pPr lvl="1" algn="just"/>
            <a:r>
              <a:rPr lang="en-IN" dirty="0">
                <a:solidFill>
                  <a:srgbClr val="FF0000"/>
                </a:solidFill>
                <a:latin typeface="Times New Roman" panose="02020603050405020304" pitchFamily="18" charset="0"/>
                <a:cs typeface="Times New Roman" panose="02020603050405020304" pitchFamily="18" charset="0"/>
              </a:rPr>
              <a:t>Assistant Professor</a:t>
            </a:r>
          </a:p>
          <a:p>
            <a:pPr algn="just"/>
            <a:endParaRPr lang="en-IN" b="1" u="sng"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AC529786-0081-7ECF-46DE-E6433F39B64F}"/>
              </a:ext>
            </a:extLst>
          </p:cNvPr>
          <p:cNvPicPr>
            <a:picLocks noChangeAspect="1"/>
          </p:cNvPicPr>
          <p:nvPr/>
        </p:nvPicPr>
        <p:blipFill>
          <a:blip r:embed="rId3"/>
          <a:stretch>
            <a:fillRect/>
          </a:stretch>
        </p:blipFill>
        <p:spPr>
          <a:xfrm>
            <a:off x="0" y="2510"/>
            <a:ext cx="12192000" cy="1384490"/>
          </a:xfrm>
          <a:prstGeom prst="rect">
            <a:avLst/>
          </a:prstGeom>
        </p:spPr>
      </p:pic>
      <p:sp>
        <p:nvSpPr>
          <p:cNvPr id="5" name="Title 1">
            <a:extLst>
              <a:ext uri="{FF2B5EF4-FFF2-40B4-BE49-F238E27FC236}">
                <a16:creationId xmlns:a16="http://schemas.microsoft.com/office/drawing/2014/main" id="{0DFC167E-BFBA-E1C0-A594-2C69F3882304}"/>
              </a:ext>
            </a:extLst>
          </p:cNvPr>
          <p:cNvSpPr>
            <a:spLocks noGrp="1"/>
          </p:cNvSpPr>
          <p:nvPr/>
        </p:nvSpPr>
        <p:spPr>
          <a:xfrm>
            <a:off x="1530350" y="1836817"/>
            <a:ext cx="9144000" cy="1790891"/>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400" b="1" dirty="0">
                <a:latin typeface="Times New Roman" panose="02020603050405020304" pitchFamily="18" charset="0"/>
                <a:cs typeface="Times New Roman" panose="02020603050405020304" pitchFamily="18" charset="0"/>
              </a:rPr>
              <a:t>Artificial Intelligence (AI101B)</a:t>
            </a:r>
            <a:br>
              <a:rPr lang="en-IN" sz="2400" b="1" dirty="0">
                <a:latin typeface="Times New Roman" panose="02020603050405020304" pitchFamily="18" charset="0"/>
                <a:cs typeface="Times New Roman" panose="02020603050405020304" pitchFamily="18" charset="0"/>
              </a:rPr>
            </a:br>
            <a:r>
              <a:rPr lang="en-IN" sz="3600" b="1" dirty="0">
                <a:latin typeface="Times New Roman" panose="02020603050405020304" pitchFamily="18" charset="0"/>
                <a:cs typeface="Times New Roman" panose="02020603050405020304" pitchFamily="18" charset="0"/>
              </a:rPr>
              <a:t>Even Semester</a:t>
            </a:r>
            <a:br>
              <a:rPr lang="en-IN" sz="3600" b="1" dirty="0">
                <a:latin typeface="Times New Roman" panose="02020603050405020304" pitchFamily="18" charset="0"/>
                <a:cs typeface="Times New Roman" panose="02020603050405020304" pitchFamily="18" charset="0"/>
              </a:rPr>
            </a:br>
            <a:r>
              <a:rPr lang="en-IN" sz="3600" b="1" dirty="0">
                <a:latin typeface="Times New Roman" panose="02020603050405020304" pitchFamily="18" charset="0"/>
                <a:cs typeface="Times New Roman" panose="02020603050405020304" pitchFamily="18" charset="0"/>
              </a:rPr>
              <a:t>Session 2024-25</a:t>
            </a:r>
            <a:endParaRPr lang="en-US" sz="3600" b="1" dirty="0">
              <a:latin typeface="Times New Roman" panose="02020603050405020304" pitchFamily="18" charset="0"/>
              <a:cs typeface="Times New Roman" panose="02020603050405020304" pitchFamily="18" charset="0"/>
            </a:endParaRPr>
          </a:p>
        </p:txBody>
      </p:sp>
      <p:sp>
        <p:nvSpPr>
          <p:cNvPr id="6" name="Subtitle 2">
            <a:extLst>
              <a:ext uri="{FF2B5EF4-FFF2-40B4-BE49-F238E27FC236}">
                <a16:creationId xmlns:a16="http://schemas.microsoft.com/office/drawing/2014/main" id="{A9C4CFA2-88A1-3710-778E-EDEF4599B185}"/>
              </a:ext>
            </a:extLst>
          </p:cNvPr>
          <p:cNvSpPr>
            <a:spLocks noGrp="1"/>
          </p:cNvSpPr>
          <p:nvPr/>
        </p:nvSpPr>
        <p:spPr>
          <a:xfrm>
            <a:off x="3240504" y="4006148"/>
            <a:ext cx="6352674" cy="174688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sz="2800" b="1" dirty="0">
              <a:latin typeface="Times New Roman" panose="02020603050405020304" pitchFamily="18" charset="0"/>
              <a:cs typeface="Times New Roman" panose="02020603050405020304" pitchFamily="18" charset="0"/>
            </a:endParaRPr>
          </a:p>
          <a:p>
            <a:endParaRPr lang="en-US" sz="100" b="1"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Arun Kumar  (202410116100040)</a:t>
            </a:r>
          </a:p>
          <a:p>
            <a:r>
              <a:rPr lang="en-US" sz="2000" b="1" dirty="0">
                <a:latin typeface="Times New Roman" panose="02020603050405020304" pitchFamily="18" charset="0"/>
                <a:cs typeface="Times New Roman" panose="02020603050405020304" pitchFamily="18" charset="0"/>
              </a:rPr>
              <a:t>Ayushi Saran Singh  (202410116100047)</a:t>
            </a:r>
          </a:p>
        </p:txBody>
      </p:sp>
      <p:pic>
        <p:nvPicPr>
          <p:cNvPr id="7" name="object 3">
            <a:extLst>
              <a:ext uri="{FF2B5EF4-FFF2-40B4-BE49-F238E27FC236}">
                <a16:creationId xmlns:a16="http://schemas.microsoft.com/office/drawing/2014/main" id="{23BFFE0D-19FD-5921-A7A5-9522E1ADBD6D}"/>
              </a:ext>
            </a:extLst>
          </p:cNvPr>
          <p:cNvPicPr/>
          <p:nvPr/>
        </p:nvPicPr>
        <p:blipFill>
          <a:blip r:embed="rId4" cstate="print"/>
          <a:stretch>
            <a:fillRect/>
          </a:stretch>
        </p:blipFill>
        <p:spPr>
          <a:xfrm>
            <a:off x="2671983" y="4077525"/>
            <a:ext cx="7489715" cy="333701"/>
          </a:xfrm>
          <a:prstGeom prst="rect">
            <a:avLst/>
          </a:prstGeom>
          <a:noFill/>
        </p:spPr>
      </p:pic>
      <p:sp>
        <p:nvSpPr>
          <p:cNvPr id="8" name="Rectangle 7">
            <a:extLst>
              <a:ext uri="{FF2B5EF4-FFF2-40B4-BE49-F238E27FC236}">
                <a16:creationId xmlns:a16="http://schemas.microsoft.com/office/drawing/2014/main" id="{87873594-E983-B443-98E5-2693160F6FAC}"/>
              </a:ext>
            </a:extLst>
          </p:cNvPr>
          <p:cNvSpPr/>
          <p:nvPr/>
        </p:nvSpPr>
        <p:spPr>
          <a:xfrm>
            <a:off x="12645482" y="7672039"/>
            <a:ext cx="1984917" cy="680224"/>
          </a:xfrm>
          <a:prstGeom prst="rect">
            <a:avLst/>
          </a:prstGeom>
          <a:solidFill>
            <a:srgbClr val="FFFD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67082" y="367070"/>
            <a:ext cx="13696236" cy="834152"/>
          </a:xfrm>
          <a:prstGeom prst="rect">
            <a:avLst/>
          </a:prstGeom>
          <a:noFill/>
          <a:ln/>
        </p:spPr>
        <p:txBody>
          <a:bodyPr wrap="square" lIns="0" tIns="0" rIns="0" bIns="0" rtlCol="0" anchor="t"/>
          <a:lstStyle/>
          <a:p>
            <a:pPr marL="0" indent="0" algn="l">
              <a:lnSpc>
                <a:spcPts val="3250"/>
              </a:lnSpc>
              <a:buNone/>
            </a:pPr>
            <a:r>
              <a:rPr lang="en-US" sz="2600" b="1" dirty="0">
                <a:solidFill>
                  <a:srgbClr val="233939"/>
                </a:solidFill>
                <a:latin typeface="Syne Bold" pitchFamily="34" charset="0"/>
                <a:ea typeface="Syne Bold" pitchFamily="34" charset="-122"/>
                <a:cs typeface="Syne Bold" pitchFamily="34" charset="-120"/>
              </a:rPr>
              <a:t>Introduction to Bidirectional Encoder Representations from Transformers (BERT)</a:t>
            </a:r>
            <a:endParaRPr lang="en-US" sz="2600" dirty="0"/>
          </a:p>
        </p:txBody>
      </p:sp>
      <p:pic>
        <p:nvPicPr>
          <p:cNvPr id="6" name="Image 0" descr="preencoded.png"/>
          <p:cNvPicPr>
            <a:picLocks noChangeAspect="1"/>
          </p:cNvPicPr>
          <p:nvPr/>
        </p:nvPicPr>
        <p:blipFill>
          <a:blip r:embed="rId3"/>
          <a:stretch>
            <a:fillRect/>
          </a:stretch>
        </p:blipFill>
        <p:spPr>
          <a:xfrm>
            <a:off x="0" y="1279243"/>
            <a:ext cx="5427785" cy="6018315"/>
          </a:xfrm>
          <a:prstGeom prst="rect">
            <a:avLst/>
          </a:prstGeom>
        </p:spPr>
      </p:pic>
      <p:sp>
        <p:nvSpPr>
          <p:cNvPr id="11" name="Rectangle 10">
            <a:extLst>
              <a:ext uri="{FF2B5EF4-FFF2-40B4-BE49-F238E27FC236}">
                <a16:creationId xmlns:a16="http://schemas.microsoft.com/office/drawing/2014/main" id="{21DC7107-8255-3C46-EE33-F1D228F1BE80}"/>
              </a:ext>
            </a:extLst>
          </p:cNvPr>
          <p:cNvSpPr/>
          <p:nvPr/>
        </p:nvSpPr>
        <p:spPr>
          <a:xfrm>
            <a:off x="12645483" y="7683762"/>
            <a:ext cx="1984917" cy="680224"/>
          </a:xfrm>
          <a:prstGeom prst="rect">
            <a:avLst/>
          </a:prstGeom>
          <a:solidFill>
            <a:srgbClr val="FFFD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7DE57606-272F-FCC8-89EF-538EC8DC89A2}"/>
              </a:ext>
            </a:extLst>
          </p:cNvPr>
          <p:cNvSpPr txBox="1"/>
          <p:nvPr/>
        </p:nvSpPr>
        <p:spPr>
          <a:xfrm>
            <a:off x="5772150" y="1072339"/>
            <a:ext cx="8391168" cy="6463308"/>
          </a:xfrm>
          <a:prstGeom prst="rect">
            <a:avLst/>
          </a:prstGeom>
          <a:noFill/>
        </p:spPr>
        <p:txBody>
          <a:bodyPr wrap="square">
            <a:spAutoFit/>
          </a:bodyPr>
          <a:lstStyle/>
          <a:p>
            <a:pPr marL="285750" indent="-285750">
              <a:buFont typeface="Arial" panose="020B0604020202020204" pitchFamily="34" charset="0"/>
              <a:buChar char="•"/>
            </a:pPr>
            <a:r>
              <a:rPr lang="en-IN" dirty="0"/>
              <a:t>It is based on the Transformer architecture, specifically the encoder part.</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Bidirectional means it looks at both left and right context of a word simultaneously, unlike previous models that processed text in a single direction.</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Pre-trained on massive text corpora (like English Wikipedia and </a:t>
            </a:r>
            <a:r>
              <a:rPr lang="en-IN" dirty="0" err="1"/>
              <a:t>BookCorpus</a:t>
            </a:r>
            <a:r>
              <a:rPr lang="en-IN" dirty="0"/>
              <a:t>), BERT already has deep knowledge of language before fine-tuning.</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BERT is a foundation model, meaning it can be fine-tuned for various downstream NLP tasks with minimal task-specific architecture changes.</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It revolutionized NLP by achieving state-of-the-art results in tasks </a:t>
            </a:r>
            <a:r>
              <a:rPr lang="en-IN" dirty="0" err="1"/>
              <a:t>like:Sentiment</a:t>
            </a:r>
            <a:r>
              <a:rPr lang="en-IN" dirty="0"/>
              <a:t> </a:t>
            </a:r>
            <a:r>
              <a:rPr lang="en-IN" dirty="0" err="1"/>
              <a:t>analysisQuestion</a:t>
            </a:r>
            <a:r>
              <a:rPr lang="en-IN" dirty="0"/>
              <a:t> </a:t>
            </a:r>
            <a:r>
              <a:rPr lang="en-IN" dirty="0" err="1"/>
              <a:t>answeringNamed</a:t>
            </a:r>
            <a:r>
              <a:rPr lang="en-IN" dirty="0"/>
              <a:t> entity </a:t>
            </a:r>
            <a:r>
              <a:rPr lang="en-IN" dirty="0" err="1"/>
              <a:t>recognitionText</a:t>
            </a:r>
            <a:r>
              <a:rPr lang="en-IN" dirty="0"/>
              <a:t> classification</a:t>
            </a:r>
          </a:p>
          <a:p>
            <a:pPr marL="285750" indent="-285750">
              <a:buFont typeface="Arial" panose="020B0604020202020204" pitchFamily="34" charset="0"/>
              <a:buChar char="•"/>
            </a:pPr>
            <a:endParaRPr lang="en-IN" dirty="0"/>
          </a:p>
          <a:p>
            <a:pPr marL="742950" lvl="1" indent="-285750">
              <a:buFont typeface="Arial" panose="020B0604020202020204" pitchFamily="34" charset="0"/>
              <a:buChar char="•"/>
            </a:pPr>
            <a:r>
              <a:rPr lang="en-IN" dirty="0"/>
              <a:t>BERT uses two pre-training objectives:</a:t>
            </a:r>
          </a:p>
          <a:p>
            <a:pPr marL="742950" lvl="1" indent="-285750">
              <a:buFont typeface="Arial" panose="020B0604020202020204" pitchFamily="34" charset="0"/>
              <a:buChar char="•"/>
            </a:pPr>
            <a:r>
              <a:rPr lang="en-IN" dirty="0"/>
              <a:t>Masked Language </a:t>
            </a:r>
            <a:r>
              <a:rPr lang="en-IN" dirty="0" err="1"/>
              <a:t>Modeling</a:t>
            </a:r>
            <a:r>
              <a:rPr lang="en-IN" dirty="0"/>
              <a:t> (MLM): Predicting randomly masked words in a sentence.</a:t>
            </a:r>
          </a:p>
          <a:p>
            <a:pPr marL="742950" lvl="1" indent="-285750">
              <a:buFont typeface="Arial" panose="020B0604020202020204" pitchFamily="34" charset="0"/>
              <a:buChar char="•"/>
            </a:pPr>
            <a:r>
              <a:rPr lang="en-IN" dirty="0"/>
              <a:t>Next Sentence Prediction (NSP): Predicting if two sentences logically follow each other.</a:t>
            </a:r>
          </a:p>
          <a:p>
            <a:pPr marL="1200150" lvl="2" indent="-285750">
              <a:buFont typeface="Arial" panose="020B0604020202020204" pitchFamily="34" charset="0"/>
              <a:buChar char="•"/>
            </a:pPr>
            <a:r>
              <a:rPr lang="en-IN" dirty="0"/>
              <a:t>BERT has several versions, such as:</a:t>
            </a:r>
          </a:p>
          <a:p>
            <a:pPr marL="1200150" lvl="2" indent="-285750">
              <a:buFont typeface="Arial" panose="020B0604020202020204" pitchFamily="34" charset="0"/>
              <a:buChar char="•"/>
            </a:pPr>
            <a:r>
              <a:rPr lang="en-IN" dirty="0" err="1"/>
              <a:t>bert</a:t>
            </a:r>
            <a:r>
              <a:rPr lang="en-IN" dirty="0"/>
              <a:t>-base-uncased (12 layers, 110M parameters)</a:t>
            </a:r>
          </a:p>
          <a:p>
            <a:pPr marL="1200150" lvl="2" indent="-285750">
              <a:buFont typeface="Arial" panose="020B0604020202020204" pitchFamily="34" charset="0"/>
              <a:buChar char="•"/>
            </a:pPr>
            <a:r>
              <a:rPr lang="en-IN" dirty="0" err="1"/>
              <a:t>bert</a:t>
            </a:r>
            <a:r>
              <a:rPr lang="en-IN" dirty="0"/>
              <a:t>-large-uncased (24 layers, 340M parameters)</a:t>
            </a:r>
          </a:p>
          <a:p>
            <a:pPr marL="1200150" lvl="2" indent="-285750">
              <a:buFont typeface="Arial" panose="020B0604020202020204" pitchFamily="34" charset="0"/>
              <a:buChar char="•"/>
            </a:pPr>
            <a:r>
              <a:rPr lang="en-IN" dirty="0" err="1"/>
              <a:t>DistilBERT</a:t>
            </a:r>
            <a:r>
              <a:rPr lang="en-IN" dirty="0"/>
              <a:t> (a smaller, faster version of BERT)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4">
            <a:extLst>
              <a:ext uri="{FF2B5EF4-FFF2-40B4-BE49-F238E27FC236}">
                <a16:creationId xmlns:a16="http://schemas.microsoft.com/office/drawing/2014/main" id="{58B9E471-E5A8-5C4A-9FDD-B9966BFE3C35}"/>
              </a:ext>
            </a:extLst>
          </p:cNvPr>
          <p:cNvSpPr txBox="1">
            <a:spLocks/>
          </p:cNvSpPr>
          <p:nvPr/>
        </p:nvSpPr>
        <p:spPr>
          <a:xfrm>
            <a:off x="375139" y="432104"/>
            <a:ext cx="8091265" cy="934871"/>
          </a:xfrm>
          <a:prstGeom prst="rect">
            <a:avLst/>
          </a:prstGeom>
        </p:spPr>
        <p:txBody>
          <a:bodyPr vert="horz" wrap="square" lIns="0" tIns="11430" rIns="0" bIns="0" rtlCol="0">
            <a:sp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12700">
              <a:spcBef>
                <a:spcPts val="90"/>
              </a:spcBef>
            </a:pPr>
            <a:r>
              <a:rPr lang="en-IN" sz="6000" spc="450" dirty="0"/>
              <a:t>Project</a:t>
            </a:r>
            <a:r>
              <a:rPr lang="en-IN" sz="6000" spc="-185" dirty="0"/>
              <a:t> </a:t>
            </a:r>
            <a:r>
              <a:rPr lang="en-IN" sz="6000" spc="440" dirty="0"/>
              <a:t>Objectives</a:t>
            </a:r>
            <a:endParaRPr lang="en-IN" sz="6000" dirty="0"/>
          </a:p>
        </p:txBody>
      </p:sp>
      <p:pic>
        <p:nvPicPr>
          <p:cNvPr id="3" name="object 3">
            <a:extLst>
              <a:ext uri="{FF2B5EF4-FFF2-40B4-BE49-F238E27FC236}">
                <a16:creationId xmlns:a16="http://schemas.microsoft.com/office/drawing/2014/main" id="{EF9256BD-8081-ED69-BA79-6836302FA9EF}"/>
              </a:ext>
            </a:extLst>
          </p:cNvPr>
          <p:cNvPicPr/>
          <p:nvPr/>
        </p:nvPicPr>
        <p:blipFill>
          <a:blip r:embed="rId2" cstate="print"/>
          <a:stretch>
            <a:fillRect/>
          </a:stretch>
        </p:blipFill>
        <p:spPr>
          <a:xfrm>
            <a:off x="2" y="1829347"/>
            <a:ext cx="8827476" cy="5221001"/>
          </a:xfrm>
          <a:prstGeom prst="rect">
            <a:avLst/>
          </a:prstGeom>
        </p:spPr>
      </p:pic>
      <p:sp>
        <p:nvSpPr>
          <p:cNvPr id="5" name="object 6">
            <a:extLst>
              <a:ext uri="{FF2B5EF4-FFF2-40B4-BE49-F238E27FC236}">
                <a16:creationId xmlns:a16="http://schemas.microsoft.com/office/drawing/2014/main" id="{E1735782-1B7B-4321-E301-1A1379EC5FA1}"/>
              </a:ext>
            </a:extLst>
          </p:cNvPr>
          <p:cNvSpPr txBox="1"/>
          <p:nvPr/>
        </p:nvSpPr>
        <p:spPr>
          <a:xfrm>
            <a:off x="9547222" y="1868658"/>
            <a:ext cx="4517644" cy="1142300"/>
          </a:xfrm>
          <a:prstGeom prst="rect">
            <a:avLst/>
          </a:prstGeom>
        </p:spPr>
        <p:txBody>
          <a:bodyPr vert="horz" wrap="square" lIns="0" tIns="9652" rIns="0" bIns="0" rtlCol="0">
            <a:spAutoFit/>
          </a:bodyPr>
          <a:lstStyle/>
          <a:p>
            <a:pPr marL="295910" marR="4064" indent="-285750">
              <a:lnSpc>
                <a:spcPct val="115500"/>
              </a:lnSpc>
              <a:spcBef>
                <a:spcPts val="76"/>
              </a:spcBef>
              <a:buFont typeface="Arial" panose="020B0604020202020204" pitchFamily="34" charset="0"/>
              <a:buChar char="•"/>
            </a:pPr>
            <a:r>
              <a:rPr sz="1600" b="1" dirty="0">
                <a:solidFill>
                  <a:srgbClr val="0E1212"/>
                </a:solidFill>
                <a:latin typeface="Arial"/>
                <a:cs typeface="Arial"/>
              </a:rPr>
              <a:t>Develop</a:t>
            </a:r>
            <a:r>
              <a:rPr sz="1600" b="1" spc="367" dirty="0">
                <a:solidFill>
                  <a:srgbClr val="0E1212"/>
                </a:solidFill>
                <a:latin typeface="Arial"/>
                <a:cs typeface="Arial"/>
              </a:rPr>
              <a:t> </a:t>
            </a:r>
            <a:r>
              <a:rPr sz="1600" b="1" spc="48" dirty="0">
                <a:solidFill>
                  <a:srgbClr val="0E1212"/>
                </a:solidFill>
                <a:latin typeface="Arial"/>
                <a:cs typeface="Arial"/>
              </a:rPr>
              <a:t>an</a:t>
            </a:r>
            <a:r>
              <a:rPr sz="1600" b="1" spc="367" dirty="0">
                <a:solidFill>
                  <a:srgbClr val="0E1212"/>
                </a:solidFill>
                <a:latin typeface="Arial"/>
                <a:cs typeface="Arial"/>
              </a:rPr>
              <a:t> </a:t>
            </a:r>
            <a:r>
              <a:rPr sz="1600" b="1" spc="144" dirty="0">
                <a:solidFill>
                  <a:srgbClr val="0E1212"/>
                </a:solidFill>
                <a:latin typeface="Arial"/>
                <a:cs typeface="Arial"/>
              </a:rPr>
              <a:t>AI-</a:t>
            </a:r>
            <a:r>
              <a:rPr sz="1600" b="1" dirty="0">
                <a:solidFill>
                  <a:srgbClr val="0E1212"/>
                </a:solidFill>
                <a:latin typeface="Arial"/>
                <a:cs typeface="Arial"/>
              </a:rPr>
              <a:t>powered</a:t>
            </a:r>
            <a:r>
              <a:rPr sz="1600" b="1" spc="372" dirty="0">
                <a:solidFill>
                  <a:srgbClr val="0E1212"/>
                </a:solidFill>
                <a:latin typeface="Arial"/>
                <a:cs typeface="Arial"/>
              </a:rPr>
              <a:t> </a:t>
            </a:r>
            <a:r>
              <a:rPr sz="1600" b="1" spc="44" dirty="0">
                <a:solidFill>
                  <a:srgbClr val="0E1212"/>
                </a:solidFill>
                <a:latin typeface="Arial"/>
                <a:cs typeface="Arial"/>
              </a:rPr>
              <a:t>model</a:t>
            </a:r>
            <a:r>
              <a:rPr sz="1600" b="1" spc="367" dirty="0">
                <a:solidFill>
                  <a:srgbClr val="0E1212"/>
                </a:solidFill>
                <a:latin typeface="Arial"/>
                <a:cs typeface="Arial"/>
              </a:rPr>
              <a:t> </a:t>
            </a:r>
            <a:r>
              <a:rPr sz="1600" spc="-8" dirty="0">
                <a:solidFill>
                  <a:srgbClr val="0E1212"/>
                </a:solidFill>
                <a:latin typeface="Lucida Sans Unicode"/>
                <a:cs typeface="Lucida Sans Unicode"/>
              </a:rPr>
              <a:t>using </a:t>
            </a:r>
            <a:r>
              <a:rPr sz="1600" dirty="0">
                <a:solidFill>
                  <a:srgbClr val="0E1212"/>
                </a:solidFill>
                <a:latin typeface="Lucida Sans Unicode"/>
                <a:cs typeface="Lucida Sans Unicode"/>
              </a:rPr>
              <a:t>BERT</a:t>
            </a:r>
            <a:r>
              <a:rPr sz="1600" spc="132" dirty="0">
                <a:solidFill>
                  <a:srgbClr val="0E1212"/>
                </a:solidFill>
                <a:latin typeface="Lucida Sans Unicode"/>
                <a:cs typeface="Lucida Sans Unicode"/>
              </a:rPr>
              <a:t>  </a:t>
            </a:r>
            <a:r>
              <a:rPr sz="1600" dirty="0">
                <a:solidFill>
                  <a:srgbClr val="0E1212"/>
                </a:solidFill>
                <a:latin typeface="Lucida Sans Unicode"/>
                <a:cs typeface="Lucida Sans Unicode"/>
              </a:rPr>
              <a:t>and</a:t>
            </a:r>
            <a:r>
              <a:rPr sz="1600" spc="128" dirty="0">
                <a:solidFill>
                  <a:srgbClr val="0E1212"/>
                </a:solidFill>
                <a:latin typeface="Lucida Sans Unicode"/>
                <a:cs typeface="Lucida Sans Unicode"/>
              </a:rPr>
              <a:t>  </a:t>
            </a:r>
            <a:r>
              <a:rPr sz="1600" dirty="0">
                <a:solidFill>
                  <a:srgbClr val="0E1212"/>
                </a:solidFill>
                <a:latin typeface="Lucida Sans Unicode"/>
                <a:cs typeface="Lucida Sans Unicode"/>
              </a:rPr>
              <a:t>DistilBERT</a:t>
            </a:r>
            <a:r>
              <a:rPr sz="1600" spc="132" dirty="0">
                <a:solidFill>
                  <a:srgbClr val="0E1212"/>
                </a:solidFill>
                <a:latin typeface="Lucida Sans Unicode"/>
                <a:cs typeface="Lucida Sans Unicode"/>
              </a:rPr>
              <a:t>  </a:t>
            </a:r>
            <a:r>
              <a:rPr sz="1600" dirty="0">
                <a:solidFill>
                  <a:srgbClr val="0E1212"/>
                </a:solidFill>
                <a:latin typeface="Lucida Sans Unicode"/>
                <a:cs typeface="Lucida Sans Unicode"/>
              </a:rPr>
              <a:t>to</a:t>
            </a:r>
            <a:r>
              <a:rPr sz="1600" spc="132" dirty="0">
                <a:solidFill>
                  <a:srgbClr val="0E1212"/>
                </a:solidFill>
                <a:latin typeface="Lucida Sans Unicode"/>
                <a:cs typeface="Lucida Sans Unicode"/>
              </a:rPr>
              <a:t>  </a:t>
            </a:r>
            <a:r>
              <a:rPr sz="1600" spc="48" dirty="0">
                <a:solidFill>
                  <a:srgbClr val="0E1212"/>
                </a:solidFill>
                <a:latin typeface="Lucida Sans Unicode"/>
                <a:cs typeface="Lucida Sans Unicode"/>
              </a:rPr>
              <a:t>accurately </a:t>
            </a:r>
            <a:r>
              <a:rPr sz="1600" spc="36" dirty="0">
                <a:solidFill>
                  <a:srgbClr val="0E1212"/>
                </a:solidFill>
                <a:latin typeface="Lucida Sans Unicode"/>
                <a:cs typeface="Lucida Sans Unicode"/>
              </a:rPr>
              <a:t>classify</a:t>
            </a:r>
            <a:r>
              <a:rPr sz="1600" spc="248" dirty="0">
                <a:solidFill>
                  <a:srgbClr val="0E1212"/>
                </a:solidFill>
                <a:latin typeface="Lucida Sans Unicode"/>
                <a:cs typeface="Lucida Sans Unicode"/>
              </a:rPr>
              <a:t>   </a:t>
            </a:r>
            <a:r>
              <a:rPr sz="1600" dirty="0">
                <a:solidFill>
                  <a:srgbClr val="0E1212"/>
                </a:solidFill>
                <a:latin typeface="Lucida Sans Unicode"/>
                <a:cs typeface="Lucida Sans Unicode"/>
              </a:rPr>
              <a:t>toxic</a:t>
            </a:r>
            <a:r>
              <a:rPr sz="1600" spc="248" dirty="0">
                <a:solidFill>
                  <a:srgbClr val="0E1212"/>
                </a:solidFill>
                <a:latin typeface="Lucida Sans Unicode"/>
                <a:cs typeface="Lucida Sans Unicode"/>
              </a:rPr>
              <a:t>   </a:t>
            </a:r>
            <a:r>
              <a:rPr sz="1600" dirty="0">
                <a:solidFill>
                  <a:srgbClr val="0E1212"/>
                </a:solidFill>
                <a:latin typeface="Lucida Sans Unicode"/>
                <a:cs typeface="Lucida Sans Unicode"/>
              </a:rPr>
              <a:t>comments</a:t>
            </a:r>
            <a:r>
              <a:rPr sz="1600" spc="248" dirty="0">
                <a:solidFill>
                  <a:srgbClr val="0E1212"/>
                </a:solidFill>
                <a:latin typeface="Lucida Sans Unicode"/>
                <a:cs typeface="Lucida Sans Unicode"/>
              </a:rPr>
              <a:t>   </a:t>
            </a:r>
            <a:r>
              <a:rPr sz="1600" spc="-8" dirty="0">
                <a:solidFill>
                  <a:srgbClr val="0E1212"/>
                </a:solidFill>
                <a:latin typeface="Lucida Sans Unicode"/>
                <a:cs typeface="Lucida Sans Unicode"/>
              </a:rPr>
              <a:t>across </a:t>
            </a:r>
            <a:r>
              <a:rPr sz="1600" dirty="0">
                <a:solidFill>
                  <a:srgbClr val="0E1212"/>
                </a:solidFill>
                <a:latin typeface="Lucida Sans Unicode"/>
                <a:cs typeface="Lucida Sans Unicode"/>
              </a:rPr>
              <a:t>multiple</a:t>
            </a:r>
            <a:r>
              <a:rPr sz="1600" spc="48" dirty="0">
                <a:solidFill>
                  <a:srgbClr val="0E1212"/>
                </a:solidFill>
                <a:latin typeface="Lucida Sans Unicode"/>
                <a:cs typeface="Lucida Sans Unicode"/>
              </a:rPr>
              <a:t> </a:t>
            </a:r>
            <a:r>
              <a:rPr sz="1600" spc="-8" dirty="0">
                <a:solidFill>
                  <a:srgbClr val="0E1212"/>
                </a:solidFill>
                <a:latin typeface="Lucida Sans Unicode"/>
                <a:cs typeface="Lucida Sans Unicode"/>
              </a:rPr>
              <a:t>categories.</a:t>
            </a:r>
            <a:endParaRPr sz="1600" dirty="0">
              <a:latin typeface="Lucida Sans Unicode"/>
              <a:cs typeface="Lucida Sans Unicode"/>
            </a:endParaRPr>
          </a:p>
        </p:txBody>
      </p:sp>
      <p:sp>
        <p:nvSpPr>
          <p:cNvPr id="6" name="object 11">
            <a:extLst>
              <a:ext uri="{FF2B5EF4-FFF2-40B4-BE49-F238E27FC236}">
                <a16:creationId xmlns:a16="http://schemas.microsoft.com/office/drawing/2014/main" id="{AD3FB02B-C7A8-8942-1973-E421AB38B22C}"/>
              </a:ext>
            </a:extLst>
          </p:cNvPr>
          <p:cNvSpPr txBox="1"/>
          <p:nvPr/>
        </p:nvSpPr>
        <p:spPr>
          <a:xfrm>
            <a:off x="9547222" y="3133891"/>
            <a:ext cx="4790343" cy="4267515"/>
          </a:xfrm>
          <a:prstGeom prst="rect">
            <a:avLst/>
          </a:prstGeom>
        </p:spPr>
        <p:txBody>
          <a:bodyPr vert="horz" wrap="square" lIns="0" tIns="9652" rIns="0" bIns="0" rtlCol="0">
            <a:spAutoFit/>
          </a:bodyPr>
          <a:lstStyle/>
          <a:p>
            <a:pPr marL="295910" marR="4064" indent="-285750">
              <a:lnSpc>
                <a:spcPct val="115500"/>
              </a:lnSpc>
              <a:spcBef>
                <a:spcPts val="76"/>
              </a:spcBef>
              <a:buFont typeface="Arial" panose="020B0604020202020204" pitchFamily="34" charset="0"/>
              <a:buChar char="•"/>
            </a:pPr>
            <a:r>
              <a:rPr sz="1600" b="1" dirty="0">
                <a:solidFill>
                  <a:srgbClr val="0E1212"/>
                </a:solidFill>
                <a:latin typeface="Arial"/>
                <a:cs typeface="Arial"/>
              </a:rPr>
              <a:t>Enhance</a:t>
            </a:r>
            <a:r>
              <a:rPr sz="1600" b="1" spc="356" dirty="0">
                <a:solidFill>
                  <a:srgbClr val="0E1212"/>
                </a:solidFill>
                <a:latin typeface="Arial"/>
                <a:cs typeface="Arial"/>
              </a:rPr>
              <a:t>     </a:t>
            </a:r>
            <a:r>
              <a:rPr sz="1600" b="1" spc="172" dirty="0">
                <a:solidFill>
                  <a:srgbClr val="0E1212"/>
                </a:solidFill>
                <a:latin typeface="Arial"/>
                <a:cs typeface="Arial"/>
              </a:rPr>
              <a:t>real-</a:t>
            </a:r>
            <a:r>
              <a:rPr sz="1600" b="1" spc="88" dirty="0">
                <a:solidFill>
                  <a:srgbClr val="0E1212"/>
                </a:solidFill>
                <a:latin typeface="Arial"/>
                <a:cs typeface="Arial"/>
              </a:rPr>
              <a:t>time</a:t>
            </a:r>
            <a:r>
              <a:rPr sz="1600" b="1" spc="360" dirty="0">
                <a:solidFill>
                  <a:srgbClr val="0E1212"/>
                </a:solidFill>
                <a:latin typeface="Arial"/>
                <a:cs typeface="Arial"/>
              </a:rPr>
              <a:t>     </a:t>
            </a:r>
            <a:r>
              <a:rPr sz="1600" b="1" spc="52" dirty="0">
                <a:solidFill>
                  <a:srgbClr val="0E1212"/>
                </a:solidFill>
                <a:latin typeface="Arial"/>
                <a:cs typeface="Arial"/>
              </a:rPr>
              <a:t>detection </a:t>
            </a:r>
            <a:r>
              <a:rPr sz="1600" b="1" spc="44" dirty="0">
                <a:solidFill>
                  <a:srgbClr val="0E1212"/>
                </a:solidFill>
                <a:latin typeface="Arial"/>
                <a:cs typeface="Arial"/>
              </a:rPr>
              <a:t>efficiency</a:t>
            </a:r>
            <a:r>
              <a:rPr sz="1600" b="1" spc="156" dirty="0">
                <a:solidFill>
                  <a:srgbClr val="0E1212"/>
                </a:solidFill>
                <a:latin typeface="Arial"/>
                <a:cs typeface="Arial"/>
              </a:rPr>
              <a:t>  </a:t>
            </a:r>
            <a:r>
              <a:rPr sz="1600" dirty="0">
                <a:solidFill>
                  <a:srgbClr val="0E1212"/>
                </a:solidFill>
                <a:latin typeface="Lucida Sans Unicode"/>
                <a:cs typeface="Lucida Sans Unicode"/>
              </a:rPr>
              <a:t>with</a:t>
            </a:r>
            <a:r>
              <a:rPr sz="1600" spc="88" dirty="0">
                <a:solidFill>
                  <a:srgbClr val="0E1212"/>
                </a:solidFill>
                <a:latin typeface="Lucida Sans Unicode"/>
                <a:cs typeface="Lucida Sans Unicode"/>
              </a:rPr>
              <a:t>  </a:t>
            </a:r>
            <a:r>
              <a:rPr sz="1600" spc="124" dirty="0">
                <a:solidFill>
                  <a:srgbClr val="0E1212"/>
                </a:solidFill>
                <a:latin typeface="Lucida Sans Unicode"/>
                <a:cs typeface="Lucida Sans Unicode"/>
              </a:rPr>
              <a:t>a</a:t>
            </a:r>
            <a:r>
              <a:rPr sz="1600" spc="84" dirty="0">
                <a:solidFill>
                  <a:srgbClr val="0E1212"/>
                </a:solidFill>
                <a:latin typeface="Lucida Sans Unicode"/>
                <a:cs typeface="Lucida Sans Unicode"/>
              </a:rPr>
              <a:t>  </a:t>
            </a:r>
            <a:r>
              <a:rPr sz="1600" dirty="0">
                <a:solidFill>
                  <a:srgbClr val="0E1212"/>
                </a:solidFill>
                <a:latin typeface="Lucida Sans Unicode"/>
                <a:cs typeface="Lucida Sans Unicode"/>
              </a:rPr>
              <a:t>lightweight,</a:t>
            </a:r>
            <a:r>
              <a:rPr sz="1600" spc="88" dirty="0">
                <a:solidFill>
                  <a:srgbClr val="0E1212"/>
                </a:solidFill>
                <a:latin typeface="Lucida Sans Unicode"/>
                <a:cs typeface="Lucida Sans Unicode"/>
              </a:rPr>
              <a:t>  </a:t>
            </a:r>
            <a:r>
              <a:rPr sz="1600" spc="-8" dirty="0">
                <a:solidFill>
                  <a:srgbClr val="0E1212"/>
                </a:solidFill>
                <a:latin typeface="Lucida Sans Unicode"/>
                <a:cs typeface="Lucida Sans Unicode"/>
              </a:rPr>
              <a:t>fast, </a:t>
            </a:r>
            <a:r>
              <a:rPr sz="1600" dirty="0">
                <a:solidFill>
                  <a:srgbClr val="0E1212"/>
                </a:solidFill>
                <a:latin typeface="Lucida Sans Unicode"/>
                <a:cs typeface="Lucida Sans Unicode"/>
              </a:rPr>
              <a:t>and</a:t>
            </a:r>
            <a:r>
              <a:rPr sz="1600" spc="308" dirty="0">
                <a:solidFill>
                  <a:srgbClr val="0E1212"/>
                </a:solidFill>
                <a:latin typeface="Lucida Sans Unicode"/>
                <a:cs typeface="Lucida Sans Unicode"/>
              </a:rPr>
              <a:t>  </a:t>
            </a:r>
            <a:r>
              <a:rPr sz="1600" spc="68" dirty="0">
                <a:solidFill>
                  <a:srgbClr val="0E1212"/>
                </a:solidFill>
                <a:latin typeface="Lucida Sans Unicode"/>
                <a:cs typeface="Lucida Sans Unicode"/>
              </a:rPr>
              <a:t>scalable</a:t>
            </a:r>
            <a:r>
              <a:rPr sz="1600" spc="312" dirty="0">
                <a:solidFill>
                  <a:srgbClr val="0E1212"/>
                </a:solidFill>
                <a:latin typeface="Lucida Sans Unicode"/>
                <a:cs typeface="Lucida Sans Unicode"/>
              </a:rPr>
              <a:t>  </a:t>
            </a:r>
            <a:r>
              <a:rPr sz="1600" dirty="0">
                <a:solidFill>
                  <a:srgbClr val="0E1212"/>
                </a:solidFill>
                <a:latin typeface="Lucida Sans Unicode"/>
                <a:cs typeface="Lucida Sans Unicode"/>
              </a:rPr>
              <a:t>system</a:t>
            </a:r>
            <a:r>
              <a:rPr sz="1600" spc="312" dirty="0">
                <a:solidFill>
                  <a:srgbClr val="0E1212"/>
                </a:solidFill>
                <a:latin typeface="Lucida Sans Unicode"/>
                <a:cs typeface="Lucida Sans Unicode"/>
              </a:rPr>
              <a:t>  </a:t>
            </a:r>
            <a:r>
              <a:rPr sz="1600" dirty="0">
                <a:solidFill>
                  <a:srgbClr val="0E1212"/>
                </a:solidFill>
                <a:latin typeface="Lucida Sans Unicode"/>
                <a:cs typeface="Lucida Sans Unicode"/>
              </a:rPr>
              <a:t>suitable</a:t>
            </a:r>
            <a:r>
              <a:rPr sz="1600" spc="312" dirty="0">
                <a:solidFill>
                  <a:srgbClr val="0E1212"/>
                </a:solidFill>
                <a:latin typeface="Lucida Sans Unicode"/>
                <a:cs typeface="Lucida Sans Unicode"/>
              </a:rPr>
              <a:t>  </a:t>
            </a:r>
            <a:r>
              <a:rPr sz="1600" spc="-20" dirty="0">
                <a:solidFill>
                  <a:srgbClr val="0E1212"/>
                </a:solidFill>
                <a:latin typeface="Lucida Sans Unicode"/>
                <a:cs typeface="Lucida Sans Unicode"/>
              </a:rPr>
              <a:t>for </a:t>
            </a:r>
            <a:r>
              <a:rPr sz="1600" spc="-8" dirty="0">
                <a:solidFill>
                  <a:srgbClr val="0E1212"/>
                </a:solidFill>
                <a:latin typeface="Lucida Sans Unicode"/>
                <a:cs typeface="Lucida Sans Unicode"/>
              </a:rPr>
              <a:t>deployment.</a:t>
            </a:r>
            <a:endParaRPr sz="1600" dirty="0">
              <a:latin typeface="Lucida Sans Unicode"/>
              <a:cs typeface="Lucida Sans Unicode"/>
            </a:endParaRPr>
          </a:p>
          <a:p>
            <a:pPr marL="295910" marR="4064" indent="-285750">
              <a:lnSpc>
                <a:spcPct val="115500"/>
              </a:lnSpc>
              <a:spcBef>
                <a:spcPts val="748"/>
              </a:spcBef>
              <a:buFont typeface="Arial" panose="020B0604020202020204" pitchFamily="34" charset="0"/>
              <a:buChar char="•"/>
            </a:pPr>
            <a:r>
              <a:rPr sz="1600" b="1" dirty="0">
                <a:solidFill>
                  <a:srgbClr val="0E1212"/>
                </a:solidFill>
                <a:latin typeface="Arial"/>
                <a:cs typeface="Arial"/>
              </a:rPr>
              <a:t>Promote</a:t>
            </a:r>
            <a:r>
              <a:rPr sz="1600" b="1" spc="260" dirty="0">
                <a:solidFill>
                  <a:srgbClr val="0E1212"/>
                </a:solidFill>
                <a:latin typeface="Arial"/>
                <a:cs typeface="Arial"/>
              </a:rPr>
              <a:t> </a:t>
            </a:r>
            <a:r>
              <a:rPr sz="1600" b="1" dirty="0">
                <a:solidFill>
                  <a:srgbClr val="0E1212"/>
                </a:solidFill>
                <a:latin typeface="Arial"/>
                <a:cs typeface="Arial"/>
              </a:rPr>
              <a:t>safer</a:t>
            </a:r>
            <a:r>
              <a:rPr sz="1600" b="1" spc="264" dirty="0">
                <a:solidFill>
                  <a:srgbClr val="0E1212"/>
                </a:solidFill>
                <a:latin typeface="Arial"/>
                <a:cs typeface="Arial"/>
              </a:rPr>
              <a:t> </a:t>
            </a:r>
            <a:r>
              <a:rPr sz="1600" b="1" dirty="0">
                <a:solidFill>
                  <a:srgbClr val="0E1212"/>
                </a:solidFill>
                <a:latin typeface="Arial"/>
                <a:cs typeface="Arial"/>
              </a:rPr>
              <a:t>online</a:t>
            </a:r>
            <a:r>
              <a:rPr sz="1600" b="1" spc="264" dirty="0">
                <a:solidFill>
                  <a:srgbClr val="0E1212"/>
                </a:solidFill>
                <a:latin typeface="Arial"/>
                <a:cs typeface="Arial"/>
              </a:rPr>
              <a:t> </a:t>
            </a:r>
            <a:r>
              <a:rPr sz="1600" b="1" dirty="0">
                <a:solidFill>
                  <a:srgbClr val="0E1212"/>
                </a:solidFill>
                <a:latin typeface="Arial"/>
                <a:cs typeface="Arial"/>
              </a:rPr>
              <a:t>communities</a:t>
            </a:r>
            <a:r>
              <a:rPr sz="1600" b="1" spc="260" dirty="0">
                <a:solidFill>
                  <a:srgbClr val="0E1212"/>
                </a:solidFill>
                <a:latin typeface="Arial"/>
                <a:cs typeface="Arial"/>
              </a:rPr>
              <a:t> </a:t>
            </a:r>
            <a:r>
              <a:rPr sz="1600" spc="-20" dirty="0">
                <a:solidFill>
                  <a:srgbClr val="0E1212"/>
                </a:solidFill>
                <a:latin typeface="Lucida Sans Unicode"/>
                <a:cs typeface="Lucida Sans Unicode"/>
              </a:rPr>
              <a:t>by </a:t>
            </a:r>
            <a:r>
              <a:rPr sz="1600" dirty="0">
                <a:solidFill>
                  <a:srgbClr val="0E1212"/>
                </a:solidFill>
                <a:latin typeface="Lucida Sans Unicode"/>
                <a:cs typeface="Lucida Sans Unicode"/>
              </a:rPr>
              <a:t>helping</a:t>
            </a:r>
            <a:r>
              <a:rPr sz="1600" spc="396" dirty="0">
                <a:solidFill>
                  <a:srgbClr val="0E1212"/>
                </a:solidFill>
                <a:latin typeface="Lucida Sans Unicode"/>
                <a:cs typeface="Lucida Sans Unicode"/>
              </a:rPr>
              <a:t>   </a:t>
            </a:r>
            <a:r>
              <a:rPr sz="1600" dirty="0">
                <a:solidFill>
                  <a:srgbClr val="0E1212"/>
                </a:solidFill>
                <a:latin typeface="Lucida Sans Unicode"/>
                <a:cs typeface="Lucida Sans Unicode"/>
              </a:rPr>
              <a:t>platforms</a:t>
            </a:r>
            <a:r>
              <a:rPr sz="1600" spc="400" dirty="0">
                <a:solidFill>
                  <a:srgbClr val="0E1212"/>
                </a:solidFill>
                <a:latin typeface="Lucida Sans Unicode"/>
                <a:cs typeface="Lucida Sans Unicode"/>
              </a:rPr>
              <a:t>   </a:t>
            </a:r>
            <a:r>
              <a:rPr sz="1600" spc="48" dirty="0">
                <a:solidFill>
                  <a:srgbClr val="0E1212"/>
                </a:solidFill>
                <a:latin typeface="Lucida Sans Unicode"/>
                <a:cs typeface="Lucida Sans Unicode"/>
              </a:rPr>
              <a:t>automatically </a:t>
            </a:r>
            <a:r>
              <a:rPr sz="1600" spc="56" dirty="0">
                <a:solidFill>
                  <a:srgbClr val="0E1212"/>
                </a:solidFill>
                <a:latin typeface="Lucida Sans Unicode"/>
                <a:cs typeface="Lucida Sans Unicode"/>
              </a:rPr>
              <a:t>detect</a:t>
            </a:r>
            <a:r>
              <a:rPr sz="1600" spc="-28" dirty="0">
                <a:solidFill>
                  <a:srgbClr val="0E1212"/>
                </a:solidFill>
                <a:latin typeface="Lucida Sans Unicode"/>
                <a:cs typeface="Lucida Sans Unicode"/>
              </a:rPr>
              <a:t> </a:t>
            </a:r>
            <a:r>
              <a:rPr sz="1600" dirty="0">
                <a:solidFill>
                  <a:srgbClr val="0E1212"/>
                </a:solidFill>
                <a:latin typeface="Lucida Sans Unicode"/>
                <a:cs typeface="Lucida Sans Unicode"/>
              </a:rPr>
              <a:t>and</a:t>
            </a:r>
            <a:r>
              <a:rPr sz="1600" spc="-28" dirty="0">
                <a:solidFill>
                  <a:srgbClr val="0E1212"/>
                </a:solidFill>
                <a:latin typeface="Lucida Sans Unicode"/>
                <a:cs typeface="Lucida Sans Unicode"/>
              </a:rPr>
              <a:t> </a:t>
            </a:r>
            <a:r>
              <a:rPr sz="1600" dirty="0">
                <a:solidFill>
                  <a:srgbClr val="0E1212"/>
                </a:solidFill>
                <a:latin typeface="Lucida Sans Unicode"/>
                <a:cs typeface="Lucida Sans Unicode"/>
              </a:rPr>
              <a:t>reduce</a:t>
            </a:r>
            <a:r>
              <a:rPr sz="1600" spc="-28" dirty="0">
                <a:solidFill>
                  <a:srgbClr val="0E1212"/>
                </a:solidFill>
                <a:latin typeface="Lucida Sans Unicode"/>
                <a:cs typeface="Lucida Sans Unicode"/>
              </a:rPr>
              <a:t> </a:t>
            </a:r>
            <a:r>
              <a:rPr sz="1600" dirty="0">
                <a:solidFill>
                  <a:srgbClr val="0E1212"/>
                </a:solidFill>
                <a:latin typeface="Lucida Sans Unicode"/>
                <a:cs typeface="Lucida Sans Unicode"/>
              </a:rPr>
              <a:t>harmful</a:t>
            </a:r>
            <a:r>
              <a:rPr sz="1600" spc="-28" dirty="0">
                <a:solidFill>
                  <a:srgbClr val="0E1212"/>
                </a:solidFill>
                <a:latin typeface="Lucida Sans Unicode"/>
                <a:cs typeface="Lucida Sans Unicode"/>
              </a:rPr>
              <a:t> </a:t>
            </a:r>
            <a:r>
              <a:rPr sz="1600" spc="-8" dirty="0">
                <a:solidFill>
                  <a:srgbClr val="0E1212"/>
                </a:solidFill>
                <a:latin typeface="Lucida Sans Unicode"/>
                <a:cs typeface="Lucida Sans Unicode"/>
              </a:rPr>
              <a:t>content.</a:t>
            </a:r>
            <a:endParaRPr sz="1600" dirty="0">
              <a:latin typeface="Lucida Sans Unicode"/>
              <a:cs typeface="Lucida Sans Unicode"/>
            </a:endParaRPr>
          </a:p>
          <a:p>
            <a:pPr marL="295910" marR="4064" indent="-285750">
              <a:lnSpc>
                <a:spcPct val="115500"/>
              </a:lnSpc>
              <a:spcBef>
                <a:spcPts val="744"/>
              </a:spcBef>
              <a:buFont typeface="Arial" panose="020B0604020202020204" pitchFamily="34" charset="0"/>
              <a:buChar char="•"/>
            </a:pPr>
            <a:r>
              <a:rPr sz="1600" b="1" dirty="0">
                <a:solidFill>
                  <a:srgbClr val="0E1212"/>
                </a:solidFill>
                <a:latin typeface="Arial"/>
                <a:cs typeface="Arial"/>
              </a:rPr>
              <a:t>Design</a:t>
            </a:r>
            <a:r>
              <a:rPr sz="1600" b="1" spc="112" dirty="0">
                <a:solidFill>
                  <a:srgbClr val="0E1212"/>
                </a:solidFill>
                <a:latin typeface="Arial"/>
                <a:cs typeface="Arial"/>
              </a:rPr>
              <a:t> </a:t>
            </a:r>
            <a:r>
              <a:rPr sz="1600" b="1" spc="104" dirty="0">
                <a:solidFill>
                  <a:srgbClr val="0E1212"/>
                </a:solidFill>
                <a:latin typeface="Arial"/>
                <a:cs typeface="Arial"/>
              </a:rPr>
              <a:t>a</a:t>
            </a:r>
            <a:r>
              <a:rPr sz="1600" b="1" spc="116" dirty="0">
                <a:solidFill>
                  <a:srgbClr val="0E1212"/>
                </a:solidFill>
                <a:latin typeface="Arial"/>
                <a:cs typeface="Arial"/>
              </a:rPr>
              <a:t> </a:t>
            </a:r>
            <a:r>
              <a:rPr sz="1600" b="1" spc="88" dirty="0">
                <a:solidFill>
                  <a:srgbClr val="0E1212"/>
                </a:solidFill>
                <a:latin typeface="Arial"/>
                <a:cs typeface="Arial"/>
              </a:rPr>
              <a:t>user-</a:t>
            </a:r>
            <a:r>
              <a:rPr sz="1600" b="1" spc="48" dirty="0">
                <a:solidFill>
                  <a:srgbClr val="0E1212"/>
                </a:solidFill>
                <a:latin typeface="Arial"/>
                <a:cs typeface="Arial"/>
              </a:rPr>
              <a:t>friendly</a:t>
            </a:r>
            <a:r>
              <a:rPr sz="1600" b="1" spc="116" dirty="0">
                <a:solidFill>
                  <a:srgbClr val="0E1212"/>
                </a:solidFill>
                <a:latin typeface="Arial"/>
                <a:cs typeface="Arial"/>
              </a:rPr>
              <a:t> </a:t>
            </a:r>
            <a:r>
              <a:rPr sz="1600" b="1" spc="68" dirty="0">
                <a:solidFill>
                  <a:srgbClr val="0E1212"/>
                </a:solidFill>
                <a:latin typeface="Arial"/>
                <a:cs typeface="Arial"/>
              </a:rPr>
              <a:t>interface</a:t>
            </a:r>
            <a:r>
              <a:rPr sz="1600" b="1" spc="112" dirty="0">
                <a:solidFill>
                  <a:srgbClr val="0E1212"/>
                </a:solidFill>
                <a:latin typeface="Arial"/>
                <a:cs typeface="Arial"/>
              </a:rPr>
              <a:t> </a:t>
            </a:r>
            <a:r>
              <a:rPr sz="1600" spc="44" dirty="0">
                <a:solidFill>
                  <a:srgbClr val="0E1212"/>
                </a:solidFill>
                <a:latin typeface="Lucida Sans Unicode"/>
                <a:cs typeface="Lucida Sans Unicode"/>
              </a:rPr>
              <a:t>that </a:t>
            </a:r>
            <a:r>
              <a:rPr sz="1600" spc="48" dirty="0">
                <a:solidFill>
                  <a:srgbClr val="0E1212"/>
                </a:solidFill>
                <a:latin typeface="Lucida Sans Unicode"/>
                <a:cs typeface="Lucida Sans Unicode"/>
              </a:rPr>
              <a:t>allows</a:t>
            </a:r>
            <a:r>
              <a:rPr sz="1600" spc="196" dirty="0">
                <a:solidFill>
                  <a:srgbClr val="0E1212"/>
                </a:solidFill>
                <a:latin typeface="Lucida Sans Unicode"/>
                <a:cs typeface="Lucida Sans Unicode"/>
              </a:rPr>
              <a:t> </a:t>
            </a:r>
            <a:r>
              <a:rPr sz="1600" dirty="0">
                <a:solidFill>
                  <a:srgbClr val="0E1212"/>
                </a:solidFill>
                <a:latin typeface="Lucida Sans Unicode"/>
                <a:cs typeface="Lucida Sans Unicode"/>
              </a:rPr>
              <a:t>users</a:t>
            </a:r>
            <a:r>
              <a:rPr sz="1600" spc="196" dirty="0">
                <a:solidFill>
                  <a:srgbClr val="0E1212"/>
                </a:solidFill>
                <a:latin typeface="Lucida Sans Unicode"/>
                <a:cs typeface="Lucida Sans Unicode"/>
              </a:rPr>
              <a:t> </a:t>
            </a:r>
            <a:r>
              <a:rPr sz="1600" dirty="0">
                <a:solidFill>
                  <a:srgbClr val="0E1212"/>
                </a:solidFill>
                <a:latin typeface="Lucida Sans Unicode"/>
                <a:cs typeface="Lucida Sans Unicode"/>
              </a:rPr>
              <a:t>to</a:t>
            </a:r>
            <a:r>
              <a:rPr sz="1600" spc="196" dirty="0">
                <a:solidFill>
                  <a:srgbClr val="0E1212"/>
                </a:solidFill>
                <a:latin typeface="Lucida Sans Unicode"/>
                <a:cs typeface="Lucida Sans Unicode"/>
              </a:rPr>
              <a:t> </a:t>
            </a:r>
            <a:r>
              <a:rPr sz="1600" dirty="0">
                <a:solidFill>
                  <a:srgbClr val="0E1212"/>
                </a:solidFill>
                <a:latin typeface="Lucida Sans Unicode"/>
                <a:cs typeface="Lucida Sans Unicode"/>
              </a:rPr>
              <a:t>input</a:t>
            </a:r>
            <a:r>
              <a:rPr sz="1600" spc="200" dirty="0">
                <a:solidFill>
                  <a:srgbClr val="0E1212"/>
                </a:solidFill>
                <a:latin typeface="Lucida Sans Unicode"/>
                <a:cs typeface="Lucida Sans Unicode"/>
              </a:rPr>
              <a:t> </a:t>
            </a:r>
            <a:r>
              <a:rPr sz="1600" dirty="0">
                <a:solidFill>
                  <a:srgbClr val="0E1212"/>
                </a:solidFill>
                <a:latin typeface="Lucida Sans Unicode"/>
                <a:cs typeface="Lucida Sans Unicode"/>
              </a:rPr>
              <a:t>comments</a:t>
            </a:r>
            <a:r>
              <a:rPr sz="1600" spc="196" dirty="0">
                <a:solidFill>
                  <a:srgbClr val="0E1212"/>
                </a:solidFill>
                <a:latin typeface="Lucida Sans Unicode"/>
                <a:cs typeface="Lucida Sans Unicode"/>
              </a:rPr>
              <a:t> </a:t>
            </a:r>
            <a:r>
              <a:rPr sz="1600" spc="-20" dirty="0">
                <a:solidFill>
                  <a:srgbClr val="0E1212"/>
                </a:solidFill>
                <a:latin typeface="Lucida Sans Unicode"/>
                <a:cs typeface="Lucida Sans Unicode"/>
              </a:rPr>
              <a:t>and </a:t>
            </a:r>
            <a:r>
              <a:rPr sz="1600" dirty="0">
                <a:solidFill>
                  <a:srgbClr val="0E1212"/>
                </a:solidFill>
                <a:latin typeface="Lucida Sans Unicode"/>
                <a:cs typeface="Lucida Sans Unicode"/>
              </a:rPr>
              <a:t>instantly</a:t>
            </a:r>
            <a:r>
              <a:rPr sz="1600" spc="4" dirty="0">
                <a:solidFill>
                  <a:srgbClr val="0E1212"/>
                </a:solidFill>
                <a:latin typeface="Lucida Sans Unicode"/>
                <a:cs typeface="Lucida Sans Unicode"/>
              </a:rPr>
              <a:t> </a:t>
            </a:r>
            <a:r>
              <a:rPr sz="1600" dirty="0">
                <a:solidFill>
                  <a:srgbClr val="0E1212"/>
                </a:solidFill>
                <a:latin typeface="Lucida Sans Unicode"/>
                <a:cs typeface="Lucida Sans Unicode"/>
              </a:rPr>
              <a:t>receive</a:t>
            </a:r>
            <a:r>
              <a:rPr sz="1600" spc="8" dirty="0">
                <a:solidFill>
                  <a:srgbClr val="0E1212"/>
                </a:solidFill>
                <a:latin typeface="Lucida Sans Unicode"/>
                <a:cs typeface="Lucida Sans Unicode"/>
              </a:rPr>
              <a:t> </a:t>
            </a:r>
            <a:r>
              <a:rPr sz="1600" spc="-8" dirty="0">
                <a:solidFill>
                  <a:srgbClr val="0E1212"/>
                </a:solidFill>
                <a:latin typeface="Lucida Sans Unicode"/>
                <a:cs typeface="Lucida Sans Unicode"/>
              </a:rPr>
              <a:t>toxicity</a:t>
            </a:r>
            <a:r>
              <a:rPr sz="1600" spc="4" dirty="0">
                <a:solidFill>
                  <a:srgbClr val="0E1212"/>
                </a:solidFill>
                <a:latin typeface="Lucida Sans Unicode"/>
                <a:cs typeface="Lucida Sans Unicode"/>
              </a:rPr>
              <a:t> </a:t>
            </a:r>
            <a:r>
              <a:rPr sz="1600" spc="-8" dirty="0">
                <a:solidFill>
                  <a:srgbClr val="0E1212"/>
                </a:solidFill>
                <a:latin typeface="Lucida Sans Unicode"/>
                <a:cs typeface="Lucida Sans Unicode"/>
              </a:rPr>
              <a:t>predictions.</a:t>
            </a:r>
            <a:endParaRPr sz="1600" dirty="0">
              <a:latin typeface="Lucida Sans Unicode"/>
              <a:cs typeface="Lucida Sans Unicode"/>
            </a:endParaRPr>
          </a:p>
          <a:p>
            <a:pPr marL="295910" marR="4064" indent="-285750">
              <a:lnSpc>
                <a:spcPct val="115500"/>
              </a:lnSpc>
              <a:spcBef>
                <a:spcPts val="744"/>
              </a:spcBef>
              <a:buFont typeface="Arial" panose="020B0604020202020204" pitchFamily="34" charset="0"/>
              <a:buChar char="•"/>
            </a:pPr>
            <a:r>
              <a:rPr sz="1600" b="1" dirty="0">
                <a:solidFill>
                  <a:srgbClr val="0E1212"/>
                </a:solidFill>
                <a:latin typeface="Arial"/>
                <a:cs typeface="Arial"/>
              </a:rPr>
              <a:t>Support</a:t>
            </a:r>
            <a:r>
              <a:rPr sz="1600" b="1" spc="476" dirty="0">
                <a:solidFill>
                  <a:srgbClr val="0E1212"/>
                </a:solidFill>
                <a:latin typeface="Arial"/>
                <a:cs typeface="Arial"/>
              </a:rPr>
              <a:t>     </a:t>
            </a:r>
            <a:r>
              <a:rPr sz="1600" b="1" spc="80" dirty="0">
                <a:solidFill>
                  <a:srgbClr val="0E1212"/>
                </a:solidFill>
                <a:latin typeface="Arial"/>
                <a:cs typeface="Arial"/>
              </a:rPr>
              <a:t>automated</a:t>
            </a:r>
            <a:r>
              <a:rPr sz="1600" b="1" spc="476" dirty="0">
                <a:solidFill>
                  <a:srgbClr val="0E1212"/>
                </a:solidFill>
                <a:latin typeface="Arial"/>
                <a:cs typeface="Arial"/>
              </a:rPr>
              <a:t>     </a:t>
            </a:r>
            <a:r>
              <a:rPr sz="1600" b="1" spc="48" dirty="0">
                <a:solidFill>
                  <a:srgbClr val="0E1212"/>
                </a:solidFill>
                <a:latin typeface="Arial"/>
                <a:cs typeface="Arial"/>
              </a:rPr>
              <a:t>content </a:t>
            </a:r>
            <a:r>
              <a:rPr sz="1600" b="1" spc="44" dirty="0">
                <a:solidFill>
                  <a:srgbClr val="0E1212"/>
                </a:solidFill>
                <a:latin typeface="Arial"/>
                <a:cs typeface="Arial"/>
              </a:rPr>
              <a:t>moderation</a:t>
            </a:r>
            <a:r>
              <a:rPr sz="1600" b="1" spc="136" dirty="0">
                <a:solidFill>
                  <a:srgbClr val="0E1212"/>
                </a:solidFill>
                <a:latin typeface="Arial"/>
                <a:cs typeface="Arial"/>
              </a:rPr>
              <a:t> </a:t>
            </a:r>
            <a:r>
              <a:rPr sz="1600" dirty="0">
                <a:solidFill>
                  <a:srgbClr val="0E1212"/>
                </a:solidFill>
                <a:latin typeface="Lucida Sans Unicode"/>
                <a:cs typeface="Lucida Sans Unicode"/>
              </a:rPr>
              <a:t>to</a:t>
            </a:r>
            <a:r>
              <a:rPr sz="1600" spc="68" dirty="0">
                <a:solidFill>
                  <a:srgbClr val="0E1212"/>
                </a:solidFill>
                <a:latin typeface="Lucida Sans Unicode"/>
                <a:cs typeface="Lucida Sans Unicode"/>
              </a:rPr>
              <a:t> </a:t>
            </a:r>
            <a:r>
              <a:rPr sz="1600" dirty="0">
                <a:solidFill>
                  <a:srgbClr val="0E1212"/>
                </a:solidFill>
                <a:latin typeface="Lucida Sans Unicode"/>
                <a:cs typeface="Lucida Sans Unicode"/>
              </a:rPr>
              <a:t>assist</a:t>
            </a:r>
            <a:r>
              <a:rPr sz="1600" spc="68" dirty="0">
                <a:solidFill>
                  <a:srgbClr val="0E1212"/>
                </a:solidFill>
                <a:latin typeface="Lucida Sans Unicode"/>
                <a:cs typeface="Lucida Sans Unicode"/>
              </a:rPr>
              <a:t> </a:t>
            </a:r>
            <a:r>
              <a:rPr sz="1600" dirty="0">
                <a:solidFill>
                  <a:srgbClr val="0E1212"/>
                </a:solidFill>
                <a:latin typeface="Lucida Sans Unicode"/>
                <a:cs typeface="Lucida Sans Unicode"/>
              </a:rPr>
              <a:t>organizations</a:t>
            </a:r>
            <a:r>
              <a:rPr sz="1600" spc="64" dirty="0">
                <a:solidFill>
                  <a:srgbClr val="0E1212"/>
                </a:solidFill>
                <a:latin typeface="Lucida Sans Unicode"/>
                <a:cs typeface="Lucida Sans Unicode"/>
              </a:rPr>
              <a:t> </a:t>
            </a:r>
            <a:r>
              <a:rPr sz="1600" spc="-20" dirty="0">
                <a:solidFill>
                  <a:srgbClr val="0E1212"/>
                </a:solidFill>
                <a:latin typeface="Lucida Sans Unicode"/>
                <a:cs typeface="Lucida Sans Unicode"/>
              </a:rPr>
              <a:t>in </a:t>
            </a:r>
            <a:r>
              <a:rPr sz="1600" dirty="0">
                <a:solidFill>
                  <a:srgbClr val="0E1212"/>
                </a:solidFill>
                <a:latin typeface="Lucida Sans Unicode"/>
                <a:cs typeface="Lucida Sans Unicode"/>
              </a:rPr>
              <a:t>enforcing</a:t>
            </a:r>
            <a:r>
              <a:rPr sz="1600" spc="292" dirty="0">
                <a:solidFill>
                  <a:srgbClr val="0E1212"/>
                </a:solidFill>
                <a:latin typeface="Lucida Sans Unicode"/>
                <a:cs typeface="Lucida Sans Unicode"/>
              </a:rPr>
              <a:t> </a:t>
            </a:r>
            <a:r>
              <a:rPr sz="1600" dirty="0">
                <a:solidFill>
                  <a:srgbClr val="0E1212"/>
                </a:solidFill>
                <a:latin typeface="Lucida Sans Unicode"/>
                <a:cs typeface="Lucida Sans Unicode"/>
              </a:rPr>
              <a:t>community</a:t>
            </a:r>
            <a:r>
              <a:rPr sz="1600" spc="292" dirty="0">
                <a:solidFill>
                  <a:srgbClr val="0E1212"/>
                </a:solidFill>
                <a:latin typeface="Lucida Sans Unicode"/>
                <a:cs typeface="Lucida Sans Unicode"/>
              </a:rPr>
              <a:t> </a:t>
            </a:r>
            <a:r>
              <a:rPr sz="1600" dirty="0">
                <a:solidFill>
                  <a:srgbClr val="0E1212"/>
                </a:solidFill>
                <a:latin typeface="Lucida Sans Unicode"/>
                <a:cs typeface="Lucida Sans Unicode"/>
              </a:rPr>
              <a:t>guidelines</a:t>
            </a:r>
            <a:r>
              <a:rPr sz="1600" spc="292" dirty="0">
                <a:solidFill>
                  <a:srgbClr val="0E1212"/>
                </a:solidFill>
                <a:latin typeface="Lucida Sans Unicode"/>
                <a:cs typeface="Lucida Sans Unicode"/>
              </a:rPr>
              <a:t> </a:t>
            </a:r>
            <a:r>
              <a:rPr sz="1600" spc="-20" dirty="0">
                <a:solidFill>
                  <a:srgbClr val="0E1212"/>
                </a:solidFill>
                <a:latin typeface="Lucida Sans Unicode"/>
                <a:cs typeface="Lucida Sans Unicode"/>
              </a:rPr>
              <a:t>and </a:t>
            </a:r>
            <a:r>
              <a:rPr sz="1600" dirty="0">
                <a:solidFill>
                  <a:srgbClr val="0E1212"/>
                </a:solidFill>
                <a:latin typeface="Lucida Sans Unicode"/>
                <a:cs typeface="Lucida Sans Unicode"/>
              </a:rPr>
              <a:t>reducing</a:t>
            </a:r>
            <a:r>
              <a:rPr sz="1600" spc="-124" dirty="0">
                <a:solidFill>
                  <a:srgbClr val="0E1212"/>
                </a:solidFill>
                <a:latin typeface="Lucida Sans Unicode"/>
                <a:cs typeface="Lucida Sans Unicode"/>
              </a:rPr>
              <a:t> </a:t>
            </a:r>
            <a:r>
              <a:rPr sz="1600" spc="56" dirty="0">
                <a:solidFill>
                  <a:srgbClr val="0E1212"/>
                </a:solidFill>
                <a:latin typeface="Lucida Sans Unicode"/>
                <a:cs typeface="Lucida Sans Unicode"/>
              </a:rPr>
              <a:t>manual</a:t>
            </a:r>
            <a:r>
              <a:rPr sz="1600" spc="-124" dirty="0">
                <a:solidFill>
                  <a:srgbClr val="0E1212"/>
                </a:solidFill>
                <a:latin typeface="Lucida Sans Unicode"/>
                <a:cs typeface="Lucida Sans Unicode"/>
              </a:rPr>
              <a:t> </a:t>
            </a:r>
            <a:r>
              <a:rPr sz="1600" spc="-8" dirty="0">
                <a:solidFill>
                  <a:srgbClr val="0E1212"/>
                </a:solidFill>
                <a:latin typeface="Lucida Sans Unicode"/>
                <a:cs typeface="Lucida Sans Unicode"/>
              </a:rPr>
              <a:t>effort.</a:t>
            </a:r>
            <a:endParaRPr sz="1600" dirty="0">
              <a:latin typeface="Lucida Sans Unicode"/>
              <a:cs typeface="Lucida Sans Unicode"/>
            </a:endParaRPr>
          </a:p>
        </p:txBody>
      </p:sp>
    </p:spTree>
    <p:extLst>
      <p:ext uri="{BB962C8B-B14F-4D97-AF65-F5344CB8AC3E}">
        <p14:creationId xmlns:p14="http://schemas.microsoft.com/office/powerpoint/2010/main" val="23866802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746777" y="3858118"/>
            <a:ext cx="11075924" cy="511048"/>
            <a:chOff x="2183471" y="4822648"/>
            <a:chExt cx="13844905" cy="638810"/>
          </a:xfrm>
        </p:grpSpPr>
        <p:sp>
          <p:nvSpPr>
            <p:cNvPr id="3" name="object 3"/>
            <p:cNvSpPr/>
            <p:nvPr/>
          </p:nvSpPr>
          <p:spPr>
            <a:xfrm>
              <a:off x="2767289" y="5143498"/>
              <a:ext cx="12754610" cy="0"/>
            </a:xfrm>
            <a:custGeom>
              <a:avLst/>
              <a:gdLst/>
              <a:ahLst/>
              <a:cxnLst/>
              <a:rect l="l" t="t" r="r" b="b"/>
              <a:pathLst>
                <a:path w="12754610">
                  <a:moveTo>
                    <a:pt x="0" y="0"/>
                  </a:moveTo>
                  <a:lnTo>
                    <a:pt x="12754085" y="0"/>
                  </a:lnTo>
                </a:path>
              </a:pathLst>
            </a:custGeom>
            <a:ln w="38097">
              <a:solidFill>
                <a:srgbClr val="AB8A72"/>
              </a:solidFill>
            </a:ln>
          </p:spPr>
          <p:txBody>
            <a:bodyPr wrap="square" lIns="0" tIns="0" rIns="0" bIns="0" rtlCol="0"/>
            <a:lstStyle/>
            <a:p>
              <a:endParaRPr sz="1440"/>
            </a:p>
          </p:txBody>
        </p:sp>
        <p:sp>
          <p:nvSpPr>
            <p:cNvPr id="4" name="object 4"/>
            <p:cNvSpPr/>
            <p:nvPr/>
          </p:nvSpPr>
          <p:spPr>
            <a:xfrm>
              <a:off x="2183460" y="4822659"/>
              <a:ext cx="13844905" cy="638810"/>
            </a:xfrm>
            <a:custGeom>
              <a:avLst/>
              <a:gdLst/>
              <a:ahLst/>
              <a:cxnLst/>
              <a:rect l="l" t="t" r="r" b="b"/>
              <a:pathLst>
                <a:path w="13844905" h="638810">
                  <a:moveTo>
                    <a:pt x="708799" y="320852"/>
                  </a:moveTo>
                  <a:lnTo>
                    <a:pt x="617804" y="150317"/>
                  </a:lnTo>
                  <a:lnTo>
                    <a:pt x="549249" y="31584"/>
                  </a:lnTo>
                  <a:lnTo>
                    <a:pt x="528485" y="12649"/>
                  </a:lnTo>
                  <a:lnTo>
                    <a:pt x="528485" y="474954"/>
                  </a:lnTo>
                  <a:lnTo>
                    <a:pt x="526122" y="491477"/>
                  </a:lnTo>
                  <a:lnTo>
                    <a:pt x="482574" y="482193"/>
                  </a:lnTo>
                  <a:lnTo>
                    <a:pt x="448716" y="458724"/>
                  </a:lnTo>
                  <a:lnTo>
                    <a:pt x="411721" y="425526"/>
                  </a:lnTo>
                  <a:lnTo>
                    <a:pt x="384517" y="395871"/>
                  </a:lnTo>
                  <a:lnTo>
                    <a:pt x="359003" y="361429"/>
                  </a:lnTo>
                  <a:lnTo>
                    <a:pt x="349796" y="361429"/>
                  </a:lnTo>
                  <a:lnTo>
                    <a:pt x="324281" y="395871"/>
                  </a:lnTo>
                  <a:lnTo>
                    <a:pt x="297091" y="425526"/>
                  </a:lnTo>
                  <a:lnTo>
                    <a:pt x="260083" y="458724"/>
                  </a:lnTo>
                  <a:lnTo>
                    <a:pt x="226237" y="482193"/>
                  </a:lnTo>
                  <a:lnTo>
                    <a:pt x="199212" y="493826"/>
                  </a:lnTo>
                  <a:lnTo>
                    <a:pt x="182676" y="491477"/>
                  </a:lnTo>
                  <a:lnTo>
                    <a:pt x="180327" y="474954"/>
                  </a:lnTo>
                  <a:lnTo>
                    <a:pt x="191960" y="447929"/>
                  </a:lnTo>
                  <a:lnTo>
                    <a:pt x="215430" y="414070"/>
                  </a:lnTo>
                  <a:lnTo>
                    <a:pt x="248627" y="377063"/>
                  </a:lnTo>
                  <a:lnTo>
                    <a:pt x="290131" y="340347"/>
                  </a:lnTo>
                  <a:lnTo>
                    <a:pt x="309295" y="326555"/>
                  </a:lnTo>
                  <a:lnTo>
                    <a:pt x="309295" y="317601"/>
                  </a:lnTo>
                  <a:lnTo>
                    <a:pt x="276555" y="292823"/>
                  </a:lnTo>
                  <a:lnTo>
                    <a:pt x="215417" y="230073"/>
                  </a:lnTo>
                  <a:lnTo>
                    <a:pt x="191947" y="196215"/>
                  </a:lnTo>
                  <a:lnTo>
                    <a:pt x="180327" y="169189"/>
                  </a:lnTo>
                  <a:lnTo>
                    <a:pt x="182676" y="152679"/>
                  </a:lnTo>
                  <a:lnTo>
                    <a:pt x="199186" y="150329"/>
                  </a:lnTo>
                  <a:lnTo>
                    <a:pt x="226199" y="161937"/>
                  </a:lnTo>
                  <a:lnTo>
                    <a:pt x="260070" y="185420"/>
                  </a:lnTo>
                  <a:lnTo>
                    <a:pt x="297091" y="218617"/>
                  </a:lnTo>
                  <a:lnTo>
                    <a:pt x="324281" y="248272"/>
                  </a:lnTo>
                  <a:lnTo>
                    <a:pt x="349796" y="282727"/>
                  </a:lnTo>
                  <a:lnTo>
                    <a:pt x="359003" y="282727"/>
                  </a:lnTo>
                  <a:lnTo>
                    <a:pt x="384530" y="248272"/>
                  </a:lnTo>
                  <a:lnTo>
                    <a:pt x="411721" y="218617"/>
                  </a:lnTo>
                  <a:lnTo>
                    <a:pt x="448729" y="185420"/>
                  </a:lnTo>
                  <a:lnTo>
                    <a:pt x="482587" y="161937"/>
                  </a:lnTo>
                  <a:lnTo>
                    <a:pt x="509612" y="150317"/>
                  </a:lnTo>
                  <a:lnTo>
                    <a:pt x="526122" y="152679"/>
                  </a:lnTo>
                  <a:lnTo>
                    <a:pt x="528472" y="169189"/>
                  </a:lnTo>
                  <a:lnTo>
                    <a:pt x="516851" y="196215"/>
                  </a:lnTo>
                  <a:lnTo>
                    <a:pt x="493382" y="230073"/>
                  </a:lnTo>
                  <a:lnTo>
                    <a:pt x="460184" y="267093"/>
                  </a:lnTo>
                  <a:lnTo>
                    <a:pt x="418668" y="303809"/>
                  </a:lnTo>
                  <a:lnTo>
                    <a:pt x="399503" y="317601"/>
                  </a:lnTo>
                  <a:lnTo>
                    <a:pt x="399503" y="326555"/>
                  </a:lnTo>
                  <a:lnTo>
                    <a:pt x="432257" y="351320"/>
                  </a:lnTo>
                  <a:lnTo>
                    <a:pt x="493382" y="414070"/>
                  </a:lnTo>
                  <a:lnTo>
                    <a:pt x="516851" y="447929"/>
                  </a:lnTo>
                  <a:lnTo>
                    <a:pt x="528485" y="474954"/>
                  </a:lnTo>
                  <a:lnTo>
                    <a:pt x="528485" y="12649"/>
                  </a:lnTo>
                  <a:lnTo>
                    <a:pt x="520077" y="9144"/>
                  </a:lnTo>
                  <a:lnTo>
                    <a:pt x="507492" y="7467"/>
                  </a:lnTo>
                  <a:lnTo>
                    <a:pt x="201320" y="7467"/>
                  </a:lnTo>
                  <a:lnTo>
                    <a:pt x="159562" y="31584"/>
                  </a:lnTo>
                  <a:lnTo>
                    <a:pt x="6464" y="296748"/>
                  </a:lnTo>
                  <a:lnTo>
                    <a:pt x="0" y="320852"/>
                  </a:lnTo>
                  <a:lnTo>
                    <a:pt x="1625" y="333222"/>
                  </a:lnTo>
                  <a:lnTo>
                    <a:pt x="159550" y="610120"/>
                  </a:lnTo>
                  <a:lnTo>
                    <a:pt x="201307" y="634225"/>
                  </a:lnTo>
                  <a:lnTo>
                    <a:pt x="507492" y="634225"/>
                  </a:lnTo>
                  <a:lnTo>
                    <a:pt x="549236" y="610120"/>
                  </a:lnTo>
                  <a:lnTo>
                    <a:pt x="616369" y="493826"/>
                  </a:lnTo>
                  <a:lnTo>
                    <a:pt x="702322" y="344957"/>
                  </a:lnTo>
                  <a:lnTo>
                    <a:pt x="707174" y="333222"/>
                  </a:lnTo>
                  <a:lnTo>
                    <a:pt x="708799" y="320852"/>
                  </a:lnTo>
                  <a:close/>
                </a:path>
                <a:path w="13844905" h="638810">
                  <a:moveTo>
                    <a:pt x="3583089" y="307213"/>
                  </a:moveTo>
                  <a:lnTo>
                    <a:pt x="3464509" y="222288"/>
                  </a:lnTo>
                  <a:lnTo>
                    <a:pt x="3430613" y="207022"/>
                  </a:lnTo>
                  <a:lnTo>
                    <a:pt x="3402406" y="207949"/>
                  </a:lnTo>
                  <a:lnTo>
                    <a:pt x="3399675" y="207949"/>
                  </a:lnTo>
                  <a:lnTo>
                    <a:pt x="3372294" y="220954"/>
                  </a:lnTo>
                  <a:lnTo>
                    <a:pt x="3352254" y="243497"/>
                  </a:lnTo>
                  <a:lnTo>
                    <a:pt x="3342551" y="273456"/>
                  </a:lnTo>
                  <a:lnTo>
                    <a:pt x="3344545" y="300075"/>
                  </a:lnTo>
                  <a:lnTo>
                    <a:pt x="3373551" y="342480"/>
                  </a:lnTo>
                  <a:lnTo>
                    <a:pt x="3419195" y="356565"/>
                  </a:lnTo>
                  <a:lnTo>
                    <a:pt x="3420529" y="356565"/>
                  </a:lnTo>
                  <a:lnTo>
                    <a:pt x="3431057" y="355434"/>
                  </a:lnTo>
                  <a:lnTo>
                    <a:pt x="3441522" y="352729"/>
                  </a:lnTo>
                  <a:lnTo>
                    <a:pt x="3581984" y="313486"/>
                  </a:lnTo>
                  <a:lnTo>
                    <a:pt x="3583089" y="307213"/>
                  </a:lnTo>
                  <a:close/>
                </a:path>
                <a:path w="13844905" h="638810">
                  <a:moveTo>
                    <a:pt x="3592322" y="359600"/>
                  </a:moveTo>
                  <a:lnTo>
                    <a:pt x="3434588" y="366052"/>
                  </a:lnTo>
                  <a:lnTo>
                    <a:pt x="3384740" y="396151"/>
                  </a:lnTo>
                  <a:lnTo>
                    <a:pt x="3371354" y="453656"/>
                  </a:lnTo>
                  <a:lnTo>
                    <a:pt x="3383178" y="482866"/>
                  </a:lnTo>
                  <a:lnTo>
                    <a:pt x="3401796" y="501942"/>
                  </a:lnTo>
                  <a:lnTo>
                    <a:pt x="3425367" y="513181"/>
                  </a:lnTo>
                  <a:lnTo>
                    <a:pt x="3451314" y="515810"/>
                  </a:lnTo>
                  <a:lnTo>
                    <a:pt x="3477145" y="509143"/>
                  </a:lnTo>
                  <a:lnTo>
                    <a:pt x="3509962" y="479958"/>
                  </a:lnTo>
                  <a:lnTo>
                    <a:pt x="3592322" y="359600"/>
                  </a:lnTo>
                  <a:close/>
                </a:path>
                <a:path w="13844905" h="638810">
                  <a:moveTo>
                    <a:pt x="3608590" y="267385"/>
                  </a:moveTo>
                  <a:lnTo>
                    <a:pt x="3572345" y="126123"/>
                  </a:lnTo>
                  <a:lnTo>
                    <a:pt x="3531679" y="73406"/>
                  </a:lnTo>
                  <a:lnTo>
                    <a:pt x="3502571" y="65824"/>
                  </a:lnTo>
                  <a:lnTo>
                    <a:pt x="3472726" y="70218"/>
                  </a:lnTo>
                  <a:lnTo>
                    <a:pt x="3446018" y="86931"/>
                  </a:lnTo>
                  <a:lnTo>
                    <a:pt x="3430447" y="108597"/>
                  </a:lnTo>
                  <a:lnTo>
                    <a:pt x="3423488" y="133731"/>
                  </a:lnTo>
                  <a:lnTo>
                    <a:pt x="3425406" y="159740"/>
                  </a:lnTo>
                  <a:lnTo>
                    <a:pt x="3452037" y="200507"/>
                  </a:lnTo>
                  <a:lnTo>
                    <a:pt x="3603701" y="271487"/>
                  </a:lnTo>
                  <a:lnTo>
                    <a:pt x="3608590" y="267385"/>
                  </a:lnTo>
                  <a:close/>
                </a:path>
                <a:path w="13844905" h="638810">
                  <a:moveTo>
                    <a:pt x="3645001" y="544207"/>
                  </a:moveTo>
                  <a:lnTo>
                    <a:pt x="3644874" y="542607"/>
                  </a:lnTo>
                  <a:lnTo>
                    <a:pt x="3644150" y="533438"/>
                  </a:lnTo>
                  <a:lnTo>
                    <a:pt x="3629914" y="388315"/>
                  </a:lnTo>
                  <a:lnTo>
                    <a:pt x="3519703" y="488149"/>
                  </a:lnTo>
                  <a:lnTo>
                    <a:pt x="3494379" y="549719"/>
                  </a:lnTo>
                  <a:lnTo>
                    <a:pt x="3502368" y="578726"/>
                  </a:lnTo>
                  <a:lnTo>
                    <a:pt x="3521087" y="602373"/>
                  </a:lnTo>
                  <a:lnTo>
                    <a:pt x="3548900" y="617143"/>
                  </a:lnTo>
                  <a:lnTo>
                    <a:pt x="3575469" y="619798"/>
                  </a:lnTo>
                  <a:lnTo>
                    <a:pt x="3600704" y="613257"/>
                  </a:lnTo>
                  <a:lnTo>
                    <a:pt x="3637762" y="576872"/>
                  </a:lnTo>
                  <a:lnTo>
                    <a:pt x="3644265" y="555142"/>
                  </a:lnTo>
                  <a:lnTo>
                    <a:pt x="3645001" y="544207"/>
                  </a:lnTo>
                  <a:close/>
                </a:path>
                <a:path w="13844905" h="638810">
                  <a:moveTo>
                    <a:pt x="3725913" y="85737"/>
                  </a:moveTo>
                  <a:lnTo>
                    <a:pt x="3719499" y="55257"/>
                  </a:lnTo>
                  <a:lnTo>
                    <a:pt x="3702075" y="30734"/>
                  </a:lnTo>
                  <a:lnTo>
                    <a:pt x="3676383" y="14909"/>
                  </a:lnTo>
                  <a:lnTo>
                    <a:pt x="3645192" y="10541"/>
                  </a:lnTo>
                  <a:lnTo>
                    <a:pt x="3619322" y="17132"/>
                  </a:lnTo>
                  <a:lnTo>
                    <a:pt x="3582593" y="53073"/>
                  </a:lnTo>
                  <a:lnTo>
                    <a:pt x="3575291" y="90335"/>
                  </a:lnTo>
                  <a:lnTo>
                    <a:pt x="3576790" y="101422"/>
                  </a:lnTo>
                  <a:lnTo>
                    <a:pt x="3579838" y="111950"/>
                  </a:lnTo>
                  <a:lnTo>
                    <a:pt x="3584308" y="121780"/>
                  </a:lnTo>
                  <a:lnTo>
                    <a:pt x="3647351" y="253301"/>
                  </a:lnTo>
                  <a:lnTo>
                    <a:pt x="3653713" y="253301"/>
                  </a:lnTo>
                  <a:lnTo>
                    <a:pt x="3716756" y="121780"/>
                  </a:lnTo>
                  <a:lnTo>
                    <a:pt x="3725913" y="85737"/>
                  </a:lnTo>
                  <a:close/>
                </a:path>
                <a:path w="13844905" h="638810">
                  <a:moveTo>
                    <a:pt x="3806456" y="552145"/>
                  </a:moveTo>
                  <a:lnTo>
                    <a:pt x="3806431" y="551891"/>
                  </a:lnTo>
                  <a:lnTo>
                    <a:pt x="3804361" y="525551"/>
                  </a:lnTo>
                  <a:lnTo>
                    <a:pt x="3800589" y="514629"/>
                  </a:lnTo>
                  <a:lnTo>
                    <a:pt x="3795382" y="504710"/>
                  </a:lnTo>
                  <a:lnTo>
                    <a:pt x="3788918" y="495871"/>
                  </a:lnTo>
                  <a:lnTo>
                    <a:pt x="3781348" y="488149"/>
                  </a:lnTo>
                  <a:lnTo>
                    <a:pt x="3679355" y="388315"/>
                  </a:lnTo>
                  <a:lnTo>
                    <a:pt x="3677170" y="386130"/>
                  </a:lnTo>
                  <a:lnTo>
                    <a:pt x="3671138" y="388315"/>
                  </a:lnTo>
                  <a:lnTo>
                    <a:pt x="3656901" y="533438"/>
                  </a:lnTo>
                  <a:lnTo>
                    <a:pt x="3656076" y="542607"/>
                  </a:lnTo>
                  <a:lnTo>
                    <a:pt x="3656139" y="544207"/>
                  </a:lnTo>
                  <a:lnTo>
                    <a:pt x="3656317" y="549719"/>
                  </a:lnTo>
                  <a:lnTo>
                    <a:pt x="3677069" y="596912"/>
                  </a:lnTo>
                  <a:lnTo>
                    <a:pt x="3731374" y="620090"/>
                  </a:lnTo>
                  <a:lnTo>
                    <a:pt x="3762184" y="613524"/>
                  </a:lnTo>
                  <a:lnTo>
                    <a:pt x="3784231" y="598474"/>
                  </a:lnTo>
                  <a:lnTo>
                    <a:pt x="3799370" y="577240"/>
                  </a:lnTo>
                  <a:lnTo>
                    <a:pt x="3799471" y="576872"/>
                  </a:lnTo>
                  <a:lnTo>
                    <a:pt x="3806456" y="552145"/>
                  </a:lnTo>
                  <a:close/>
                </a:path>
                <a:path w="13844905" h="638810">
                  <a:moveTo>
                    <a:pt x="3877462" y="132080"/>
                  </a:moveTo>
                  <a:lnTo>
                    <a:pt x="3867950" y="103454"/>
                  </a:lnTo>
                  <a:lnTo>
                    <a:pt x="3846855" y="80048"/>
                  </a:lnTo>
                  <a:lnTo>
                    <a:pt x="3822814" y="68478"/>
                  </a:lnTo>
                  <a:lnTo>
                    <a:pt x="3796855" y="65989"/>
                  </a:lnTo>
                  <a:lnTo>
                    <a:pt x="3771569" y="72402"/>
                  </a:lnTo>
                  <a:lnTo>
                    <a:pt x="3736035" y="105702"/>
                  </a:lnTo>
                  <a:lnTo>
                    <a:pt x="3692474" y="267385"/>
                  </a:lnTo>
                  <a:lnTo>
                    <a:pt x="3694912" y="269455"/>
                  </a:lnTo>
                  <a:lnTo>
                    <a:pt x="3697376" y="271487"/>
                  </a:lnTo>
                  <a:lnTo>
                    <a:pt x="3830205" y="211264"/>
                  </a:lnTo>
                  <a:lnTo>
                    <a:pt x="3875049" y="162064"/>
                  </a:lnTo>
                  <a:lnTo>
                    <a:pt x="3877462" y="132080"/>
                  </a:lnTo>
                  <a:close/>
                </a:path>
                <a:path w="13844905" h="638810">
                  <a:moveTo>
                    <a:pt x="3930459" y="447916"/>
                  </a:moveTo>
                  <a:lnTo>
                    <a:pt x="3917696" y="398145"/>
                  </a:lnTo>
                  <a:lnTo>
                    <a:pt x="3878719" y="368935"/>
                  </a:lnTo>
                  <a:lnTo>
                    <a:pt x="3711905" y="354088"/>
                  </a:lnTo>
                  <a:lnTo>
                    <a:pt x="3708730" y="359600"/>
                  </a:lnTo>
                  <a:lnTo>
                    <a:pt x="3791115" y="479958"/>
                  </a:lnTo>
                  <a:lnTo>
                    <a:pt x="3847363" y="515594"/>
                  </a:lnTo>
                  <a:lnTo>
                    <a:pt x="3877310" y="512762"/>
                  </a:lnTo>
                  <a:lnTo>
                    <a:pt x="3903853" y="498436"/>
                  </a:lnTo>
                  <a:lnTo>
                    <a:pt x="3923233" y="473595"/>
                  </a:lnTo>
                  <a:lnTo>
                    <a:pt x="3930459" y="447916"/>
                  </a:lnTo>
                  <a:close/>
                </a:path>
                <a:path w="13844905" h="638810">
                  <a:moveTo>
                    <a:pt x="3957790" y="294411"/>
                  </a:moveTo>
                  <a:lnTo>
                    <a:pt x="3945686" y="238607"/>
                  </a:lnTo>
                  <a:lnTo>
                    <a:pt x="3903916" y="208686"/>
                  </a:lnTo>
                  <a:lnTo>
                    <a:pt x="3877360" y="206121"/>
                  </a:lnTo>
                  <a:lnTo>
                    <a:pt x="3865956" y="207949"/>
                  </a:lnTo>
                  <a:lnTo>
                    <a:pt x="3717975" y="307213"/>
                  </a:lnTo>
                  <a:lnTo>
                    <a:pt x="3719080" y="313486"/>
                  </a:lnTo>
                  <a:lnTo>
                    <a:pt x="3868407" y="355117"/>
                  </a:lnTo>
                  <a:lnTo>
                    <a:pt x="3877602" y="356425"/>
                  </a:lnTo>
                  <a:lnTo>
                    <a:pt x="3887038" y="356565"/>
                  </a:lnTo>
                  <a:lnTo>
                    <a:pt x="3897172" y="355434"/>
                  </a:lnTo>
                  <a:lnTo>
                    <a:pt x="3896779" y="355434"/>
                  </a:lnTo>
                  <a:lnTo>
                    <a:pt x="3925532" y="343877"/>
                  </a:lnTo>
                  <a:lnTo>
                    <a:pt x="3946664" y="322453"/>
                  </a:lnTo>
                  <a:lnTo>
                    <a:pt x="3957790" y="294411"/>
                  </a:lnTo>
                  <a:close/>
                </a:path>
                <a:path w="13844905" h="638810">
                  <a:moveTo>
                    <a:pt x="7267638" y="467931"/>
                  </a:moveTo>
                  <a:lnTo>
                    <a:pt x="7234720" y="435000"/>
                  </a:lnTo>
                  <a:lnTo>
                    <a:pt x="7120687" y="320967"/>
                  </a:lnTo>
                  <a:lnTo>
                    <a:pt x="7234987" y="206667"/>
                  </a:lnTo>
                  <a:lnTo>
                    <a:pt x="7267626" y="174015"/>
                  </a:lnTo>
                  <a:lnTo>
                    <a:pt x="7264146" y="165595"/>
                  </a:lnTo>
                  <a:lnTo>
                    <a:pt x="7109638" y="165595"/>
                  </a:lnTo>
                  <a:lnTo>
                    <a:pt x="7109638" y="154533"/>
                  </a:lnTo>
                  <a:lnTo>
                    <a:pt x="7109638" y="11074"/>
                  </a:lnTo>
                  <a:lnTo>
                    <a:pt x="7101218" y="7581"/>
                  </a:lnTo>
                  <a:lnTo>
                    <a:pt x="7068426" y="40373"/>
                  </a:lnTo>
                  <a:lnTo>
                    <a:pt x="7068426" y="320827"/>
                  </a:lnTo>
                  <a:lnTo>
                    <a:pt x="7068401" y="320967"/>
                  </a:lnTo>
                  <a:lnTo>
                    <a:pt x="6967194" y="429628"/>
                  </a:lnTo>
                  <a:lnTo>
                    <a:pt x="6954240" y="435000"/>
                  </a:lnTo>
                  <a:lnTo>
                    <a:pt x="6947357" y="433654"/>
                  </a:lnTo>
                  <a:lnTo>
                    <a:pt x="6941299" y="429628"/>
                  </a:lnTo>
                  <a:lnTo>
                    <a:pt x="6845440" y="333781"/>
                  </a:lnTo>
                  <a:lnTo>
                    <a:pt x="6841414" y="327710"/>
                  </a:lnTo>
                  <a:lnTo>
                    <a:pt x="6840080" y="320827"/>
                  </a:lnTo>
                  <a:lnTo>
                    <a:pt x="6841414" y="313931"/>
                  </a:lnTo>
                  <a:lnTo>
                    <a:pt x="6845440" y="307886"/>
                  </a:lnTo>
                  <a:lnTo>
                    <a:pt x="6941299" y="212026"/>
                  </a:lnTo>
                  <a:lnTo>
                    <a:pt x="6947357" y="208000"/>
                  </a:lnTo>
                  <a:lnTo>
                    <a:pt x="6954253" y="206667"/>
                  </a:lnTo>
                  <a:lnTo>
                    <a:pt x="6961137" y="208000"/>
                  </a:lnTo>
                  <a:lnTo>
                    <a:pt x="6967194" y="212026"/>
                  </a:lnTo>
                  <a:lnTo>
                    <a:pt x="7063054" y="307886"/>
                  </a:lnTo>
                  <a:lnTo>
                    <a:pt x="7067080" y="313931"/>
                  </a:lnTo>
                  <a:lnTo>
                    <a:pt x="7068426" y="320827"/>
                  </a:lnTo>
                  <a:lnTo>
                    <a:pt x="7068426" y="40373"/>
                  </a:lnTo>
                  <a:lnTo>
                    <a:pt x="6954266" y="154533"/>
                  </a:lnTo>
                  <a:lnTo>
                    <a:pt x="6807301" y="7581"/>
                  </a:lnTo>
                  <a:lnTo>
                    <a:pt x="6798869" y="11074"/>
                  </a:lnTo>
                  <a:lnTo>
                    <a:pt x="6798869" y="165595"/>
                  </a:lnTo>
                  <a:lnTo>
                    <a:pt x="6644360" y="165595"/>
                  </a:lnTo>
                  <a:lnTo>
                    <a:pt x="6640868" y="174015"/>
                  </a:lnTo>
                  <a:lnTo>
                    <a:pt x="6787820" y="320967"/>
                  </a:lnTo>
                  <a:lnTo>
                    <a:pt x="6640868" y="467931"/>
                  </a:lnTo>
                  <a:lnTo>
                    <a:pt x="6644360" y="476351"/>
                  </a:lnTo>
                  <a:lnTo>
                    <a:pt x="6798869" y="476351"/>
                  </a:lnTo>
                  <a:lnTo>
                    <a:pt x="6798869" y="630580"/>
                  </a:lnTo>
                  <a:lnTo>
                    <a:pt x="6807301" y="634072"/>
                  </a:lnTo>
                  <a:lnTo>
                    <a:pt x="6954266" y="487121"/>
                  </a:lnTo>
                  <a:lnTo>
                    <a:pt x="7101218" y="634072"/>
                  </a:lnTo>
                  <a:lnTo>
                    <a:pt x="7109638" y="630580"/>
                  </a:lnTo>
                  <a:lnTo>
                    <a:pt x="7109638" y="487121"/>
                  </a:lnTo>
                  <a:lnTo>
                    <a:pt x="7109638" y="476351"/>
                  </a:lnTo>
                  <a:lnTo>
                    <a:pt x="7264159" y="476351"/>
                  </a:lnTo>
                  <a:lnTo>
                    <a:pt x="7267638" y="467931"/>
                  </a:lnTo>
                  <a:close/>
                </a:path>
                <a:path w="13844905" h="638810">
                  <a:moveTo>
                    <a:pt x="10085654" y="625983"/>
                  </a:moveTo>
                  <a:lnTo>
                    <a:pt x="10085641" y="493890"/>
                  </a:lnTo>
                  <a:lnTo>
                    <a:pt x="10080688" y="488937"/>
                  </a:lnTo>
                  <a:lnTo>
                    <a:pt x="9948608" y="488937"/>
                  </a:lnTo>
                  <a:lnTo>
                    <a:pt x="9943503" y="494474"/>
                  </a:lnTo>
                  <a:lnTo>
                    <a:pt x="9944036" y="500938"/>
                  </a:lnTo>
                  <a:lnTo>
                    <a:pt x="9957029" y="549452"/>
                  </a:lnTo>
                  <a:lnTo>
                    <a:pt x="9985159" y="589432"/>
                  </a:lnTo>
                  <a:lnTo>
                    <a:pt x="10025139" y="617562"/>
                  </a:lnTo>
                  <a:lnTo>
                    <a:pt x="10073653" y="630555"/>
                  </a:lnTo>
                  <a:lnTo>
                    <a:pt x="10080104" y="631088"/>
                  </a:lnTo>
                  <a:lnTo>
                    <a:pt x="10085654" y="625983"/>
                  </a:lnTo>
                  <a:close/>
                </a:path>
                <a:path w="13844905" h="638810">
                  <a:moveTo>
                    <a:pt x="10085654" y="144627"/>
                  </a:moveTo>
                  <a:lnTo>
                    <a:pt x="10085641" y="12534"/>
                  </a:lnTo>
                  <a:lnTo>
                    <a:pt x="10080104" y="7429"/>
                  </a:lnTo>
                  <a:lnTo>
                    <a:pt x="10073640" y="7975"/>
                  </a:lnTo>
                  <a:lnTo>
                    <a:pt x="10025126" y="20955"/>
                  </a:lnTo>
                  <a:lnTo>
                    <a:pt x="9985159" y="49098"/>
                  </a:lnTo>
                  <a:lnTo>
                    <a:pt x="9957029" y="89065"/>
                  </a:lnTo>
                  <a:lnTo>
                    <a:pt x="9944036" y="137591"/>
                  </a:lnTo>
                  <a:lnTo>
                    <a:pt x="9943503" y="144030"/>
                  </a:lnTo>
                  <a:lnTo>
                    <a:pt x="9948608" y="149580"/>
                  </a:lnTo>
                  <a:lnTo>
                    <a:pt x="10080701" y="149580"/>
                  </a:lnTo>
                  <a:lnTo>
                    <a:pt x="10085654" y="144627"/>
                  </a:lnTo>
                  <a:close/>
                </a:path>
                <a:path w="13844905" h="638810">
                  <a:moveTo>
                    <a:pt x="10085908" y="455650"/>
                  </a:moveTo>
                  <a:lnTo>
                    <a:pt x="10077183" y="412203"/>
                  </a:lnTo>
                  <a:lnTo>
                    <a:pt x="10035337" y="352602"/>
                  </a:lnTo>
                  <a:lnTo>
                    <a:pt x="9997186" y="329819"/>
                  </a:lnTo>
                  <a:lnTo>
                    <a:pt x="9974110" y="326047"/>
                  </a:lnTo>
                  <a:lnTo>
                    <a:pt x="9948710" y="326047"/>
                  </a:lnTo>
                  <a:lnTo>
                    <a:pt x="9943770" y="331000"/>
                  </a:lnTo>
                  <a:lnTo>
                    <a:pt x="9943770" y="456285"/>
                  </a:lnTo>
                  <a:lnTo>
                    <a:pt x="9948710" y="461238"/>
                  </a:lnTo>
                  <a:lnTo>
                    <a:pt x="10080841" y="461238"/>
                  </a:lnTo>
                  <a:lnTo>
                    <a:pt x="10085908" y="455650"/>
                  </a:lnTo>
                  <a:close/>
                </a:path>
                <a:path w="13844905" h="638810">
                  <a:moveTo>
                    <a:pt x="10085908" y="182613"/>
                  </a:moveTo>
                  <a:lnTo>
                    <a:pt x="10080841" y="177050"/>
                  </a:lnTo>
                  <a:lnTo>
                    <a:pt x="9948710" y="177050"/>
                  </a:lnTo>
                  <a:lnTo>
                    <a:pt x="9943770" y="181991"/>
                  </a:lnTo>
                  <a:lnTo>
                    <a:pt x="9943770" y="307289"/>
                  </a:lnTo>
                  <a:lnTo>
                    <a:pt x="9948710" y="312229"/>
                  </a:lnTo>
                  <a:lnTo>
                    <a:pt x="9974097" y="312229"/>
                  </a:lnTo>
                  <a:lnTo>
                    <a:pt x="10035324" y="285673"/>
                  </a:lnTo>
                  <a:lnTo>
                    <a:pt x="10077171" y="226072"/>
                  </a:lnTo>
                  <a:lnTo>
                    <a:pt x="10085908" y="182613"/>
                  </a:lnTo>
                  <a:close/>
                </a:path>
                <a:path w="13844905" h="638810">
                  <a:moveTo>
                    <a:pt x="10245814" y="431126"/>
                  </a:moveTo>
                  <a:lnTo>
                    <a:pt x="10226891" y="379742"/>
                  </a:lnTo>
                  <a:lnTo>
                    <a:pt x="10192372" y="345109"/>
                  </a:lnTo>
                  <a:lnTo>
                    <a:pt x="10156342" y="327698"/>
                  </a:lnTo>
                  <a:lnTo>
                    <a:pt x="10140861" y="326047"/>
                  </a:lnTo>
                  <a:lnTo>
                    <a:pt x="10115448" y="326047"/>
                  </a:lnTo>
                  <a:lnTo>
                    <a:pt x="10110495" y="331000"/>
                  </a:lnTo>
                  <a:lnTo>
                    <a:pt x="10110495" y="456298"/>
                  </a:lnTo>
                  <a:lnTo>
                    <a:pt x="10115448" y="461251"/>
                  </a:lnTo>
                  <a:lnTo>
                    <a:pt x="10240861" y="461251"/>
                  </a:lnTo>
                  <a:lnTo>
                    <a:pt x="10245814" y="456298"/>
                  </a:lnTo>
                  <a:lnTo>
                    <a:pt x="10245814" y="431126"/>
                  </a:lnTo>
                  <a:close/>
                </a:path>
                <a:path w="13844905" h="638810">
                  <a:moveTo>
                    <a:pt x="10245814" y="181991"/>
                  </a:moveTo>
                  <a:lnTo>
                    <a:pt x="10240861" y="177050"/>
                  </a:lnTo>
                  <a:lnTo>
                    <a:pt x="10115448" y="177050"/>
                  </a:lnTo>
                  <a:lnTo>
                    <a:pt x="10110495" y="181991"/>
                  </a:lnTo>
                  <a:lnTo>
                    <a:pt x="10110495" y="307301"/>
                  </a:lnTo>
                  <a:lnTo>
                    <a:pt x="10115448" y="312242"/>
                  </a:lnTo>
                  <a:lnTo>
                    <a:pt x="10140861" y="312242"/>
                  </a:lnTo>
                  <a:lnTo>
                    <a:pt x="10192372" y="293179"/>
                  </a:lnTo>
                  <a:lnTo>
                    <a:pt x="10226891" y="258559"/>
                  </a:lnTo>
                  <a:lnTo>
                    <a:pt x="10244176" y="222554"/>
                  </a:lnTo>
                  <a:lnTo>
                    <a:pt x="10245814" y="207162"/>
                  </a:lnTo>
                  <a:lnTo>
                    <a:pt x="10245814" y="181991"/>
                  </a:lnTo>
                  <a:close/>
                </a:path>
                <a:path w="13844905" h="638810">
                  <a:moveTo>
                    <a:pt x="10245814" y="12420"/>
                  </a:moveTo>
                  <a:lnTo>
                    <a:pt x="10240861" y="7467"/>
                  </a:lnTo>
                  <a:lnTo>
                    <a:pt x="10115448" y="7467"/>
                  </a:lnTo>
                  <a:lnTo>
                    <a:pt x="10110495" y="12420"/>
                  </a:lnTo>
                  <a:lnTo>
                    <a:pt x="10110495" y="144538"/>
                  </a:lnTo>
                  <a:lnTo>
                    <a:pt x="10116083" y="149618"/>
                  </a:lnTo>
                  <a:lnTo>
                    <a:pt x="10122548" y="149085"/>
                  </a:lnTo>
                  <a:lnTo>
                    <a:pt x="10192360" y="123621"/>
                  </a:lnTo>
                  <a:lnTo>
                    <a:pt x="10239172" y="67754"/>
                  </a:lnTo>
                  <a:lnTo>
                    <a:pt x="10245814" y="12420"/>
                  </a:lnTo>
                  <a:close/>
                </a:path>
                <a:path w="13844905" h="638810">
                  <a:moveTo>
                    <a:pt x="10245827" y="600735"/>
                  </a:moveTo>
                  <a:lnTo>
                    <a:pt x="10219360" y="539496"/>
                  </a:lnTo>
                  <a:lnTo>
                    <a:pt x="10159657" y="497446"/>
                  </a:lnTo>
                  <a:lnTo>
                    <a:pt x="10116083" y="488670"/>
                  </a:lnTo>
                  <a:lnTo>
                    <a:pt x="10110508" y="493737"/>
                  </a:lnTo>
                  <a:lnTo>
                    <a:pt x="10110508" y="625881"/>
                  </a:lnTo>
                  <a:lnTo>
                    <a:pt x="10115461" y="630821"/>
                  </a:lnTo>
                  <a:lnTo>
                    <a:pt x="10240874" y="630821"/>
                  </a:lnTo>
                  <a:lnTo>
                    <a:pt x="10245827" y="625881"/>
                  </a:lnTo>
                  <a:lnTo>
                    <a:pt x="10245827" y="600735"/>
                  </a:lnTo>
                  <a:close/>
                </a:path>
                <a:path w="13844905" h="638810">
                  <a:moveTo>
                    <a:pt x="10394709" y="493737"/>
                  </a:moveTo>
                  <a:lnTo>
                    <a:pt x="10389133" y="488670"/>
                  </a:lnTo>
                  <a:lnTo>
                    <a:pt x="10382644" y="489216"/>
                  </a:lnTo>
                  <a:lnTo>
                    <a:pt x="10345763" y="497370"/>
                  </a:lnTo>
                  <a:lnTo>
                    <a:pt x="10286276" y="539000"/>
                  </a:lnTo>
                  <a:lnTo>
                    <a:pt x="10263416" y="577037"/>
                  </a:lnTo>
                  <a:lnTo>
                    <a:pt x="10259619" y="600240"/>
                  </a:lnTo>
                  <a:lnTo>
                    <a:pt x="10259619" y="625881"/>
                  </a:lnTo>
                  <a:lnTo>
                    <a:pt x="10264559" y="630821"/>
                  </a:lnTo>
                  <a:lnTo>
                    <a:pt x="10389756" y="630821"/>
                  </a:lnTo>
                  <a:lnTo>
                    <a:pt x="10394709" y="625881"/>
                  </a:lnTo>
                  <a:lnTo>
                    <a:pt x="10394709" y="493737"/>
                  </a:lnTo>
                  <a:close/>
                </a:path>
                <a:path w="13844905" h="638810">
                  <a:moveTo>
                    <a:pt x="10394709" y="181991"/>
                  </a:moveTo>
                  <a:lnTo>
                    <a:pt x="10389756" y="177050"/>
                  </a:lnTo>
                  <a:lnTo>
                    <a:pt x="10264572" y="177050"/>
                  </a:lnTo>
                  <a:lnTo>
                    <a:pt x="10259631" y="181991"/>
                  </a:lnTo>
                  <a:lnTo>
                    <a:pt x="10259631" y="207632"/>
                  </a:lnTo>
                  <a:lnTo>
                    <a:pt x="10278681" y="259067"/>
                  </a:lnTo>
                  <a:lnTo>
                    <a:pt x="10313022" y="293319"/>
                  </a:lnTo>
                  <a:lnTo>
                    <a:pt x="10348887" y="310603"/>
                  </a:lnTo>
                  <a:lnTo>
                    <a:pt x="10364330" y="312242"/>
                  </a:lnTo>
                  <a:lnTo>
                    <a:pt x="10389756" y="312242"/>
                  </a:lnTo>
                  <a:lnTo>
                    <a:pt x="10394709" y="307301"/>
                  </a:lnTo>
                  <a:lnTo>
                    <a:pt x="10394709" y="181991"/>
                  </a:lnTo>
                  <a:close/>
                </a:path>
                <a:path w="13844905" h="638810">
                  <a:moveTo>
                    <a:pt x="10394721" y="144551"/>
                  </a:moveTo>
                  <a:lnTo>
                    <a:pt x="10394709" y="12420"/>
                  </a:lnTo>
                  <a:lnTo>
                    <a:pt x="10389756" y="7467"/>
                  </a:lnTo>
                  <a:lnTo>
                    <a:pt x="10264572" y="7467"/>
                  </a:lnTo>
                  <a:lnTo>
                    <a:pt x="10259631" y="12420"/>
                  </a:lnTo>
                  <a:lnTo>
                    <a:pt x="10259631" y="38049"/>
                  </a:lnTo>
                  <a:lnTo>
                    <a:pt x="10286289" y="99288"/>
                  </a:lnTo>
                  <a:lnTo>
                    <a:pt x="10345776" y="140931"/>
                  </a:lnTo>
                  <a:lnTo>
                    <a:pt x="10389133" y="149631"/>
                  </a:lnTo>
                  <a:lnTo>
                    <a:pt x="10394721" y="144551"/>
                  </a:lnTo>
                  <a:close/>
                </a:path>
                <a:path w="13844905" h="638810">
                  <a:moveTo>
                    <a:pt x="10394734" y="456298"/>
                  </a:moveTo>
                  <a:lnTo>
                    <a:pt x="10394709" y="331000"/>
                  </a:lnTo>
                  <a:lnTo>
                    <a:pt x="10389756" y="326047"/>
                  </a:lnTo>
                  <a:lnTo>
                    <a:pt x="10364343" y="326047"/>
                  </a:lnTo>
                  <a:lnTo>
                    <a:pt x="10313035" y="344982"/>
                  </a:lnTo>
                  <a:lnTo>
                    <a:pt x="10278694" y="379234"/>
                  </a:lnTo>
                  <a:lnTo>
                    <a:pt x="10261295" y="415137"/>
                  </a:lnTo>
                  <a:lnTo>
                    <a:pt x="10259644" y="430669"/>
                  </a:lnTo>
                  <a:lnTo>
                    <a:pt x="10259644" y="456298"/>
                  </a:lnTo>
                  <a:lnTo>
                    <a:pt x="10264584" y="461251"/>
                  </a:lnTo>
                  <a:lnTo>
                    <a:pt x="10389781" y="461251"/>
                  </a:lnTo>
                  <a:lnTo>
                    <a:pt x="10394734" y="456298"/>
                  </a:lnTo>
                  <a:close/>
                </a:path>
                <a:path w="13844905" h="638810">
                  <a:moveTo>
                    <a:pt x="10561676" y="181991"/>
                  </a:moveTo>
                  <a:lnTo>
                    <a:pt x="10556723" y="177050"/>
                  </a:lnTo>
                  <a:lnTo>
                    <a:pt x="10424604" y="177050"/>
                  </a:lnTo>
                  <a:lnTo>
                    <a:pt x="10419524" y="182626"/>
                  </a:lnTo>
                  <a:lnTo>
                    <a:pt x="10420058" y="189103"/>
                  </a:lnTo>
                  <a:lnTo>
                    <a:pt x="10445394" y="258737"/>
                  </a:lnTo>
                  <a:lnTo>
                    <a:pt x="10500982" y="305523"/>
                  </a:lnTo>
                  <a:lnTo>
                    <a:pt x="10531323" y="312229"/>
                  </a:lnTo>
                  <a:lnTo>
                    <a:pt x="10556710" y="312229"/>
                  </a:lnTo>
                  <a:lnTo>
                    <a:pt x="10561663" y="307289"/>
                  </a:lnTo>
                  <a:lnTo>
                    <a:pt x="10561676" y="181991"/>
                  </a:lnTo>
                  <a:close/>
                </a:path>
                <a:path w="13844905" h="638810">
                  <a:moveTo>
                    <a:pt x="10561688" y="456285"/>
                  </a:moveTo>
                  <a:lnTo>
                    <a:pt x="10561676" y="331000"/>
                  </a:lnTo>
                  <a:lnTo>
                    <a:pt x="10556723" y="326047"/>
                  </a:lnTo>
                  <a:lnTo>
                    <a:pt x="10531335" y="326047"/>
                  </a:lnTo>
                  <a:lnTo>
                    <a:pt x="10470109" y="352615"/>
                  </a:lnTo>
                  <a:lnTo>
                    <a:pt x="10428262" y="412203"/>
                  </a:lnTo>
                  <a:lnTo>
                    <a:pt x="10419524" y="455663"/>
                  </a:lnTo>
                  <a:lnTo>
                    <a:pt x="10424604" y="461238"/>
                  </a:lnTo>
                  <a:lnTo>
                    <a:pt x="10556735" y="461238"/>
                  </a:lnTo>
                  <a:lnTo>
                    <a:pt x="10561688" y="456285"/>
                  </a:lnTo>
                  <a:close/>
                </a:path>
                <a:path w="13844905" h="638810">
                  <a:moveTo>
                    <a:pt x="10561714" y="494474"/>
                  </a:moveTo>
                  <a:lnTo>
                    <a:pt x="10556608" y="488937"/>
                  </a:lnTo>
                  <a:lnTo>
                    <a:pt x="10424516" y="488937"/>
                  </a:lnTo>
                  <a:lnTo>
                    <a:pt x="10419563" y="493890"/>
                  </a:lnTo>
                  <a:lnTo>
                    <a:pt x="10419563" y="625983"/>
                  </a:lnTo>
                  <a:lnTo>
                    <a:pt x="10425100" y="631088"/>
                  </a:lnTo>
                  <a:lnTo>
                    <a:pt x="10431551" y="630555"/>
                  </a:lnTo>
                  <a:lnTo>
                    <a:pt x="10480078" y="617562"/>
                  </a:lnTo>
                  <a:lnTo>
                    <a:pt x="10520045" y="589432"/>
                  </a:lnTo>
                  <a:lnTo>
                    <a:pt x="10548188" y="549452"/>
                  </a:lnTo>
                  <a:lnTo>
                    <a:pt x="10561180" y="500938"/>
                  </a:lnTo>
                  <a:lnTo>
                    <a:pt x="10561714" y="494474"/>
                  </a:lnTo>
                  <a:close/>
                </a:path>
                <a:path w="13844905" h="638810">
                  <a:moveTo>
                    <a:pt x="10561714" y="144030"/>
                  </a:moveTo>
                  <a:lnTo>
                    <a:pt x="10548188" y="89065"/>
                  </a:lnTo>
                  <a:lnTo>
                    <a:pt x="10520045" y="49098"/>
                  </a:lnTo>
                  <a:lnTo>
                    <a:pt x="10480078" y="20955"/>
                  </a:lnTo>
                  <a:lnTo>
                    <a:pt x="10431551" y="7975"/>
                  </a:lnTo>
                  <a:lnTo>
                    <a:pt x="10425112" y="7429"/>
                  </a:lnTo>
                  <a:lnTo>
                    <a:pt x="10419563" y="12534"/>
                  </a:lnTo>
                  <a:lnTo>
                    <a:pt x="10419575" y="144614"/>
                  </a:lnTo>
                  <a:lnTo>
                    <a:pt x="10424516" y="149567"/>
                  </a:lnTo>
                  <a:lnTo>
                    <a:pt x="10556608" y="149567"/>
                  </a:lnTo>
                  <a:lnTo>
                    <a:pt x="10561714" y="144030"/>
                  </a:lnTo>
                  <a:close/>
                </a:path>
                <a:path w="13844905" h="638810">
                  <a:moveTo>
                    <a:pt x="13844804" y="166928"/>
                  </a:moveTo>
                  <a:lnTo>
                    <a:pt x="13840473" y="153098"/>
                  </a:lnTo>
                  <a:lnTo>
                    <a:pt x="13830478" y="142608"/>
                  </a:lnTo>
                  <a:lnTo>
                    <a:pt x="13816076" y="137642"/>
                  </a:lnTo>
                  <a:lnTo>
                    <a:pt x="13782205" y="134950"/>
                  </a:lnTo>
                  <a:lnTo>
                    <a:pt x="13773061" y="134023"/>
                  </a:lnTo>
                  <a:lnTo>
                    <a:pt x="13773061" y="314299"/>
                  </a:lnTo>
                  <a:lnTo>
                    <a:pt x="13773061" y="323875"/>
                  </a:lnTo>
                  <a:lnTo>
                    <a:pt x="13769175" y="327736"/>
                  </a:lnTo>
                  <a:lnTo>
                    <a:pt x="13729259" y="327736"/>
                  </a:lnTo>
                  <a:lnTo>
                    <a:pt x="13716991" y="328396"/>
                  </a:lnTo>
                  <a:lnTo>
                    <a:pt x="13665721" y="347281"/>
                  </a:lnTo>
                  <a:lnTo>
                    <a:pt x="13621474" y="381825"/>
                  </a:lnTo>
                  <a:lnTo>
                    <a:pt x="13586930" y="426072"/>
                  </a:lnTo>
                  <a:lnTo>
                    <a:pt x="13570052" y="465239"/>
                  </a:lnTo>
                  <a:lnTo>
                    <a:pt x="13567385" y="489597"/>
                  </a:lnTo>
                  <a:lnTo>
                    <a:pt x="13567385" y="529513"/>
                  </a:lnTo>
                  <a:lnTo>
                    <a:pt x="13563511" y="533400"/>
                  </a:lnTo>
                  <a:lnTo>
                    <a:pt x="13553948" y="533400"/>
                  </a:lnTo>
                  <a:lnTo>
                    <a:pt x="13550075" y="529513"/>
                  </a:lnTo>
                  <a:lnTo>
                    <a:pt x="13550075" y="489597"/>
                  </a:lnTo>
                  <a:lnTo>
                    <a:pt x="13549313" y="476732"/>
                  </a:lnTo>
                  <a:lnTo>
                    <a:pt x="13538111" y="439762"/>
                  </a:lnTo>
                  <a:lnTo>
                    <a:pt x="13508457" y="395312"/>
                  </a:lnTo>
                  <a:lnTo>
                    <a:pt x="13468312" y="358203"/>
                  </a:lnTo>
                  <a:lnTo>
                    <a:pt x="13426186" y="334518"/>
                  </a:lnTo>
                  <a:lnTo>
                    <a:pt x="13400443" y="328396"/>
                  </a:lnTo>
                  <a:lnTo>
                    <a:pt x="13399135" y="328396"/>
                  </a:lnTo>
                  <a:lnTo>
                    <a:pt x="13387934" y="327736"/>
                  </a:lnTo>
                  <a:lnTo>
                    <a:pt x="13348322" y="327736"/>
                  </a:lnTo>
                  <a:lnTo>
                    <a:pt x="13344462" y="323875"/>
                  </a:lnTo>
                  <a:lnTo>
                    <a:pt x="13344474" y="314299"/>
                  </a:lnTo>
                  <a:lnTo>
                    <a:pt x="13348335" y="310426"/>
                  </a:lnTo>
                  <a:lnTo>
                    <a:pt x="13388480" y="310426"/>
                  </a:lnTo>
                  <a:lnTo>
                    <a:pt x="13402678" y="309664"/>
                  </a:lnTo>
                  <a:lnTo>
                    <a:pt x="13401218" y="309664"/>
                  </a:lnTo>
                  <a:lnTo>
                    <a:pt x="13412623" y="307784"/>
                  </a:lnTo>
                  <a:lnTo>
                    <a:pt x="13424395" y="304419"/>
                  </a:lnTo>
                  <a:lnTo>
                    <a:pt x="13467233" y="280784"/>
                  </a:lnTo>
                  <a:lnTo>
                    <a:pt x="13508482" y="242862"/>
                  </a:lnTo>
                  <a:lnTo>
                    <a:pt x="13538149" y="198412"/>
                  </a:lnTo>
                  <a:lnTo>
                    <a:pt x="13549338" y="161442"/>
                  </a:lnTo>
                  <a:lnTo>
                    <a:pt x="13550113" y="108648"/>
                  </a:lnTo>
                  <a:lnTo>
                    <a:pt x="13553974" y="104787"/>
                  </a:lnTo>
                  <a:lnTo>
                    <a:pt x="13563537" y="104787"/>
                  </a:lnTo>
                  <a:lnTo>
                    <a:pt x="13567410" y="108648"/>
                  </a:lnTo>
                  <a:lnTo>
                    <a:pt x="13567410" y="148501"/>
                  </a:lnTo>
                  <a:lnTo>
                    <a:pt x="13568172" y="161442"/>
                  </a:lnTo>
                  <a:lnTo>
                    <a:pt x="13579374" y="198412"/>
                  </a:lnTo>
                  <a:lnTo>
                    <a:pt x="13609041" y="242862"/>
                  </a:lnTo>
                  <a:lnTo>
                    <a:pt x="13649173" y="279971"/>
                  </a:lnTo>
                  <a:lnTo>
                    <a:pt x="13691311" y="303657"/>
                  </a:lnTo>
                  <a:lnTo>
                    <a:pt x="13729335" y="310426"/>
                  </a:lnTo>
                  <a:lnTo>
                    <a:pt x="13769175" y="310426"/>
                  </a:lnTo>
                  <a:lnTo>
                    <a:pt x="13773061" y="314299"/>
                  </a:lnTo>
                  <a:lnTo>
                    <a:pt x="13773061" y="134023"/>
                  </a:lnTo>
                  <a:lnTo>
                    <a:pt x="13748093" y="131470"/>
                  </a:lnTo>
                  <a:lnTo>
                    <a:pt x="13714654" y="124942"/>
                  </a:lnTo>
                  <a:lnTo>
                    <a:pt x="13670331" y="104787"/>
                  </a:lnTo>
                  <a:lnTo>
                    <a:pt x="13632510" y="71272"/>
                  </a:lnTo>
                  <a:lnTo>
                    <a:pt x="13593420" y="17767"/>
                  </a:lnTo>
                  <a:lnTo>
                    <a:pt x="13586244" y="9994"/>
                  </a:lnTo>
                  <a:lnTo>
                    <a:pt x="13577786" y="4432"/>
                  </a:lnTo>
                  <a:lnTo>
                    <a:pt x="13568477" y="1104"/>
                  </a:lnTo>
                  <a:lnTo>
                    <a:pt x="13558761" y="0"/>
                  </a:lnTo>
                  <a:lnTo>
                    <a:pt x="13549021" y="1104"/>
                  </a:lnTo>
                  <a:lnTo>
                    <a:pt x="13539711" y="4432"/>
                  </a:lnTo>
                  <a:lnTo>
                    <a:pt x="13531253" y="9994"/>
                  </a:lnTo>
                  <a:lnTo>
                    <a:pt x="13524078" y="17767"/>
                  </a:lnTo>
                  <a:lnTo>
                    <a:pt x="13504863" y="43599"/>
                  </a:lnTo>
                  <a:lnTo>
                    <a:pt x="13484035" y="68440"/>
                  </a:lnTo>
                  <a:lnTo>
                    <a:pt x="13460933" y="90957"/>
                  </a:lnTo>
                  <a:lnTo>
                    <a:pt x="13434848" y="109855"/>
                  </a:lnTo>
                  <a:lnTo>
                    <a:pt x="13402932" y="124180"/>
                  </a:lnTo>
                  <a:lnTo>
                    <a:pt x="13370408" y="131470"/>
                  </a:lnTo>
                  <a:lnTo>
                    <a:pt x="13370865" y="131470"/>
                  </a:lnTo>
                  <a:lnTo>
                    <a:pt x="13336956" y="134950"/>
                  </a:lnTo>
                  <a:lnTo>
                    <a:pt x="13337248" y="134950"/>
                  </a:lnTo>
                  <a:lnTo>
                    <a:pt x="13301447" y="137642"/>
                  </a:lnTo>
                  <a:lnTo>
                    <a:pt x="13287045" y="142608"/>
                  </a:lnTo>
                  <a:lnTo>
                    <a:pt x="13277037" y="153098"/>
                  </a:lnTo>
                  <a:lnTo>
                    <a:pt x="13272707" y="166928"/>
                  </a:lnTo>
                  <a:lnTo>
                    <a:pt x="13275348" y="181927"/>
                  </a:lnTo>
                  <a:lnTo>
                    <a:pt x="13300482" y="238963"/>
                  </a:lnTo>
                  <a:lnTo>
                    <a:pt x="13311111" y="271170"/>
                  </a:lnTo>
                  <a:lnTo>
                    <a:pt x="13317284" y="308775"/>
                  </a:lnTo>
                  <a:lnTo>
                    <a:pt x="13317195" y="346671"/>
                  </a:lnTo>
                  <a:lnTo>
                    <a:pt x="13309054" y="379755"/>
                  </a:lnTo>
                  <a:lnTo>
                    <a:pt x="13275348" y="456234"/>
                  </a:lnTo>
                  <a:lnTo>
                    <a:pt x="13272707" y="471233"/>
                  </a:lnTo>
                  <a:lnTo>
                    <a:pt x="13277037" y="485076"/>
                  </a:lnTo>
                  <a:lnTo>
                    <a:pt x="13287032" y="495566"/>
                  </a:lnTo>
                  <a:lnTo>
                    <a:pt x="13301447" y="500532"/>
                  </a:lnTo>
                  <a:lnTo>
                    <a:pt x="13365188" y="506336"/>
                  </a:lnTo>
                  <a:lnTo>
                    <a:pt x="13406019" y="515112"/>
                  </a:lnTo>
                  <a:lnTo>
                    <a:pt x="13442620" y="532739"/>
                  </a:lnTo>
                  <a:lnTo>
                    <a:pt x="13474637" y="557898"/>
                  </a:lnTo>
                  <a:lnTo>
                    <a:pt x="13501700" y="589267"/>
                  </a:lnTo>
                  <a:lnTo>
                    <a:pt x="13524065" y="620395"/>
                  </a:lnTo>
                  <a:lnTo>
                    <a:pt x="13531241" y="628167"/>
                  </a:lnTo>
                  <a:lnTo>
                    <a:pt x="13539699" y="633730"/>
                  </a:lnTo>
                  <a:lnTo>
                    <a:pt x="13549021" y="637070"/>
                  </a:lnTo>
                  <a:lnTo>
                    <a:pt x="13558761" y="638187"/>
                  </a:lnTo>
                  <a:lnTo>
                    <a:pt x="13568502" y="637070"/>
                  </a:lnTo>
                  <a:lnTo>
                    <a:pt x="13577811" y="633730"/>
                  </a:lnTo>
                  <a:lnTo>
                    <a:pt x="13586270" y="628167"/>
                  </a:lnTo>
                  <a:lnTo>
                    <a:pt x="13593445" y="620395"/>
                  </a:lnTo>
                  <a:lnTo>
                    <a:pt x="13615810" y="589267"/>
                  </a:lnTo>
                  <a:lnTo>
                    <a:pt x="13642874" y="557898"/>
                  </a:lnTo>
                  <a:lnTo>
                    <a:pt x="13674065" y="533400"/>
                  </a:lnTo>
                  <a:lnTo>
                    <a:pt x="13674890" y="532739"/>
                  </a:lnTo>
                  <a:lnTo>
                    <a:pt x="13711504" y="515112"/>
                  </a:lnTo>
                  <a:lnTo>
                    <a:pt x="13752309" y="506336"/>
                  </a:lnTo>
                  <a:lnTo>
                    <a:pt x="13816063" y="500532"/>
                  </a:lnTo>
                  <a:lnTo>
                    <a:pt x="13830465" y="495566"/>
                  </a:lnTo>
                  <a:lnTo>
                    <a:pt x="13840473" y="485076"/>
                  </a:lnTo>
                  <a:lnTo>
                    <a:pt x="13844804" y="471233"/>
                  </a:lnTo>
                  <a:lnTo>
                    <a:pt x="13842175" y="456234"/>
                  </a:lnTo>
                  <a:lnTo>
                    <a:pt x="13808456" y="379755"/>
                  </a:lnTo>
                  <a:lnTo>
                    <a:pt x="13800315" y="346671"/>
                  </a:lnTo>
                  <a:lnTo>
                    <a:pt x="13800239" y="308775"/>
                  </a:lnTo>
                  <a:lnTo>
                    <a:pt x="13806399" y="271170"/>
                  </a:lnTo>
                  <a:lnTo>
                    <a:pt x="13817029" y="238963"/>
                  </a:lnTo>
                  <a:lnTo>
                    <a:pt x="13842175" y="181927"/>
                  </a:lnTo>
                  <a:lnTo>
                    <a:pt x="13844804" y="166928"/>
                  </a:lnTo>
                  <a:close/>
                </a:path>
              </a:pathLst>
            </a:custGeom>
            <a:solidFill>
              <a:srgbClr val="364042"/>
            </a:solidFill>
          </p:spPr>
          <p:txBody>
            <a:bodyPr wrap="square" lIns="0" tIns="0" rIns="0" bIns="0" rtlCol="0"/>
            <a:lstStyle/>
            <a:p>
              <a:endParaRPr sz="1440"/>
            </a:p>
          </p:txBody>
        </p:sp>
      </p:grpSp>
      <p:sp>
        <p:nvSpPr>
          <p:cNvPr id="7" name="object 7"/>
          <p:cNvSpPr txBox="1"/>
          <p:nvPr/>
        </p:nvSpPr>
        <p:spPr>
          <a:xfrm>
            <a:off x="1003378" y="4719776"/>
            <a:ext cx="2054352" cy="1520866"/>
          </a:xfrm>
          <a:prstGeom prst="rect">
            <a:avLst/>
          </a:prstGeom>
        </p:spPr>
        <p:txBody>
          <a:bodyPr vert="horz" wrap="square" lIns="0" tIns="10160" rIns="0" bIns="0" rtlCol="0">
            <a:spAutoFit/>
          </a:bodyPr>
          <a:lstStyle/>
          <a:p>
            <a:pPr marL="312420" marR="306324" algn="ctr">
              <a:lnSpc>
                <a:spcPct val="116100"/>
              </a:lnSpc>
              <a:spcBef>
                <a:spcPts val="80"/>
              </a:spcBef>
            </a:pPr>
            <a:r>
              <a:rPr sz="1680" b="1" spc="-44" dirty="0">
                <a:solidFill>
                  <a:srgbClr val="0E1212"/>
                </a:solidFill>
                <a:latin typeface="Arial"/>
                <a:cs typeface="Arial"/>
              </a:rPr>
              <a:t>Rise</a:t>
            </a:r>
            <a:r>
              <a:rPr sz="1680" b="1" spc="-28" dirty="0">
                <a:solidFill>
                  <a:srgbClr val="0E1212"/>
                </a:solidFill>
                <a:latin typeface="Arial"/>
                <a:cs typeface="Arial"/>
              </a:rPr>
              <a:t> </a:t>
            </a:r>
            <a:r>
              <a:rPr sz="1680" b="1" dirty="0">
                <a:solidFill>
                  <a:srgbClr val="0E1212"/>
                </a:solidFill>
                <a:latin typeface="Arial"/>
                <a:cs typeface="Arial"/>
              </a:rPr>
              <a:t>of</a:t>
            </a:r>
            <a:r>
              <a:rPr sz="1680" b="1" spc="-24" dirty="0">
                <a:solidFill>
                  <a:srgbClr val="0E1212"/>
                </a:solidFill>
                <a:latin typeface="Arial"/>
                <a:cs typeface="Arial"/>
              </a:rPr>
              <a:t> </a:t>
            </a:r>
            <a:r>
              <a:rPr sz="1680" b="1" spc="-8" dirty="0">
                <a:solidFill>
                  <a:srgbClr val="0E1212"/>
                </a:solidFill>
                <a:latin typeface="Arial"/>
                <a:cs typeface="Arial"/>
              </a:rPr>
              <a:t>Online Toxicity</a:t>
            </a:r>
            <a:endParaRPr sz="1680">
              <a:latin typeface="Arial"/>
              <a:cs typeface="Arial"/>
            </a:endParaRPr>
          </a:p>
          <a:p>
            <a:pPr marL="10160" marR="4064" indent="-508" algn="ctr">
              <a:lnSpc>
                <a:spcPct val="132800"/>
              </a:lnSpc>
              <a:spcBef>
                <a:spcPts val="1088"/>
              </a:spcBef>
            </a:pPr>
            <a:r>
              <a:rPr sz="1280" dirty="0">
                <a:solidFill>
                  <a:srgbClr val="0E1212"/>
                </a:solidFill>
                <a:latin typeface="Lucida Sans Unicode"/>
                <a:cs typeface="Lucida Sans Unicode"/>
              </a:rPr>
              <a:t>The</a:t>
            </a:r>
            <a:r>
              <a:rPr sz="1280" spc="12" dirty="0">
                <a:solidFill>
                  <a:srgbClr val="0E1212"/>
                </a:solidFill>
                <a:latin typeface="Lucida Sans Unicode"/>
                <a:cs typeface="Lucida Sans Unicode"/>
              </a:rPr>
              <a:t> </a:t>
            </a:r>
            <a:r>
              <a:rPr sz="1280" dirty="0">
                <a:solidFill>
                  <a:srgbClr val="0E1212"/>
                </a:solidFill>
                <a:latin typeface="Lucida Sans Unicode"/>
                <a:cs typeface="Lucida Sans Unicode"/>
              </a:rPr>
              <a:t>increase</a:t>
            </a:r>
            <a:r>
              <a:rPr sz="1280" spc="12" dirty="0">
                <a:solidFill>
                  <a:srgbClr val="0E1212"/>
                </a:solidFill>
                <a:latin typeface="Lucida Sans Unicode"/>
                <a:cs typeface="Lucida Sans Unicode"/>
              </a:rPr>
              <a:t> </a:t>
            </a:r>
            <a:r>
              <a:rPr sz="1280" dirty="0">
                <a:solidFill>
                  <a:srgbClr val="0E1212"/>
                </a:solidFill>
                <a:latin typeface="Lucida Sans Unicode"/>
                <a:cs typeface="Lucida Sans Unicode"/>
              </a:rPr>
              <a:t>in</a:t>
            </a:r>
            <a:r>
              <a:rPr sz="1280" spc="16" dirty="0">
                <a:solidFill>
                  <a:srgbClr val="0E1212"/>
                </a:solidFill>
                <a:latin typeface="Lucida Sans Unicode"/>
                <a:cs typeface="Lucida Sans Unicode"/>
              </a:rPr>
              <a:t> </a:t>
            </a:r>
            <a:r>
              <a:rPr sz="1280" spc="-8" dirty="0">
                <a:solidFill>
                  <a:srgbClr val="0E1212"/>
                </a:solidFill>
                <a:latin typeface="Lucida Sans Unicode"/>
                <a:cs typeface="Lucida Sans Unicode"/>
              </a:rPr>
              <a:t>online </a:t>
            </a:r>
            <a:r>
              <a:rPr sz="1280" dirty="0">
                <a:solidFill>
                  <a:srgbClr val="0E1212"/>
                </a:solidFill>
                <a:latin typeface="Lucida Sans Unicode"/>
                <a:cs typeface="Lucida Sans Unicode"/>
              </a:rPr>
              <a:t>interactions</a:t>
            </a:r>
            <a:r>
              <a:rPr sz="1280" spc="40" dirty="0">
                <a:solidFill>
                  <a:srgbClr val="0E1212"/>
                </a:solidFill>
                <a:latin typeface="Lucida Sans Unicode"/>
                <a:cs typeface="Lucida Sans Unicode"/>
              </a:rPr>
              <a:t> </a:t>
            </a:r>
            <a:r>
              <a:rPr sz="1280" dirty="0">
                <a:solidFill>
                  <a:srgbClr val="0E1212"/>
                </a:solidFill>
                <a:latin typeface="Lucida Sans Unicode"/>
                <a:cs typeface="Lucida Sans Unicode"/>
              </a:rPr>
              <a:t>has</a:t>
            </a:r>
            <a:r>
              <a:rPr sz="1280" spc="44" dirty="0">
                <a:solidFill>
                  <a:srgbClr val="0E1212"/>
                </a:solidFill>
                <a:latin typeface="Lucida Sans Unicode"/>
                <a:cs typeface="Lucida Sans Unicode"/>
              </a:rPr>
              <a:t> </a:t>
            </a:r>
            <a:r>
              <a:rPr sz="1280" dirty="0">
                <a:solidFill>
                  <a:srgbClr val="0E1212"/>
                </a:solidFill>
                <a:latin typeface="Lucida Sans Unicode"/>
                <a:cs typeface="Lucida Sans Unicode"/>
              </a:rPr>
              <a:t>led</a:t>
            </a:r>
            <a:r>
              <a:rPr sz="1280" spc="44" dirty="0">
                <a:solidFill>
                  <a:srgbClr val="0E1212"/>
                </a:solidFill>
                <a:latin typeface="Lucida Sans Unicode"/>
                <a:cs typeface="Lucida Sans Unicode"/>
              </a:rPr>
              <a:t> </a:t>
            </a:r>
            <a:r>
              <a:rPr sz="1280" dirty="0">
                <a:solidFill>
                  <a:srgbClr val="0E1212"/>
                </a:solidFill>
                <a:latin typeface="Lucida Sans Unicode"/>
                <a:cs typeface="Lucida Sans Unicode"/>
              </a:rPr>
              <a:t>to</a:t>
            </a:r>
            <a:r>
              <a:rPr sz="1280" spc="44" dirty="0">
                <a:solidFill>
                  <a:srgbClr val="0E1212"/>
                </a:solidFill>
                <a:latin typeface="Lucida Sans Unicode"/>
                <a:cs typeface="Lucida Sans Unicode"/>
              </a:rPr>
              <a:t> </a:t>
            </a:r>
            <a:r>
              <a:rPr sz="1280" spc="36" dirty="0">
                <a:solidFill>
                  <a:srgbClr val="0E1212"/>
                </a:solidFill>
                <a:latin typeface="Lucida Sans Unicode"/>
                <a:cs typeface="Lucida Sans Unicode"/>
              </a:rPr>
              <a:t>a </a:t>
            </a:r>
            <a:r>
              <a:rPr sz="1280" b="1" dirty="0">
                <a:solidFill>
                  <a:srgbClr val="0E1212"/>
                </a:solidFill>
                <a:latin typeface="Arial"/>
                <a:cs typeface="Arial"/>
              </a:rPr>
              <a:t>surge</a:t>
            </a:r>
            <a:r>
              <a:rPr sz="1280" b="1" spc="8" dirty="0">
                <a:solidFill>
                  <a:srgbClr val="0E1212"/>
                </a:solidFill>
                <a:latin typeface="Arial"/>
                <a:cs typeface="Arial"/>
              </a:rPr>
              <a:t> </a:t>
            </a:r>
            <a:r>
              <a:rPr sz="1280" b="1" dirty="0">
                <a:solidFill>
                  <a:srgbClr val="0E1212"/>
                </a:solidFill>
                <a:latin typeface="Arial"/>
                <a:cs typeface="Arial"/>
              </a:rPr>
              <a:t>in</a:t>
            </a:r>
            <a:r>
              <a:rPr sz="1280" b="1" spc="12" dirty="0">
                <a:solidFill>
                  <a:srgbClr val="0E1212"/>
                </a:solidFill>
                <a:latin typeface="Arial"/>
                <a:cs typeface="Arial"/>
              </a:rPr>
              <a:t> </a:t>
            </a:r>
            <a:r>
              <a:rPr sz="1280" b="1" spc="40" dirty="0">
                <a:solidFill>
                  <a:srgbClr val="0E1212"/>
                </a:solidFill>
                <a:latin typeface="Arial"/>
                <a:cs typeface="Arial"/>
              </a:rPr>
              <a:t>toxic</a:t>
            </a:r>
            <a:r>
              <a:rPr sz="1280" b="1" spc="12" dirty="0">
                <a:solidFill>
                  <a:srgbClr val="0E1212"/>
                </a:solidFill>
                <a:latin typeface="Arial"/>
                <a:cs typeface="Arial"/>
              </a:rPr>
              <a:t> </a:t>
            </a:r>
            <a:r>
              <a:rPr sz="1280" b="1" spc="-8" dirty="0">
                <a:solidFill>
                  <a:srgbClr val="0E1212"/>
                </a:solidFill>
                <a:latin typeface="Arial"/>
                <a:cs typeface="Arial"/>
              </a:rPr>
              <a:t>comments</a:t>
            </a:r>
            <a:r>
              <a:rPr sz="1280" spc="-8" dirty="0">
                <a:solidFill>
                  <a:srgbClr val="0E1212"/>
                </a:solidFill>
                <a:latin typeface="Lucida Sans Unicode"/>
                <a:cs typeface="Lucida Sans Unicode"/>
              </a:rPr>
              <a:t>.</a:t>
            </a:r>
            <a:endParaRPr sz="1280">
              <a:latin typeface="Lucida Sans Unicode"/>
              <a:cs typeface="Lucida Sans Unicode"/>
            </a:endParaRPr>
          </a:p>
        </p:txBody>
      </p:sp>
      <p:sp>
        <p:nvSpPr>
          <p:cNvPr id="8" name="object 8"/>
          <p:cNvSpPr txBox="1"/>
          <p:nvPr/>
        </p:nvSpPr>
        <p:spPr>
          <a:xfrm>
            <a:off x="3728556" y="4719776"/>
            <a:ext cx="1883664" cy="1782860"/>
          </a:xfrm>
          <a:prstGeom prst="rect">
            <a:avLst/>
          </a:prstGeom>
        </p:spPr>
        <p:txBody>
          <a:bodyPr vert="horz" wrap="square" lIns="0" tIns="10160" rIns="0" bIns="0" rtlCol="0">
            <a:spAutoFit/>
          </a:bodyPr>
          <a:lstStyle/>
          <a:p>
            <a:pPr marL="19304" marR="13208" algn="ctr">
              <a:lnSpc>
                <a:spcPct val="116100"/>
              </a:lnSpc>
              <a:spcBef>
                <a:spcPts val="80"/>
              </a:spcBef>
            </a:pPr>
            <a:r>
              <a:rPr sz="1680" b="1" spc="72" dirty="0">
                <a:solidFill>
                  <a:srgbClr val="0E1212"/>
                </a:solidFill>
                <a:latin typeface="Arial"/>
                <a:cs typeface="Arial"/>
              </a:rPr>
              <a:t>Impact</a:t>
            </a:r>
            <a:r>
              <a:rPr sz="1680" b="1" spc="-80" dirty="0">
                <a:solidFill>
                  <a:srgbClr val="0E1212"/>
                </a:solidFill>
                <a:latin typeface="Arial"/>
                <a:cs typeface="Arial"/>
              </a:rPr>
              <a:t> </a:t>
            </a:r>
            <a:r>
              <a:rPr sz="1680" b="1" dirty="0">
                <a:solidFill>
                  <a:srgbClr val="0E1212"/>
                </a:solidFill>
                <a:latin typeface="Arial"/>
                <a:cs typeface="Arial"/>
              </a:rPr>
              <a:t>on</a:t>
            </a:r>
            <a:r>
              <a:rPr sz="1680" b="1" spc="-80" dirty="0">
                <a:solidFill>
                  <a:srgbClr val="0E1212"/>
                </a:solidFill>
                <a:latin typeface="Arial"/>
                <a:cs typeface="Arial"/>
              </a:rPr>
              <a:t> </a:t>
            </a:r>
            <a:r>
              <a:rPr sz="1680" b="1" spc="68" dirty="0">
                <a:solidFill>
                  <a:srgbClr val="0E1212"/>
                </a:solidFill>
                <a:latin typeface="Arial"/>
                <a:cs typeface="Arial"/>
              </a:rPr>
              <a:t>Mental </a:t>
            </a:r>
            <a:r>
              <a:rPr sz="1680" b="1" spc="56" dirty="0">
                <a:solidFill>
                  <a:srgbClr val="0E1212"/>
                </a:solidFill>
                <a:latin typeface="Arial"/>
                <a:cs typeface="Arial"/>
              </a:rPr>
              <a:t>Health</a:t>
            </a:r>
            <a:endParaRPr sz="1680">
              <a:latin typeface="Arial"/>
              <a:cs typeface="Arial"/>
            </a:endParaRPr>
          </a:p>
          <a:p>
            <a:pPr marL="10160" marR="4064" indent="-508" algn="ctr">
              <a:lnSpc>
                <a:spcPct val="132800"/>
              </a:lnSpc>
              <a:spcBef>
                <a:spcPts val="1088"/>
              </a:spcBef>
            </a:pPr>
            <a:r>
              <a:rPr sz="1280" spc="-36" dirty="0">
                <a:solidFill>
                  <a:srgbClr val="0E1212"/>
                </a:solidFill>
                <a:latin typeface="Lucida Sans Unicode"/>
                <a:cs typeface="Lucida Sans Unicode"/>
              </a:rPr>
              <a:t>Toxic</a:t>
            </a:r>
            <a:r>
              <a:rPr sz="1280" spc="68" dirty="0">
                <a:solidFill>
                  <a:srgbClr val="0E1212"/>
                </a:solidFill>
                <a:latin typeface="Lucida Sans Unicode"/>
                <a:cs typeface="Lucida Sans Unicode"/>
              </a:rPr>
              <a:t> </a:t>
            </a:r>
            <a:r>
              <a:rPr sz="1280" dirty="0">
                <a:solidFill>
                  <a:srgbClr val="0E1212"/>
                </a:solidFill>
                <a:latin typeface="Lucida Sans Unicode"/>
                <a:cs typeface="Lucida Sans Unicode"/>
              </a:rPr>
              <a:t>comments</a:t>
            </a:r>
            <a:r>
              <a:rPr sz="1280" spc="72" dirty="0">
                <a:solidFill>
                  <a:srgbClr val="0E1212"/>
                </a:solidFill>
                <a:latin typeface="Lucida Sans Unicode"/>
                <a:cs typeface="Lucida Sans Unicode"/>
              </a:rPr>
              <a:t> </a:t>
            </a:r>
            <a:r>
              <a:rPr sz="1280" spc="40" dirty="0">
                <a:solidFill>
                  <a:srgbClr val="0E1212"/>
                </a:solidFill>
                <a:latin typeface="Lucida Sans Unicode"/>
                <a:cs typeface="Lucida Sans Unicode"/>
              </a:rPr>
              <a:t>can </a:t>
            </a:r>
            <a:r>
              <a:rPr sz="1280" spc="48" dirty="0">
                <a:solidFill>
                  <a:srgbClr val="0E1212"/>
                </a:solidFill>
                <a:latin typeface="Lucida Sans Unicode"/>
                <a:cs typeface="Lucida Sans Unicode"/>
              </a:rPr>
              <a:t>cause</a:t>
            </a:r>
            <a:r>
              <a:rPr sz="1280" spc="-60" dirty="0">
                <a:solidFill>
                  <a:srgbClr val="0E1212"/>
                </a:solidFill>
                <a:latin typeface="Lucida Sans Unicode"/>
                <a:cs typeface="Lucida Sans Unicode"/>
              </a:rPr>
              <a:t> </a:t>
            </a:r>
            <a:r>
              <a:rPr sz="1280" b="1" spc="32" dirty="0">
                <a:solidFill>
                  <a:srgbClr val="0E1212"/>
                </a:solidFill>
                <a:latin typeface="Arial"/>
                <a:cs typeface="Arial"/>
              </a:rPr>
              <a:t>significant </a:t>
            </a:r>
            <a:r>
              <a:rPr sz="1280" b="1" spc="44" dirty="0">
                <a:solidFill>
                  <a:srgbClr val="0E1212"/>
                </a:solidFill>
                <a:latin typeface="Arial"/>
                <a:cs typeface="Arial"/>
              </a:rPr>
              <a:t>emotional</a:t>
            </a:r>
            <a:r>
              <a:rPr sz="1280" b="1" spc="40" dirty="0">
                <a:solidFill>
                  <a:srgbClr val="0E1212"/>
                </a:solidFill>
                <a:latin typeface="Arial"/>
                <a:cs typeface="Arial"/>
              </a:rPr>
              <a:t> </a:t>
            </a:r>
            <a:r>
              <a:rPr sz="1280" b="1" dirty="0">
                <a:solidFill>
                  <a:srgbClr val="0E1212"/>
                </a:solidFill>
                <a:latin typeface="Arial"/>
                <a:cs typeface="Arial"/>
              </a:rPr>
              <a:t>distress</a:t>
            </a:r>
            <a:r>
              <a:rPr sz="1280" b="1" spc="44" dirty="0">
                <a:solidFill>
                  <a:srgbClr val="0E1212"/>
                </a:solidFill>
                <a:latin typeface="Arial"/>
                <a:cs typeface="Arial"/>
              </a:rPr>
              <a:t> </a:t>
            </a:r>
            <a:r>
              <a:rPr sz="1280" spc="-20" dirty="0">
                <a:solidFill>
                  <a:srgbClr val="0E1212"/>
                </a:solidFill>
                <a:latin typeface="Lucida Sans Unicode"/>
                <a:cs typeface="Lucida Sans Unicode"/>
              </a:rPr>
              <a:t>and </a:t>
            </a:r>
            <a:r>
              <a:rPr sz="1280" dirty="0">
                <a:solidFill>
                  <a:srgbClr val="0E1212"/>
                </a:solidFill>
                <a:latin typeface="Lucida Sans Unicode"/>
                <a:cs typeface="Lucida Sans Unicode"/>
              </a:rPr>
              <a:t>harm</a:t>
            </a:r>
            <a:r>
              <a:rPr sz="1280" spc="236" dirty="0">
                <a:solidFill>
                  <a:srgbClr val="0E1212"/>
                </a:solidFill>
                <a:latin typeface="Lucida Sans Unicode"/>
                <a:cs typeface="Lucida Sans Unicode"/>
              </a:rPr>
              <a:t> </a:t>
            </a:r>
            <a:r>
              <a:rPr sz="1280" dirty="0">
                <a:solidFill>
                  <a:srgbClr val="0E1212"/>
                </a:solidFill>
                <a:latin typeface="Lucida Sans Unicode"/>
                <a:cs typeface="Lucida Sans Unicode"/>
              </a:rPr>
              <a:t>self-</a:t>
            </a:r>
            <a:r>
              <a:rPr sz="1280" spc="-8" dirty="0">
                <a:solidFill>
                  <a:srgbClr val="0E1212"/>
                </a:solidFill>
                <a:latin typeface="Lucida Sans Unicode"/>
                <a:cs typeface="Lucida Sans Unicode"/>
              </a:rPr>
              <a:t>esteem.</a:t>
            </a:r>
            <a:endParaRPr sz="1280">
              <a:latin typeface="Lucida Sans Unicode"/>
              <a:cs typeface="Lucida Sans Unicode"/>
            </a:endParaRPr>
          </a:p>
        </p:txBody>
      </p:sp>
      <p:sp>
        <p:nvSpPr>
          <p:cNvPr id="9" name="object 9"/>
          <p:cNvSpPr txBox="1"/>
          <p:nvPr/>
        </p:nvSpPr>
        <p:spPr>
          <a:xfrm>
            <a:off x="6345268" y="4719776"/>
            <a:ext cx="1929892" cy="2082750"/>
          </a:xfrm>
          <a:prstGeom prst="rect">
            <a:avLst/>
          </a:prstGeom>
        </p:spPr>
        <p:txBody>
          <a:bodyPr vert="horz" wrap="square" lIns="0" tIns="10160" rIns="0" bIns="0" rtlCol="0">
            <a:spAutoFit/>
          </a:bodyPr>
          <a:lstStyle/>
          <a:p>
            <a:pPr marL="232156" marR="226060" algn="ctr">
              <a:lnSpc>
                <a:spcPct val="116100"/>
              </a:lnSpc>
              <a:spcBef>
                <a:spcPts val="80"/>
              </a:spcBef>
            </a:pPr>
            <a:r>
              <a:rPr sz="1680" b="1" dirty="0">
                <a:solidFill>
                  <a:srgbClr val="0E1212"/>
                </a:solidFill>
                <a:latin typeface="Arial"/>
                <a:cs typeface="Arial"/>
              </a:rPr>
              <a:t>Need</a:t>
            </a:r>
            <a:r>
              <a:rPr sz="1680" b="1" spc="-4" dirty="0">
                <a:solidFill>
                  <a:srgbClr val="0E1212"/>
                </a:solidFill>
                <a:latin typeface="Arial"/>
                <a:cs typeface="Arial"/>
              </a:rPr>
              <a:t> </a:t>
            </a:r>
            <a:r>
              <a:rPr sz="1680" b="1" spc="-20" dirty="0">
                <a:solidFill>
                  <a:srgbClr val="0E1212"/>
                </a:solidFill>
                <a:latin typeface="Arial"/>
                <a:cs typeface="Arial"/>
              </a:rPr>
              <a:t>for </a:t>
            </a:r>
            <a:r>
              <a:rPr sz="1680" b="1" spc="32" dirty="0">
                <a:solidFill>
                  <a:srgbClr val="0E1212"/>
                </a:solidFill>
                <a:latin typeface="Arial"/>
                <a:cs typeface="Arial"/>
              </a:rPr>
              <a:t>Classification </a:t>
            </a:r>
            <a:r>
              <a:rPr sz="1680" b="1" spc="-8" dirty="0">
                <a:solidFill>
                  <a:srgbClr val="0E1212"/>
                </a:solidFill>
                <a:latin typeface="Arial"/>
                <a:cs typeface="Arial"/>
              </a:rPr>
              <a:t>Systems</a:t>
            </a:r>
            <a:endParaRPr sz="1680">
              <a:latin typeface="Arial"/>
              <a:cs typeface="Arial"/>
            </a:endParaRPr>
          </a:p>
          <a:p>
            <a:pPr marL="9652" marR="4064" algn="ctr">
              <a:lnSpc>
                <a:spcPct val="132800"/>
              </a:lnSpc>
              <a:spcBef>
                <a:spcPts val="1088"/>
              </a:spcBef>
            </a:pPr>
            <a:r>
              <a:rPr sz="1280" dirty="0">
                <a:solidFill>
                  <a:srgbClr val="0E1212"/>
                </a:solidFill>
                <a:latin typeface="Lucida Sans Unicode"/>
                <a:cs typeface="Lucida Sans Unicode"/>
              </a:rPr>
              <a:t>Existing</a:t>
            </a:r>
            <a:r>
              <a:rPr sz="1280" spc="16" dirty="0">
                <a:solidFill>
                  <a:srgbClr val="0E1212"/>
                </a:solidFill>
                <a:latin typeface="Lucida Sans Unicode"/>
                <a:cs typeface="Lucida Sans Unicode"/>
              </a:rPr>
              <a:t> </a:t>
            </a:r>
            <a:r>
              <a:rPr sz="1280" dirty="0">
                <a:solidFill>
                  <a:srgbClr val="0E1212"/>
                </a:solidFill>
                <a:latin typeface="Lucida Sans Unicode"/>
                <a:cs typeface="Lucida Sans Unicode"/>
              </a:rPr>
              <a:t>methods</a:t>
            </a:r>
            <a:r>
              <a:rPr sz="1280" spc="20" dirty="0">
                <a:solidFill>
                  <a:srgbClr val="0E1212"/>
                </a:solidFill>
                <a:latin typeface="Lucida Sans Unicode"/>
                <a:cs typeface="Lucida Sans Unicode"/>
              </a:rPr>
              <a:t> </a:t>
            </a:r>
            <a:r>
              <a:rPr sz="1280" spc="-16" dirty="0">
                <a:solidFill>
                  <a:srgbClr val="0E1212"/>
                </a:solidFill>
                <a:latin typeface="Lucida Sans Unicode"/>
                <a:cs typeface="Lucida Sans Unicode"/>
              </a:rPr>
              <a:t>lack </a:t>
            </a:r>
            <a:r>
              <a:rPr sz="1280" dirty="0">
                <a:solidFill>
                  <a:srgbClr val="0E1212"/>
                </a:solidFill>
                <a:latin typeface="Lucida Sans Unicode"/>
                <a:cs typeface="Lucida Sans Unicode"/>
              </a:rPr>
              <a:t>efficiency</a:t>
            </a:r>
            <a:r>
              <a:rPr sz="1280" spc="76" dirty="0">
                <a:solidFill>
                  <a:srgbClr val="0E1212"/>
                </a:solidFill>
                <a:latin typeface="Lucida Sans Unicode"/>
                <a:cs typeface="Lucida Sans Unicode"/>
              </a:rPr>
              <a:t> </a:t>
            </a:r>
            <a:r>
              <a:rPr sz="1280" dirty="0">
                <a:solidFill>
                  <a:srgbClr val="0E1212"/>
                </a:solidFill>
                <a:latin typeface="Lucida Sans Unicode"/>
                <a:cs typeface="Lucida Sans Unicode"/>
              </a:rPr>
              <a:t>in</a:t>
            </a:r>
            <a:r>
              <a:rPr sz="1280" spc="80" dirty="0">
                <a:solidFill>
                  <a:srgbClr val="0E1212"/>
                </a:solidFill>
                <a:latin typeface="Lucida Sans Unicode"/>
                <a:cs typeface="Lucida Sans Unicode"/>
              </a:rPr>
              <a:t> </a:t>
            </a:r>
            <a:r>
              <a:rPr sz="1280" b="1" spc="32" dirty="0">
                <a:solidFill>
                  <a:srgbClr val="0E1212"/>
                </a:solidFill>
                <a:latin typeface="Arial"/>
                <a:cs typeface="Arial"/>
              </a:rPr>
              <a:t>identifying </a:t>
            </a:r>
            <a:r>
              <a:rPr sz="1280" b="1" dirty="0">
                <a:solidFill>
                  <a:srgbClr val="0E1212"/>
                </a:solidFill>
                <a:latin typeface="Arial"/>
                <a:cs typeface="Arial"/>
              </a:rPr>
              <a:t>and</a:t>
            </a:r>
            <a:r>
              <a:rPr sz="1280" b="1" spc="44" dirty="0">
                <a:solidFill>
                  <a:srgbClr val="0E1212"/>
                </a:solidFill>
                <a:latin typeface="Arial"/>
                <a:cs typeface="Arial"/>
              </a:rPr>
              <a:t> </a:t>
            </a:r>
            <a:r>
              <a:rPr sz="1280" b="1" spc="60" dirty="0">
                <a:solidFill>
                  <a:srgbClr val="0E1212"/>
                </a:solidFill>
                <a:latin typeface="Arial"/>
                <a:cs typeface="Arial"/>
              </a:rPr>
              <a:t>filtering</a:t>
            </a:r>
            <a:r>
              <a:rPr sz="1280" b="1" spc="48" dirty="0">
                <a:solidFill>
                  <a:srgbClr val="0E1212"/>
                </a:solidFill>
                <a:latin typeface="Arial"/>
                <a:cs typeface="Arial"/>
              </a:rPr>
              <a:t> </a:t>
            </a:r>
            <a:r>
              <a:rPr sz="1280" b="1" spc="24" dirty="0">
                <a:solidFill>
                  <a:srgbClr val="0E1212"/>
                </a:solidFill>
                <a:latin typeface="Arial"/>
                <a:cs typeface="Arial"/>
              </a:rPr>
              <a:t>toxic </a:t>
            </a:r>
            <a:r>
              <a:rPr sz="1280" b="1" spc="48" dirty="0">
                <a:solidFill>
                  <a:srgbClr val="0E1212"/>
                </a:solidFill>
                <a:latin typeface="Arial"/>
                <a:cs typeface="Arial"/>
              </a:rPr>
              <a:t>content</a:t>
            </a:r>
            <a:r>
              <a:rPr sz="1280" b="1" spc="-8" dirty="0">
                <a:solidFill>
                  <a:srgbClr val="0E1212"/>
                </a:solidFill>
                <a:latin typeface="Arial"/>
                <a:cs typeface="Arial"/>
              </a:rPr>
              <a:t> </a:t>
            </a:r>
            <a:r>
              <a:rPr sz="1280" spc="-8" dirty="0">
                <a:solidFill>
                  <a:srgbClr val="0E1212"/>
                </a:solidFill>
                <a:latin typeface="Lucida Sans Unicode"/>
                <a:cs typeface="Lucida Sans Unicode"/>
              </a:rPr>
              <a:t>effectively.</a:t>
            </a:r>
            <a:endParaRPr sz="1280">
              <a:latin typeface="Lucida Sans Unicode"/>
              <a:cs typeface="Lucida Sans Unicode"/>
            </a:endParaRPr>
          </a:p>
        </p:txBody>
      </p:sp>
      <p:sp>
        <p:nvSpPr>
          <p:cNvPr id="10" name="object 10"/>
          <p:cNvSpPr txBox="1"/>
          <p:nvPr/>
        </p:nvSpPr>
        <p:spPr>
          <a:xfrm>
            <a:off x="8968766" y="4719776"/>
            <a:ext cx="1962912" cy="1782860"/>
          </a:xfrm>
          <a:prstGeom prst="rect">
            <a:avLst/>
          </a:prstGeom>
        </p:spPr>
        <p:txBody>
          <a:bodyPr vert="horz" wrap="square" lIns="0" tIns="10160" rIns="0" bIns="0" rtlCol="0">
            <a:spAutoFit/>
          </a:bodyPr>
          <a:lstStyle/>
          <a:p>
            <a:pPr marL="223520" marR="217424" algn="ctr">
              <a:lnSpc>
                <a:spcPct val="116100"/>
              </a:lnSpc>
              <a:spcBef>
                <a:spcPts val="80"/>
              </a:spcBef>
            </a:pPr>
            <a:r>
              <a:rPr sz="1680" b="1" dirty="0">
                <a:solidFill>
                  <a:srgbClr val="0E1212"/>
                </a:solidFill>
                <a:latin typeface="Arial"/>
                <a:cs typeface="Arial"/>
              </a:rPr>
              <a:t>Advances</a:t>
            </a:r>
            <a:r>
              <a:rPr sz="1680" b="1" spc="-48" dirty="0">
                <a:solidFill>
                  <a:srgbClr val="0E1212"/>
                </a:solidFill>
                <a:latin typeface="Arial"/>
                <a:cs typeface="Arial"/>
              </a:rPr>
              <a:t> </a:t>
            </a:r>
            <a:r>
              <a:rPr sz="1680" b="1" dirty="0">
                <a:solidFill>
                  <a:srgbClr val="0E1212"/>
                </a:solidFill>
                <a:latin typeface="Arial"/>
                <a:cs typeface="Arial"/>
              </a:rPr>
              <a:t>in</a:t>
            </a:r>
            <a:r>
              <a:rPr sz="1680" b="1" spc="-48" dirty="0">
                <a:solidFill>
                  <a:srgbClr val="0E1212"/>
                </a:solidFill>
                <a:latin typeface="Arial"/>
                <a:cs typeface="Arial"/>
              </a:rPr>
              <a:t> </a:t>
            </a:r>
            <a:r>
              <a:rPr sz="1680" b="1" spc="-28" dirty="0">
                <a:solidFill>
                  <a:srgbClr val="0E1212"/>
                </a:solidFill>
                <a:latin typeface="Arial"/>
                <a:cs typeface="Arial"/>
              </a:rPr>
              <a:t>AI </a:t>
            </a:r>
            <a:r>
              <a:rPr sz="1680" b="1" spc="-8" dirty="0">
                <a:solidFill>
                  <a:srgbClr val="0E1212"/>
                </a:solidFill>
                <a:latin typeface="Arial"/>
                <a:cs typeface="Arial"/>
              </a:rPr>
              <a:t>Technology</a:t>
            </a:r>
            <a:endParaRPr sz="1680">
              <a:latin typeface="Arial"/>
              <a:cs typeface="Arial"/>
            </a:endParaRPr>
          </a:p>
          <a:p>
            <a:pPr marL="10160" marR="4064" algn="ctr">
              <a:lnSpc>
                <a:spcPct val="132800"/>
              </a:lnSpc>
              <a:spcBef>
                <a:spcPts val="1088"/>
              </a:spcBef>
            </a:pPr>
            <a:r>
              <a:rPr sz="1280" dirty="0">
                <a:solidFill>
                  <a:srgbClr val="0E1212"/>
                </a:solidFill>
                <a:latin typeface="Lucida Sans Unicode"/>
                <a:cs typeface="Lucida Sans Unicode"/>
              </a:rPr>
              <a:t>Recent</a:t>
            </a:r>
            <a:r>
              <a:rPr sz="1280" spc="212" dirty="0">
                <a:solidFill>
                  <a:srgbClr val="0E1212"/>
                </a:solidFill>
                <a:latin typeface="Lucida Sans Unicode"/>
                <a:cs typeface="Lucida Sans Unicode"/>
              </a:rPr>
              <a:t> </a:t>
            </a:r>
            <a:r>
              <a:rPr sz="1280" dirty="0">
                <a:solidFill>
                  <a:srgbClr val="0E1212"/>
                </a:solidFill>
                <a:latin typeface="Lucida Sans Unicode"/>
                <a:cs typeface="Lucida Sans Unicode"/>
              </a:rPr>
              <a:t>developments</a:t>
            </a:r>
            <a:r>
              <a:rPr sz="1280" spc="212" dirty="0">
                <a:solidFill>
                  <a:srgbClr val="0E1212"/>
                </a:solidFill>
                <a:latin typeface="Lucida Sans Unicode"/>
                <a:cs typeface="Lucida Sans Unicode"/>
              </a:rPr>
              <a:t> </a:t>
            </a:r>
            <a:r>
              <a:rPr sz="1280" spc="-20" dirty="0">
                <a:solidFill>
                  <a:srgbClr val="0E1212"/>
                </a:solidFill>
                <a:latin typeface="Lucida Sans Unicode"/>
                <a:cs typeface="Lucida Sans Unicode"/>
              </a:rPr>
              <a:t>in </a:t>
            </a:r>
            <a:r>
              <a:rPr sz="1280" spc="-16" dirty="0">
                <a:solidFill>
                  <a:srgbClr val="0E1212"/>
                </a:solidFill>
                <a:latin typeface="Lucida Sans Unicode"/>
                <a:cs typeface="Lucida Sans Unicode"/>
              </a:rPr>
              <a:t>AI</a:t>
            </a:r>
            <a:r>
              <a:rPr sz="1280" spc="-68" dirty="0">
                <a:solidFill>
                  <a:srgbClr val="0E1212"/>
                </a:solidFill>
                <a:latin typeface="Lucida Sans Unicode"/>
                <a:cs typeface="Lucida Sans Unicode"/>
              </a:rPr>
              <a:t> </a:t>
            </a:r>
            <a:r>
              <a:rPr sz="1280" spc="44" dirty="0">
                <a:solidFill>
                  <a:srgbClr val="0E1212"/>
                </a:solidFill>
                <a:latin typeface="Lucida Sans Unicode"/>
                <a:cs typeface="Lucida Sans Unicode"/>
              </a:rPr>
              <a:t>have</a:t>
            </a:r>
            <a:r>
              <a:rPr sz="1280" spc="-64" dirty="0">
                <a:solidFill>
                  <a:srgbClr val="0E1212"/>
                </a:solidFill>
                <a:latin typeface="Lucida Sans Unicode"/>
                <a:cs typeface="Lucida Sans Unicode"/>
              </a:rPr>
              <a:t> </a:t>
            </a:r>
            <a:r>
              <a:rPr sz="1280" spc="28" dirty="0">
                <a:solidFill>
                  <a:srgbClr val="0E1212"/>
                </a:solidFill>
                <a:latin typeface="Lucida Sans Unicode"/>
                <a:cs typeface="Lucida Sans Unicode"/>
              </a:rPr>
              <a:t>enabled </a:t>
            </a:r>
            <a:r>
              <a:rPr sz="1280" b="1" dirty="0">
                <a:solidFill>
                  <a:srgbClr val="0E1212"/>
                </a:solidFill>
                <a:latin typeface="Arial"/>
                <a:cs typeface="Arial"/>
              </a:rPr>
              <a:t>improved</a:t>
            </a:r>
            <a:r>
              <a:rPr sz="1280" b="1" spc="163" dirty="0">
                <a:solidFill>
                  <a:srgbClr val="0E1212"/>
                </a:solidFill>
                <a:latin typeface="Arial"/>
                <a:cs typeface="Arial"/>
              </a:rPr>
              <a:t> </a:t>
            </a:r>
            <a:r>
              <a:rPr sz="1280" b="1" spc="36" dirty="0">
                <a:solidFill>
                  <a:srgbClr val="0E1212"/>
                </a:solidFill>
                <a:latin typeface="Arial"/>
                <a:cs typeface="Arial"/>
              </a:rPr>
              <a:t>classification </a:t>
            </a:r>
            <a:r>
              <a:rPr sz="1280" dirty="0">
                <a:solidFill>
                  <a:srgbClr val="0E1212"/>
                </a:solidFill>
                <a:latin typeface="Lucida Sans Unicode"/>
                <a:cs typeface="Lucida Sans Unicode"/>
              </a:rPr>
              <a:t>of</a:t>
            </a:r>
            <a:r>
              <a:rPr sz="1280" spc="-60" dirty="0">
                <a:solidFill>
                  <a:srgbClr val="0E1212"/>
                </a:solidFill>
                <a:latin typeface="Lucida Sans Unicode"/>
                <a:cs typeface="Lucida Sans Unicode"/>
              </a:rPr>
              <a:t> </a:t>
            </a:r>
            <a:r>
              <a:rPr sz="1280" dirty="0">
                <a:solidFill>
                  <a:srgbClr val="0E1212"/>
                </a:solidFill>
                <a:latin typeface="Lucida Sans Unicode"/>
                <a:cs typeface="Lucida Sans Unicode"/>
              </a:rPr>
              <a:t>toxic</a:t>
            </a:r>
            <a:r>
              <a:rPr sz="1280" spc="-60" dirty="0">
                <a:solidFill>
                  <a:srgbClr val="0E1212"/>
                </a:solidFill>
                <a:latin typeface="Lucida Sans Unicode"/>
                <a:cs typeface="Lucida Sans Unicode"/>
              </a:rPr>
              <a:t> </a:t>
            </a:r>
            <a:r>
              <a:rPr sz="1280" spc="-8" dirty="0">
                <a:solidFill>
                  <a:srgbClr val="0E1212"/>
                </a:solidFill>
                <a:latin typeface="Lucida Sans Unicode"/>
                <a:cs typeface="Lucida Sans Unicode"/>
              </a:rPr>
              <a:t>comments.</a:t>
            </a:r>
            <a:endParaRPr sz="1280">
              <a:latin typeface="Lucida Sans Unicode"/>
              <a:cs typeface="Lucida Sans Unicode"/>
            </a:endParaRPr>
          </a:p>
        </p:txBody>
      </p:sp>
      <p:sp>
        <p:nvSpPr>
          <p:cNvPr id="11" name="object 11"/>
          <p:cNvSpPr txBox="1"/>
          <p:nvPr/>
        </p:nvSpPr>
        <p:spPr>
          <a:xfrm>
            <a:off x="11610720" y="4719776"/>
            <a:ext cx="1969008" cy="1782860"/>
          </a:xfrm>
          <a:prstGeom prst="rect">
            <a:avLst/>
          </a:prstGeom>
        </p:spPr>
        <p:txBody>
          <a:bodyPr vert="horz" wrap="square" lIns="0" tIns="10160" rIns="0" bIns="0" rtlCol="0">
            <a:spAutoFit/>
          </a:bodyPr>
          <a:lstStyle/>
          <a:p>
            <a:pPr marL="203708" marR="197612" algn="ctr">
              <a:lnSpc>
                <a:spcPct val="116100"/>
              </a:lnSpc>
              <a:spcBef>
                <a:spcPts val="80"/>
              </a:spcBef>
            </a:pPr>
            <a:r>
              <a:rPr sz="1680" b="1" dirty="0">
                <a:solidFill>
                  <a:srgbClr val="0E1212"/>
                </a:solidFill>
                <a:latin typeface="Arial"/>
                <a:cs typeface="Arial"/>
              </a:rPr>
              <a:t>Introduction</a:t>
            </a:r>
            <a:r>
              <a:rPr sz="1680" b="1" spc="280" dirty="0">
                <a:solidFill>
                  <a:srgbClr val="0E1212"/>
                </a:solidFill>
                <a:latin typeface="Arial"/>
                <a:cs typeface="Arial"/>
              </a:rPr>
              <a:t> </a:t>
            </a:r>
            <a:r>
              <a:rPr sz="1680" b="1" spc="-20" dirty="0">
                <a:solidFill>
                  <a:srgbClr val="0E1212"/>
                </a:solidFill>
                <a:latin typeface="Arial"/>
                <a:cs typeface="Arial"/>
              </a:rPr>
              <a:t>of </a:t>
            </a:r>
            <a:r>
              <a:rPr sz="1680" b="1" spc="-8" dirty="0">
                <a:solidFill>
                  <a:srgbClr val="0E1212"/>
                </a:solidFill>
                <a:latin typeface="Arial"/>
                <a:cs typeface="Arial"/>
              </a:rPr>
              <a:t>ToxiBERT</a:t>
            </a:r>
            <a:endParaRPr sz="1680">
              <a:latin typeface="Arial"/>
              <a:cs typeface="Arial"/>
            </a:endParaRPr>
          </a:p>
          <a:p>
            <a:pPr marL="9652" marR="4064" indent="-508" algn="ctr">
              <a:lnSpc>
                <a:spcPct val="132800"/>
              </a:lnSpc>
              <a:spcBef>
                <a:spcPts val="1088"/>
              </a:spcBef>
            </a:pPr>
            <a:r>
              <a:rPr sz="1280" spc="-24" dirty="0">
                <a:solidFill>
                  <a:srgbClr val="0E1212"/>
                </a:solidFill>
                <a:latin typeface="Lucida Sans Unicode"/>
                <a:cs typeface="Lucida Sans Unicode"/>
              </a:rPr>
              <a:t>ToxiBERT</a:t>
            </a:r>
            <a:r>
              <a:rPr sz="1280" spc="-20" dirty="0">
                <a:solidFill>
                  <a:srgbClr val="0E1212"/>
                </a:solidFill>
                <a:latin typeface="Lucida Sans Unicode"/>
                <a:cs typeface="Lucida Sans Unicode"/>
              </a:rPr>
              <a:t> </a:t>
            </a:r>
            <a:r>
              <a:rPr sz="1280" dirty="0">
                <a:solidFill>
                  <a:srgbClr val="0E1212"/>
                </a:solidFill>
                <a:latin typeface="Lucida Sans Unicode"/>
                <a:cs typeface="Lucida Sans Unicode"/>
              </a:rPr>
              <a:t>aims</a:t>
            </a:r>
            <a:r>
              <a:rPr sz="1280" spc="-20" dirty="0">
                <a:solidFill>
                  <a:srgbClr val="0E1212"/>
                </a:solidFill>
                <a:latin typeface="Lucida Sans Unicode"/>
                <a:cs typeface="Lucida Sans Unicode"/>
              </a:rPr>
              <a:t> </a:t>
            </a:r>
            <a:r>
              <a:rPr sz="1280" dirty="0">
                <a:solidFill>
                  <a:srgbClr val="0E1212"/>
                </a:solidFill>
                <a:latin typeface="Lucida Sans Unicode"/>
                <a:cs typeface="Lucida Sans Unicode"/>
              </a:rPr>
              <a:t>to</a:t>
            </a:r>
            <a:r>
              <a:rPr sz="1280" spc="-20" dirty="0">
                <a:solidFill>
                  <a:srgbClr val="0E1212"/>
                </a:solidFill>
                <a:latin typeface="Lucida Sans Unicode"/>
                <a:cs typeface="Lucida Sans Unicode"/>
              </a:rPr>
              <a:t> </a:t>
            </a:r>
            <a:r>
              <a:rPr sz="1280" spc="-8" dirty="0">
                <a:solidFill>
                  <a:srgbClr val="0E1212"/>
                </a:solidFill>
                <a:latin typeface="Lucida Sans Unicode"/>
                <a:cs typeface="Lucida Sans Unicode"/>
              </a:rPr>
              <a:t>utilize </a:t>
            </a:r>
            <a:r>
              <a:rPr sz="1280" dirty="0">
                <a:solidFill>
                  <a:srgbClr val="0E1212"/>
                </a:solidFill>
                <a:latin typeface="Lucida Sans Unicode"/>
                <a:cs typeface="Lucida Sans Unicode"/>
              </a:rPr>
              <a:t>BERT</a:t>
            </a:r>
            <a:r>
              <a:rPr sz="1280" spc="48" dirty="0">
                <a:solidFill>
                  <a:srgbClr val="0E1212"/>
                </a:solidFill>
                <a:latin typeface="Lucida Sans Unicode"/>
                <a:cs typeface="Lucida Sans Unicode"/>
              </a:rPr>
              <a:t> </a:t>
            </a:r>
            <a:r>
              <a:rPr sz="1280" spc="-36" dirty="0">
                <a:solidFill>
                  <a:srgbClr val="0E1212"/>
                </a:solidFill>
                <a:latin typeface="Lucida Sans Unicode"/>
                <a:cs typeface="Lucida Sans Unicode"/>
              </a:rPr>
              <a:t>for</a:t>
            </a:r>
            <a:r>
              <a:rPr sz="1280" spc="52" dirty="0">
                <a:solidFill>
                  <a:srgbClr val="0E1212"/>
                </a:solidFill>
                <a:latin typeface="Lucida Sans Unicode"/>
                <a:cs typeface="Lucida Sans Unicode"/>
              </a:rPr>
              <a:t> </a:t>
            </a:r>
            <a:r>
              <a:rPr sz="1280" b="1" dirty="0">
                <a:solidFill>
                  <a:srgbClr val="0E1212"/>
                </a:solidFill>
                <a:latin typeface="Arial"/>
                <a:cs typeface="Arial"/>
              </a:rPr>
              <a:t>enhanced</a:t>
            </a:r>
            <a:r>
              <a:rPr sz="1280" b="1" spc="100" dirty="0">
                <a:solidFill>
                  <a:srgbClr val="0E1212"/>
                </a:solidFill>
                <a:latin typeface="Arial"/>
                <a:cs typeface="Arial"/>
              </a:rPr>
              <a:t> </a:t>
            </a:r>
            <a:r>
              <a:rPr sz="1280" b="1" spc="24" dirty="0">
                <a:solidFill>
                  <a:srgbClr val="0E1212"/>
                </a:solidFill>
                <a:latin typeface="Arial"/>
                <a:cs typeface="Arial"/>
              </a:rPr>
              <a:t>toxic </a:t>
            </a:r>
            <a:r>
              <a:rPr sz="1280" b="1" spc="36" dirty="0">
                <a:solidFill>
                  <a:srgbClr val="0E1212"/>
                </a:solidFill>
                <a:latin typeface="Arial"/>
                <a:cs typeface="Arial"/>
              </a:rPr>
              <a:t>comment</a:t>
            </a:r>
            <a:r>
              <a:rPr sz="1280" b="1" spc="8" dirty="0">
                <a:solidFill>
                  <a:srgbClr val="0E1212"/>
                </a:solidFill>
                <a:latin typeface="Arial"/>
                <a:cs typeface="Arial"/>
              </a:rPr>
              <a:t> </a:t>
            </a:r>
            <a:r>
              <a:rPr sz="1280" b="1" spc="36" dirty="0">
                <a:solidFill>
                  <a:srgbClr val="0E1212"/>
                </a:solidFill>
                <a:latin typeface="Arial"/>
                <a:cs typeface="Arial"/>
              </a:rPr>
              <a:t>classification </a:t>
            </a:r>
            <a:r>
              <a:rPr sz="1280" spc="32" dirty="0">
                <a:solidFill>
                  <a:srgbClr val="0E1212"/>
                </a:solidFill>
                <a:latin typeface="Lucida Sans Unicode"/>
                <a:cs typeface="Lucida Sans Unicode"/>
              </a:rPr>
              <a:t>accuracy.</a:t>
            </a:r>
            <a:endParaRPr sz="1280">
              <a:latin typeface="Lucida Sans Unicode"/>
              <a:cs typeface="Lucida Sans Unicode"/>
            </a:endParaRPr>
          </a:p>
        </p:txBody>
      </p:sp>
      <p:sp>
        <p:nvSpPr>
          <p:cNvPr id="12" name="object 12"/>
          <p:cNvSpPr txBox="1">
            <a:spLocks noGrp="1"/>
          </p:cNvSpPr>
          <p:nvPr>
            <p:ph type="title"/>
          </p:nvPr>
        </p:nvSpPr>
        <p:spPr>
          <a:xfrm>
            <a:off x="-1301787" y="902796"/>
            <a:ext cx="11944350" cy="2172323"/>
          </a:xfrm>
          <a:prstGeom prst="rect">
            <a:avLst/>
          </a:prstGeom>
        </p:spPr>
        <p:txBody>
          <a:bodyPr vert="horz" wrap="square" lIns="0" tIns="980882" rIns="0" bIns="0" rtlCol="0">
            <a:spAutoFit/>
          </a:bodyPr>
          <a:lstStyle/>
          <a:p>
            <a:pPr marL="4400296">
              <a:spcBef>
                <a:spcPts val="80"/>
              </a:spcBef>
            </a:pPr>
            <a:r>
              <a:rPr spc="536" dirty="0"/>
              <a:t>Timeline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80918" y="936188"/>
            <a:ext cx="13268563" cy="1215866"/>
          </a:xfrm>
          <a:prstGeom prst="rect">
            <a:avLst/>
          </a:prstGeom>
          <a:noFill/>
          <a:ln/>
        </p:spPr>
        <p:txBody>
          <a:bodyPr wrap="square" lIns="0" tIns="0" rIns="0" bIns="0" rtlCol="0" anchor="t"/>
          <a:lstStyle/>
          <a:p>
            <a:pPr marL="0" indent="0" algn="l">
              <a:lnSpc>
                <a:spcPts val="4750"/>
              </a:lnSpc>
              <a:buNone/>
            </a:pPr>
            <a:r>
              <a:rPr lang="en-US" sz="3800" b="1" dirty="0">
                <a:solidFill>
                  <a:srgbClr val="233939"/>
                </a:solidFill>
                <a:latin typeface="Syne Bold" pitchFamily="34" charset="0"/>
                <a:ea typeface="Syne Bold" pitchFamily="34" charset="-122"/>
                <a:cs typeface="Syne Bold" pitchFamily="34" charset="-120"/>
              </a:rPr>
              <a:t>Introducing DistilBERT: A Smaller, Faster, Cheaper BERT</a:t>
            </a:r>
            <a:endParaRPr lang="en-US" sz="3800" dirty="0"/>
          </a:p>
        </p:txBody>
      </p:sp>
      <p:sp>
        <p:nvSpPr>
          <p:cNvPr id="3" name="Shape 1"/>
          <p:cNvSpPr/>
          <p:nvPr/>
        </p:nvSpPr>
        <p:spPr>
          <a:xfrm>
            <a:off x="680918" y="2541151"/>
            <a:ext cx="437674" cy="437674"/>
          </a:xfrm>
          <a:prstGeom prst="roundRect">
            <a:avLst>
              <a:gd name="adj" fmla="val 18670"/>
            </a:avLst>
          </a:prstGeom>
          <a:solidFill>
            <a:srgbClr val="DDEEE6"/>
          </a:solidFill>
          <a:ln w="7620">
            <a:solidFill>
              <a:srgbClr val="C3D4CC"/>
            </a:solidFill>
            <a:prstDash val="solid"/>
          </a:ln>
        </p:spPr>
      </p:sp>
      <p:pic>
        <p:nvPicPr>
          <p:cNvPr id="4" name="Image 0" descr="preencoded.png"/>
          <p:cNvPicPr>
            <a:picLocks noChangeAspect="1"/>
          </p:cNvPicPr>
          <p:nvPr/>
        </p:nvPicPr>
        <p:blipFill>
          <a:blip r:embed="rId3"/>
          <a:stretch>
            <a:fillRect/>
          </a:stretch>
        </p:blipFill>
        <p:spPr>
          <a:xfrm>
            <a:off x="753844" y="2577644"/>
            <a:ext cx="291822" cy="364688"/>
          </a:xfrm>
          <a:prstGeom prst="rect">
            <a:avLst/>
          </a:prstGeom>
        </p:spPr>
      </p:pic>
      <p:sp>
        <p:nvSpPr>
          <p:cNvPr id="5" name="Text 2"/>
          <p:cNvSpPr/>
          <p:nvPr/>
        </p:nvSpPr>
        <p:spPr>
          <a:xfrm>
            <a:off x="1313140" y="2607945"/>
            <a:ext cx="2973705" cy="303967"/>
          </a:xfrm>
          <a:prstGeom prst="rect">
            <a:avLst/>
          </a:prstGeom>
          <a:noFill/>
          <a:ln/>
        </p:spPr>
        <p:txBody>
          <a:bodyPr wrap="none" lIns="0" tIns="0" rIns="0" bIns="0" rtlCol="0" anchor="t"/>
          <a:lstStyle/>
          <a:p>
            <a:pPr marL="0" indent="0" algn="l">
              <a:lnSpc>
                <a:spcPts val="2350"/>
              </a:lnSpc>
              <a:buNone/>
            </a:pPr>
            <a:r>
              <a:rPr lang="en-US" sz="1900" b="1" dirty="0">
                <a:solidFill>
                  <a:srgbClr val="3B4E4E"/>
                </a:solidFill>
                <a:latin typeface="Syne Bold" pitchFamily="34" charset="0"/>
                <a:ea typeface="Syne Bold" pitchFamily="34" charset="-122"/>
                <a:cs typeface="Syne Bold" pitchFamily="34" charset="-120"/>
              </a:rPr>
              <a:t>Knowledge Distillation</a:t>
            </a:r>
            <a:endParaRPr lang="en-US" sz="1900" dirty="0"/>
          </a:p>
        </p:txBody>
      </p:sp>
      <p:sp>
        <p:nvSpPr>
          <p:cNvPr id="6" name="Text 3"/>
          <p:cNvSpPr/>
          <p:nvPr/>
        </p:nvSpPr>
        <p:spPr>
          <a:xfrm>
            <a:off x="1313140" y="3028593"/>
            <a:ext cx="3628549" cy="3734753"/>
          </a:xfrm>
          <a:prstGeom prst="rect">
            <a:avLst/>
          </a:prstGeom>
          <a:noFill/>
          <a:ln/>
        </p:spPr>
        <p:txBody>
          <a:bodyPr wrap="square" lIns="0" tIns="0" rIns="0" bIns="0" rtlCol="0" anchor="t"/>
          <a:lstStyle/>
          <a:p>
            <a:pPr marL="0" indent="0" algn="l">
              <a:lnSpc>
                <a:spcPts val="2450"/>
              </a:lnSpc>
              <a:buNone/>
            </a:pPr>
            <a:r>
              <a:rPr lang="en-US" sz="1500" dirty="0">
                <a:solidFill>
                  <a:srgbClr val="3B4E4E"/>
                </a:solidFill>
                <a:latin typeface="Overpass Light" pitchFamily="34" charset="0"/>
                <a:ea typeface="Overpass Light" pitchFamily="34" charset="-122"/>
                <a:cs typeface="Overpass Light" pitchFamily="34" charset="-120"/>
              </a:rPr>
              <a:t>DistilBERT is a distilled version of BERT, meaning it is trained to emulate the behavior of the larger BERT model (the "teacher") using a technique called knowledge distillation. The teacher model guides the student model's training by providing soft targets (probability distributions over classes), allowing the smaller model to learn complex patterns without the same number of parameters. This process significantly reduces the size of the model.</a:t>
            </a:r>
            <a:endParaRPr lang="en-US" sz="1500" dirty="0"/>
          </a:p>
        </p:txBody>
      </p:sp>
      <p:sp>
        <p:nvSpPr>
          <p:cNvPr id="7" name="Shape 4"/>
          <p:cNvSpPr/>
          <p:nvPr/>
        </p:nvSpPr>
        <p:spPr>
          <a:xfrm>
            <a:off x="5184815" y="2541151"/>
            <a:ext cx="437674" cy="437674"/>
          </a:xfrm>
          <a:prstGeom prst="roundRect">
            <a:avLst>
              <a:gd name="adj" fmla="val 18670"/>
            </a:avLst>
          </a:prstGeom>
          <a:solidFill>
            <a:srgbClr val="DDEEE6"/>
          </a:solidFill>
          <a:ln w="7620">
            <a:solidFill>
              <a:srgbClr val="C3D4CC"/>
            </a:solidFill>
            <a:prstDash val="solid"/>
          </a:ln>
        </p:spPr>
      </p:sp>
      <p:pic>
        <p:nvPicPr>
          <p:cNvPr id="8" name="Image 1" descr="preencoded.png"/>
          <p:cNvPicPr>
            <a:picLocks noChangeAspect="1"/>
          </p:cNvPicPr>
          <p:nvPr/>
        </p:nvPicPr>
        <p:blipFill>
          <a:blip r:embed="rId4"/>
          <a:stretch>
            <a:fillRect/>
          </a:stretch>
        </p:blipFill>
        <p:spPr>
          <a:xfrm>
            <a:off x="5257740" y="2577644"/>
            <a:ext cx="291822" cy="364688"/>
          </a:xfrm>
          <a:prstGeom prst="rect">
            <a:avLst/>
          </a:prstGeom>
        </p:spPr>
      </p:pic>
      <p:sp>
        <p:nvSpPr>
          <p:cNvPr id="9" name="Text 5"/>
          <p:cNvSpPr/>
          <p:nvPr/>
        </p:nvSpPr>
        <p:spPr>
          <a:xfrm>
            <a:off x="5817037" y="2607945"/>
            <a:ext cx="2431971" cy="303967"/>
          </a:xfrm>
          <a:prstGeom prst="rect">
            <a:avLst/>
          </a:prstGeom>
          <a:noFill/>
          <a:ln/>
        </p:spPr>
        <p:txBody>
          <a:bodyPr wrap="none" lIns="0" tIns="0" rIns="0" bIns="0" rtlCol="0" anchor="t"/>
          <a:lstStyle/>
          <a:p>
            <a:pPr marL="0" indent="0" algn="l">
              <a:lnSpc>
                <a:spcPts val="2350"/>
              </a:lnSpc>
              <a:buNone/>
            </a:pPr>
            <a:r>
              <a:rPr lang="en-US" sz="1900" b="1" dirty="0">
                <a:solidFill>
                  <a:srgbClr val="3B4E4E"/>
                </a:solidFill>
                <a:latin typeface="Syne Bold" pitchFamily="34" charset="0"/>
                <a:ea typeface="Syne Bold" pitchFamily="34" charset="-122"/>
                <a:cs typeface="Syne Bold" pitchFamily="34" charset="-120"/>
              </a:rPr>
              <a:t>Efficiency Gains</a:t>
            </a:r>
            <a:endParaRPr lang="en-US" sz="1900" dirty="0"/>
          </a:p>
        </p:txBody>
      </p:sp>
      <p:sp>
        <p:nvSpPr>
          <p:cNvPr id="10" name="Text 6"/>
          <p:cNvSpPr/>
          <p:nvPr/>
        </p:nvSpPr>
        <p:spPr>
          <a:xfrm>
            <a:off x="5817037" y="3028593"/>
            <a:ext cx="3628549" cy="3112294"/>
          </a:xfrm>
          <a:prstGeom prst="rect">
            <a:avLst/>
          </a:prstGeom>
          <a:noFill/>
          <a:ln/>
        </p:spPr>
        <p:txBody>
          <a:bodyPr wrap="square" lIns="0" tIns="0" rIns="0" bIns="0" rtlCol="0" anchor="t"/>
          <a:lstStyle/>
          <a:p>
            <a:pPr marL="0" indent="0" algn="l">
              <a:lnSpc>
                <a:spcPts val="2450"/>
              </a:lnSpc>
              <a:buNone/>
            </a:pPr>
            <a:r>
              <a:rPr lang="en-US" sz="1500" dirty="0">
                <a:solidFill>
                  <a:srgbClr val="3B4E4E"/>
                </a:solidFill>
                <a:latin typeface="Overpass Light" pitchFamily="34" charset="0"/>
                <a:ea typeface="Overpass Light" pitchFamily="34" charset="-122"/>
                <a:cs typeface="Overpass Light" pitchFamily="34" charset="-120"/>
              </a:rPr>
              <a:t>DistilBERT retains 97% of BERT's language understanding capabilities while being 40% smaller and 60% faster. This makes it ideal for deployment in resource-constrained environments or applications requiring low latency. The reduced computational footprint translates to lower inference costs and faster processing times, which is crucial for real-time applications.</a:t>
            </a:r>
            <a:endParaRPr lang="en-US" sz="1500" dirty="0"/>
          </a:p>
        </p:txBody>
      </p:sp>
      <p:sp>
        <p:nvSpPr>
          <p:cNvPr id="11" name="Shape 7"/>
          <p:cNvSpPr/>
          <p:nvPr/>
        </p:nvSpPr>
        <p:spPr>
          <a:xfrm>
            <a:off x="9688711" y="2541151"/>
            <a:ext cx="437674" cy="437674"/>
          </a:xfrm>
          <a:prstGeom prst="roundRect">
            <a:avLst>
              <a:gd name="adj" fmla="val 18670"/>
            </a:avLst>
          </a:prstGeom>
          <a:solidFill>
            <a:srgbClr val="DDEEE6"/>
          </a:solidFill>
          <a:ln w="7620">
            <a:solidFill>
              <a:srgbClr val="C3D4CC"/>
            </a:solidFill>
            <a:prstDash val="solid"/>
          </a:ln>
        </p:spPr>
      </p:sp>
      <p:pic>
        <p:nvPicPr>
          <p:cNvPr id="12" name="Image 2" descr="preencoded.png"/>
          <p:cNvPicPr>
            <a:picLocks noChangeAspect="1"/>
          </p:cNvPicPr>
          <p:nvPr/>
        </p:nvPicPr>
        <p:blipFill>
          <a:blip r:embed="rId5"/>
          <a:stretch>
            <a:fillRect/>
          </a:stretch>
        </p:blipFill>
        <p:spPr>
          <a:xfrm>
            <a:off x="9761637" y="2577644"/>
            <a:ext cx="291822" cy="364688"/>
          </a:xfrm>
          <a:prstGeom prst="rect">
            <a:avLst/>
          </a:prstGeom>
        </p:spPr>
      </p:pic>
      <p:sp>
        <p:nvSpPr>
          <p:cNvPr id="13" name="Text 8"/>
          <p:cNvSpPr/>
          <p:nvPr/>
        </p:nvSpPr>
        <p:spPr>
          <a:xfrm>
            <a:off x="10320933" y="2607945"/>
            <a:ext cx="3628549" cy="607933"/>
          </a:xfrm>
          <a:prstGeom prst="rect">
            <a:avLst/>
          </a:prstGeom>
          <a:noFill/>
          <a:ln/>
        </p:spPr>
        <p:txBody>
          <a:bodyPr wrap="square" lIns="0" tIns="0" rIns="0" bIns="0" rtlCol="0" anchor="t"/>
          <a:lstStyle/>
          <a:p>
            <a:pPr marL="0" indent="0" algn="l">
              <a:lnSpc>
                <a:spcPts val="2350"/>
              </a:lnSpc>
              <a:buNone/>
            </a:pPr>
            <a:r>
              <a:rPr lang="en-US" sz="1900" b="1" dirty="0">
                <a:solidFill>
                  <a:srgbClr val="3B4E4E"/>
                </a:solidFill>
                <a:latin typeface="Syne Bold" pitchFamily="34" charset="0"/>
                <a:ea typeface="Syne Bold" pitchFamily="34" charset="-122"/>
                <a:cs typeface="Syne Bold" pitchFamily="34" charset="-120"/>
              </a:rPr>
              <a:t>Architectural Simplifications</a:t>
            </a:r>
            <a:endParaRPr lang="en-US" sz="1900" dirty="0"/>
          </a:p>
        </p:txBody>
      </p:sp>
      <p:sp>
        <p:nvSpPr>
          <p:cNvPr id="14" name="Text 9"/>
          <p:cNvSpPr/>
          <p:nvPr/>
        </p:nvSpPr>
        <p:spPr>
          <a:xfrm>
            <a:off x="10320933" y="3332559"/>
            <a:ext cx="3628549" cy="3112294"/>
          </a:xfrm>
          <a:prstGeom prst="rect">
            <a:avLst/>
          </a:prstGeom>
          <a:noFill/>
          <a:ln/>
        </p:spPr>
        <p:txBody>
          <a:bodyPr wrap="square" lIns="0" tIns="0" rIns="0" bIns="0" rtlCol="0" anchor="t"/>
          <a:lstStyle/>
          <a:p>
            <a:pPr marL="0" indent="0" algn="l">
              <a:lnSpc>
                <a:spcPts val="2450"/>
              </a:lnSpc>
              <a:buNone/>
            </a:pPr>
            <a:r>
              <a:rPr lang="en-US" sz="1500" dirty="0">
                <a:solidFill>
                  <a:srgbClr val="3B4E4E"/>
                </a:solidFill>
                <a:latin typeface="Overpass Light" pitchFamily="34" charset="0"/>
                <a:ea typeface="Overpass Light" pitchFamily="34" charset="-122"/>
                <a:cs typeface="Overpass Light" pitchFamily="34" charset="-120"/>
              </a:rPr>
              <a:t>To achieve its smaller size, DistilBERT removes the token-type embeddings, the pooler layer, and reduces the number of Transformer layers while keeping the dimension of the hidden states. These simplifications, combined with knowledge distillation, allow it to maintain high performance with fewer parameters, making it a highly efficient alternative to the full BERT model.</a:t>
            </a:r>
            <a:endParaRPr lang="en-US" sz="1500" dirty="0"/>
          </a:p>
        </p:txBody>
      </p:sp>
      <p:sp>
        <p:nvSpPr>
          <p:cNvPr id="15" name="Text 10"/>
          <p:cNvSpPr/>
          <p:nvPr/>
        </p:nvSpPr>
        <p:spPr>
          <a:xfrm>
            <a:off x="680918" y="6982182"/>
            <a:ext cx="13268563" cy="311229"/>
          </a:xfrm>
          <a:prstGeom prst="rect">
            <a:avLst/>
          </a:prstGeom>
          <a:noFill/>
          <a:ln/>
        </p:spPr>
        <p:txBody>
          <a:bodyPr wrap="none" lIns="0" tIns="0" rIns="0" bIns="0" rtlCol="0" anchor="t"/>
          <a:lstStyle/>
          <a:p>
            <a:pPr marL="0" indent="0" algn="l">
              <a:lnSpc>
                <a:spcPts val="2450"/>
              </a:lnSpc>
              <a:buNone/>
            </a:pPr>
            <a:r>
              <a:rPr lang="en-US" sz="1500" dirty="0">
                <a:solidFill>
                  <a:srgbClr val="3B4E4E"/>
                </a:solidFill>
                <a:latin typeface="Overpass Light" pitchFamily="34" charset="0"/>
                <a:ea typeface="Overpass Light" pitchFamily="34" charset="-122"/>
                <a:cs typeface="Overpass Light" pitchFamily="34" charset="-120"/>
              </a:rPr>
              <a:t>DistilBERT offers a compelling balance between performance and efficiency, addressing the practical challenges of deploying large language models.</a:t>
            </a:r>
            <a:endParaRPr lang="en-US" sz="1500" dirty="0"/>
          </a:p>
        </p:txBody>
      </p:sp>
      <p:sp>
        <p:nvSpPr>
          <p:cNvPr id="16" name="Rectangle 15">
            <a:extLst>
              <a:ext uri="{FF2B5EF4-FFF2-40B4-BE49-F238E27FC236}">
                <a16:creationId xmlns:a16="http://schemas.microsoft.com/office/drawing/2014/main" id="{16B21010-6C44-DDE4-F300-14FFD0488587}"/>
              </a:ext>
            </a:extLst>
          </p:cNvPr>
          <p:cNvSpPr/>
          <p:nvPr/>
        </p:nvSpPr>
        <p:spPr>
          <a:xfrm>
            <a:off x="12645482" y="7672039"/>
            <a:ext cx="1984917" cy="680224"/>
          </a:xfrm>
          <a:prstGeom prst="rect">
            <a:avLst/>
          </a:prstGeom>
          <a:solidFill>
            <a:srgbClr val="FFFD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55069" y="944047"/>
            <a:ext cx="12916972" cy="495538"/>
          </a:xfrm>
          <a:prstGeom prst="rect">
            <a:avLst/>
          </a:prstGeom>
          <a:noFill/>
          <a:ln/>
        </p:spPr>
        <p:txBody>
          <a:bodyPr wrap="none" lIns="0" tIns="0" rIns="0" bIns="0" rtlCol="0" anchor="t"/>
          <a:lstStyle/>
          <a:p>
            <a:pPr marL="0" indent="0" algn="l">
              <a:lnSpc>
                <a:spcPts val="3900"/>
              </a:lnSpc>
              <a:buNone/>
            </a:pPr>
            <a:r>
              <a:rPr lang="en-US" sz="3100" b="1" dirty="0">
                <a:solidFill>
                  <a:srgbClr val="233939"/>
                </a:solidFill>
                <a:latin typeface="Syne Bold" pitchFamily="34" charset="0"/>
                <a:ea typeface="Syne Bold" pitchFamily="34" charset="-122"/>
                <a:cs typeface="Syne Bold" pitchFamily="34" charset="-120"/>
              </a:rPr>
              <a:t>Literature Review: The Evolution of Contextual Embeddings</a:t>
            </a:r>
            <a:endParaRPr lang="en-US" sz="3100" dirty="0"/>
          </a:p>
        </p:txBody>
      </p:sp>
      <p:sp>
        <p:nvSpPr>
          <p:cNvPr id="3" name="Shape 1"/>
          <p:cNvSpPr/>
          <p:nvPr/>
        </p:nvSpPr>
        <p:spPr>
          <a:xfrm>
            <a:off x="7303770" y="1756767"/>
            <a:ext cx="22860" cy="5528667"/>
          </a:xfrm>
          <a:prstGeom prst="roundRect">
            <a:avLst>
              <a:gd name="adj" fmla="val 291382"/>
            </a:avLst>
          </a:prstGeom>
          <a:solidFill>
            <a:srgbClr val="C3D4CC"/>
          </a:solidFill>
          <a:ln/>
        </p:spPr>
      </p:sp>
      <p:sp>
        <p:nvSpPr>
          <p:cNvPr id="4" name="Shape 2"/>
          <p:cNvSpPr/>
          <p:nvPr/>
        </p:nvSpPr>
        <p:spPr>
          <a:xfrm>
            <a:off x="6683871" y="1923693"/>
            <a:ext cx="475774" cy="22860"/>
          </a:xfrm>
          <a:prstGeom prst="roundRect">
            <a:avLst>
              <a:gd name="adj" fmla="val 291382"/>
            </a:avLst>
          </a:prstGeom>
          <a:solidFill>
            <a:srgbClr val="C3D4CC"/>
          </a:solidFill>
          <a:ln/>
        </p:spPr>
      </p:sp>
      <p:sp>
        <p:nvSpPr>
          <p:cNvPr id="5" name="Shape 3"/>
          <p:cNvSpPr/>
          <p:nvPr/>
        </p:nvSpPr>
        <p:spPr>
          <a:xfrm>
            <a:off x="7136785" y="1756767"/>
            <a:ext cx="356830" cy="356830"/>
          </a:xfrm>
          <a:prstGeom prst="roundRect">
            <a:avLst>
              <a:gd name="adj" fmla="val 18667"/>
            </a:avLst>
          </a:prstGeom>
          <a:solidFill>
            <a:srgbClr val="DDEEE6"/>
          </a:solidFill>
          <a:ln w="7620">
            <a:solidFill>
              <a:srgbClr val="C3D4CC"/>
            </a:solidFill>
            <a:prstDash val="solid"/>
          </a:ln>
        </p:spPr>
      </p:sp>
      <p:pic>
        <p:nvPicPr>
          <p:cNvPr id="6" name="Image 0" descr="preencoded.png"/>
          <p:cNvPicPr>
            <a:picLocks noChangeAspect="1"/>
          </p:cNvPicPr>
          <p:nvPr/>
        </p:nvPicPr>
        <p:blipFill>
          <a:blip r:embed="rId3"/>
          <a:stretch>
            <a:fillRect/>
          </a:stretch>
        </p:blipFill>
        <p:spPr>
          <a:xfrm>
            <a:off x="7196197" y="1786473"/>
            <a:ext cx="237887" cy="297299"/>
          </a:xfrm>
          <a:prstGeom prst="rect">
            <a:avLst/>
          </a:prstGeom>
        </p:spPr>
      </p:pic>
      <p:sp>
        <p:nvSpPr>
          <p:cNvPr id="7" name="Text 4"/>
          <p:cNvSpPr/>
          <p:nvPr/>
        </p:nvSpPr>
        <p:spPr>
          <a:xfrm>
            <a:off x="1778198" y="1811179"/>
            <a:ext cx="4744045" cy="247769"/>
          </a:xfrm>
          <a:prstGeom prst="rect">
            <a:avLst/>
          </a:prstGeom>
          <a:noFill/>
          <a:ln/>
        </p:spPr>
        <p:txBody>
          <a:bodyPr wrap="none" lIns="0" tIns="0" rIns="0" bIns="0" rtlCol="0" anchor="t"/>
          <a:lstStyle/>
          <a:p>
            <a:pPr marL="0" indent="0" algn="r">
              <a:lnSpc>
                <a:spcPts val="1950"/>
              </a:lnSpc>
              <a:buNone/>
            </a:pPr>
            <a:r>
              <a:rPr lang="en-US" sz="1550" b="1" dirty="0">
                <a:solidFill>
                  <a:srgbClr val="3B4E4E"/>
                </a:solidFill>
                <a:latin typeface="Syne Bold" pitchFamily="34" charset="0"/>
                <a:ea typeface="Syne Bold" pitchFamily="34" charset="-122"/>
                <a:cs typeface="Syne Bold" pitchFamily="34" charset="-120"/>
              </a:rPr>
              <a:t>Pre-Transformer Era (e.g., Word2Vec, GloVe)</a:t>
            </a:r>
            <a:endParaRPr lang="en-US" sz="1550" dirty="0"/>
          </a:p>
        </p:txBody>
      </p:sp>
      <p:sp>
        <p:nvSpPr>
          <p:cNvPr id="8" name="Text 5"/>
          <p:cNvSpPr/>
          <p:nvPr/>
        </p:nvSpPr>
        <p:spPr>
          <a:xfrm>
            <a:off x="555069" y="2154079"/>
            <a:ext cx="5967174" cy="1522333"/>
          </a:xfrm>
          <a:prstGeom prst="rect">
            <a:avLst/>
          </a:prstGeom>
          <a:noFill/>
          <a:ln/>
        </p:spPr>
        <p:txBody>
          <a:bodyPr wrap="square" lIns="0" tIns="0" rIns="0" bIns="0" rtlCol="0" anchor="t"/>
          <a:lstStyle/>
          <a:p>
            <a:pPr marL="0" indent="0" algn="r">
              <a:lnSpc>
                <a:spcPts val="1950"/>
              </a:lnSpc>
              <a:buNone/>
            </a:pPr>
            <a:r>
              <a:rPr lang="en-US" sz="1200" dirty="0">
                <a:solidFill>
                  <a:srgbClr val="3B4E4E"/>
                </a:solidFill>
                <a:latin typeface="Overpass Light" pitchFamily="34" charset="0"/>
                <a:ea typeface="Overpass Light" pitchFamily="34" charset="-122"/>
                <a:cs typeface="Overpass Light" pitchFamily="34" charset="-120"/>
              </a:rPr>
              <a:t>Early contextual embedding models like Word2Vec and GloVe provided static word embeddings, where each word had a single, fixed vector representation regardless of its context. While groundbreaking for their time, they struggled with polysemy (words with multiple meanings) and lacked the ability to capture dynamic contextual nuances. These models primarily focused on learning word relationships from co-occurrence statistics in large corpora.</a:t>
            </a:r>
            <a:endParaRPr lang="en-US" sz="1200" dirty="0"/>
          </a:p>
        </p:txBody>
      </p:sp>
      <p:sp>
        <p:nvSpPr>
          <p:cNvPr id="9" name="Shape 6"/>
          <p:cNvSpPr/>
          <p:nvPr/>
        </p:nvSpPr>
        <p:spPr>
          <a:xfrm>
            <a:off x="7470755" y="2875240"/>
            <a:ext cx="475774" cy="22860"/>
          </a:xfrm>
          <a:prstGeom prst="roundRect">
            <a:avLst>
              <a:gd name="adj" fmla="val 291382"/>
            </a:avLst>
          </a:prstGeom>
          <a:solidFill>
            <a:srgbClr val="C3D4CC"/>
          </a:solidFill>
          <a:ln/>
        </p:spPr>
      </p:sp>
      <p:sp>
        <p:nvSpPr>
          <p:cNvPr id="10" name="Shape 7"/>
          <p:cNvSpPr/>
          <p:nvPr/>
        </p:nvSpPr>
        <p:spPr>
          <a:xfrm>
            <a:off x="7136785" y="2708315"/>
            <a:ext cx="356830" cy="356830"/>
          </a:xfrm>
          <a:prstGeom prst="roundRect">
            <a:avLst>
              <a:gd name="adj" fmla="val 18667"/>
            </a:avLst>
          </a:prstGeom>
          <a:solidFill>
            <a:srgbClr val="DDEEE6"/>
          </a:solidFill>
          <a:ln w="7620">
            <a:solidFill>
              <a:srgbClr val="C3D4CC"/>
            </a:solidFill>
            <a:prstDash val="solid"/>
          </a:ln>
        </p:spPr>
      </p:sp>
      <p:pic>
        <p:nvPicPr>
          <p:cNvPr id="11" name="Image 1" descr="preencoded.png"/>
          <p:cNvPicPr>
            <a:picLocks noChangeAspect="1"/>
          </p:cNvPicPr>
          <p:nvPr/>
        </p:nvPicPr>
        <p:blipFill>
          <a:blip r:embed="rId4"/>
          <a:stretch>
            <a:fillRect/>
          </a:stretch>
        </p:blipFill>
        <p:spPr>
          <a:xfrm>
            <a:off x="7196197" y="2738021"/>
            <a:ext cx="237887" cy="297299"/>
          </a:xfrm>
          <a:prstGeom prst="rect">
            <a:avLst/>
          </a:prstGeom>
        </p:spPr>
      </p:pic>
      <p:sp>
        <p:nvSpPr>
          <p:cNvPr id="12" name="Text 8"/>
          <p:cNvSpPr/>
          <p:nvPr/>
        </p:nvSpPr>
        <p:spPr>
          <a:xfrm>
            <a:off x="8108156" y="2762726"/>
            <a:ext cx="3957280" cy="247769"/>
          </a:xfrm>
          <a:prstGeom prst="rect">
            <a:avLst/>
          </a:prstGeom>
          <a:noFill/>
          <a:ln/>
        </p:spPr>
        <p:txBody>
          <a:bodyPr wrap="none" lIns="0" tIns="0" rIns="0" bIns="0" rtlCol="0" anchor="t"/>
          <a:lstStyle/>
          <a:p>
            <a:pPr marL="0" indent="0" algn="l">
              <a:lnSpc>
                <a:spcPts val="1950"/>
              </a:lnSpc>
              <a:buNone/>
            </a:pPr>
            <a:r>
              <a:rPr lang="en-US" sz="1550" b="1" dirty="0">
                <a:solidFill>
                  <a:srgbClr val="3B4E4E"/>
                </a:solidFill>
                <a:latin typeface="Syne Bold" pitchFamily="34" charset="0"/>
                <a:ea typeface="Syne Bold" pitchFamily="34" charset="-122"/>
                <a:cs typeface="Syne Bold" pitchFamily="34" charset="-120"/>
              </a:rPr>
              <a:t>Early Contextual Models (e.g., ELMo)</a:t>
            </a:r>
            <a:endParaRPr lang="en-US" sz="1550" dirty="0"/>
          </a:p>
        </p:txBody>
      </p:sp>
      <p:sp>
        <p:nvSpPr>
          <p:cNvPr id="13" name="Text 9"/>
          <p:cNvSpPr/>
          <p:nvPr/>
        </p:nvSpPr>
        <p:spPr>
          <a:xfrm>
            <a:off x="8108156" y="3105626"/>
            <a:ext cx="5967174" cy="1776055"/>
          </a:xfrm>
          <a:prstGeom prst="rect">
            <a:avLst/>
          </a:prstGeom>
          <a:noFill/>
          <a:ln/>
        </p:spPr>
        <p:txBody>
          <a:bodyPr wrap="square" lIns="0" tIns="0" rIns="0" bIns="0" rtlCol="0" anchor="t"/>
          <a:lstStyle/>
          <a:p>
            <a:pPr marL="0" indent="0" algn="l">
              <a:lnSpc>
                <a:spcPts val="1950"/>
              </a:lnSpc>
              <a:buNone/>
            </a:pPr>
            <a:r>
              <a:rPr lang="en-US" sz="1200" dirty="0">
                <a:solidFill>
                  <a:srgbClr val="3B4E4E"/>
                </a:solidFill>
                <a:latin typeface="Overpass Light" pitchFamily="34" charset="0"/>
                <a:ea typeface="Overpass Light" pitchFamily="34" charset="-122"/>
                <a:cs typeface="Overpass Light" pitchFamily="34" charset="-120"/>
              </a:rPr>
              <a:t>ELMo (Embeddings from Language Models) introduced the concept of deep contextualized word representations, where a word's embedding was a function of the entire input sentence. It used a bidirectional LSTM network to generate context-dependent word vectors. This marked a significant step forward, allowing models to differentiate between different meanings of a word based on its usage in a sentence. However, ELMo's architecture was still sequential, limiting its parallelization capabilities.</a:t>
            </a:r>
            <a:endParaRPr lang="en-US" sz="1200" dirty="0"/>
          </a:p>
        </p:txBody>
      </p:sp>
      <p:sp>
        <p:nvSpPr>
          <p:cNvPr id="14" name="Shape 10"/>
          <p:cNvSpPr/>
          <p:nvPr/>
        </p:nvSpPr>
        <p:spPr>
          <a:xfrm>
            <a:off x="6683871" y="4160520"/>
            <a:ext cx="475774" cy="22860"/>
          </a:xfrm>
          <a:prstGeom prst="roundRect">
            <a:avLst>
              <a:gd name="adj" fmla="val 291382"/>
            </a:avLst>
          </a:prstGeom>
          <a:solidFill>
            <a:srgbClr val="C3D4CC"/>
          </a:solidFill>
          <a:ln/>
        </p:spPr>
      </p:sp>
      <p:sp>
        <p:nvSpPr>
          <p:cNvPr id="15" name="Shape 11"/>
          <p:cNvSpPr/>
          <p:nvPr/>
        </p:nvSpPr>
        <p:spPr>
          <a:xfrm>
            <a:off x="7136785" y="3993594"/>
            <a:ext cx="356830" cy="356830"/>
          </a:xfrm>
          <a:prstGeom prst="roundRect">
            <a:avLst>
              <a:gd name="adj" fmla="val 18667"/>
            </a:avLst>
          </a:prstGeom>
          <a:solidFill>
            <a:srgbClr val="DDEEE6"/>
          </a:solidFill>
          <a:ln w="7620">
            <a:solidFill>
              <a:srgbClr val="C3D4CC"/>
            </a:solidFill>
            <a:prstDash val="solid"/>
          </a:ln>
        </p:spPr>
      </p:sp>
      <p:pic>
        <p:nvPicPr>
          <p:cNvPr id="16" name="Image 2" descr="preencoded.png"/>
          <p:cNvPicPr>
            <a:picLocks noChangeAspect="1"/>
          </p:cNvPicPr>
          <p:nvPr/>
        </p:nvPicPr>
        <p:blipFill>
          <a:blip r:embed="rId5"/>
          <a:stretch>
            <a:fillRect/>
          </a:stretch>
        </p:blipFill>
        <p:spPr>
          <a:xfrm>
            <a:off x="7196197" y="4023300"/>
            <a:ext cx="237887" cy="297299"/>
          </a:xfrm>
          <a:prstGeom prst="rect">
            <a:avLst/>
          </a:prstGeom>
        </p:spPr>
      </p:pic>
      <p:sp>
        <p:nvSpPr>
          <p:cNvPr id="17" name="Text 12"/>
          <p:cNvSpPr/>
          <p:nvPr/>
        </p:nvSpPr>
        <p:spPr>
          <a:xfrm>
            <a:off x="2022872" y="4048006"/>
            <a:ext cx="4499372" cy="247769"/>
          </a:xfrm>
          <a:prstGeom prst="rect">
            <a:avLst/>
          </a:prstGeom>
          <a:noFill/>
          <a:ln/>
        </p:spPr>
        <p:txBody>
          <a:bodyPr wrap="none" lIns="0" tIns="0" rIns="0" bIns="0" rtlCol="0" anchor="t"/>
          <a:lstStyle/>
          <a:p>
            <a:pPr marL="0" indent="0" algn="r">
              <a:lnSpc>
                <a:spcPts val="1950"/>
              </a:lnSpc>
              <a:buNone/>
            </a:pPr>
            <a:r>
              <a:rPr lang="en-US" sz="1550" b="1" dirty="0">
                <a:solidFill>
                  <a:srgbClr val="3B4E4E"/>
                </a:solidFill>
                <a:latin typeface="Syne Bold" pitchFamily="34" charset="0"/>
                <a:ea typeface="Syne Bold" pitchFamily="34" charset="-122"/>
                <a:cs typeface="Syne Bold" pitchFamily="34" charset="-120"/>
              </a:rPr>
              <a:t>The Rise of Transformers (e.g., GPT, BERT)</a:t>
            </a:r>
            <a:endParaRPr lang="en-US" sz="1550" dirty="0"/>
          </a:p>
        </p:txBody>
      </p:sp>
      <p:sp>
        <p:nvSpPr>
          <p:cNvPr id="18" name="Text 13"/>
          <p:cNvSpPr/>
          <p:nvPr/>
        </p:nvSpPr>
        <p:spPr>
          <a:xfrm>
            <a:off x="555069" y="4390906"/>
            <a:ext cx="5967174" cy="1776055"/>
          </a:xfrm>
          <a:prstGeom prst="rect">
            <a:avLst/>
          </a:prstGeom>
          <a:noFill/>
          <a:ln/>
        </p:spPr>
        <p:txBody>
          <a:bodyPr wrap="square" lIns="0" tIns="0" rIns="0" bIns="0" rtlCol="0" anchor="t"/>
          <a:lstStyle/>
          <a:p>
            <a:pPr marL="0" indent="0" algn="r">
              <a:lnSpc>
                <a:spcPts val="1950"/>
              </a:lnSpc>
              <a:buNone/>
            </a:pPr>
            <a:r>
              <a:rPr lang="en-US" sz="1200" dirty="0">
                <a:solidFill>
                  <a:srgbClr val="3B4E4E"/>
                </a:solidFill>
                <a:latin typeface="Overpass Light" pitchFamily="34" charset="0"/>
                <a:ea typeface="Overpass Light" pitchFamily="34" charset="-122"/>
                <a:cs typeface="Overpass Light" pitchFamily="34" charset="-120"/>
              </a:rPr>
              <a:t>The Transformer architecture, with its self-attention mechanism, enabled highly parallelized training and the capture of long-range dependencies more effectively. GPT demonstrated the power of unidirectional Transformers for generative tasks, while BERT introduced bidirectional pre-training for powerful language understanding. These models significantly outperformed previous architectures across a wide range of NLP benchmarks, ushering in the modern era of large language models.</a:t>
            </a:r>
            <a:endParaRPr lang="en-US" sz="1200" dirty="0"/>
          </a:p>
        </p:txBody>
      </p:sp>
      <p:sp>
        <p:nvSpPr>
          <p:cNvPr id="19" name="Shape 14"/>
          <p:cNvSpPr/>
          <p:nvPr/>
        </p:nvSpPr>
        <p:spPr>
          <a:xfrm>
            <a:off x="7470755" y="5405795"/>
            <a:ext cx="475774" cy="22860"/>
          </a:xfrm>
          <a:prstGeom prst="roundRect">
            <a:avLst>
              <a:gd name="adj" fmla="val 291382"/>
            </a:avLst>
          </a:prstGeom>
          <a:solidFill>
            <a:srgbClr val="C3D4CC"/>
          </a:solidFill>
          <a:ln/>
        </p:spPr>
      </p:sp>
      <p:sp>
        <p:nvSpPr>
          <p:cNvPr id="20" name="Shape 15"/>
          <p:cNvSpPr/>
          <p:nvPr/>
        </p:nvSpPr>
        <p:spPr>
          <a:xfrm>
            <a:off x="7136785" y="5238869"/>
            <a:ext cx="356830" cy="356830"/>
          </a:xfrm>
          <a:prstGeom prst="roundRect">
            <a:avLst>
              <a:gd name="adj" fmla="val 18667"/>
            </a:avLst>
          </a:prstGeom>
          <a:solidFill>
            <a:srgbClr val="DDEEE6"/>
          </a:solidFill>
          <a:ln w="7620">
            <a:solidFill>
              <a:srgbClr val="C3D4CC"/>
            </a:solidFill>
            <a:prstDash val="solid"/>
          </a:ln>
        </p:spPr>
      </p:sp>
      <p:pic>
        <p:nvPicPr>
          <p:cNvPr id="21" name="Image 3" descr="preencoded.png"/>
          <p:cNvPicPr>
            <a:picLocks noChangeAspect="1"/>
          </p:cNvPicPr>
          <p:nvPr/>
        </p:nvPicPr>
        <p:blipFill>
          <a:blip r:embed="rId6"/>
          <a:stretch>
            <a:fillRect/>
          </a:stretch>
        </p:blipFill>
        <p:spPr>
          <a:xfrm>
            <a:off x="7196197" y="5268575"/>
            <a:ext cx="237887" cy="297299"/>
          </a:xfrm>
          <a:prstGeom prst="rect">
            <a:avLst/>
          </a:prstGeom>
        </p:spPr>
      </p:pic>
      <p:sp>
        <p:nvSpPr>
          <p:cNvPr id="22" name="Text 16"/>
          <p:cNvSpPr/>
          <p:nvPr/>
        </p:nvSpPr>
        <p:spPr>
          <a:xfrm>
            <a:off x="8108156" y="5293281"/>
            <a:ext cx="5605463" cy="247769"/>
          </a:xfrm>
          <a:prstGeom prst="rect">
            <a:avLst/>
          </a:prstGeom>
          <a:noFill/>
          <a:ln/>
        </p:spPr>
        <p:txBody>
          <a:bodyPr wrap="none" lIns="0" tIns="0" rIns="0" bIns="0" rtlCol="0" anchor="t"/>
          <a:lstStyle/>
          <a:p>
            <a:pPr marL="0" indent="0" algn="l">
              <a:lnSpc>
                <a:spcPts val="1950"/>
              </a:lnSpc>
              <a:buNone/>
            </a:pPr>
            <a:r>
              <a:rPr lang="en-US" sz="1550" b="1" dirty="0">
                <a:solidFill>
                  <a:srgbClr val="3B4E4E"/>
                </a:solidFill>
                <a:latin typeface="Syne Bold" pitchFamily="34" charset="0"/>
                <a:ea typeface="Syne Bold" pitchFamily="34" charset="-122"/>
                <a:cs typeface="Syne Bold" pitchFamily="34" charset="-120"/>
              </a:rPr>
              <a:t>Model Compression and Efficiency (e.g., DistilBERT)</a:t>
            </a:r>
            <a:endParaRPr lang="en-US" sz="1550" dirty="0"/>
          </a:p>
        </p:txBody>
      </p:sp>
      <p:sp>
        <p:nvSpPr>
          <p:cNvPr id="23" name="Text 17"/>
          <p:cNvSpPr/>
          <p:nvPr/>
        </p:nvSpPr>
        <p:spPr>
          <a:xfrm>
            <a:off x="8108156" y="5636181"/>
            <a:ext cx="5967174" cy="1522333"/>
          </a:xfrm>
          <a:prstGeom prst="rect">
            <a:avLst/>
          </a:prstGeom>
          <a:noFill/>
          <a:ln/>
        </p:spPr>
        <p:txBody>
          <a:bodyPr wrap="square" lIns="0" tIns="0" rIns="0" bIns="0" rtlCol="0" anchor="t"/>
          <a:lstStyle/>
          <a:p>
            <a:pPr marL="0" indent="0" algn="l">
              <a:lnSpc>
                <a:spcPts val="1950"/>
              </a:lnSpc>
              <a:buNone/>
            </a:pPr>
            <a:r>
              <a:rPr lang="en-US" sz="1200" dirty="0">
                <a:solidFill>
                  <a:srgbClr val="3B4E4E"/>
                </a:solidFill>
                <a:latin typeface="Overpass Light" pitchFamily="34" charset="0"/>
                <a:ea typeface="Overpass Light" pitchFamily="34" charset="-122"/>
                <a:cs typeface="Overpass Light" pitchFamily="34" charset="-120"/>
              </a:rPr>
              <a:t>As Transformer models grew in size and computational demands, research shifted towards making them more efficient. Techniques like knowledge distillation emerged to create smaller, faster, and more deployable versions of these powerful models. DistilBERT is a prime example, showcasing how significant efficiency gains can be achieved with minimal loss in performance, making state-of-the-art NLP accessible for broader applications and real-world scenarios.</a:t>
            </a:r>
            <a:endParaRPr lang="en-US" sz="1200" dirty="0"/>
          </a:p>
        </p:txBody>
      </p:sp>
      <p:sp>
        <p:nvSpPr>
          <p:cNvPr id="24" name="Rectangle 23">
            <a:extLst>
              <a:ext uri="{FF2B5EF4-FFF2-40B4-BE49-F238E27FC236}">
                <a16:creationId xmlns:a16="http://schemas.microsoft.com/office/drawing/2014/main" id="{BAA90312-F032-4B2D-1BA3-AA4958714200}"/>
              </a:ext>
            </a:extLst>
          </p:cNvPr>
          <p:cNvSpPr/>
          <p:nvPr/>
        </p:nvSpPr>
        <p:spPr>
          <a:xfrm>
            <a:off x="12645482" y="7672039"/>
            <a:ext cx="1984917" cy="680224"/>
          </a:xfrm>
          <a:prstGeom prst="rect">
            <a:avLst/>
          </a:prstGeom>
          <a:solidFill>
            <a:srgbClr val="FFFD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746777" y="3858118"/>
            <a:ext cx="11075924" cy="511048"/>
            <a:chOff x="2183471" y="4822648"/>
            <a:chExt cx="13844905" cy="638810"/>
          </a:xfrm>
        </p:grpSpPr>
        <p:sp>
          <p:nvSpPr>
            <p:cNvPr id="3" name="object 3"/>
            <p:cNvSpPr/>
            <p:nvPr/>
          </p:nvSpPr>
          <p:spPr>
            <a:xfrm>
              <a:off x="2767289" y="5143498"/>
              <a:ext cx="12754610" cy="0"/>
            </a:xfrm>
            <a:custGeom>
              <a:avLst/>
              <a:gdLst/>
              <a:ahLst/>
              <a:cxnLst/>
              <a:rect l="l" t="t" r="r" b="b"/>
              <a:pathLst>
                <a:path w="12754610">
                  <a:moveTo>
                    <a:pt x="0" y="0"/>
                  </a:moveTo>
                  <a:lnTo>
                    <a:pt x="12754085" y="0"/>
                  </a:lnTo>
                </a:path>
              </a:pathLst>
            </a:custGeom>
            <a:ln w="38097">
              <a:solidFill>
                <a:srgbClr val="AB8A72"/>
              </a:solidFill>
            </a:ln>
          </p:spPr>
          <p:txBody>
            <a:bodyPr wrap="square" lIns="0" tIns="0" rIns="0" bIns="0" rtlCol="0"/>
            <a:lstStyle/>
            <a:p>
              <a:endParaRPr sz="1440"/>
            </a:p>
          </p:txBody>
        </p:sp>
        <p:sp>
          <p:nvSpPr>
            <p:cNvPr id="4" name="object 4"/>
            <p:cNvSpPr/>
            <p:nvPr/>
          </p:nvSpPr>
          <p:spPr>
            <a:xfrm>
              <a:off x="2183460" y="4822659"/>
              <a:ext cx="13844905" cy="638810"/>
            </a:xfrm>
            <a:custGeom>
              <a:avLst/>
              <a:gdLst/>
              <a:ahLst/>
              <a:cxnLst/>
              <a:rect l="l" t="t" r="r" b="b"/>
              <a:pathLst>
                <a:path w="13844905" h="638810">
                  <a:moveTo>
                    <a:pt x="708799" y="320852"/>
                  </a:moveTo>
                  <a:lnTo>
                    <a:pt x="617804" y="150317"/>
                  </a:lnTo>
                  <a:lnTo>
                    <a:pt x="549249" y="31584"/>
                  </a:lnTo>
                  <a:lnTo>
                    <a:pt x="528485" y="12649"/>
                  </a:lnTo>
                  <a:lnTo>
                    <a:pt x="528485" y="474954"/>
                  </a:lnTo>
                  <a:lnTo>
                    <a:pt x="526122" y="491477"/>
                  </a:lnTo>
                  <a:lnTo>
                    <a:pt x="482574" y="482193"/>
                  </a:lnTo>
                  <a:lnTo>
                    <a:pt x="448716" y="458724"/>
                  </a:lnTo>
                  <a:lnTo>
                    <a:pt x="411721" y="425526"/>
                  </a:lnTo>
                  <a:lnTo>
                    <a:pt x="384517" y="395871"/>
                  </a:lnTo>
                  <a:lnTo>
                    <a:pt x="359003" y="361429"/>
                  </a:lnTo>
                  <a:lnTo>
                    <a:pt x="349796" y="361429"/>
                  </a:lnTo>
                  <a:lnTo>
                    <a:pt x="324281" y="395871"/>
                  </a:lnTo>
                  <a:lnTo>
                    <a:pt x="297091" y="425526"/>
                  </a:lnTo>
                  <a:lnTo>
                    <a:pt x="260083" y="458724"/>
                  </a:lnTo>
                  <a:lnTo>
                    <a:pt x="226237" y="482193"/>
                  </a:lnTo>
                  <a:lnTo>
                    <a:pt x="199212" y="493826"/>
                  </a:lnTo>
                  <a:lnTo>
                    <a:pt x="182676" y="491477"/>
                  </a:lnTo>
                  <a:lnTo>
                    <a:pt x="180327" y="474954"/>
                  </a:lnTo>
                  <a:lnTo>
                    <a:pt x="191960" y="447929"/>
                  </a:lnTo>
                  <a:lnTo>
                    <a:pt x="215430" y="414070"/>
                  </a:lnTo>
                  <a:lnTo>
                    <a:pt x="248627" y="377063"/>
                  </a:lnTo>
                  <a:lnTo>
                    <a:pt x="290131" y="340347"/>
                  </a:lnTo>
                  <a:lnTo>
                    <a:pt x="309295" y="326555"/>
                  </a:lnTo>
                  <a:lnTo>
                    <a:pt x="309295" y="317601"/>
                  </a:lnTo>
                  <a:lnTo>
                    <a:pt x="276555" y="292823"/>
                  </a:lnTo>
                  <a:lnTo>
                    <a:pt x="215417" y="230073"/>
                  </a:lnTo>
                  <a:lnTo>
                    <a:pt x="191947" y="196215"/>
                  </a:lnTo>
                  <a:lnTo>
                    <a:pt x="180327" y="169189"/>
                  </a:lnTo>
                  <a:lnTo>
                    <a:pt x="182676" y="152679"/>
                  </a:lnTo>
                  <a:lnTo>
                    <a:pt x="199186" y="150329"/>
                  </a:lnTo>
                  <a:lnTo>
                    <a:pt x="226199" y="161937"/>
                  </a:lnTo>
                  <a:lnTo>
                    <a:pt x="260070" y="185420"/>
                  </a:lnTo>
                  <a:lnTo>
                    <a:pt x="297091" y="218617"/>
                  </a:lnTo>
                  <a:lnTo>
                    <a:pt x="324281" y="248272"/>
                  </a:lnTo>
                  <a:lnTo>
                    <a:pt x="349796" y="282727"/>
                  </a:lnTo>
                  <a:lnTo>
                    <a:pt x="359003" y="282727"/>
                  </a:lnTo>
                  <a:lnTo>
                    <a:pt x="384530" y="248272"/>
                  </a:lnTo>
                  <a:lnTo>
                    <a:pt x="411721" y="218617"/>
                  </a:lnTo>
                  <a:lnTo>
                    <a:pt x="448729" y="185420"/>
                  </a:lnTo>
                  <a:lnTo>
                    <a:pt x="482587" y="161937"/>
                  </a:lnTo>
                  <a:lnTo>
                    <a:pt x="509612" y="150317"/>
                  </a:lnTo>
                  <a:lnTo>
                    <a:pt x="526122" y="152679"/>
                  </a:lnTo>
                  <a:lnTo>
                    <a:pt x="528472" y="169189"/>
                  </a:lnTo>
                  <a:lnTo>
                    <a:pt x="516851" y="196215"/>
                  </a:lnTo>
                  <a:lnTo>
                    <a:pt x="493382" y="230073"/>
                  </a:lnTo>
                  <a:lnTo>
                    <a:pt x="460184" y="267093"/>
                  </a:lnTo>
                  <a:lnTo>
                    <a:pt x="418668" y="303809"/>
                  </a:lnTo>
                  <a:lnTo>
                    <a:pt x="399503" y="317601"/>
                  </a:lnTo>
                  <a:lnTo>
                    <a:pt x="399503" y="326555"/>
                  </a:lnTo>
                  <a:lnTo>
                    <a:pt x="432257" y="351320"/>
                  </a:lnTo>
                  <a:lnTo>
                    <a:pt x="493382" y="414070"/>
                  </a:lnTo>
                  <a:lnTo>
                    <a:pt x="516851" y="447929"/>
                  </a:lnTo>
                  <a:lnTo>
                    <a:pt x="528485" y="474954"/>
                  </a:lnTo>
                  <a:lnTo>
                    <a:pt x="528485" y="12649"/>
                  </a:lnTo>
                  <a:lnTo>
                    <a:pt x="520077" y="9144"/>
                  </a:lnTo>
                  <a:lnTo>
                    <a:pt x="507492" y="7467"/>
                  </a:lnTo>
                  <a:lnTo>
                    <a:pt x="201320" y="7467"/>
                  </a:lnTo>
                  <a:lnTo>
                    <a:pt x="159562" y="31584"/>
                  </a:lnTo>
                  <a:lnTo>
                    <a:pt x="6464" y="296748"/>
                  </a:lnTo>
                  <a:lnTo>
                    <a:pt x="0" y="320852"/>
                  </a:lnTo>
                  <a:lnTo>
                    <a:pt x="1625" y="333222"/>
                  </a:lnTo>
                  <a:lnTo>
                    <a:pt x="159550" y="610120"/>
                  </a:lnTo>
                  <a:lnTo>
                    <a:pt x="201307" y="634225"/>
                  </a:lnTo>
                  <a:lnTo>
                    <a:pt x="507492" y="634225"/>
                  </a:lnTo>
                  <a:lnTo>
                    <a:pt x="549236" y="610120"/>
                  </a:lnTo>
                  <a:lnTo>
                    <a:pt x="616369" y="493826"/>
                  </a:lnTo>
                  <a:lnTo>
                    <a:pt x="702322" y="344957"/>
                  </a:lnTo>
                  <a:lnTo>
                    <a:pt x="707174" y="333222"/>
                  </a:lnTo>
                  <a:lnTo>
                    <a:pt x="708799" y="320852"/>
                  </a:lnTo>
                  <a:close/>
                </a:path>
                <a:path w="13844905" h="638810">
                  <a:moveTo>
                    <a:pt x="3583089" y="307213"/>
                  </a:moveTo>
                  <a:lnTo>
                    <a:pt x="3464509" y="222288"/>
                  </a:lnTo>
                  <a:lnTo>
                    <a:pt x="3430613" y="207022"/>
                  </a:lnTo>
                  <a:lnTo>
                    <a:pt x="3402406" y="207949"/>
                  </a:lnTo>
                  <a:lnTo>
                    <a:pt x="3399675" y="207949"/>
                  </a:lnTo>
                  <a:lnTo>
                    <a:pt x="3372294" y="220954"/>
                  </a:lnTo>
                  <a:lnTo>
                    <a:pt x="3352254" y="243497"/>
                  </a:lnTo>
                  <a:lnTo>
                    <a:pt x="3342551" y="273456"/>
                  </a:lnTo>
                  <a:lnTo>
                    <a:pt x="3344545" y="300075"/>
                  </a:lnTo>
                  <a:lnTo>
                    <a:pt x="3373551" y="342480"/>
                  </a:lnTo>
                  <a:lnTo>
                    <a:pt x="3419195" y="356565"/>
                  </a:lnTo>
                  <a:lnTo>
                    <a:pt x="3420529" y="356565"/>
                  </a:lnTo>
                  <a:lnTo>
                    <a:pt x="3431057" y="355434"/>
                  </a:lnTo>
                  <a:lnTo>
                    <a:pt x="3441522" y="352729"/>
                  </a:lnTo>
                  <a:lnTo>
                    <a:pt x="3581984" y="313486"/>
                  </a:lnTo>
                  <a:lnTo>
                    <a:pt x="3583089" y="307213"/>
                  </a:lnTo>
                  <a:close/>
                </a:path>
                <a:path w="13844905" h="638810">
                  <a:moveTo>
                    <a:pt x="3592322" y="359600"/>
                  </a:moveTo>
                  <a:lnTo>
                    <a:pt x="3434588" y="366052"/>
                  </a:lnTo>
                  <a:lnTo>
                    <a:pt x="3384740" y="396151"/>
                  </a:lnTo>
                  <a:lnTo>
                    <a:pt x="3371354" y="453656"/>
                  </a:lnTo>
                  <a:lnTo>
                    <a:pt x="3383178" y="482866"/>
                  </a:lnTo>
                  <a:lnTo>
                    <a:pt x="3401796" y="501942"/>
                  </a:lnTo>
                  <a:lnTo>
                    <a:pt x="3425367" y="513181"/>
                  </a:lnTo>
                  <a:lnTo>
                    <a:pt x="3451314" y="515810"/>
                  </a:lnTo>
                  <a:lnTo>
                    <a:pt x="3477145" y="509143"/>
                  </a:lnTo>
                  <a:lnTo>
                    <a:pt x="3509962" y="479958"/>
                  </a:lnTo>
                  <a:lnTo>
                    <a:pt x="3592322" y="359600"/>
                  </a:lnTo>
                  <a:close/>
                </a:path>
                <a:path w="13844905" h="638810">
                  <a:moveTo>
                    <a:pt x="3608590" y="267385"/>
                  </a:moveTo>
                  <a:lnTo>
                    <a:pt x="3572345" y="126123"/>
                  </a:lnTo>
                  <a:lnTo>
                    <a:pt x="3531679" y="73406"/>
                  </a:lnTo>
                  <a:lnTo>
                    <a:pt x="3502571" y="65824"/>
                  </a:lnTo>
                  <a:lnTo>
                    <a:pt x="3472726" y="70218"/>
                  </a:lnTo>
                  <a:lnTo>
                    <a:pt x="3446018" y="86931"/>
                  </a:lnTo>
                  <a:lnTo>
                    <a:pt x="3430447" y="108597"/>
                  </a:lnTo>
                  <a:lnTo>
                    <a:pt x="3423488" y="133731"/>
                  </a:lnTo>
                  <a:lnTo>
                    <a:pt x="3425406" y="159740"/>
                  </a:lnTo>
                  <a:lnTo>
                    <a:pt x="3452037" y="200507"/>
                  </a:lnTo>
                  <a:lnTo>
                    <a:pt x="3603701" y="271487"/>
                  </a:lnTo>
                  <a:lnTo>
                    <a:pt x="3608590" y="267385"/>
                  </a:lnTo>
                  <a:close/>
                </a:path>
                <a:path w="13844905" h="638810">
                  <a:moveTo>
                    <a:pt x="3645001" y="544207"/>
                  </a:moveTo>
                  <a:lnTo>
                    <a:pt x="3644874" y="542607"/>
                  </a:lnTo>
                  <a:lnTo>
                    <a:pt x="3644150" y="533438"/>
                  </a:lnTo>
                  <a:lnTo>
                    <a:pt x="3629914" y="388315"/>
                  </a:lnTo>
                  <a:lnTo>
                    <a:pt x="3519703" y="488149"/>
                  </a:lnTo>
                  <a:lnTo>
                    <a:pt x="3494379" y="549719"/>
                  </a:lnTo>
                  <a:lnTo>
                    <a:pt x="3502368" y="578726"/>
                  </a:lnTo>
                  <a:lnTo>
                    <a:pt x="3521087" y="602373"/>
                  </a:lnTo>
                  <a:lnTo>
                    <a:pt x="3548900" y="617143"/>
                  </a:lnTo>
                  <a:lnTo>
                    <a:pt x="3575469" y="619798"/>
                  </a:lnTo>
                  <a:lnTo>
                    <a:pt x="3600704" y="613257"/>
                  </a:lnTo>
                  <a:lnTo>
                    <a:pt x="3637762" y="576872"/>
                  </a:lnTo>
                  <a:lnTo>
                    <a:pt x="3644265" y="555142"/>
                  </a:lnTo>
                  <a:lnTo>
                    <a:pt x="3645001" y="544207"/>
                  </a:lnTo>
                  <a:close/>
                </a:path>
                <a:path w="13844905" h="638810">
                  <a:moveTo>
                    <a:pt x="3725913" y="85737"/>
                  </a:moveTo>
                  <a:lnTo>
                    <a:pt x="3719499" y="55257"/>
                  </a:lnTo>
                  <a:lnTo>
                    <a:pt x="3702075" y="30734"/>
                  </a:lnTo>
                  <a:lnTo>
                    <a:pt x="3676383" y="14909"/>
                  </a:lnTo>
                  <a:lnTo>
                    <a:pt x="3645192" y="10541"/>
                  </a:lnTo>
                  <a:lnTo>
                    <a:pt x="3619322" y="17132"/>
                  </a:lnTo>
                  <a:lnTo>
                    <a:pt x="3582593" y="53073"/>
                  </a:lnTo>
                  <a:lnTo>
                    <a:pt x="3575291" y="90335"/>
                  </a:lnTo>
                  <a:lnTo>
                    <a:pt x="3576790" y="101422"/>
                  </a:lnTo>
                  <a:lnTo>
                    <a:pt x="3579838" y="111950"/>
                  </a:lnTo>
                  <a:lnTo>
                    <a:pt x="3584308" y="121780"/>
                  </a:lnTo>
                  <a:lnTo>
                    <a:pt x="3647351" y="253301"/>
                  </a:lnTo>
                  <a:lnTo>
                    <a:pt x="3653713" y="253301"/>
                  </a:lnTo>
                  <a:lnTo>
                    <a:pt x="3716756" y="121780"/>
                  </a:lnTo>
                  <a:lnTo>
                    <a:pt x="3725913" y="85737"/>
                  </a:lnTo>
                  <a:close/>
                </a:path>
                <a:path w="13844905" h="638810">
                  <a:moveTo>
                    <a:pt x="3806456" y="552145"/>
                  </a:moveTo>
                  <a:lnTo>
                    <a:pt x="3806431" y="551891"/>
                  </a:lnTo>
                  <a:lnTo>
                    <a:pt x="3804361" y="525551"/>
                  </a:lnTo>
                  <a:lnTo>
                    <a:pt x="3800589" y="514629"/>
                  </a:lnTo>
                  <a:lnTo>
                    <a:pt x="3795382" y="504710"/>
                  </a:lnTo>
                  <a:lnTo>
                    <a:pt x="3788918" y="495871"/>
                  </a:lnTo>
                  <a:lnTo>
                    <a:pt x="3781348" y="488149"/>
                  </a:lnTo>
                  <a:lnTo>
                    <a:pt x="3679355" y="388315"/>
                  </a:lnTo>
                  <a:lnTo>
                    <a:pt x="3677170" y="386130"/>
                  </a:lnTo>
                  <a:lnTo>
                    <a:pt x="3671138" y="388315"/>
                  </a:lnTo>
                  <a:lnTo>
                    <a:pt x="3656901" y="533438"/>
                  </a:lnTo>
                  <a:lnTo>
                    <a:pt x="3656076" y="542607"/>
                  </a:lnTo>
                  <a:lnTo>
                    <a:pt x="3656139" y="544207"/>
                  </a:lnTo>
                  <a:lnTo>
                    <a:pt x="3656317" y="549719"/>
                  </a:lnTo>
                  <a:lnTo>
                    <a:pt x="3677069" y="596912"/>
                  </a:lnTo>
                  <a:lnTo>
                    <a:pt x="3731374" y="620090"/>
                  </a:lnTo>
                  <a:lnTo>
                    <a:pt x="3762184" y="613524"/>
                  </a:lnTo>
                  <a:lnTo>
                    <a:pt x="3784231" y="598474"/>
                  </a:lnTo>
                  <a:lnTo>
                    <a:pt x="3799370" y="577240"/>
                  </a:lnTo>
                  <a:lnTo>
                    <a:pt x="3799471" y="576872"/>
                  </a:lnTo>
                  <a:lnTo>
                    <a:pt x="3806456" y="552145"/>
                  </a:lnTo>
                  <a:close/>
                </a:path>
                <a:path w="13844905" h="638810">
                  <a:moveTo>
                    <a:pt x="3877462" y="132080"/>
                  </a:moveTo>
                  <a:lnTo>
                    <a:pt x="3867950" y="103454"/>
                  </a:lnTo>
                  <a:lnTo>
                    <a:pt x="3846855" y="80048"/>
                  </a:lnTo>
                  <a:lnTo>
                    <a:pt x="3822814" y="68478"/>
                  </a:lnTo>
                  <a:lnTo>
                    <a:pt x="3796855" y="65989"/>
                  </a:lnTo>
                  <a:lnTo>
                    <a:pt x="3771569" y="72402"/>
                  </a:lnTo>
                  <a:lnTo>
                    <a:pt x="3736035" y="105702"/>
                  </a:lnTo>
                  <a:lnTo>
                    <a:pt x="3692474" y="267385"/>
                  </a:lnTo>
                  <a:lnTo>
                    <a:pt x="3694912" y="269455"/>
                  </a:lnTo>
                  <a:lnTo>
                    <a:pt x="3697376" y="271487"/>
                  </a:lnTo>
                  <a:lnTo>
                    <a:pt x="3830205" y="211264"/>
                  </a:lnTo>
                  <a:lnTo>
                    <a:pt x="3875049" y="162064"/>
                  </a:lnTo>
                  <a:lnTo>
                    <a:pt x="3877462" y="132080"/>
                  </a:lnTo>
                  <a:close/>
                </a:path>
                <a:path w="13844905" h="638810">
                  <a:moveTo>
                    <a:pt x="3930459" y="447916"/>
                  </a:moveTo>
                  <a:lnTo>
                    <a:pt x="3917696" y="398145"/>
                  </a:lnTo>
                  <a:lnTo>
                    <a:pt x="3878719" y="368935"/>
                  </a:lnTo>
                  <a:lnTo>
                    <a:pt x="3711905" y="354088"/>
                  </a:lnTo>
                  <a:lnTo>
                    <a:pt x="3708730" y="359600"/>
                  </a:lnTo>
                  <a:lnTo>
                    <a:pt x="3791115" y="479958"/>
                  </a:lnTo>
                  <a:lnTo>
                    <a:pt x="3847363" y="515594"/>
                  </a:lnTo>
                  <a:lnTo>
                    <a:pt x="3877310" y="512762"/>
                  </a:lnTo>
                  <a:lnTo>
                    <a:pt x="3903853" y="498436"/>
                  </a:lnTo>
                  <a:lnTo>
                    <a:pt x="3923233" y="473595"/>
                  </a:lnTo>
                  <a:lnTo>
                    <a:pt x="3930459" y="447916"/>
                  </a:lnTo>
                  <a:close/>
                </a:path>
                <a:path w="13844905" h="638810">
                  <a:moveTo>
                    <a:pt x="3957790" y="294411"/>
                  </a:moveTo>
                  <a:lnTo>
                    <a:pt x="3945686" y="238607"/>
                  </a:lnTo>
                  <a:lnTo>
                    <a:pt x="3903916" y="208686"/>
                  </a:lnTo>
                  <a:lnTo>
                    <a:pt x="3877360" y="206121"/>
                  </a:lnTo>
                  <a:lnTo>
                    <a:pt x="3865956" y="207949"/>
                  </a:lnTo>
                  <a:lnTo>
                    <a:pt x="3717975" y="307213"/>
                  </a:lnTo>
                  <a:lnTo>
                    <a:pt x="3719080" y="313486"/>
                  </a:lnTo>
                  <a:lnTo>
                    <a:pt x="3868407" y="355117"/>
                  </a:lnTo>
                  <a:lnTo>
                    <a:pt x="3877602" y="356425"/>
                  </a:lnTo>
                  <a:lnTo>
                    <a:pt x="3887038" y="356565"/>
                  </a:lnTo>
                  <a:lnTo>
                    <a:pt x="3897172" y="355434"/>
                  </a:lnTo>
                  <a:lnTo>
                    <a:pt x="3896779" y="355434"/>
                  </a:lnTo>
                  <a:lnTo>
                    <a:pt x="3925532" y="343877"/>
                  </a:lnTo>
                  <a:lnTo>
                    <a:pt x="3946664" y="322453"/>
                  </a:lnTo>
                  <a:lnTo>
                    <a:pt x="3957790" y="294411"/>
                  </a:lnTo>
                  <a:close/>
                </a:path>
                <a:path w="13844905" h="638810">
                  <a:moveTo>
                    <a:pt x="7267638" y="467931"/>
                  </a:moveTo>
                  <a:lnTo>
                    <a:pt x="7234720" y="435000"/>
                  </a:lnTo>
                  <a:lnTo>
                    <a:pt x="7120687" y="320967"/>
                  </a:lnTo>
                  <a:lnTo>
                    <a:pt x="7234987" y="206667"/>
                  </a:lnTo>
                  <a:lnTo>
                    <a:pt x="7267626" y="174015"/>
                  </a:lnTo>
                  <a:lnTo>
                    <a:pt x="7264146" y="165595"/>
                  </a:lnTo>
                  <a:lnTo>
                    <a:pt x="7109638" y="165595"/>
                  </a:lnTo>
                  <a:lnTo>
                    <a:pt x="7109638" y="154533"/>
                  </a:lnTo>
                  <a:lnTo>
                    <a:pt x="7109638" y="11074"/>
                  </a:lnTo>
                  <a:lnTo>
                    <a:pt x="7101218" y="7581"/>
                  </a:lnTo>
                  <a:lnTo>
                    <a:pt x="7068426" y="40373"/>
                  </a:lnTo>
                  <a:lnTo>
                    <a:pt x="7068426" y="320827"/>
                  </a:lnTo>
                  <a:lnTo>
                    <a:pt x="7068401" y="320967"/>
                  </a:lnTo>
                  <a:lnTo>
                    <a:pt x="6967194" y="429628"/>
                  </a:lnTo>
                  <a:lnTo>
                    <a:pt x="6954240" y="435000"/>
                  </a:lnTo>
                  <a:lnTo>
                    <a:pt x="6947357" y="433654"/>
                  </a:lnTo>
                  <a:lnTo>
                    <a:pt x="6941299" y="429628"/>
                  </a:lnTo>
                  <a:lnTo>
                    <a:pt x="6845440" y="333781"/>
                  </a:lnTo>
                  <a:lnTo>
                    <a:pt x="6841414" y="327710"/>
                  </a:lnTo>
                  <a:lnTo>
                    <a:pt x="6840080" y="320827"/>
                  </a:lnTo>
                  <a:lnTo>
                    <a:pt x="6841414" y="313931"/>
                  </a:lnTo>
                  <a:lnTo>
                    <a:pt x="6845440" y="307886"/>
                  </a:lnTo>
                  <a:lnTo>
                    <a:pt x="6941299" y="212026"/>
                  </a:lnTo>
                  <a:lnTo>
                    <a:pt x="6947357" y="208000"/>
                  </a:lnTo>
                  <a:lnTo>
                    <a:pt x="6954253" y="206667"/>
                  </a:lnTo>
                  <a:lnTo>
                    <a:pt x="6961137" y="208000"/>
                  </a:lnTo>
                  <a:lnTo>
                    <a:pt x="6967194" y="212026"/>
                  </a:lnTo>
                  <a:lnTo>
                    <a:pt x="7063054" y="307886"/>
                  </a:lnTo>
                  <a:lnTo>
                    <a:pt x="7067080" y="313931"/>
                  </a:lnTo>
                  <a:lnTo>
                    <a:pt x="7068426" y="320827"/>
                  </a:lnTo>
                  <a:lnTo>
                    <a:pt x="7068426" y="40373"/>
                  </a:lnTo>
                  <a:lnTo>
                    <a:pt x="6954266" y="154533"/>
                  </a:lnTo>
                  <a:lnTo>
                    <a:pt x="6807301" y="7581"/>
                  </a:lnTo>
                  <a:lnTo>
                    <a:pt x="6798869" y="11074"/>
                  </a:lnTo>
                  <a:lnTo>
                    <a:pt x="6798869" y="165595"/>
                  </a:lnTo>
                  <a:lnTo>
                    <a:pt x="6644360" y="165595"/>
                  </a:lnTo>
                  <a:lnTo>
                    <a:pt x="6640868" y="174015"/>
                  </a:lnTo>
                  <a:lnTo>
                    <a:pt x="6787820" y="320967"/>
                  </a:lnTo>
                  <a:lnTo>
                    <a:pt x="6640868" y="467931"/>
                  </a:lnTo>
                  <a:lnTo>
                    <a:pt x="6644360" y="476351"/>
                  </a:lnTo>
                  <a:lnTo>
                    <a:pt x="6798869" y="476351"/>
                  </a:lnTo>
                  <a:lnTo>
                    <a:pt x="6798869" y="630580"/>
                  </a:lnTo>
                  <a:lnTo>
                    <a:pt x="6807301" y="634072"/>
                  </a:lnTo>
                  <a:lnTo>
                    <a:pt x="6954266" y="487121"/>
                  </a:lnTo>
                  <a:lnTo>
                    <a:pt x="7101218" y="634072"/>
                  </a:lnTo>
                  <a:lnTo>
                    <a:pt x="7109638" y="630580"/>
                  </a:lnTo>
                  <a:lnTo>
                    <a:pt x="7109638" y="487121"/>
                  </a:lnTo>
                  <a:lnTo>
                    <a:pt x="7109638" y="476351"/>
                  </a:lnTo>
                  <a:lnTo>
                    <a:pt x="7264159" y="476351"/>
                  </a:lnTo>
                  <a:lnTo>
                    <a:pt x="7267638" y="467931"/>
                  </a:lnTo>
                  <a:close/>
                </a:path>
                <a:path w="13844905" h="638810">
                  <a:moveTo>
                    <a:pt x="10085654" y="625983"/>
                  </a:moveTo>
                  <a:lnTo>
                    <a:pt x="10085641" y="493890"/>
                  </a:lnTo>
                  <a:lnTo>
                    <a:pt x="10080688" y="488937"/>
                  </a:lnTo>
                  <a:lnTo>
                    <a:pt x="9948608" y="488937"/>
                  </a:lnTo>
                  <a:lnTo>
                    <a:pt x="9943503" y="494474"/>
                  </a:lnTo>
                  <a:lnTo>
                    <a:pt x="9944036" y="500938"/>
                  </a:lnTo>
                  <a:lnTo>
                    <a:pt x="9957029" y="549452"/>
                  </a:lnTo>
                  <a:lnTo>
                    <a:pt x="9985159" y="589432"/>
                  </a:lnTo>
                  <a:lnTo>
                    <a:pt x="10025139" y="617562"/>
                  </a:lnTo>
                  <a:lnTo>
                    <a:pt x="10073653" y="630555"/>
                  </a:lnTo>
                  <a:lnTo>
                    <a:pt x="10080104" y="631088"/>
                  </a:lnTo>
                  <a:lnTo>
                    <a:pt x="10085654" y="625983"/>
                  </a:lnTo>
                  <a:close/>
                </a:path>
                <a:path w="13844905" h="638810">
                  <a:moveTo>
                    <a:pt x="10085654" y="144627"/>
                  </a:moveTo>
                  <a:lnTo>
                    <a:pt x="10085641" y="12534"/>
                  </a:lnTo>
                  <a:lnTo>
                    <a:pt x="10080104" y="7429"/>
                  </a:lnTo>
                  <a:lnTo>
                    <a:pt x="10073640" y="7975"/>
                  </a:lnTo>
                  <a:lnTo>
                    <a:pt x="10025126" y="20955"/>
                  </a:lnTo>
                  <a:lnTo>
                    <a:pt x="9985159" y="49098"/>
                  </a:lnTo>
                  <a:lnTo>
                    <a:pt x="9957029" y="89065"/>
                  </a:lnTo>
                  <a:lnTo>
                    <a:pt x="9944036" y="137591"/>
                  </a:lnTo>
                  <a:lnTo>
                    <a:pt x="9943503" y="144030"/>
                  </a:lnTo>
                  <a:lnTo>
                    <a:pt x="9948608" y="149580"/>
                  </a:lnTo>
                  <a:lnTo>
                    <a:pt x="10080701" y="149580"/>
                  </a:lnTo>
                  <a:lnTo>
                    <a:pt x="10085654" y="144627"/>
                  </a:lnTo>
                  <a:close/>
                </a:path>
                <a:path w="13844905" h="638810">
                  <a:moveTo>
                    <a:pt x="10085908" y="455650"/>
                  </a:moveTo>
                  <a:lnTo>
                    <a:pt x="10077183" y="412203"/>
                  </a:lnTo>
                  <a:lnTo>
                    <a:pt x="10035337" y="352602"/>
                  </a:lnTo>
                  <a:lnTo>
                    <a:pt x="9997186" y="329819"/>
                  </a:lnTo>
                  <a:lnTo>
                    <a:pt x="9974110" y="326047"/>
                  </a:lnTo>
                  <a:lnTo>
                    <a:pt x="9948710" y="326047"/>
                  </a:lnTo>
                  <a:lnTo>
                    <a:pt x="9943770" y="331000"/>
                  </a:lnTo>
                  <a:lnTo>
                    <a:pt x="9943770" y="456285"/>
                  </a:lnTo>
                  <a:lnTo>
                    <a:pt x="9948710" y="461238"/>
                  </a:lnTo>
                  <a:lnTo>
                    <a:pt x="10080841" y="461238"/>
                  </a:lnTo>
                  <a:lnTo>
                    <a:pt x="10085908" y="455650"/>
                  </a:lnTo>
                  <a:close/>
                </a:path>
                <a:path w="13844905" h="638810">
                  <a:moveTo>
                    <a:pt x="10085908" y="182613"/>
                  </a:moveTo>
                  <a:lnTo>
                    <a:pt x="10080841" y="177050"/>
                  </a:lnTo>
                  <a:lnTo>
                    <a:pt x="9948710" y="177050"/>
                  </a:lnTo>
                  <a:lnTo>
                    <a:pt x="9943770" y="181991"/>
                  </a:lnTo>
                  <a:lnTo>
                    <a:pt x="9943770" y="307289"/>
                  </a:lnTo>
                  <a:lnTo>
                    <a:pt x="9948710" y="312229"/>
                  </a:lnTo>
                  <a:lnTo>
                    <a:pt x="9974097" y="312229"/>
                  </a:lnTo>
                  <a:lnTo>
                    <a:pt x="10035324" y="285673"/>
                  </a:lnTo>
                  <a:lnTo>
                    <a:pt x="10077171" y="226072"/>
                  </a:lnTo>
                  <a:lnTo>
                    <a:pt x="10085908" y="182613"/>
                  </a:lnTo>
                  <a:close/>
                </a:path>
                <a:path w="13844905" h="638810">
                  <a:moveTo>
                    <a:pt x="10245814" y="431126"/>
                  </a:moveTo>
                  <a:lnTo>
                    <a:pt x="10226891" y="379742"/>
                  </a:lnTo>
                  <a:lnTo>
                    <a:pt x="10192372" y="345109"/>
                  </a:lnTo>
                  <a:lnTo>
                    <a:pt x="10156342" y="327698"/>
                  </a:lnTo>
                  <a:lnTo>
                    <a:pt x="10140861" y="326047"/>
                  </a:lnTo>
                  <a:lnTo>
                    <a:pt x="10115448" y="326047"/>
                  </a:lnTo>
                  <a:lnTo>
                    <a:pt x="10110495" y="331000"/>
                  </a:lnTo>
                  <a:lnTo>
                    <a:pt x="10110495" y="456298"/>
                  </a:lnTo>
                  <a:lnTo>
                    <a:pt x="10115448" y="461251"/>
                  </a:lnTo>
                  <a:lnTo>
                    <a:pt x="10240861" y="461251"/>
                  </a:lnTo>
                  <a:lnTo>
                    <a:pt x="10245814" y="456298"/>
                  </a:lnTo>
                  <a:lnTo>
                    <a:pt x="10245814" y="431126"/>
                  </a:lnTo>
                  <a:close/>
                </a:path>
                <a:path w="13844905" h="638810">
                  <a:moveTo>
                    <a:pt x="10245814" y="181991"/>
                  </a:moveTo>
                  <a:lnTo>
                    <a:pt x="10240861" y="177050"/>
                  </a:lnTo>
                  <a:lnTo>
                    <a:pt x="10115448" y="177050"/>
                  </a:lnTo>
                  <a:lnTo>
                    <a:pt x="10110495" y="181991"/>
                  </a:lnTo>
                  <a:lnTo>
                    <a:pt x="10110495" y="307301"/>
                  </a:lnTo>
                  <a:lnTo>
                    <a:pt x="10115448" y="312242"/>
                  </a:lnTo>
                  <a:lnTo>
                    <a:pt x="10140861" y="312242"/>
                  </a:lnTo>
                  <a:lnTo>
                    <a:pt x="10192372" y="293179"/>
                  </a:lnTo>
                  <a:lnTo>
                    <a:pt x="10226891" y="258559"/>
                  </a:lnTo>
                  <a:lnTo>
                    <a:pt x="10244176" y="222554"/>
                  </a:lnTo>
                  <a:lnTo>
                    <a:pt x="10245814" y="207162"/>
                  </a:lnTo>
                  <a:lnTo>
                    <a:pt x="10245814" y="181991"/>
                  </a:lnTo>
                  <a:close/>
                </a:path>
                <a:path w="13844905" h="638810">
                  <a:moveTo>
                    <a:pt x="10245814" y="12420"/>
                  </a:moveTo>
                  <a:lnTo>
                    <a:pt x="10240861" y="7467"/>
                  </a:lnTo>
                  <a:lnTo>
                    <a:pt x="10115448" y="7467"/>
                  </a:lnTo>
                  <a:lnTo>
                    <a:pt x="10110495" y="12420"/>
                  </a:lnTo>
                  <a:lnTo>
                    <a:pt x="10110495" y="144538"/>
                  </a:lnTo>
                  <a:lnTo>
                    <a:pt x="10116083" y="149618"/>
                  </a:lnTo>
                  <a:lnTo>
                    <a:pt x="10122548" y="149085"/>
                  </a:lnTo>
                  <a:lnTo>
                    <a:pt x="10192360" y="123621"/>
                  </a:lnTo>
                  <a:lnTo>
                    <a:pt x="10239172" y="67754"/>
                  </a:lnTo>
                  <a:lnTo>
                    <a:pt x="10245814" y="12420"/>
                  </a:lnTo>
                  <a:close/>
                </a:path>
                <a:path w="13844905" h="638810">
                  <a:moveTo>
                    <a:pt x="10245827" y="600735"/>
                  </a:moveTo>
                  <a:lnTo>
                    <a:pt x="10219360" y="539496"/>
                  </a:lnTo>
                  <a:lnTo>
                    <a:pt x="10159657" y="497446"/>
                  </a:lnTo>
                  <a:lnTo>
                    <a:pt x="10116083" y="488670"/>
                  </a:lnTo>
                  <a:lnTo>
                    <a:pt x="10110508" y="493737"/>
                  </a:lnTo>
                  <a:lnTo>
                    <a:pt x="10110508" y="625881"/>
                  </a:lnTo>
                  <a:lnTo>
                    <a:pt x="10115461" y="630821"/>
                  </a:lnTo>
                  <a:lnTo>
                    <a:pt x="10240874" y="630821"/>
                  </a:lnTo>
                  <a:lnTo>
                    <a:pt x="10245827" y="625881"/>
                  </a:lnTo>
                  <a:lnTo>
                    <a:pt x="10245827" y="600735"/>
                  </a:lnTo>
                  <a:close/>
                </a:path>
                <a:path w="13844905" h="638810">
                  <a:moveTo>
                    <a:pt x="10394709" y="493737"/>
                  </a:moveTo>
                  <a:lnTo>
                    <a:pt x="10389133" y="488670"/>
                  </a:lnTo>
                  <a:lnTo>
                    <a:pt x="10382644" y="489216"/>
                  </a:lnTo>
                  <a:lnTo>
                    <a:pt x="10345763" y="497370"/>
                  </a:lnTo>
                  <a:lnTo>
                    <a:pt x="10286276" y="539000"/>
                  </a:lnTo>
                  <a:lnTo>
                    <a:pt x="10263416" y="577037"/>
                  </a:lnTo>
                  <a:lnTo>
                    <a:pt x="10259619" y="600240"/>
                  </a:lnTo>
                  <a:lnTo>
                    <a:pt x="10259619" y="625881"/>
                  </a:lnTo>
                  <a:lnTo>
                    <a:pt x="10264559" y="630821"/>
                  </a:lnTo>
                  <a:lnTo>
                    <a:pt x="10389756" y="630821"/>
                  </a:lnTo>
                  <a:lnTo>
                    <a:pt x="10394709" y="625881"/>
                  </a:lnTo>
                  <a:lnTo>
                    <a:pt x="10394709" y="493737"/>
                  </a:lnTo>
                  <a:close/>
                </a:path>
                <a:path w="13844905" h="638810">
                  <a:moveTo>
                    <a:pt x="10394709" y="181991"/>
                  </a:moveTo>
                  <a:lnTo>
                    <a:pt x="10389756" y="177050"/>
                  </a:lnTo>
                  <a:lnTo>
                    <a:pt x="10264572" y="177050"/>
                  </a:lnTo>
                  <a:lnTo>
                    <a:pt x="10259631" y="181991"/>
                  </a:lnTo>
                  <a:lnTo>
                    <a:pt x="10259631" y="207632"/>
                  </a:lnTo>
                  <a:lnTo>
                    <a:pt x="10278681" y="259067"/>
                  </a:lnTo>
                  <a:lnTo>
                    <a:pt x="10313022" y="293319"/>
                  </a:lnTo>
                  <a:lnTo>
                    <a:pt x="10348887" y="310603"/>
                  </a:lnTo>
                  <a:lnTo>
                    <a:pt x="10364330" y="312242"/>
                  </a:lnTo>
                  <a:lnTo>
                    <a:pt x="10389756" y="312242"/>
                  </a:lnTo>
                  <a:lnTo>
                    <a:pt x="10394709" y="307301"/>
                  </a:lnTo>
                  <a:lnTo>
                    <a:pt x="10394709" y="181991"/>
                  </a:lnTo>
                  <a:close/>
                </a:path>
                <a:path w="13844905" h="638810">
                  <a:moveTo>
                    <a:pt x="10394721" y="144551"/>
                  </a:moveTo>
                  <a:lnTo>
                    <a:pt x="10394709" y="12420"/>
                  </a:lnTo>
                  <a:lnTo>
                    <a:pt x="10389756" y="7467"/>
                  </a:lnTo>
                  <a:lnTo>
                    <a:pt x="10264572" y="7467"/>
                  </a:lnTo>
                  <a:lnTo>
                    <a:pt x="10259631" y="12420"/>
                  </a:lnTo>
                  <a:lnTo>
                    <a:pt x="10259631" y="38049"/>
                  </a:lnTo>
                  <a:lnTo>
                    <a:pt x="10286289" y="99288"/>
                  </a:lnTo>
                  <a:lnTo>
                    <a:pt x="10345776" y="140931"/>
                  </a:lnTo>
                  <a:lnTo>
                    <a:pt x="10389133" y="149631"/>
                  </a:lnTo>
                  <a:lnTo>
                    <a:pt x="10394721" y="144551"/>
                  </a:lnTo>
                  <a:close/>
                </a:path>
                <a:path w="13844905" h="638810">
                  <a:moveTo>
                    <a:pt x="10394734" y="456298"/>
                  </a:moveTo>
                  <a:lnTo>
                    <a:pt x="10394709" y="331000"/>
                  </a:lnTo>
                  <a:lnTo>
                    <a:pt x="10389756" y="326047"/>
                  </a:lnTo>
                  <a:lnTo>
                    <a:pt x="10364343" y="326047"/>
                  </a:lnTo>
                  <a:lnTo>
                    <a:pt x="10313035" y="344982"/>
                  </a:lnTo>
                  <a:lnTo>
                    <a:pt x="10278694" y="379234"/>
                  </a:lnTo>
                  <a:lnTo>
                    <a:pt x="10261295" y="415137"/>
                  </a:lnTo>
                  <a:lnTo>
                    <a:pt x="10259644" y="430669"/>
                  </a:lnTo>
                  <a:lnTo>
                    <a:pt x="10259644" y="456298"/>
                  </a:lnTo>
                  <a:lnTo>
                    <a:pt x="10264584" y="461251"/>
                  </a:lnTo>
                  <a:lnTo>
                    <a:pt x="10389781" y="461251"/>
                  </a:lnTo>
                  <a:lnTo>
                    <a:pt x="10394734" y="456298"/>
                  </a:lnTo>
                  <a:close/>
                </a:path>
                <a:path w="13844905" h="638810">
                  <a:moveTo>
                    <a:pt x="10561676" y="181991"/>
                  </a:moveTo>
                  <a:lnTo>
                    <a:pt x="10556723" y="177050"/>
                  </a:lnTo>
                  <a:lnTo>
                    <a:pt x="10424604" y="177050"/>
                  </a:lnTo>
                  <a:lnTo>
                    <a:pt x="10419524" y="182626"/>
                  </a:lnTo>
                  <a:lnTo>
                    <a:pt x="10420058" y="189103"/>
                  </a:lnTo>
                  <a:lnTo>
                    <a:pt x="10445394" y="258737"/>
                  </a:lnTo>
                  <a:lnTo>
                    <a:pt x="10500982" y="305523"/>
                  </a:lnTo>
                  <a:lnTo>
                    <a:pt x="10531323" y="312229"/>
                  </a:lnTo>
                  <a:lnTo>
                    <a:pt x="10556710" y="312229"/>
                  </a:lnTo>
                  <a:lnTo>
                    <a:pt x="10561663" y="307289"/>
                  </a:lnTo>
                  <a:lnTo>
                    <a:pt x="10561676" y="181991"/>
                  </a:lnTo>
                  <a:close/>
                </a:path>
                <a:path w="13844905" h="638810">
                  <a:moveTo>
                    <a:pt x="10561688" y="456285"/>
                  </a:moveTo>
                  <a:lnTo>
                    <a:pt x="10561676" y="331000"/>
                  </a:lnTo>
                  <a:lnTo>
                    <a:pt x="10556723" y="326047"/>
                  </a:lnTo>
                  <a:lnTo>
                    <a:pt x="10531335" y="326047"/>
                  </a:lnTo>
                  <a:lnTo>
                    <a:pt x="10470109" y="352615"/>
                  </a:lnTo>
                  <a:lnTo>
                    <a:pt x="10428262" y="412203"/>
                  </a:lnTo>
                  <a:lnTo>
                    <a:pt x="10419524" y="455663"/>
                  </a:lnTo>
                  <a:lnTo>
                    <a:pt x="10424604" y="461238"/>
                  </a:lnTo>
                  <a:lnTo>
                    <a:pt x="10556735" y="461238"/>
                  </a:lnTo>
                  <a:lnTo>
                    <a:pt x="10561688" y="456285"/>
                  </a:lnTo>
                  <a:close/>
                </a:path>
                <a:path w="13844905" h="638810">
                  <a:moveTo>
                    <a:pt x="10561714" y="494474"/>
                  </a:moveTo>
                  <a:lnTo>
                    <a:pt x="10556608" y="488937"/>
                  </a:lnTo>
                  <a:lnTo>
                    <a:pt x="10424516" y="488937"/>
                  </a:lnTo>
                  <a:lnTo>
                    <a:pt x="10419563" y="493890"/>
                  </a:lnTo>
                  <a:lnTo>
                    <a:pt x="10419563" y="625983"/>
                  </a:lnTo>
                  <a:lnTo>
                    <a:pt x="10425100" y="631088"/>
                  </a:lnTo>
                  <a:lnTo>
                    <a:pt x="10431551" y="630555"/>
                  </a:lnTo>
                  <a:lnTo>
                    <a:pt x="10480078" y="617562"/>
                  </a:lnTo>
                  <a:lnTo>
                    <a:pt x="10520045" y="589432"/>
                  </a:lnTo>
                  <a:lnTo>
                    <a:pt x="10548188" y="549452"/>
                  </a:lnTo>
                  <a:lnTo>
                    <a:pt x="10561180" y="500938"/>
                  </a:lnTo>
                  <a:lnTo>
                    <a:pt x="10561714" y="494474"/>
                  </a:lnTo>
                  <a:close/>
                </a:path>
                <a:path w="13844905" h="638810">
                  <a:moveTo>
                    <a:pt x="10561714" y="144030"/>
                  </a:moveTo>
                  <a:lnTo>
                    <a:pt x="10548188" y="89065"/>
                  </a:lnTo>
                  <a:lnTo>
                    <a:pt x="10520045" y="49098"/>
                  </a:lnTo>
                  <a:lnTo>
                    <a:pt x="10480078" y="20955"/>
                  </a:lnTo>
                  <a:lnTo>
                    <a:pt x="10431551" y="7975"/>
                  </a:lnTo>
                  <a:lnTo>
                    <a:pt x="10425112" y="7429"/>
                  </a:lnTo>
                  <a:lnTo>
                    <a:pt x="10419563" y="12534"/>
                  </a:lnTo>
                  <a:lnTo>
                    <a:pt x="10419575" y="144614"/>
                  </a:lnTo>
                  <a:lnTo>
                    <a:pt x="10424516" y="149567"/>
                  </a:lnTo>
                  <a:lnTo>
                    <a:pt x="10556608" y="149567"/>
                  </a:lnTo>
                  <a:lnTo>
                    <a:pt x="10561714" y="144030"/>
                  </a:lnTo>
                  <a:close/>
                </a:path>
                <a:path w="13844905" h="638810">
                  <a:moveTo>
                    <a:pt x="13844804" y="166928"/>
                  </a:moveTo>
                  <a:lnTo>
                    <a:pt x="13840473" y="153098"/>
                  </a:lnTo>
                  <a:lnTo>
                    <a:pt x="13830478" y="142608"/>
                  </a:lnTo>
                  <a:lnTo>
                    <a:pt x="13816076" y="137642"/>
                  </a:lnTo>
                  <a:lnTo>
                    <a:pt x="13782205" y="134950"/>
                  </a:lnTo>
                  <a:lnTo>
                    <a:pt x="13773061" y="134023"/>
                  </a:lnTo>
                  <a:lnTo>
                    <a:pt x="13773061" y="314299"/>
                  </a:lnTo>
                  <a:lnTo>
                    <a:pt x="13773061" y="323875"/>
                  </a:lnTo>
                  <a:lnTo>
                    <a:pt x="13769175" y="327736"/>
                  </a:lnTo>
                  <a:lnTo>
                    <a:pt x="13729259" y="327736"/>
                  </a:lnTo>
                  <a:lnTo>
                    <a:pt x="13716991" y="328396"/>
                  </a:lnTo>
                  <a:lnTo>
                    <a:pt x="13665721" y="347281"/>
                  </a:lnTo>
                  <a:lnTo>
                    <a:pt x="13621474" y="381825"/>
                  </a:lnTo>
                  <a:lnTo>
                    <a:pt x="13586930" y="426072"/>
                  </a:lnTo>
                  <a:lnTo>
                    <a:pt x="13570052" y="465239"/>
                  </a:lnTo>
                  <a:lnTo>
                    <a:pt x="13567385" y="489597"/>
                  </a:lnTo>
                  <a:lnTo>
                    <a:pt x="13567385" y="529513"/>
                  </a:lnTo>
                  <a:lnTo>
                    <a:pt x="13563511" y="533400"/>
                  </a:lnTo>
                  <a:lnTo>
                    <a:pt x="13553948" y="533400"/>
                  </a:lnTo>
                  <a:lnTo>
                    <a:pt x="13550075" y="529513"/>
                  </a:lnTo>
                  <a:lnTo>
                    <a:pt x="13550075" y="489597"/>
                  </a:lnTo>
                  <a:lnTo>
                    <a:pt x="13549313" y="476732"/>
                  </a:lnTo>
                  <a:lnTo>
                    <a:pt x="13538111" y="439762"/>
                  </a:lnTo>
                  <a:lnTo>
                    <a:pt x="13508457" y="395312"/>
                  </a:lnTo>
                  <a:lnTo>
                    <a:pt x="13468312" y="358203"/>
                  </a:lnTo>
                  <a:lnTo>
                    <a:pt x="13426186" y="334518"/>
                  </a:lnTo>
                  <a:lnTo>
                    <a:pt x="13400443" y="328396"/>
                  </a:lnTo>
                  <a:lnTo>
                    <a:pt x="13399135" y="328396"/>
                  </a:lnTo>
                  <a:lnTo>
                    <a:pt x="13387934" y="327736"/>
                  </a:lnTo>
                  <a:lnTo>
                    <a:pt x="13348322" y="327736"/>
                  </a:lnTo>
                  <a:lnTo>
                    <a:pt x="13344462" y="323875"/>
                  </a:lnTo>
                  <a:lnTo>
                    <a:pt x="13344474" y="314299"/>
                  </a:lnTo>
                  <a:lnTo>
                    <a:pt x="13348335" y="310426"/>
                  </a:lnTo>
                  <a:lnTo>
                    <a:pt x="13388480" y="310426"/>
                  </a:lnTo>
                  <a:lnTo>
                    <a:pt x="13402678" y="309664"/>
                  </a:lnTo>
                  <a:lnTo>
                    <a:pt x="13401218" y="309664"/>
                  </a:lnTo>
                  <a:lnTo>
                    <a:pt x="13412623" y="307784"/>
                  </a:lnTo>
                  <a:lnTo>
                    <a:pt x="13424395" y="304419"/>
                  </a:lnTo>
                  <a:lnTo>
                    <a:pt x="13467233" y="280784"/>
                  </a:lnTo>
                  <a:lnTo>
                    <a:pt x="13508482" y="242862"/>
                  </a:lnTo>
                  <a:lnTo>
                    <a:pt x="13538149" y="198412"/>
                  </a:lnTo>
                  <a:lnTo>
                    <a:pt x="13549338" y="161442"/>
                  </a:lnTo>
                  <a:lnTo>
                    <a:pt x="13550113" y="108648"/>
                  </a:lnTo>
                  <a:lnTo>
                    <a:pt x="13553974" y="104787"/>
                  </a:lnTo>
                  <a:lnTo>
                    <a:pt x="13563537" y="104787"/>
                  </a:lnTo>
                  <a:lnTo>
                    <a:pt x="13567410" y="108648"/>
                  </a:lnTo>
                  <a:lnTo>
                    <a:pt x="13567410" y="148501"/>
                  </a:lnTo>
                  <a:lnTo>
                    <a:pt x="13568172" y="161442"/>
                  </a:lnTo>
                  <a:lnTo>
                    <a:pt x="13579374" y="198412"/>
                  </a:lnTo>
                  <a:lnTo>
                    <a:pt x="13609041" y="242862"/>
                  </a:lnTo>
                  <a:lnTo>
                    <a:pt x="13649173" y="279971"/>
                  </a:lnTo>
                  <a:lnTo>
                    <a:pt x="13691311" y="303657"/>
                  </a:lnTo>
                  <a:lnTo>
                    <a:pt x="13729335" y="310426"/>
                  </a:lnTo>
                  <a:lnTo>
                    <a:pt x="13769175" y="310426"/>
                  </a:lnTo>
                  <a:lnTo>
                    <a:pt x="13773061" y="314299"/>
                  </a:lnTo>
                  <a:lnTo>
                    <a:pt x="13773061" y="134023"/>
                  </a:lnTo>
                  <a:lnTo>
                    <a:pt x="13748093" y="131470"/>
                  </a:lnTo>
                  <a:lnTo>
                    <a:pt x="13714654" y="124942"/>
                  </a:lnTo>
                  <a:lnTo>
                    <a:pt x="13670331" y="104787"/>
                  </a:lnTo>
                  <a:lnTo>
                    <a:pt x="13632510" y="71272"/>
                  </a:lnTo>
                  <a:lnTo>
                    <a:pt x="13593420" y="17767"/>
                  </a:lnTo>
                  <a:lnTo>
                    <a:pt x="13586244" y="9994"/>
                  </a:lnTo>
                  <a:lnTo>
                    <a:pt x="13577786" y="4432"/>
                  </a:lnTo>
                  <a:lnTo>
                    <a:pt x="13568477" y="1104"/>
                  </a:lnTo>
                  <a:lnTo>
                    <a:pt x="13558761" y="0"/>
                  </a:lnTo>
                  <a:lnTo>
                    <a:pt x="13549021" y="1104"/>
                  </a:lnTo>
                  <a:lnTo>
                    <a:pt x="13539711" y="4432"/>
                  </a:lnTo>
                  <a:lnTo>
                    <a:pt x="13531253" y="9994"/>
                  </a:lnTo>
                  <a:lnTo>
                    <a:pt x="13524078" y="17767"/>
                  </a:lnTo>
                  <a:lnTo>
                    <a:pt x="13504863" y="43599"/>
                  </a:lnTo>
                  <a:lnTo>
                    <a:pt x="13484035" y="68440"/>
                  </a:lnTo>
                  <a:lnTo>
                    <a:pt x="13460933" y="90957"/>
                  </a:lnTo>
                  <a:lnTo>
                    <a:pt x="13434848" y="109855"/>
                  </a:lnTo>
                  <a:lnTo>
                    <a:pt x="13402932" y="124180"/>
                  </a:lnTo>
                  <a:lnTo>
                    <a:pt x="13370408" y="131470"/>
                  </a:lnTo>
                  <a:lnTo>
                    <a:pt x="13370865" y="131470"/>
                  </a:lnTo>
                  <a:lnTo>
                    <a:pt x="13336956" y="134950"/>
                  </a:lnTo>
                  <a:lnTo>
                    <a:pt x="13337248" y="134950"/>
                  </a:lnTo>
                  <a:lnTo>
                    <a:pt x="13301447" y="137642"/>
                  </a:lnTo>
                  <a:lnTo>
                    <a:pt x="13287045" y="142608"/>
                  </a:lnTo>
                  <a:lnTo>
                    <a:pt x="13277037" y="153098"/>
                  </a:lnTo>
                  <a:lnTo>
                    <a:pt x="13272707" y="166928"/>
                  </a:lnTo>
                  <a:lnTo>
                    <a:pt x="13275348" y="181927"/>
                  </a:lnTo>
                  <a:lnTo>
                    <a:pt x="13300482" y="238963"/>
                  </a:lnTo>
                  <a:lnTo>
                    <a:pt x="13311111" y="271170"/>
                  </a:lnTo>
                  <a:lnTo>
                    <a:pt x="13317284" y="308775"/>
                  </a:lnTo>
                  <a:lnTo>
                    <a:pt x="13317195" y="346671"/>
                  </a:lnTo>
                  <a:lnTo>
                    <a:pt x="13309054" y="379755"/>
                  </a:lnTo>
                  <a:lnTo>
                    <a:pt x="13275348" y="456234"/>
                  </a:lnTo>
                  <a:lnTo>
                    <a:pt x="13272707" y="471233"/>
                  </a:lnTo>
                  <a:lnTo>
                    <a:pt x="13277037" y="485076"/>
                  </a:lnTo>
                  <a:lnTo>
                    <a:pt x="13287032" y="495566"/>
                  </a:lnTo>
                  <a:lnTo>
                    <a:pt x="13301447" y="500532"/>
                  </a:lnTo>
                  <a:lnTo>
                    <a:pt x="13365188" y="506336"/>
                  </a:lnTo>
                  <a:lnTo>
                    <a:pt x="13406019" y="515112"/>
                  </a:lnTo>
                  <a:lnTo>
                    <a:pt x="13442620" y="532739"/>
                  </a:lnTo>
                  <a:lnTo>
                    <a:pt x="13474637" y="557898"/>
                  </a:lnTo>
                  <a:lnTo>
                    <a:pt x="13501700" y="589267"/>
                  </a:lnTo>
                  <a:lnTo>
                    <a:pt x="13524065" y="620395"/>
                  </a:lnTo>
                  <a:lnTo>
                    <a:pt x="13531241" y="628167"/>
                  </a:lnTo>
                  <a:lnTo>
                    <a:pt x="13539699" y="633730"/>
                  </a:lnTo>
                  <a:lnTo>
                    <a:pt x="13549021" y="637070"/>
                  </a:lnTo>
                  <a:lnTo>
                    <a:pt x="13558761" y="638187"/>
                  </a:lnTo>
                  <a:lnTo>
                    <a:pt x="13568502" y="637070"/>
                  </a:lnTo>
                  <a:lnTo>
                    <a:pt x="13577811" y="633730"/>
                  </a:lnTo>
                  <a:lnTo>
                    <a:pt x="13586270" y="628167"/>
                  </a:lnTo>
                  <a:lnTo>
                    <a:pt x="13593445" y="620395"/>
                  </a:lnTo>
                  <a:lnTo>
                    <a:pt x="13615810" y="589267"/>
                  </a:lnTo>
                  <a:lnTo>
                    <a:pt x="13642874" y="557898"/>
                  </a:lnTo>
                  <a:lnTo>
                    <a:pt x="13674065" y="533400"/>
                  </a:lnTo>
                  <a:lnTo>
                    <a:pt x="13674890" y="532739"/>
                  </a:lnTo>
                  <a:lnTo>
                    <a:pt x="13711504" y="515112"/>
                  </a:lnTo>
                  <a:lnTo>
                    <a:pt x="13752309" y="506336"/>
                  </a:lnTo>
                  <a:lnTo>
                    <a:pt x="13816063" y="500532"/>
                  </a:lnTo>
                  <a:lnTo>
                    <a:pt x="13830465" y="495566"/>
                  </a:lnTo>
                  <a:lnTo>
                    <a:pt x="13840473" y="485076"/>
                  </a:lnTo>
                  <a:lnTo>
                    <a:pt x="13844804" y="471233"/>
                  </a:lnTo>
                  <a:lnTo>
                    <a:pt x="13842175" y="456234"/>
                  </a:lnTo>
                  <a:lnTo>
                    <a:pt x="13808456" y="379755"/>
                  </a:lnTo>
                  <a:lnTo>
                    <a:pt x="13800315" y="346671"/>
                  </a:lnTo>
                  <a:lnTo>
                    <a:pt x="13800239" y="308775"/>
                  </a:lnTo>
                  <a:lnTo>
                    <a:pt x="13806399" y="271170"/>
                  </a:lnTo>
                  <a:lnTo>
                    <a:pt x="13817029" y="238963"/>
                  </a:lnTo>
                  <a:lnTo>
                    <a:pt x="13842175" y="181927"/>
                  </a:lnTo>
                  <a:lnTo>
                    <a:pt x="13844804" y="166928"/>
                  </a:lnTo>
                  <a:close/>
                </a:path>
              </a:pathLst>
            </a:custGeom>
            <a:solidFill>
              <a:srgbClr val="364042"/>
            </a:solidFill>
          </p:spPr>
          <p:txBody>
            <a:bodyPr wrap="square" lIns="0" tIns="0" rIns="0" bIns="0" rtlCol="0"/>
            <a:lstStyle/>
            <a:p>
              <a:endParaRPr sz="1440"/>
            </a:p>
          </p:txBody>
        </p:sp>
      </p:grpSp>
      <p:sp>
        <p:nvSpPr>
          <p:cNvPr id="5" name="object 5"/>
          <p:cNvSpPr txBox="1"/>
          <p:nvPr/>
        </p:nvSpPr>
        <p:spPr>
          <a:xfrm>
            <a:off x="1000879" y="4719776"/>
            <a:ext cx="2058924" cy="1782860"/>
          </a:xfrm>
          <a:prstGeom prst="rect">
            <a:avLst/>
          </a:prstGeom>
        </p:spPr>
        <p:txBody>
          <a:bodyPr vert="horz" wrap="square" lIns="0" tIns="10160" rIns="0" bIns="0" rtlCol="0">
            <a:spAutoFit/>
          </a:bodyPr>
          <a:lstStyle/>
          <a:p>
            <a:pPr marL="202183" marR="196088" algn="ctr">
              <a:lnSpc>
                <a:spcPct val="116100"/>
              </a:lnSpc>
              <a:spcBef>
                <a:spcPts val="80"/>
              </a:spcBef>
            </a:pPr>
            <a:r>
              <a:rPr sz="1680" b="1" spc="84" dirty="0">
                <a:solidFill>
                  <a:srgbClr val="0E1212"/>
                </a:solidFill>
                <a:latin typeface="Arial"/>
                <a:cs typeface="Arial"/>
              </a:rPr>
              <a:t>Data</a:t>
            </a:r>
            <a:r>
              <a:rPr sz="1680" b="1" spc="-44" dirty="0">
                <a:solidFill>
                  <a:srgbClr val="0E1212"/>
                </a:solidFill>
                <a:latin typeface="Arial"/>
                <a:cs typeface="Arial"/>
              </a:rPr>
              <a:t> </a:t>
            </a:r>
            <a:r>
              <a:rPr sz="1680" b="1" spc="32" dirty="0">
                <a:solidFill>
                  <a:srgbClr val="0E1212"/>
                </a:solidFill>
                <a:latin typeface="Arial"/>
                <a:cs typeface="Arial"/>
              </a:rPr>
              <a:t>Collection </a:t>
            </a:r>
            <a:r>
              <a:rPr sz="1680" b="1" spc="-8" dirty="0">
                <a:solidFill>
                  <a:srgbClr val="0E1212"/>
                </a:solidFill>
                <a:latin typeface="Arial"/>
                <a:cs typeface="Arial"/>
              </a:rPr>
              <a:t>Process</a:t>
            </a:r>
            <a:endParaRPr sz="1680">
              <a:latin typeface="Arial"/>
              <a:cs typeface="Arial"/>
            </a:endParaRPr>
          </a:p>
          <a:p>
            <a:pPr marL="10160" marR="4064" indent="-508" algn="ctr">
              <a:lnSpc>
                <a:spcPct val="132800"/>
              </a:lnSpc>
              <a:spcBef>
                <a:spcPts val="1088"/>
              </a:spcBef>
            </a:pPr>
            <a:r>
              <a:rPr sz="1280" dirty="0">
                <a:solidFill>
                  <a:srgbClr val="0E1212"/>
                </a:solidFill>
                <a:latin typeface="Lucida Sans Unicode"/>
                <a:cs typeface="Lucida Sans Unicode"/>
              </a:rPr>
              <a:t>Gathering</a:t>
            </a:r>
            <a:r>
              <a:rPr sz="1280" spc="40" dirty="0">
                <a:solidFill>
                  <a:srgbClr val="0E1212"/>
                </a:solidFill>
                <a:latin typeface="Lucida Sans Unicode"/>
                <a:cs typeface="Lucida Sans Unicode"/>
              </a:rPr>
              <a:t> </a:t>
            </a:r>
            <a:r>
              <a:rPr sz="1280" spc="56" dirty="0">
                <a:solidFill>
                  <a:srgbClr val="0E1212"/>
                </a:solidFill>
                <a:latin typeface="Lucida Sans Unicode"/>
                <a:cs typeface="Lucida Sans Unicode"/>
              </a:rPr>
              <a:t>data</a:t>
            </a:r>
            <a:r>
              <a:rPr sz="1280" spc="44" dirty="0">
                <a:solidFill>
                  <a:srgbClr val="0E1212"/>
                </a:solidFill>
                <a:latin typeface="Lucida Sans Unicode"/>
                <a:cs typeface="Lucida Sans Unicode"/>
              </a:rPr>
              <a:t> </a:t>
            </a:r>
            <a:r>
              <a:rPr sz="1280" spc="-16" dirty="0">
                <a:solidFill>
                  <a:srgbClr val="0E1212"/>
                </a:solidFill>
                <a:latin typeface="Lucida Sans Unicode"/>
                <a:cs typeface="Lucida Sans Unicode"/>
              </a:rPr>
              <a:t>from </a:t>
            </a:r>
            <a:r>
              <a:rPr sz="1280" dirty="0">
                <a:solidFill>
                  <a:srgbClr val="0E1212"/>
                </a:solidFill>
                <a:latin typeface="Lucida Sans Unicode"/>
                <a:cs typeface="Lucida Sans Unicode"/>
              </a:rPr>
              <a:t>various</a:t>
            </a:r>
            <a:r>
              <a:rPr sz="1280" spc="-12" dirty="0">
                <a:solidFill>
                  <a:srgbClr val="0E1212"/>
                </a:solidFill>
                <a:latin typeface="Lucida Sans Unicode"/>
                <a:cs typeface="Lucida Sans Unicode"/>
              </a:rPr>
              <a:t> </a:t>
            </a:r>
            <a:r>
              <a:rPr sz="1280" dirty="0">
                <a:solidFill>
                  <a:srgbClr val="0E1212"/>
                </a:solidFill>
                <a:latin typeface="Lucida Sans Unicode"/>
                <a:cs typeface="Lucida Sans Unicode"/>
              </a:rPr>
              <a:t>sources</a:t>
            </a:r>
            <a:r>
              <a:rPr sz="1280" spc="-8" dirty="0">
                <a:solidFill>
                  <a:srgbClr val="0E1212"/>
                </a:solidFill>
                <a:latin typeface="Lucida Sans Unicode"/>
                <a:cs typeface="Lucida Sans Unicode"/>
              </a:rPr>
              <a:t> </a:t>
            </a:r>
            <a:r>
              <a:rPr sz="1280" dirty="0">
                <a:solidFill>
                  <a:srgbClr val="0E1212"/>
                </a:solidFill>
                <a:latin typeface="Lucida Sans Unicode"/>
                <a:cs typeface="Lucida Sans Unicode"/>
              </a:rPr>
              <a:t>to</a:t>
            </a:r>
            <a:r>
              <a:rPr sz="1280" spc="-8" dirty="0">
                <a:solidFill>
                  <a:srgbClr val="0E1212"/>
                </a:solidFill>
                <a:latin typeface="Lucida Sans Unicode"/>
                <a:cs typeface="Lucida Sans Unicode"/>
              </a:rPr>
              <a:t> ensure </a:t>
            </a:r>
            <a:r>
              <a:rPr sz="1280" spc="76" dirty="0">
                <a:solidFill>
                  <a:srgbClr val="0E1212"/>
                </a:solidFill>
                <a:latin typeface="Lucida Sans Unicode"/>
                <a:cs typeface="Lucida Sans Unicode"/>
              </a:rPr>
              <a:t>a</a:t>
            </a:r>
            <a:r>
              <a:rPr sz="1280" spc="-68" dirty="0">
                <a:solidFill>
                  <a:srgbClr val="0E1212"/>
                </a:solidFill>
                <a:latin typeface="Lucida Sans Unicode"/>
                <a:cs typeface="Lucida Sans Unicode"/>
              </a:rPr>
              <a:t> </a:t>
            </a:r>
            <a:r>
              <a:rPr sz="1280" dirty="0">
                <a:solidFill>
                  <a:srgbClr val="0E1212"/>
                </a:solidFill>
                <a:latin typeface="Lucida Sans Unicode"/>
                <a:cs typeface="Lucida Sans Unicode"/>
              </a:rPr>
              <a:t>robust</a:t>
            </a:r>
            <a:r>
              <a:rPr sz="1280" spc="-64" dirty="0">
                <a:solidFill>
                  <a:srgbClr val="0E1212"/>
                </a:solidFill>
                <a:latin typeface="Lucida Sans Unicode"/>
                <a:cs typeface="Lucida Sans Unicode"/>
              </a:rPr>
              <a:t> </a:t>
            </a:r>
            <a:r>
              <a:rPr sz="1280" spc="44" dirty="0">
                <a:solidFill>
                  <a:srgbClr val="0E1212"/>
                </a:solidFill>
                <a:latin typeface="Lucida Sans Unicode"/>
                <a:cs typeface="Lucida Sans Unicode"/>
              </a:rPr>
              <a:t>dataset</a:t>
            </a:r>
            <a:r>
              <a:rPr sz="1280" spc="-64" dirty="0">
                <a:solidFill>
                  <a:srgbClr val="0E1212"/>
                </a:solidFill>
                <a:latin typeface="Lucida Sans Unicode"/>
                <a:cs typeface="Lucida Sans Unicode"/>
              </a:rPr>
              <a:t> </a:t>
            </a:r>
            <a:r>
              <a:rPr sz="1280" spc="-20" dirty="0">
                <a:solidFill>
                  <a:srgbClr val="0E1212"/>
                </a:solidFill>
                <a:latin typeface="Lucida Sans Unicode"/>
                <a:cs typeface="Lucida Sans Unicode"/>
              </a:rPr>
              <a:t>for </a:t>
            </a:r>
            <a:r>
              <a:rPr sz="1280" spc="-8" dirty="0">
                <a:solidFill>
                  <a:srgbClr val="0E1212"/>
                </a:solidFill>
                <a:latin typeface="Lucida Sans Unicode"/>
                <a:cs typeface="Lucida Sans Unicode"/>
              </a:rPr>
              <a:t>training.</a:t>
            </a:r>
            <a:endParaRPr sz="1280">
              <a:latin typeface="Lucida Sans Unicode"/>
              <a:cs typeface="Lucida Sans Unicode"/>
            </a:endParaRPr>
          </a:p>
        </p:txBody>
      </p:sp>
      <p:sp>
        <p:nvSpPr>
          <p:cNvPr id="6" name="object 6"/>
          <p:cNvSpPr txBox="1"/>
          <p:nvPr/>
        </p:nvSpPr>
        <p:spPr>
          <a:xfrm>
            <a:off x="3634616" y="4719776"/>
            <a:ext cx="2071624" cy="1782860"/>
          </a:xfrm>
          <a:prstGeom prst="rect">
            <a:avLst/>
          </a:prstGeom>
        </p:spPr>
        <p:txBody>
          <a:bodyPr vert="horz" wrap="square" lIns="0" tIns="10160" rIns="0" bIns="0" rtlCol="0">
            <a:spAutoFit/>
          </a:bodyPr>
          <a:lstStyle/>
          <a:p>
            <a:pPr marL="283464" marR="277368" algn="ctr">
              <a:lnSpc>
                <a:spcPct val="116100"/>
              </a:lnSpc>
              <a:spcBef>
                <a:spcPts val="80"/>
              </a:spcBef>
            </a:pPr>
            <a:r>
              <a:rPr sz="1680" b="1" spc="84" dirty="0">
                <a:solidFill>
                  <a:srgbClr val="0E1212"/>
                </a:solidFill>
                <a:latin typeface="Arial"/>
                <a:cs typeface="Arial"/>
              </a:rPr>
              <a:t>Data</a:t>
            </a:r>
            <a:r>
              <a:rPr sz="1680" b="1" spc="-44" dirty="0">
                <a:solidFill>
                  <a:srgbClr val="0E1212"/>
                </a:solidFill>
                <a:latin typeface="Arial"/>
                <a:cs typeface="Arial"/>
              </a:rPr>
              <a:t> </a:t>
            </a:r>
            <a:r>
              <a:rPr sz="1680" b="1" spc="-8" dirty="0">
                <a:solidFill>
                  <a:srgbClr val="0E1212"/>
                </a:solidFill>
                <a:latin typeface="Arial"/>
                <a:cs typeface="Arial"/>
              </a:rPr>
              <a:t>Cleaning Steps</a:t>
            </a:r>
            <a:endParaRPr sz="1680">
              <a:latin typeface="Arial"/>
              <a:cs typeface="Arial"/>
            </a:endParaRPr>
          </a:p>
          <a:p>
            <a:pPr marL="10160" marR="4064" algn="ctr">
              <a:lnSpc>
                <a:spcPct val="132800"/>
              </a:lnSpc>
              <a:spcBef>
                <a:spcPts val="1088"/>
              </a:spcBef>
            </a:pPr>
            <a:r>
              <a:rPr sz="1280" dirty="0">
                <a:solidFill>
                  <a:srgbClr val="0E1212"/>
                </a:solidFill>
                <a:latin typeface="Lucida Sans Unicode"/>
                <a:cs typeface="Lucida Sans Unicode"/>
              </a:rPr>
              <a:t>Removing</a:t>
            </a:r>
            <a:r>
              <a:rPr sz="1280" spc="172" dirty="0">
                <a:solidFill>
                  <a:srgbClr val="0E1212"/>
                </a:solidFill>
                <a:latin typeface="Lucida Sans Unicode"/>
                <a:cs typeface="Lucida Sans Unicode"/>
              </a:rPr>
              <a:t> </a:t>
            </a:r>
            <a:r>
              <a:rPr sz="1280" dirty="0">
                <a:solidFill>
                  <a:srgbClr val="0E1212"/>
                </a:solidFill>
                <a:latin typeface="Lucida Sans Unicode"/>
                <a:cs typeface="Lucida Sans Unicode"/>
              </a:rPr>
              <a:t>duplicates</a:t>
            </a:r>
            <a:r>
              <a:rPr sz="1280" spc="172" dirty="0">
                <a:solidFill>
                  <a:srgbClr val="0E1212"/>
                </a:solidFill>
                <a:latin typeface="Lucida Sans Unicode"/>
                <a:cs typeface="Lucida Sans Unicode"/>
              </a:rPr>
              <a:t> </a:t>
            </a:r>
            <a:r>
              <a:rPr sz="1280" spc="-20" dirty="0">
                <a:solidFill>
                  <a:srgbClr val="0E1212"/>
                </a:solidFill>
                <a:latin typeface="Lucida Sans Unicode"/>
                <a:cs typeface="Lucida Sans Unicode"/>
              </a:rPr>
              <a:t>and </a:t>
            </a:r>
            <a:r>
              <a:rPr sz="1280" dirty="0">
                <a:solidFill>
                  <a:srgbClr val="0E1212"/>
                </a:solidFill>
                <a:latin typeface="Lucida Sans Unicode"/>
                <a:cs typeface="Lucida Sans Unicode"/>
              </a:rPr>
              <a:t>irrelevant</a:t>
            </a:r>
            <a:r>
              <a:rPr sz="1280" spc="72" dirty="0">
                <a:solidFill>
                  <a:srgbClr val="0E1212"/>
                </a:solidFill>
                <a:latin typeface="Lucida Sans Unicode"/>
                <a:cs typeface="Lucida Sans Unicode"/>
              </a:rPr>
              <a:t> </a:t>
            </a:r>
            <a:r>
              <a:rPr sz="1280" dirty="0">
                <a:solidFill>
                  <a:srgbClr val="0E1212"/>
                </a:solidFill>
                <a:latin typeface="Lucida Sans Unicode"/>
                <a:cs typeface="Lucida Sans Unicode"/>
              </a:rPr>
              <a:t>information</a:t>
            </a:r>
            <a:r>
              <a:rPr sz="1280" spc="72" dirty="0">
                <a:solidFill>
                  <a:srgbClr val="0E1212"/>
                </a:solidFill>
                <a:latin typeface="Lucida Sans Unicode"/>
                <a:cs typeface="Lucida Sans Unicode"/>
              </a:rPr>
              <a:t> </a:t>
            </a:r>
            <a:r>
              <a:rPr sz="1280" spc="-20" dirty="0">
                <a:solidFill>
                  <a:srgbClr val="0E1212"/>
                </a:solidFill>
                <a:latin typeface="Lucida Sans Unicode"/>
                <a:cs typeface="Lucida Sans Unicode"/>
              </a:rPr>
              <a:t>to </a:t>
            </a:r>
            <a:r>
              <a:rPr sz="1280" spc="48" dirty="0">
                <a:solidFill>
                  <a:srgbClr val="0E1212"/>
                </a:solidFill>
                <a:latin typeface="Lucida Sans Unicode"/>
                <a:cs typeface="Lucida Sans Unicode"/>
              </a:rPr>
              <a:t>enhance</a:t>
            </a:r>
            <a:r>
              <a:rPr sz="1280" spc="36" dirty="0">
                <a:solidFill>
                  <a:srgbClr val="0E1212"/>
                </a:solidFill>
                <a:latin typeface="Lucida Sans Unicode"/>
                <a:cs typeface="Lucida Sans Unicode"/>
              </a:rPr>
              <a:t> </a:t>
            </a:r>
            <a:r>
              <a:rPr sz="1280" dirty="0">
                <a:solidFill>
                  <a:srgbClr val="0E1212"/>
                </a:solidFill>
                <a:latin typeface="Lucida Sans Unicode"/>
                <a:cs typeface="Lucida Sans Unicode"/>
              </a:rPr>
              <a:t>the</a:t>
            </a:r>
            <a:r>
              <a:rPr sz="1280" spc="36" dirty="0">
                <a:solidFill>
                  <a:srgbClr val="0E1212"/>
                </a:solidFill>
                <a:latin typeface="Lucida Sans Unicode"/>
                <a:cs typeface="Lucida Sans Unicode"/>
              </a:rPr>
              <a:t> </a:t>
            </a:r>
            <a:r>
              <a:rPr sz="1280" dirty="0">
                <a:solidFill>
                  <a:srgbClr val="0E1212"/>
                </a:solidFill>
                <a:latin typeface="Lucida Sans Unicode"/>
                <a:cs typeface="Lucida Sans Unicode"/>
              </a:rPr>
              <a:t>quality</a:t>
            </a:r>
            <a:r>
              <a:rPr sz="1280" spc="40" dirty="0">
                <a:solidFill>
                  <a:srgbClr val="0E1212"/>
                </a:solidFill>
                <a:latin typeface="Lucida Sans Unicode"/>
                <a:cs typeface="Lucida Sans Unicode"/>
              </a:rPr>
              <a:t> </a:t>
            </a:r>
            <a:r>
              <a:rPr sz="1280" spc="-20" dirty="0">
                <a:solidFill>
                  <a:srgbClr val="0E1212"/>
                </a:solidFill>
                <a:latin typeface="Lucida Sans Unicode"/>
                <a:cs typeface="Lucida Sans Unicode"/>
              </a:rPr>
              <a:t>of </a:t>
            </a:r>
            <a:r>
              <a:rPr sz="1280" dirty="0">
                <a:solidFill>
                  <a:srgbClr val="0E1212"/>
                </a:solidFill>
                <a:latin typeface="Lucida Sans Unicode"/>
                <a:cs typeface="Lucida Sans Unicode"/>
              </a:rPr>
              <a:t>the</a:t>
            </a:r>
            <a:r>
              <a:rPr sz="1280" spc="44" dirty="0">
                <a:solidFill>
                  <a:srgbClr val="0E1212"/>
                </a:solidFill>
                <a:latin typeface="Lucida Sans Unicode"/>
                <a:cs typeface="Lucida Sans Unicode"/>
              </a:rPr>
              <a:t> </a:t>
            </a:r>
            <a:r>
              <a:rPr sz="1280" spc="28" dirty="0">
                <a:solidFill>
                  <a:srgbClr val="0E1212"/>
                </a:solidFill>
                <a:latin typeface="Lucida Sans Unicode"/>
                <a:cs typeface="Lucida Sans Unicode"/>
              </a:rPr>
              <a:t>dataset.</a:t>
            </a:r>
            <a:endParaRPr sz="1280">
              <a:latin typeface="Lucida Sans Unicode"/>
              <a:cs typeface="Lucida Sans Unicode"/>
            </a:endParaRPr>
          </a:p>
        </p:txBody>
      </p:sp>
      <p:sp>
        <p:nvSpPr>
          <p:cNvPr id="7" name="object 7"/>
          <p:cNvSpPr txBox="1"/>
          <p:nvPr/>
        </p:nvSpPr>
        <p:spPr>
          <a:xfrm>
            <a:off x="6321850" y="4719776"/>
            <a:ext cx="1976628" cy="1782860"/>
          </a:xfrm>
          <a:prstGeom prst="rect">
            <a:avLst/>
          </a:prstGeom>
        </p:spPr>
        <p:txBody>
          <a:bodyPr vert="horz" wrap="square" lIns="0" tIns="10160" rIns="0" bIns="0" rtlCol="0">
            <a:spAutoFit/>
          </a:bodyPr>
          <a:lstStyle/>
          <a:p>
            <a:pPr marL="9652" marR="4064" algn="ctr">
              <a:lnSpc>
                <a:spcPct val="116100"/>
              </a:lnSpc>
              <a:spcBef>
                <a:spcPts val="80"/>
              </a:spcBef>
            </a:pPr>
            <a:r>
              <a:rPr sz="1680" b="1" dirty="0">
                <a:solidFill>
                  <a:srgbClr val="0E1212"/>
                </a:solidFill>
                <a:latin typeface="Arial"/>
                <a:cs typeface="Arial"/>
              </a:rPr>
              <a:t>Feature</a:t>
            </a:r>
            <a:r>
              <a:rPr sz="1680" b="1" spc="160" dirty="0">
                <a:solidFill>
                  <a:srgbClr val="0E1212"/>
                </a:solidFill>
                <a:latin typeface="Arial"/>
                <a:cs typeface="Arial"/>
              </a:rPr>
              <a:t> </a:t>
            </a:r>
            <a:r>
              <a:rPr sz="1680" b="1" spc="32" dirty="0">
                <a:solidFill>
                  <a:srgbClr val="0E1212"/>
                </a:solidFill>
                <a:latin typeface="Arial"/>
                <a:cs typeface="Arial"/>
              </a:rPr>
              <a:t>Extraction </a:t>
            </a:r>
            <a:r>
              <a:rPr sz="1680" b="1" spc="-8" dirty="0">
                <a:solidFill>
                  <a:srgbClr val="0E1212"/>
                </a:solidFill>
                <a:latin typeface="Arial"/>
                <a:cs typeface="Arial"/>
              </a:rPr>
              <a:t>Method</a:t>
            </a:r>
            <a:endParaRPr sz="1680">
              <a:latin typeface="Arial"/>
              <a:cs typeface="Arial"/>
            </a:endParaRPr>
          </a:p>
          <a:p>
            <a:pPr marL="50292" marR="44195" algn="ctr">
              <a:lnSpc>
                <a:spcPct val="132800"/>
              </a:lnSpc>
              <a:spcBef>
                <a:spcPts val="1088"/>
              </a:spcBef>
            </a:pPr>
            <a:r>
              <a:rPr sz="1280" dirty="0">
                <a:solidFill>
                  <a:srgbClr val="0E1212"/>
                </a:solidFill>
                <a:latin typeface="Lucida Sans Unicode"/>
                <a:cs typeface="Lucida Sans Unicode"/>
              </a:rPr>
              <a:t>Identifying</a:t>
            </a:r>
            <a:r>
              <a:rPr sz="1280" spc="-28" dirty="0">
                <a:solidFill>
                  <a:srgbClr val="0E1212"/>
                </a:solidFill>
                <a:latin typeface="Lucida Sans Unicode"/>
                <a:cs typeface="Lucida Sans Unicode"/>
              </a:rPr>
              <a:t> </a:t>
            </a:r>
            <a:r>
              <a:rPr sz="1280" spc="-16" dirty="0">
                <a:solidFill>
                  <a:srgbClr val="0E1212"/>
                </a:solidFill>
                <a:latin typeface="Lucida Sans Unicode"/>
                <a:cs typeface="Lucida Sans Unicode"/>
              </a:rPr>
              <a:t>key</a:t>
            </a:r>
            <a:r>
              <a:rPr sz="1280" spc="-24" dirty="0">
                <a:solidFill>
                  <a:srgbClr val="0E1212"/>
                </a:solidFill>
                <a:latin typeface="Lucida Sans Unicode"/>
                <a:cs typeface="Lucida Sans Unicode"/>
              </a:rPr>
              <a:t> </a:t>
            </a:r>
            <a:r>
              <a:rPr sz="1280" spc="-8" dirty="0">
                <a:solidFill>
                  <a:srgbClr val="0E1212"/>
                </a:solidFill>
                <a:latin typeface="Lucida Sans Unicode"/>
                <a:cs typeface="Lucida Sans Unicode"/>
              </a:rPr>
              <a:t>features </a:t>
            </a:r>
            <a:r>
              <a:rPr sz="1280" dirty="0">
                <a:solidFill>
                  <a:srgbClr val="0E1212"/>
                </a:solidFill>
                <a:latin typeface="Lucida Sans Unicode"/>
                <a:cs typeface="Lucida Sans Unicode"/>
              </a:rPr>
              <a:t>to</a:t>
            </a:r>
            <a:r>
              <a:rPr sz="1280" spc="-32" dirty="0">
                <a:solidFill>
                  <a:srgbClr val="0E1212"/>
                </a:solidFill>
                <a:latin typeface="Lucida Sans Unicode"/>
                <a:cs typeface="Lucida Sans Unicode"/>
              </a:rPr>
              <a:t> </a:t>
            </a:r>
            <a:r>
              <a:rPr sz="1280" dirty="0">
                <a:solidFill>
                  <a:srgbClr val="0E1212"/>
                </a:solidFill>
                <a:latin typeface="Lucida Sans Unicode"/>
                <a:cs typeface="Lucida Sans Unicode"/>
              </a:rPr>
              <a:t>improve</a:t>
            </a:r>
            <a:r>
              <a:rPr sz="1280" spc="-28" dirty="0">
                <a:solidFill>
                  <a:srgbClr val="0E1212"/>
                </a:solidFill>
                <a:latin typeface="Lucida Sans Unicode"/>
                <a:cs typeface="Lucida Sans Unicode"/>
              </a:rPr>
              <a:t> </a:t>
            </a:r>
            <a:r>
              <a:rPr sz="1280" spc="-20" dirty="0">
                <a:solidFill>
                  <a:srgbClr val="0E1212"/>
                </a:solidFill>
                <a:latin typeface="Lucida Sans Unicode"/>
                <a:cs typeface="Lucida Sans Unicode"/>
              </a:rPr>
              <a:t>the </a:t>
            </a:r>
            <a:r>
              <a:rPr sz="1280" spc="8" dirty="0">
                <a:solidFill>
                  <a:srgbClr val="0E1212"/>
                </a:solidFill>
                <a:latin typeface="Lucida Sans Unicode"/>
                <a:cs typeface="Lucida Sans Unicode"/>
              </a:rPr>
              <a:t>classification</a:t>
            </a:r>
            <a:r>
              <a:rPr sz="1280" spc="264" dirty="0">
                <a:solidFill>
                  <a:srgbClr val="0E1212"/>
                </a:solidFill>
                <a:latin typeface="Lucida Sans Unicode"/>
                <a:cs typeface="Lucida Sans Unicode"/>
              </a:rPr>
              <a:t> </a:t>
            </a:r>
            <a:r>
              <a:rPr sz="1280" spc="40" dirty="0">
                <a:solidFill>
                  <a:srgbClr val="0E1212"/>
                </a:solidFill>
                <a:latin typeface="Lucida Sans Unicode"/>
                <a:cs typeface="Lucida Sans Unicode"/>
              </a:rPr>
              <a:t>accuracy </a:t>
            </a:r>
            <a:r>
              <a:rPr sz="1280" dirty="0">
                <a:solidFill>
                  <a:srgbClr val="0E1212"/>
                </a:solidFill>
                <a:latin typeface="Lucida Sans Unicode"/>
                <a:cs typeface="Lucida Sans Unicode"/>
              </a:rPr>
              <a:t>of</a:t>
            </a:r>
            <a:r>
              <a:rPr sz="1280" spc="-12" dirty="0">
                <a:solidFill>
                  <a:srgbClr val="0E1212"/>
                </a:solidFill>
                <a:latin typeface="Lucida Sans Unicode"/>
                <a:cs typeface="Lucida Sans Unicode"/>
              </a:rPr>
              <a:t> </a:t>
            </a:r>
            <a:r>
              <a:rPr sz="1280" dirty="0">
                <a:solidFill>
                  <a:srgbClr val="0E1212"/>
                </a:solidFill>
                <a:latin typeface="Lucida Sans Unicode"/>
                <a:cs typeface="Lucida Sans Unicode"/>
              </a:rPr>
              <a:t>the</a:t>
            </a:r>
            <a:r>
              <a:rPr sz="1280" spc="-8" dirty="0">
                <a:solidFill>
                  <a:srgbClr val="0E1212"/>
                </a:solidFill>
                <a:latin typeface="Lucida Sans Unicode"/>
                <a:cs typeface="Lucida Sans Unicode"/>
              </a:rPr>
              <a:t> model.</a:t>
            </a:r>
            <a:endParaRPr sz="1280">
              <a:latin typeface="Lucida Sans Unicode"/>
              <a:cs typeface="Lucida Sans Unicode"/>
            </a:endParaRPr>
          </a:p>
        </p:txBody>
      </p:sp>
      <p:sp>
        <p:nvSpPr>
          <p:cNvPr id="8" name="object 8"/>
          <p:cNvSpPr txBox="1"/>
          <p:nvPr/>
        </p:nvSpPr>
        <p:spPr>
          <a:xfrm>
            <a:off x="8944358" y="4719776"/>
            <a:ext cx="2011680" cy="1782860"/>
          </a:xfrm>
          <a:prstGeom prst="rect">
            <a:avLst/>
          </a:prstGeom>
        </p:spPr>
        <p:txBody>
          <a:bodyPr vert="horz" wrap="square" lIns="0" tIns="10160" rIns="0" bIns="0" rtlCol="0">
            <a:spAutoFit/>
          </a:bodyPr>
          <a:lstStyle/>
          <a:p>
            <a:pPr marL="228092" marR="221996" algn="ctr">
              <a:lnSpc>
                <a:spcPct val="116100"/>
              </a:lnSpc>
              <a:spcBef>
                <a:spcPts val="80"/>
              </a:spcBef>
            </a:pPr>
            <a:r>
              <a:rPr sz="1680" b="1" dirty="0">
                <a:solidFill>
                  <a:srgbClr val="0E1212"/>
                </a:solidFill>
                <a:latin typeface="Arial"/>
                <a:cs typeface="Arial"/>
              </a:rPr>
              <a:t>Model</a:t>
            </a:r>
            <a:r>
              <a:rPr sz="1680" b="1" spc="112" dirty="0">
                <a:solidFill>
                  <a:srgbClr val="0E1212"/>
                </a:solidFill>
                <a:latin typeface="Arial"/>
                <a:cs typeface="Arial"/>
              </a:rPr>
              <a:t> </a:t>
            </a:r>
            <a:r>
              <a:rPr sz="1680" b="1" spc="-8" dirty="0">
                <a:solidFill>
                  <a:srgbClr val="0E1212"/>
                </a:solidFill>
                <a:latin typeface="Arial"/>
                <a:cs typeface="Arial"/>
              </a:rPr>
              <a:t>Training Phase</a:t>
            </a:r>
            <a:endParaRPr sz="1680">
              <a:latin typeface="Arial"/>
              <a:cs typeface="Arial"/>
            </a:endParaRPr>
          </a:p>
          <a:p>
            <a:pPr marL="10160" marR="4064" algn="ctr">
              <a:lnSpc>
                <a:spcPct val="132800"/>
              </a:lnSpc>
              <a:spcBef>
                <a:spcPts val="1088"/>
              </a:spcBef>
            </a:pPr>
            <a:r>
              <a:rPr sz="1280" spc="-8" dirty="0">
                <a:solidFill>
                  <a:srgbClr val="0E1212"/>
                </a:solidFill>
                <a:latin typeface="Lucida Sans Unicode"/>
                <a:cs typeface="Lucida Sans Unicode"/>
              </a:rPr>
              <a:t>Training</a:t>
            </a:r>
            <a:r>
              <a:rPr sz="1280" spc="8" dirty="0">
                <a:solidFill>
                  <a:srgbClr val="0E1212"/>
                </a:solidFill>
                <a:latin typeface="Lucida Sans Unicode"/>
                <a:cs typeface="Lucida Sans Unicode"/>
              </a:rPr>
              <a:t> </a:t>
            </a:r>
            <a:r>
              <a:rPr sz="1280" dirty="0">
                <a:solidFill>
                  <a:srgbClr val="0E1212"/>
                </a:solidFill>
                <a:latin typeface="Lucida Sans Unicode"/>
                <a:cs typeface="Lucida Sans Unicode"/>
              </a:rPr>
              <a:t>the</a:t>
            </a:r>
            <a:r>
              <a:rPr sz="1280" spc="8" dirty="0">
                <a:solidFill>
                  <a:srgbClr val="0E1212"/>
                </a:solidFill>
                <a:latin typeface="Lucida Sans Unicode"/>
                <a:cs typeface="Lucida Sans Unicode"/>
              </a:rPr>
              <a:t> </a:t>
            </a:r>
            <a:r>
              <a:rPr sz="1280" dirty="0">
                <a:solidFill>
                  <a:srgbClr val="0E1212"/>
                </a:solidFill>
                <a:latin typeface="Lucida Sans Unicode"/>
                <a:cs typeface="Lucida Sans Unicode"/>
              </a:rPr>
              <a:t>model</a:t>
            </a:r>
            <a:r>
              <a:rPr sz="1280" spc="12" dirty="0">
                <a:solidFill>
                  <a:srgbClr val="0E1212"/>
                </a:solidFill>
                <a:latin typeface="Lucida Sans Unicode"/>
                <a:cs typeface="Lucida Sans Unicode"/>
              </a:rPr>
              <a:t> </a:t>
            </a:r>
            <a:r>
              <a:rPr sz="1280" spc="-16" dirty="0">
                <a:solidFill>
                  <a:srgbClr val="0E1212"/>
                </a:solidFill>
                <a:latin typeface="Lucida Sans Unicode"/>
                <a:cs typeface="Lucida Sans Unicode"/>
              </a:rPr>
              <a:t>using </a:t>
            </a:r>
            <a:r>
              <a:rPr sz="1280" dirty="0">
                <a:solidFill>
                  <a:srgbClr val="0E1212"/>
                </a:solidFill>
                <a:latin typeface="Lucida Sans Unicode"/>
                <a:cs typeface="Lucida Sans Unicode"/>
              </a:rPr>
              <a:t>BERT</a:t>
            </a:r>
            <a:r>
              <a:rPr sz="1280" spc="8" dirty="0">
                <a:solidFill>
                  <a:srgbClr val="0E1212"/>
                </a:solidFill>
                <a:latin typeface="Lucida Sans Unicode"/>
                <a:cs typeface="Lucida Sans Unicode"/>
              </a:rPr>
              <a:t> </a:t>
            </a:r>
            <a:r>
              <a:rPr sz="1280" dirty="0">
                <a:solidFill>
                  <a:srgbClr val="0E1212"/>
                </a:solidFill>
                <a:latin typeface="Lucida Sans Unicode"/>
                <a:cs typeface="Lucida Sans Unicode"/>
              </a:rPr>
              <a:t>and</a:t>
            </a:r>
            <a:r>
              <a:rPr sz="1280" spc="8" dirty="0">
                <a:solidFill>
                  <a:srgbClr val="0E1212"/>
                </a:solidFill>
                <a:latin typeface="Lucida Sans Unicode"/>
                <a:cs typeface="Lucida Sans Unicode"/>
              </a:rPr>
              <a:t> </a:t>
            </a:r>
            <a:r>
              <a:rPr sz="1280" dirty="0">
                <a:solidFill>
                  <a:srgbClr val="0E1212"/>
                </a:solidFill>
                <a:latin typeface="Lucida Sans Unicode"/>
                <a:cs typeface="Lucida Sans Unicode"/>
              </a:rPr>
              <a:t>DistilBERT</a:t>
            </a:r>
            <a:r>
              <a:rPr sz="1280" spc="8" dirty="0">
                <a:solidFill>
                  <a:srgbClr val="0E1212"/>
                </a:solidFill>
                <a:latin typeface="Lucida Sans Unicode"/>
                <a:cs typeface="Lucida Sans Unicode"/>
              </a:rPr>
              <a:t> </a:t>
            </a:r>
            <a:r>
              <a:rPr sz="1280" spc="-20" dirty="0">
                <a:solidFill>
                  <a:srgbClr val="0E1212"/>
                </a:solidFill>
                <a:latin typeface="Lucida Sans Unicode"/>
                <a:cs typeface="Lucida Sans Unicode"/>
              </a:rPr>
              <a:t>to </a:t>
            </a:r>
            <a:r>
              <a:rPr sz="1280" dirty="0">
                <a:solidFill>
                  <a:srgbClr val="0E1212"/>
                </a:solidFill>
                <a:latin typeface="Lucida Sans Unicode"/>
                <a:cs typeface="Lucida Sans Unicode"/>
              </a:rPr>
              <a:t>classify</a:t>
            </a:r>
            <a:r>
              <a:rPr sz="1280" spc="80" dirty="0">
                <a:solidFill>
                  <a:srgbClr val="0E1212"/>
                </a:solidFill>
                <a:latin typeface="Lucida Sans Unicode"/>
                <a:cs typeface="Lucida Sans Unicode"/>
              </a:rPr>
              <a:t> </a:t>
            </a:r>
            <a:r>
              <a:rPr sz="1280" dirty="0">
                <a:solidFill>
                  <a:srgbClr val="0E1212"/>
                </a:solidFill>
                <a:latin typeface="Lucida Sans Unicode"/>
                <a:cs typeface="Lucida Sans Unicode"/>
              </a:rPr>
              <a:t>toxic</a:t>
            </a:r>
            <a:r>
              <a:rPr sz="1280" spc="80" dirty="0">
                <a:solidFill>
                  <a:srgbClr val="0E1212"/>
                </a:solidFill>
                <a:latin typeface="Lucida Sans Unicode"/>
                <a:cs typeface="Lucida Sans Unicode"/>
              </a:rPr>
              <a:t> </a:t>
            </a:r>
            <a:r>
              <a:rPr sz="1280" spc="-8" dirty="0">
                <a:solidFill>
                  <a:srgbClr val="0E1212"/>
                </a:solidFill>
                <a:latin typeface="Lucida Sans Unicode"/>
                <a:cs typeface="Lucida Sans Unicode"/>
              </a:rPr>
              <a:t>comments effectively.</a:t>
            </a:r>
            <a:endParaRPr sz="1280">
              <a:latin typeface="Lucida Sans Unicode"/>
              <a:cs typeface="Lucida Sans Unicode"/>
            </a:endParaRPr>
          </a:p>
        </p:txBody>
      </p:sp>
      <p:sp>
        <p:nvSpPr>
          <p:cNvPr id="9" name="object 9"/>
          <p:cNvSpPr txBox="1"/>
          <p:nvPr/>
        </p:nvSpPr>
        <p:spPr>
          <a:xfrm>
            <a:off x="11651321" y="4719776"/>
            <a:ext cx="1887728" cy="1782860"/>
          </a:xfrm>
          <a:prstGeom prst="rect">
            <a:avLst/>
          </a:prstGeom>
        </p:spPr>
        <p:txBody>
          <a:bodyPr vert="horz" wrap="square" lIns="0" tIns="10160" rIns="0" bIns="0" rtlCol="0">
            <a:spAutoFit/>
          </a:bodyPr>
          <a:lstStyle/>
          <a:p>
            <a:pPr marL="155448" marR="149352" algn="ctr">
              <a:lnSpc>
                <a:spcPct val="116100"/>
              </a:lnSpc>
              <a:spcBef>
                <a:spcPts val="80"/>
              </a:spcBef>
            </a:pPr>
            <a:r>
              <a:rPr sz="1680" b="1" dirty="0">
                <a:solidFill>
                  <a:srgbClr val="0E1212"/>
                </a:solidFill>
                <a:latin typeface="Arial"/>
                <a:cs typeface="Arial"/>
              </a:rPr>
              <a:t>Evaluation</a:t>
            </a:r>
            <a:r>
              <a:rPr sz="1680" b="1" spc="280" dirty="0">
                <a:solidFill>
                  <a:srgbClr val="0E1212"/>
                </a:solidFill>
                <a:latin typeface="Arial"/>
                <a:cs typeface="Arial"/>
              </a:rPr>
              <a:t> </a:t>
            </a:r>
            <a:r>
              <a:rPr sz="1680" b="1" spc="-20" dirty="0">
                <a:solidFill>
                  <a:srgbClr val="0E1212"/>
                </a:solidFill>
                <a:latin typeface="Arial"/>
                <a:cs typeface="Arial"/>
              </a:rPr>
              <a:t>and </a:t>
            </a:r>
            <a:r>
              <a:rPr sz="1680" b="1" spc="-8" dirty="0">
                <a:solidFill>
                  <a:srgbClr val="0E1212"/>
                </a:solidFill>
                <a:latin typeface="Arial"/>
                <a:cs typeface="Arial"/>
              </a:rPr>
              <a:t>Testing</a:t>
            </a:r>
            <a:endParaRPr sz="1680">
              <a:latin typeface="Arial"/>
              <a:cs typeface="Arial"/>
            </a:endParaRPr>
          </a:p>
          <a:p>
            <a:pPr marL="9652" marR="4064" indent="-508" algn="ctr">
              <a:lnSpc>
                <a:spcPct val="132800"/>
              </a:lnSpc>
              <a:spcBef>
                <a:spcPts val="1088"/>
              </a:spcBef>
            </a:pPr>
            <a:r>
              <a:rPr sz="1280" dirty="0">
                <a:solidFill>
                  <a:srgbClr val="0E1212"/>
                </a:solidFill>
                <a:latin typeface="Lucida Sans Unicode"/>
                <a:cs typeface="Lucida Sans Unicode"/>
              </a:rPr>
              <a:t>Assessing</a:t>
            </a:r>
            <a:r>
              <a:rPr sz="1280" spc="28" dirty="0">
                <a:solidFill>
                  <a:srgbClr val="0E1212"/>
                </a:solidFill>
                <a:latin typeface="Lucida Sans Unicode"/>
                <a:cs typeface="Lucida Sans Unicode"/>
              </a:rPr>
              <a:t> </a:t>
            </a:r>
            <a:r>
              <a:rPr sz="1280" dirty="0">
                <a:solidFill>
                  <a:srgbClr val="0E1212"/>
                </a:solidFill>
                <a:latin typeface="Lucida Sans Unicode"/>
                <a:cs typeface="Lucida Sans Unicode"/>
              </a:rPr>
              <a:t>the</a:t>
            </a:r>
            <a:r>
              <a:rPr sz="1280" spc="28" dirty="0">
                <a:solidFill>
                  <a:srgbClr val="0E1212"/>
                </a:solidFill>
                <a:latin typeface="Lucida Sans Unicode"/>
                <a:cs typeface="Lucida Sans Unicode"/>
              </a:rPr>
              <a:t> </a:t>
            </a:r>
            <a:r>
              <a:rPr sz="1280" spc="-8" dirty="0">
                <a:solidFill>
                  <a:srgbClr val="0E1212"/>
                </a:solidFill>
                <a:latin typeface="Lucida Sans Unicode"/>
                <a:cs typeface="Lucida Sans Unicode"/>
              </a:rPr>
              <a:t>model </a:t>
            </a:r>
            <a:r>
              <a:rPr sz="1280" dirty="0">
                <a:solidFill>
                  <a:srgbClr val="0E1212"/>
                </a:solidFill>
                <a:latin typeface="Lucida Sans Unicode"/>
                <a:cs typeface="Lucida Sans Unicode"/>
              </a:rPr>
              <a:t>performance</a:t>
            </a:r>
            <a:r>
              <a:rPr sz="1280" spc="188" dirty="0">
                <a:solidFill>
                  <a:srgbClr val="0E1212"/>
                </a:solidFill>
                <a:latin typeface="Lucida Sans Unicode"/>
                <a:cs typeface="Lucida Sans Unicode"/>
              </a:rPr>
              <a:t> </a:t>
            </a:r>
            <a:r>
              <a:rPr sz="1280" spc="-8" dirty="0">
                <a:solidFill>
                  <a:srgbClr val="0E1212"/>
                </a:solidFill>
                <a:latin typeface="Lucida Sans Unicode"/>
                <a:cs typeface="Lucida Sans Unicode"/>
              </a:rPr>
              <a:t>using </a:t>
            </a:r>
            <a:r>
              <a:rPr sz="1280" spc="36" dirty="0">
                <a:solidFill>
                  <a:srgbClr val="0E1212"/>
                </a:solidFill>
                <a:latin typeface="Lucida Sans Unicode"/>
                <a:cs typeface="Lucida Sans Unicode"/>
              </a:rPr>
              <a:t>evaluation</a:t>
            </a:r>
            <a:r>
              <a:rPr sz="1280" spc="28" dirty="0">
                <a:solidFill>
                  <a:srgbClr val="0E1212"/>
                </a:solidFill>
                <a:latin typeface="Lucida Sans Unicode"/>
                <a:cs typeface="Lucida Sans Unicode"/>
              </a:rPr>
              <a:t> </a:t>
            </a:r>
            <a:r>
              <a:rPr sz="1280" dirty="0">
                <a:solidFill>
                  <a:srgbClr val="0E1212"/>
                </a:solidFill>
                <a:latin typeface="Lucida Sans Unicode"/>
                <a:cs typeface="Lucida Sans Unicode"/>
              </a:rPr>
              <a:t>metrics</a:t>
            </a:r>
            <a:r>
              <a:rPr sz="1280" spc="28" dirty="0">
                <a:solidFill>
                  <a:srgbClr val="0E1212"/>
                </a:solidFill>
                <a:latin typeface="Lucida Sans Unicode"/>
                <a:cs typeface="Lucida Sans Unicode"/>
              </a:rPr>
              <a:t> </a:t>
            </a:r>
            <a:r>
              <a:rPr sz="1280" spc="-20" dirty="0">
                <a:solidFill>
                  <a:srgbClr val="0E1212"/>
                </a:solidFill>
                <a:latin typeface="Lucida Sans Unicode"/>
                <a:cs typeface="Lucida Sans Unicode"/>
              </a:rPr>
              <a:t>and </a:t>
            </a:r>
            <a:r>
              <a:rPr sz="1280" dirty="0">
                <a:solidFill>
                  <a:srgbClr val="0E1212"/>
                </a:solidFill>
                <a:latin typeface="Lucida Sans Unicode"/>
                <a:cs typeface="Lucida Sans Unicode"/>
              </a:rPr>
              <a:t>validating</a:t>
            </a:r>
            <a:r>
              <a:rPr sz="1280" spc="248" dirty="0">
                <a:solidFill>
                  <a:srgbClr val="0E1212"/>
                </a:solidFill>
                <a:latin typeface="Lucida Sans Unicode"/>
                <a:cs typeface="Lucida Sans Unicode"/>
              </a:rPr>
              <a:t> </a:t>
            </a:r>
            <a:r>
              <a:rPr sz="1280" spc="-8" dirty="0">
                <a:solidFill>
                  <a:srgbClr val="0E1212"/>
                </a:solidFill>
                <a:latin typeface="Lucida Sans Unicode"/>
                <a:cs typeface="Lucida Sans Unicode"/>
              </a:rPr>
              <a:t>results.</a:t>
            </a:r>
            <a:endParaRPr sz="1280">
              <a:latin typeface="Lucida Sans Unicode"/>
              <a:cs typeface="Lucida Sans Unicode"/>
            </a:endParaRPr>
          </a:p>
        </p:txBody>
      </p:sp>
      <p:sp>
        <p:nvSpPr>
          <p:cNvPr id="10" name="object 10"/>
          <p:cNvSpPr txBox="1">
            <a:spLocks noGrp="1"/>
          </p:cNvSpPr>
          <p:nvPr>
            <p:ph type="title"/>
          </p:nvPr>
        </p:nvSpPr>
        <p:spPr>
          <a:xfrm>
            <a:off x="-1295400" y="727978"/>
            <a:ext cx="13087350" cy="2172323"/>
          </a:xfrm>
          <a:prstGeom prst="rect">
            <a:avLst/>
          </a:prstGeom>
        </p:spPr>
        <p:txBody>
          <a:bodyPr vert="horz" wrap="square" lIns="0" tIns="980882" rIns="0" bIns="0" rtlCol="0">
            <a:spAutoFit/>
          </a:bodyPr>
          <a:lstStyle/>
          <a:p>
            <a:pPr marL="4149852">
              <a:spcBef>
                <a:spcPts val="80"/>
              </a:spcBef>
            </a:pPr>
            <a:r>
              <a:rPr spc="20" dirty="0"/>
              <a:t>W</a:t>
            </a:r>
            <a:r>
              <a:rPr spc="675" dirty="0"/>
              <a:t>o</a:t>
            </a:r>
            <a:r>
              <a:rPr spc="636" dirty="0"/>
              <a:t>r</a:t>
            </a:r>
            <a:r>
              <a:rPr spc="675" dirty="0"/>
              <a:t>kf</a:t>
            </a:r>
            <a:r>
              <a:rPr spc="600" dirty="0"/>
              <a:t>l</a:t>
            </a:r>
            <a:r>
              <a:rPr spc="420" dirty="0"/>
              <a:t>o</a:t>
            </a:r>
            <a:r>
              <a:rPr spc="680" dirty="0"/>
              <a:t>w</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27792" y="336113"/>
            <a:ext cx="8047315" cy="381952"/>
          </a:xfrm>
          <a:prstGeom prst="rect">
            <a:avLst/>
          </a:prstGeom>
          <a:noFill/>
          <a:ln/>
        </p:spPr>
        <p:txBody>
          <a:bodyPr wrap="none" lIns="0" tIns="0" rIns="0" bIns="0" rtlCol="0" anchor="t"/>
          <a:lstStyle/>
          <a:p>
            <a:pPr marL="0" indent="0" algn="l">
              <a:lnSpc>
                <a:spcPts val="3000"/>
              </a:lnSpc>
              <a:buNone/>
            </a:pPr>
            <a:r>
              <a:rPr lang="en-US" sz="2400" b="1" dirty="0">
                <a:solidFill>
                  <a:srgbClr val="233939"/>
                </a:solidFill>
                <a:latin typeface="Syne Bold" pitchFamily="34" charset="0"/>
                <a:ea typeface="Syne Bold" pitchFamily="34" charset="-122"/>
                <a:cs typeface="Syne Bold" pitchFamily="34" charset="-120"/>
              </a:rPr>
              <a:t>Experimental Results and Performance Analysis</a:t>
            </a:r>
            <a:endParaRPr lang="en-US" sz="2400" dirty="0"/>
          </a:p>
        </p:txBody>
      </p:sp>
      <p:sp>
        <p:nvSpPr>
          <p:cNvPr id="3" name="Text 1"/>
          <p:cNvSpPr/>
          <p:nvPr/>
        </p:nvSpPr>
        <p:spPr>
          <a:xfrm>
            <a:off x="10527323" y="1611501"/>
            <a:ext cx="3423140" cy="6254443"/>
          </a:xfrm>
          <a:prstGeom prst="rect">
            <a:avLst/>
          </a:prstGeom>
          <a:noFill/>
          <a:ln/>
        </p:spPr>
        <p:txBody>
          <a:bodyPr wrap="square" lIns="0" tIns="0" rIns="0" bIns="0" rtlCol="0" anchor="t"/>
          <a:lstStyle/>
          <a:p>
            <a:pPr marL="0" indent="0">
              <a:lnSpc>
                <a:spcPct val="150000"/>
              </a:lnSpc>
              <a:buNone/>
            </a:pPr>
            <a:r>
              <a:rPr lang="en-US" dirty="0">
                <a:latin typeface="+mj-lt"/>
                <a:ea typeface="Overpass Light" pitchFamily="34" charset="-122"/>
                <a:cs typeface="Overpass Light" pitchFamily="34" charset="-120"/>
              </a:rPr>
              <a:t>Our experiments demonstrate the trade-offs between the full BERT model and its distilled counterpart, DistilBERT, on a sentiment analysis task. The results highlight that while BERT achieved slightly higher accuracy, DistilBERT provided significant improvements in inference speed, making it a more practical choice for real-time applications with limited computational resources.</a:t>
            </a:r>
            <a:endParaRPr lang="en-US" dirty="0">
              <a:latin typeface="+mj-lt"/>
            </a:endParaRPr>
          </a:p>
        </p:txBody>
      </p:sp>
      <p:sp>
        <p:nvSpPr>
          <p:cNvPr id="5" name="Shape 2"/>
          <p:cNvSpPr/>
          <p:nvPr/>
        </p:nvSpPr>
        <p:spPr>
          <a:xfrm>
            <a:off x="6757630" y="8838248"/>
            <a:ext cx="122158" cy="122158"/>
          </a:xfrm>
          <a:prstGeom prst="roundRect">
            <a:avLst>
              <a:gd name="adj" fmla="val 14971"/>
            </a:avLst>
          </a:prstGeom>
          <a:solidFill>
            <a:srgbClr val="1A3328"/>
          </a:solidFill>
          <a:ln/>
        </p:spPr>
      </p:sp>
      <p:sp>
        <p:nvSpPr>
          <p:cNvPr id="6" name="Text 3"/>
          <p:cNvSpPr/>
          <p:nvPr/>
        </p:nvSpPr>
        <p:spPr>
          <a:xfrm>
            <a:off x="6940748" y="8838248"/>
            <a:ext cx="298252" cy="122158"/>
          </a:xfrm>
          <a:prstGeom prst="rect">
            <a:avLst/>
          </a:prstGeom>
          <a:noFill/>
          <a:ln/>
        </p:spPr>
        <p:txBody>
          <a:bodyPr wrap="none" lIns="0" tIns="0" rIns="0" bIns="0" rtlCol="0" anchor="t"/>
          <a:lstStyle/>
          <a:p>
            <a:pPr marL="0" indent="0" algn="l">
              <a:lnSpc>
                <a:spcPts val="950"/>
              </a:lnSpc>
              <a:buNone/>
            </a:pPr>
            <a:r>
              <a:rPr lang="en-US" sz="950" dirty="0">
                <a:solidFill>
                  <a:srgbClr val="3B4E4E"/>
                </a:solidFill>
                <a:latin typeface="Overpass Light" pitchFamily="34" charset="0"/>
                <a:ea typeface="Overpass Light" pitchFamily="34" charset="-122"/>
                <a:cs typeface="Overpass Light" pitchFamily="34" charset="-120"/>
              </a:rPr>
              <a:t>BERT</a:t>
            </a:r>
            <a:endParaRPr lang="en-US" sz="950" dirty="0"/>
          </a:p>
        </p:txBody>
      </p:sp>
      <p:sp>
        <p:nvSpPr>
          <p:cNvPr id="7" name="Shape 4"/>
          <p:cNvSpPr/>
          <p:nvPr/>
        </p:nvSpPr>
        <p:spPr>
          <a:xfrm>
            <a:off x="7391400" y="8838248"/>
            <a:ext cx="122158" cy="122158"/>
          </a:xfrm>
          <a:prstGeom prst="roundRect">
            <a:avLst>
              <a:gd name="adj" fmla="val 14971"/>
            </a:avLst>
          </a:prstGeom>
          <a:solidFill>
            <a:srgbClr val="356952"/>
          </a:solidFill>
          <a:ln/>
        </p:spPr>
      </p:sp>
      <p:sp>
        <p:nvSpPr>
          <p:cNvPr id="8" name="Text 5"/>
          <p:cNvSpPr/>
          <p:nvPr/>
        </p:nvSpPr>
        <p:spPr>
          <a:xfrm>
            <a:off x="7574518" y="8838248"/>
            <a:ext cx="572214" cy="122158"/>
          </a:xfrm>
          <a:prstGeom prst="rect">
            <a:avLst/>
          </a:prstGeom>
          <a:noFill/>
          <a:ln/>
        </p:spPr>
        <p:txBody>
          <a:bodyPr wrap="none" lIns="0" tIns="0" rIns="0" bIns="0" rtlCol="0" anchor="t"/>
          <a:lstStyle/>
          <a:p>
            <a:pPr marL="0" indent="0" algn="l">
              <a:lnSpc>
                <a:spcPts val="950"/>
              </a:lnSpc>
              <a:buNone/>
            </a:pPr>
            <a:r>
              <a:rPr lang="en-US" sz="950" dirty="0">
                <a:solidFill>
                  <a:srgbClr val="3B4E4E"/>
                </a:solidFill>
                <a:latin typeface="Overpass Light" pitchFamily="34" charset="0"/>
                <a:ea typeface="Overpass Light" pitchFamily="34" charset="-122"/>
                <a:cs typeface="Overpass Light" pitchFamily="34" charset="-120"/>
              </a:rPr>
              <a:t>DistilBERT</a:t>
            </a:r>
            <a:endParaRPr lang="en-US" sz="950" dirty="0"/>
          </a:p>
        </p:txBody>
      </p:sp>
      <p:sp>
        <p:nvSpPr>
          <p:cNvPr id="9" name="Text 6"/>
          <p:cNvSpPr/>
          <p:nvPr/>
        </p:nvSpPr>
        <p:spPr>
          <a:xfrm>
            <a:off x="427792" y="9342596"/>
            <a:ext cx="13774817" cy="391239"/>
          </a:xfrm>
          <a:prstGeom prst="rect">
            <a:avLst/>
          </a:prstGeom>
          <a:noFill/>
          <a:ln/>
        </p:spPr>
        <p:txBody>
          <a:bodyPr wrap="square" lIns="0" tIns="0" rIns="0" bIns="0" rtlCol="0" anchor="t"/>
          <a:lstStyle/>
          <a:p>
            <a:pPr marL="0" indent="0" algn="l">
              <a:lnSpc>
                <a:spcPts val="1500"/>
              </a:lnSpc>
              <a:buNone/>
            </a:pPr>
            <a:r>
              <a:rPr lang="en-US" sz="950" dirty="0">
                <a:solidFill>
                  <a:srgbClr val="3B4E4E"/>
                </a:solidFill>
                <a:latin typeface="Overpass Light" pitchFamily="34" charset="0"/>
                <a:ea typeface="Overpass Light" pitchFamily="34" charset="-122"/>
                <a:cs typeface="Overpass Light" pitchFamily="34" charset="-120"/>
              </a:rPr>
              <a:t>The performance metrics indicate that DistilBERT offers a compelling balance, sacrificing a minimal amount of accuracy for substantial gains in efficiency. The confusion matrices further revealed that both models performed similarly in identifying positive and negative sentiments, with minor differences in false positive and false negative rates, primarily in ambiguous cases.</a:t>
            </a:r>
            <a:endParaRPr lang="en-US" sz="950" dirty="0"/>
          </a:p>
        </p:txBody>
      </p:sp>
      <p:pic>
        <p:nvPicPr>
          <p:cNvPr id="11" name="Picture 10">
            <a:extLst>
              <a:ext uri="{FF2B5EF4-FFF2-40B4-BE49-F238E27FC236}">
                <a16:creationId xmlns:a16="http://schemas.microsoft.com/office/drawing/2014/main" id="{1460424F-D3BA-AF8C-ED03-F2B2E1F8EEDE}"/>
              </a:ext>
            </a:extLst>
          </p:cNvPr>
          <p:cNvPicPr>
            <a:picLocks noChangeAspect="1"/>
          </p:cNvPicPr>
          <p:nvPr/>
        </p:nvPicPr>
        <p:blipFill>
          <a:blip r:embed="rId3"/>
          <a:stretch>
            <a:fillRect/>
          </a:stretch>
        </p:blipFill>
        <p:spPr>
          <a:xfrm>
            <a:off x="3270738" y="4738723"/>
            <a:ext cx="5960461" cy="3078718"/>
          </a:xfrm>
          <a:prstGeom prst="rect">
            <a:avLst/>
          </a:prstGeom>
        </p:spPr>
      </p:pic>
      <p:sp>
        <p:nvSpPr>
          <p:cNvPr id="12" name="Rectangle 11">
            <a:extLst>
              <a:ext uri="{FF2B5EF4-FFF2-40B4-BE49-F238E27FC236}">
                <a16:creationId xmlns:a16="http://schemas.microsoft.com/office/drawing/2014/main" id="{37D97DC5-8711-9B5C-8A6D-763CFC08D7B2}"/>
              </a:ext>
            </a:extLst>
          </p:cNvPr>
          <p:cNvSpPr/>
          <p:nvPr/>
        </p:nvSpPr>
        <p:spPr>
          <a:xfrm>
            <a:off x="12645482" y="7672039"/>
            <a:ext cx="1984917" cy="680224"/>
          </a:xfrm>
          <a:prstGeom prst="rect">
            <a:avLst/>
          </a:prstGeom>
          <a:solidFill>
            <a:srgbClr val="FFFD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4" name="Picture 13">
            <a:extLst>
              <a:ext uri="{FF2B5EF4-FFF2-40B4-BE49-F238E27FC236}">
                <a16:creationId xmlns:a16="http://schemas.microsoft.com/office/drawing/2014/main" id="{DC0E3DD1-E689-289C-C007-AA368E4BE3EC}"/>
              </a:ext>
            </a:extLst>
          </p:cNvPr>
          <p:cNvPicPr>
            <a:picLocks noChangeAspect="1"/>
          </p:cNvPicPr>
          <p:nvPr/>
        </p:nvPicPr>
        <p:blipFill>
          <a:blip r:embed="rId4"/>
          <a:srcRect l="20032" r="21715"/>
          <a:stretch/>
        </p:blipFill>
        <p:spPr>
          <a:xfrm>
            <a:off x="949568" y="1277815"/>
            <a:ext cx="3927229" cy="3204960"/>
          </a:xfrm>
          <a:prstGeom prst="rect">
            <a:avLst/>
          </a:prstGeom>
        </p:spPr>
      </p:pic>
      <p:pic>
        <p:nvPicPr>
          <p:cNvPr id="16" name="Picture 15">
            <a:extLst>
              <a:ext uri="{FF2B5EF4-FFF2-40B4-BE49-F238E27FC236}">
                <a16:creationId xmlns:a16="http://schemas.microsoft.com/office/drawing/2014/main" id="{2352998D-4CAD-426D-A48C-CEE94402AF96}"/>
              </a:ext>
            </a:extLst>
          </p:cNvPr>
          <p:cNvPicPr>
            <a:picLocks noChangeAspect="1"/>
          </p:cNvPicPr>
          <p:nvPr/>
        </p:nvPicPr>
        <p:blipFill>
          <a:blip r:embed="rId5"/>
          <a:srcRect l="31971" r="29888" b="46890"/>
          <a:stretch/>
        </p:blipFill>
        <p:spPr>
          <a:xfrm>
            <a:off x="5432636" y="1277815"/>
            <a:ext cx="4161843" cy="307871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35913" y="645200"/>
            <a:ext cx="8276034" cy="567928"/>
          </a:xfrm>
          <a:prstGeom prst="rect">
            <a:avLst/>
          </a:prstGeom>
          <a:noFill/>
          <a:ln/>
        </p:spPr>
        <p:txBody>
          <a:bodyPr wrap="none" lIns="0" tIns="0" rIns="0" bIns="0" rtlCol="0" anchor="t"/>
          <a:lstStyle/>
          <a:p>
            <a:pPr marL="0" indent="0" algn="l">
              <a:lnSpc>
                <a:spcPts val="4450"/>
              </a:lnSpc>
              <a:buNone/>
            </a:pPr>
            <a:r>
              <a:rPr lang="en-US" sz="3550" b="1" dirty="0">
                <a:solidFill>
                  <a:srgbClr val="233939"/>
                </a:solidFill>
                <a:latin typeface="Syne Bold" pitchFamily="34" charset="0"/>
                <a:ea typeface="Syne Bold" pitchFamily="34" charset="-122"/>
                <a:cs typeface="Syne Bold" pitchFamily="34" charset="-120"/>
              </a:rPr>
              <a:t>Conclusion and Future Directions</a:t>
            </a:r>
            <a:endParaRPr lang="en-US" sz="3550" dirty="0"/>
          </a:p>
        </p:txBody>
      </p:sp>
      <p:sp>
        <p:nvSpPr>
          <p:cNvPr id="3" name="Text 1"/>
          <p:cNvSpPr/>
          <p:nvPr/>
        </p:nvSpPr>
        <p:spPr>
          <a:xfrm>
            <a:off x="635913" y="1576507"/>
            <a:ext cx="13358574" cy="871895"/>
          </a:xfrm>
          <a:prstGeom prst="rect">
            <a:avLst/>
          </a:prstGeom>
          <a:noFill/>
          <a:ln/>
        </p:spPr>
        <p:txBody>
          <a:bodyPr wrap="square" lIns="0" tIns="0" rIns="0" bIns="0" rtlCol="0" anchor="t"/>
          <a:lstStyle/>
          <a:p>
            <a:pPr marL="0" indent="0" algn="l">
              <a:lnSpc>
                <a:spcPts val="2250"/>
              </a:lnSpc>
              <a:buNone/>
            </a:pPr>
            <a:r>
              <a:rPr lang="en-US" sz="1400" dirty="0">
                <a:solidFill>
                  <a:srgbClr val="3B4E4E"/>
                </a:solidFill>
                <a:latin typeface="Overpass Light" pitchFamily="34" charset="0"/>
                <a:ea typeface="Overpass Light" pitchFamily="34" charset="-122"/>
                <a:cs typeface="Overpass Light" pitchFamily="34" charset="-120"/>
              </a:rPr>
              <a:t>In summary, BERT and DistilBERT represent significant breakthroughs in NLP, enabling advanced language understanding capabilities. BERT excels in scenarios where maximal accuracy is paramount and computational resources are abundant. DistilBERT, through knowledge distillation, provides a highly efficient alternative, making state-of-the-art NLP accessible for applications requiring faster inference and lower resource consumption.</a:t>
            </a:r>
            <a:endParaRPr lang="en-US" sz="1400" dirty="0"/>
          </a:p>
        </p:txBody>
      </p:sp>
      <p:sp>
        <p:nvSpPr>
          <p:cNvPr id="4" name="Shape 2"/>
          <p:cNvSpPr/>
          <p:nvPr/>
        </p:nvSpPr>
        <p:spPr>
          <a:xfrm>
            <a:off x="635913" y="2652832"/>
            <a:ext cx="6588443" cy="2351842"/>
          </a:xfrm>
          <a:prstGeom prst="roundRect">
            <a:avLst>
              <a:gd name="adj" fmla="val 3245"/>
            </a:avLst>
          </a:prstGeom>
          <a:solidFill>
            <a:srgbClr val="DDEEE6"/>
          </a:solidFill>
          <a:ln w="7620">
            <a:solidFill>
              <a:srgbClr val="C3D4CC"/>
            </a:solidFill>
            <a:prstDash val="solid"/>
          </a:ln>
        </p:spPr>
      </p:sp>
      <p:sp>
        <p:nvSpPr>
          <p:cNvPr id="5" name="Text 3"/>
          <p:cNvSpPr/>
          <p:nvPr/>
        </p:nvSpPr>
        <p:spPr>
          <a:xfrm>
            <a:off x="825222" y="2842141"/>
            <a:ext cx="2271474" cy="283964"/>
          </a:xfrm>
          <a:prstGeom prst="rect">
            <a:avLst/>
          </a:prstGeom>
          <a:noFill/>
          <a:ln/>
        </p:spPr>
        <p:txBody>
          <a:bodyPr wrap="none" lIns="0" tIns="0" rIns="0" bIns="0" rtlCol="0" anchor="t"/>
          <a:lstStyle/>
          <a:p>
            <a:pPr marL="0" indent="0" algn="l">
              <a:lnSpc>
                <a:spcPts val="2200"/>
              </a:lnSpc>
              <a:buNone/>
            </a:pPr>
            <a:r>
              <a:rPr lang="en-US" sz="1750" b="1" dirty="0">
                <a:solidFill>
                  <a:srgbClr val="3B4E4E"/>
                </a:solidFill>
                <a:latin typeface="Syne Bold" pitchFamily="34" charset="0"/>
                <a:ea typeface="Syne Bold" pitchFamily="34" charset="-122"/>
                <a:cs typeface="Syne Bold" pitchFamily="34" charset="-120"/>
              </a:rPr>
              <a:t>Key Takeaways</a:t>
            </a:r>
            <a:endParaRPr lang="en-US" sz="1750" dirty="0"/>
          </a:p>
        </p:txBody>
      </p:sp>
      <p:sp>
        <p:nvSpPr>
          <p:cNvPr id="6" name="Text 4"/>
          <p:cNvSpPr/>
          <p:nvPr/>
        </p:nvSpPr>
        <p:spPr>
          <a:xfrm>
            <a:off x="825222" y="3235047"/>
            <a:ext cx="6209824" cy="290632"/>
          </a:xfrm>
          <a:prstGeom prst="rect">
            <a:avLst/>
          </a:prstGeom>
          <a:noFill/>
          <a:ln/>
        </p:spPr>
        <p:txBody>
          <a:bodyPr wrap="none" lIns="0" tIns="0" rIns="0" bIns="0" rtlCol="0" anchor="t"/>
          <a:lstStyle/>
          <a:p>
            <a:pPr marL="342900" indent="-342900" algn="l">
              <a:lnSpc>
                <a:spcPts val="2250"/>
              </a:lnSpc>
              <a:buSzPct val="100000"/>
              <a:buChar char="•"/>
            </a:pPr>
            <a:r>
              <a:rPr lang="en-US" sz="1400" dirty="0">
                <a:solidFill>
                  <a:srgbClr val="3B4E4E"/>
                </a:solidFill>
                <a:latin typeface="Overpass Light" pitchFamily="34" charset="0"/>
                <a:ea typeface="Overpass Light" pitchFamily="34" charset="-122"/>
                <a:cs typeface="Overpass Light" pitchFamily="34" charset="-120"/>
              </a:rPr>
              <a:t>BERT's bidirectional training provides superior contextual understanding.</a:t>
            </a:r>
            <a:endParaRPr lang="en-US" sz="1400" dirty="0"/>
          </a:p>
        </p:txBody>
      </p:sp>
      <p:sp>
        <p:nvSpPr>
          <p:cNvPr id="7" name="Text 5"/>
          <p:cNvSpPr/>
          <p:nvPr/>
        </p:nvSpPr>
        <p:spPr>
          <a:xfrm>
            <a:off x="825222" y="3589258"/>
            <a:ext cx="6209824" cy="290632"/>
          </a:xfrm>
          <a:prstGeom prst="rect">
            <a:avLst/>
          </a:prstGeom>
          <a:noFill/>
          <a:ln/>
        </p:spPr>
        <p:txBody>
          <a:bodyPr wrap="none" lIns="0" tIns="0" rIns="0" bIns="0" rtlCol="0" anchor="t"/>
          <a:lstStyle/>
          <a:p>
            <a:pPr marL="342900" indent="-342900" algn="l">
              <a:lnSpc>
                <a:spcPts val="2250"/>
              </a:lnSpc>
              <a:buSzPct val="100000"/>
              <a:buChar char="•"/>
            </a:pPr>
            <a:r>
              <a:rPr lang="en-US" sz="1400" dirty="0">
                <a:solidFill>
                  <a:srgbClr val="3B4E4E"/>
                </a:solidFill>
                <a:latin typeface="Overpass Light" pitchFamily="34" charset="0"/>
                <a:ea typeface="Overpass Light" pitchFamily="34" charset="-122"/>
                <a:cs typeface="Overpass Light" pitchFamily="34" charset="-120"/>
              </a:rPr>
              <a:t>DistilBERT offers a compelling performance-to-efficiency trade-off.</a:t>
            </a:r>
            <a:endParaRPr lang="en-US" sz="1400" dirty="0"/>
          </a:p>
        </p:txBody>
      </p:sp>
      <p:sp>
        <p:nvSpPr>
          <p:cNvPr id="8" name="Text 6"/>
          <p:cNvSpPr/>
          <p:nvPr/>
        </p:nvSpPr>
        <p:spPr>
          <a:xfrm>
            <a:off x="825222" y="3943469"/>
            <a:ext cx="6209824" cy="290632"/>
          </a:xfrm>
          <a:prstGeom prst="rect">
            <a:avLst/>
          </a:prstGeom>
          <a:noFill/>
          <a:ln/>
        </p:spPr>
        <p:txBody>
          <a:bodyPr wrap="none" lIns="0" tIns="0" rIns="0" bIns="0" rtlCol="0" anchor="t"/>
          <a:lstStyle/>
          <a:p>
            <a:pPr marL="342900" indent="-342900" algn="l">
              <a:lnSpc>
                <a:spcPts val="2250"/>
              </a:lnSpc>
              <a:buSzPct val="100000"/>
              <a:buChar char="•"/>
            </a:pPr>
            <a:r>
              <a:rPr lang="en-US" sz="1400" dirty="0">
                <a:solidFill>
                  <a:srgbClr val="3B4E4E"/>
                </a:solidFill>
                <a:latin typeface="Overpass Light" pitchFamily="34" charset="0"/>
                <a:ea typeface="Overpass Light" pitchFamily="34" charset="-122"/>
                <a:cs typeface="Overpass Light" pitchFamily="34" charset="-120"/>
              </a:rPr>
              <a:t>Model selection depends on task requirements and resource constraints.</a:t>
            </a:r>
            <a:endParaRPr lang="en-US" sz="1400" dirty="0"/>
          </a:p>
        </p:txBody>
      </p:sp>
      <p:sp>
        <p:nvSpPr>
          <p:cNvPr id="9" name="Shape 7"/>
          <p:cNvSpPr/>
          <p:nvPr/>
        </p:nvSpPr>
        <p:spPr>
          <a:xfrm>
            <a:off x="7406045" y="2652832"/>
            <a:ext cx="6588443" cy="2351842"/>
          </a:xfrm>
          <a:prstGeom prst="roundRect">
            <a:avLst>
              <a:gd name="adj" fmla="val 3245"/>
            </a:avLst>
          </a:prstGeom>
          <a:solidFill>
            <a:srgbClr val="DDEEE6"/>
          </a:solidFill>
          <a:ln w="7620">
            <a:solidFill>
              <a:srgbClr val="C3D4CC"/>
            </a:solidFill>
            <a:prstDash val="solid"/>
          </a:ln>
        </p:spPr>
      </p:sp>
      <p:sp>
        <p:nvSpPr>
          <p:cNvPr id="10" name="Text 8"/>
          <p:cNvSpPr/>
          <p:nvPr/>
        </p:nvSpPr>
        <p:spPr>
          <a:xfrm>
            <a:off x="7595354" y="2842141"/>
            <a:ext cx="2271474" cy="283964"/>
          </a:xfrm>
          <a:prstGeom prst="rect">
            <a:avLst/>
          </a:prstGeom>
          <a:noFill/>
          <a:ln/>
        </p:spPr>
        <p:txBody>
          <a:bodyPr wrap="none" lIns="0" tIns="0" rIns="0" bIns="0" rtlCol="0" anchor="t"/>
          <a:lstStyle/>
          <a:p>
            <a:pPr marL="0" indent="0" algn="l">
              <a:lnSpc>
                <a:spcPts val="2200"/>
              </a:lnSpc>
              <a:buNone/>
            </a:pPr>
            <a:r>
              <a:rPr lang="en-US" sz="1750" b="1" dirty="0">
                <a:solidFill>
                  <a:srgbClr val="3B4E4E"/>
                </a:solidFill>
                <a:latin typeface="Syne Bold" pitchFamily="34" charset="0"/>
                <a:ea typeface="Syne Bold" pitchFamily="34" charset="-122"/>
                <a:cs typeface="Syne Bold" pitchFamily="34" charset="-120"/>
              </a:rPr>
              <a:t>Future Research</a:t>
            </a:r>
            <a:endParaRPr lang="en-US" sz="1750" dirty="0"/>
          </a:p>
        </p:txBody>
      </p:sp>
      <p:sp>
        <p:nvSpPr>
          <p:cNvPr id="11" name="Text 9"/>
          <p:cNvSpPr/>
          <p:nvPr/>
        </p:nvSpPr>
        <p:spPr>
          <a:xfrm>
            <a:off x="7595354" y="3235047"/>
            <a:ext cx="6209824" cy="290632"/>
          </a:xfrm>
          <a:prstGeom prst="rect">
            <a:avLst/>
          </a:prstGeom>
          <a:noFill/>
          <a:ln/>
        </p:spPr>
        <p:txBody>
          <a:bodyPr wrap="none" lIns="0" tIns="0" rIns="0" bIns="0" rtlCol="0" anchor="t"/>
          <a:lstStyle/>
          <a:p>
            <a:pPr marL="342900" indent="-342900" algn="l">
              <a:lnSpc>
                <a:spcPts val="2250"/>
              </a:lnSpc>
              <a:buSzPct val="100000"/>
              <a:buChar char="•"/>
            </a:pPr>
            <a:r>
              <a:rPr lang="en-US" sz="1400" dirty="0">
                <a:solidFill>
                  <a:srgbClr val="3B4E4E"/>
                </a:solidFill>
                <a:latin typeface="Overpass Light" pitchFamily="34" charset="0"/>
                <a:ea typeface="Overpass Light" pitchFamily="34" charset="-122"/>
                <a:cs typeface="Overpass Light" pitchFamily="34" charset="-120"/>
              </a:rPr>
              <a:t>Explore further distillation techniques for even smaller models.</a:t>
            </a:r>
            <a:endParaRPr lang="en-US" sz="1400" dirty="0"/>
          </a:p>
        </p:txBody>
      </p:sp>
      <p:sp>
        <p:nvSpPr>
          <p:cNvPr id="12" name="Text 10"/>
          <p:cNvSpPr/>
          <p:nvPr/>
        </p:nvSpPr>
        <p:spPr>
          <a:xfrm>
            <a:off x="7595354" y="3589258"/>
            <a:ext cx="6209824" cy="581263"/>
          </a:xfrm>
          <a:prstGeom prst="rect">
            <a:avLst/>
          </a:prstGeom>
          <a:noFill/>
          <a:ln/>
        </p:spPr>
        <p:txBody>
          <a:bodyPr wrap="square" lIns="0" tIns="0" rIns="0" bIns="0" rtlCol="0" anchor="t"/>
          <a:lstStyle/>
          <a:p>
            <a:pPr marL="342900" indent="-342900" algn="l">
              <a:lnSpc>
                <a:spcPts val="2250"/>
              </a:lnSpc>
              <a:buSzPct val="100000"/>
              <a:buChar char="•"/>
            </a:pPr>
            <a:r>
              <a:rPr lang="en-US" sz="1400" dirty="0">
                <a:solidFill>
                  <a:srgbClr val="3B4E4E"/>
                </a:solidFill>
                <a:latin typeface="Overpass Light" pitchFamily="34" charset="0"/>
                <a:ea typeface="Overpass Light" pitchFamily="34" charset="-122"/>
                <a:cs typeface="Overpass Light" pitchFamily="34" charset="-120"/>
              </a:rPr>
              <a:t>Investigate the impact of quantization on model performance and efficiency.</a:t>
            </a:r>
            <a:endParaRPr lang="en-US" sz="1400" dirty="0"/>
          </a:p>
        </p:txBody>
      </p:sp>
      <p:sp>
        <p:nvSpPr>
          <p:cNvPr id="13" name="Text 11"/>
          <p:cNvSpPr/>
          <p:nvPr/>
        </p:nvSpPr>
        <p:spPr>
          <a:xfrm>
            <a:off x="7595354" y="4234101"/>
            <a:ext cx="6209824" cy="581263"/>
          </a:xfrm>
          <a:prstGeom prst="rect">
            <a:avLst/>
          </a:prstGeom>
          <a:noFill/>
          <a:ln/>
        </p:spPr>
        <p:txBody>
          <a:bodyPr wrap="square" lIns="0" tIns="0" rIns="0" bIns="0" rtlCol="0" anchor="t"/>
          <a:lstStyle/>
          <a:p>
            <a:pPr marL="342900" indent="-342900" algn="l">
              <a:lnSpc>
                <a:spcPts val="2250"/>
              </a:lnSpc>
              <a:buSzPct val="100000"/>
              <a:buChar char="•"/>
            </a:pPr>
            <a:r>
              <a:rPr lang="en-US" sz="1400" dirty="0">
                <a:solidFill>
                  <a:srgbClr val="3B4E4E"/>
                </a:solidFill>
                <a:latin typeface="Overpass Light" pitchFamily="34" charset="0"/>
                <a:ea typeface="Overpass Light" pitchFamily="34" charset="-122"/>
                <a:cs typeface="Overpass Light" pitchFamily="34" charset="-120"/>
              </a:rPr>
              <a:t>Apply these models to emerging NLP tasks like low-resource language understanding.</a:t>
            </a:r>
            <a:endParaRPr lang="en-US" sz="1400" dirty="0"/>
          </a:p>
        </p:txBody>
      </p:sp>
      <p:sp>
        <p:nvSpPr>
          <p:cNvPr id="14" name="Text 12"/>
          <p:cNvSpPr/>
          <p:nvPr/>
        </p:nvSpPr>
        <p:spPr>
          <a:xfrm>
            <a:off x="635913" y="5277207"/>
            <a:ext cx="3634383" cy="454343"/>
          </a:xfrm>
          <a:prstGeom prst="rect">
            <a:avLst/>
          </a:prstGeom>
          <a:noFill/>
          <a:ln/>
        </p:spPr>
        <p:txBody>
          <a:bodyPr wrap="none" lIns="0" tIns="0" rIns="0" bIns="0" rtlCol="0" anchor="t"/>
          <a:lstStyle/>
          <a:p>
            <a:pPr marL="0" indent="0" algn="l">
              <a:lnSpc>
                <a:spcPts val="3550"/>
              </a:lnSpc>
              <a:buNone/>
            </a:pPr>
            <a:r>
              <a:rPr lang="en-US" sz="2850" b="1" dirty="0">
                <a:solidFill>
                  <a:srgbClr val="233939"/>
                </a:solidFill>
                <a:latin typeface="Syne Bold" pitchFamily="34" charset="0"/>
                <a:ea typeface="Syne Bold" pitchFamily="34" charset="-122"/>
                <a:cs typeface="Syne Bold" pitchFamily="34" charset="-120"/>
              </a:rPr>
              <a:t>References</a:t>
            </a:r>
            <a:endParaRPr lang="en-US" sz="2850" dirty="0"/>
          </a:p>
        </p:txBody>
      </p:sp>
      <p:sp>
        <p:nvSpPr>
          <p:cNvPr id="15" name="Text 13"/>
          <p:cNvSpPr/>
          <p:nvPr/>
        </p:nvSpPr>
        <p:spPr>
          <a:xfrm>
            <a:off x="635913" y="6004084"/>
            <a:ext cx="13358574" cy="581263"/>
          </a:xfrm>
          <a:prstGeom prst="rect">
            <a:avLst/>
          </a:prstGeom>
          <a:noFill/>
          <a:ln/>
        </p:spPr>
        <p:txBody>
          <a:bodyPr wrap="square" lIns="0" tIns="0" rIns="0" bIns="0" rtlCol="0" anchor="t"/>
          <a:lstStyle/>
          <a:p>
            <a:pPr marL="342900" indent="-342900" algn="l">
              <a:lnSpc>
                <a:spcPts val="2250"/>
              </a:lnSpc>
              <a:buSzPct val="100000"/>
              <a:buChar char="•"/>
            </a:pPr>
            <a:r>
              <a:rPr lang="en-US" sz="1400" dirty="0">
                <a:solidFill>
                  <a:srgbClr val="3B4E4E"/>
                </a:solidFill>
                <a:latin typeface="Overpass Light" pitchFamily="34" charset="0"/>
                <a:ea typeface="Overpass Light" pitchFamily="34" charset="-122"/>
                <a:cs typeface="Overpass Light" pitchFamily="34" charset="-120"/>
              </a:rPr>
              <a:t>Devlin, J., Chang, M. W., Lee, K., &amp; Toutanova, K. (2019). BERT: Pre-training of Deep Bidirectional Transformers for Language Understanding. </a:t>
            </a:r>
            <a:r>
              <a:rPr lang="en-US" sz="1400" b="1" dirty="0">
                <a:solidFill>
                  <a:srgbClr val="3B4E4E"/>
                </a:solidFill>
                <a:latin typeface="Overpass Light" pitchFamily="34" charset="0"/>
                <a:ea typeface="Overpass Light" pitchFamily="34" charset="-122"/>
                <a:cs typeface="Overpass Light" pitchFamily="34" charset="-120"/>
              </a:rPr>
              <a:t>Proceedings of NAACL-HLT 2019</a:t>
            </a:r>
            <a:r>
              <a:rPr lang="en-US" sz="1400" dirty="0">
                <a:solidFill>
                  <a:srgbClr val="3B4E4E"/>
                </a:solidFill>
                <a:latin typeface="Overpass Light" pitchFamily="34" charset="0"/>
                <a:ea typeface="Overpass Light" pitchFamily="34" charset="-122"/>
                <a:cs typeface="Overpass Light" pitchFamily="34" charset="-120"/>
              </a:rPr>
              <a:t>, 4171-4186.</a:t>
            </a:r>
            <a:endParaRPr lang="en-US" sz="1400" dirty="0"/>
          </a:p>
        </p:txBody>
      </p:sp>
      <p:sp>
        <p:nvSpPr>
          <p:cNvPr id="16" name="Text 14"/>
          <p:cNvSpPr/>
          <p:nvPr/>
        </p:nvSpPr>
        <p:spPr>
          <a:xfrm>
            <a:off x="635913" y="6648926"/>
            <a:ext cx="13358574" cy="290632"/>
          </a:xfrm>
          <a:prstGeom prst="rect">
            <a:avLst/>
          </a:prstGeom>
          <a:noFill/>
          <a:ln/>
        </p:spPr>
        <p:txBody>
          <a:bodyPr wrap="none" lIns="0" tIns="0" rIns="0" bIns="0" rtlCol="0" anchor="t"/>
          <a:lstStyle/>
          <a:p>
            <a:pPr marL="342900" indent="-342900" algn="l">
              <a:lnSpc>
                <a:spcPts val="2250"/>
              </a:lnSpc>
              <a:buSzPct val="100000"/>
              <a:buChar char="•"/>
            </a:pPr>
            <a:r>
              <a:rPr lang="en-US" sz="1400" dirty="0">
                <a:solidFill>
                  <a:srgbClr val="3B4E4E"/>
                </a:solidFill>
                <a:latin typeface="Overpass Light" pitchFamily="34" charset="0"/>
                <a:ea typeface="Overpass Light" pitchFamily="34" charset="-122"/>
                <a:cs typeface="Overpass Light" pitchFamily="34" charset="-120"/>
              </a:rPr>
              <a:t>Sanh, V., Debut, L., Chaumond, J., &amp; Wolf, T. (2019). DistilBERT, a distilled version of BERT: smaller, faster, cheaper and lighter. </a:t>
            </a:r>
            <a:r>
              <a:rPr lang="en-US" sz="1400" b="1" dirty="0">
                <a:solidFill>
                  <a:srgbClr val="3B4E4E"/>
                </a:solidFill>
                <a:latin typeface="Overpass Light" pitchFamily="34" charset="0"/>
                <a:ea typeface="Overpass Light" pitchFamily="34" charset="-122"/>
                <a:cs typeface="Overpass Light" pitchFamily="34" charset="-120"/>
              </a:rPr>
              <a:t>arXiv preprint arXiv:1910.01108</a:t>
            </a:r>
            <a:r>
              <a:rPr lang="en-US" sz="1400" dirty="0">
                <a:solidFill>
                  <a:srgbClr val="3B4E4E"/>
                </a:solidFill>
                <a:latin typeface="Overpass Light" pitchFamily="34" charset="0"/>
                <a:ea typeface="Overpass Light" pitchFamily="34" charset="-122"/>
                <a:cs typeface="Overpass Light" pitchFamily="34" charset="-120"/>
              </a:rPr>
              <a:t>.</a:t>
            </a:r>
            <a:endParaRPr lang="en-US" sz="1400" dirty="0"/>
          </a:p>
        </p:txBody>
      </p:sp>
      <p:sp>
        <p:nvSpPr>
          <p:cNvPr id="17" name="Text 15"/>
          <p:cNvSpPr/>
          <p:nvPr/>
        </p:nvSpPr>
        <p:spPr>
          <a:xfrm>
            <a:off x="635913" y="7003137"/>
            <a:ext cx="13358574" cy="581263"/>
          </a:xfrm>
          <a:prstGeom prst="rect">
            <a:avLst/>
          </a:prstGeom>
          <a:noFill/>
          <a:ln/>
        </p:spPr>
        <p:txBody>
          <a:bodyPr wrap="square" lIns="0" tIns="0" rIns="0" bIns="0" rtlCol="0" anchor="t"/>
          <a:lstStyle/>
          <a:p>
            <a:pPr marL="342900" indent="-342900" algn="l">
              <a:lnSpc>
                <a:spcPts val="2250"/>
              </a:lnSpc>
              <a:buSzPct val="100000"/>
              <a:buChar char="•"/>
            </a:pPr>
            <a:r>
              <a:rPr lang="en-US" sz="1400" dirty="0">
                <a:solidFill>
                  <a:srgbClr val="3B4E4E"/>
                </a:solidFill>
                <a:latin typeface="Overpass Light" pitchFamily="34" charset="0"/>
                <a:ea typeface="Overpass Light" pitchFamily="34" charset="-122"/>
                <a:cs typeface="Overpass Light" pitchFamily="34" charset="-120"/>
              </a:rPr>
              <a:t>Vaswani, A., Shazeer, N., Parmar, N., Uszkoreit, J., Jones, L., Gomez, A. N., ... &amp; Polosukhin, I. (2017). Attention Is All You Need. </a:t>
            </a:r>
            <a:r>
              <a:rPr lang="en-US" sz="1400" b="1" dirty="0">
                <a:solidFill>
                  <a:srgbClr val="3B4E4E"/>
                </a:solidFill>
                <a:latin typeface="Overpass Light" pitchFamily="34" charset="0"/>
                <a:ea typeface="Overpass Light" pitchFamily="34" charset="-122"/>
                <a:cs typeface="Overpass Light" pitchFamily="34" charset="-120"/>
              </a:rPr>
              <a:t>Advances in Neural Information Processing Systems</a:t>
            </a:r>
            <a:r>
              <a:rPr lang="en-US" sz="1400" dirty="0">
                <a:solidFill>
                  <a:srgbClr val="3B4E4E"/>
                </a:solidFill>
                <a:latin typeface="Overpass Light" pitchFamily="34" charset="0"/>
                <a:ea typeface="Overpass Light" pitchFamily="34" charset="-122"/>
                <a:cs typeface="Overpass Light" pitchFamily="34" charset="-120"/>
              </a:rPr>
              <a:t>, 30.</a:t>
            </a:r>
            <a:endParaRPr lang="en-US" sz="1400" dirty="0"/>
          </a:p>
        </p:txBody>
      </p:sp>
      <p:sp>
        <p:nvSpPr>
          <p:cNvPr id="18" name="Rectangle 17">
            <a:extLst>
              <a:ext uri="{FF2B5EF4-FFF2-40B4-BE49-F238E27FC236}">
                <a16:creationId xmlns:a16="http://schemas.microsoft.com/office/drawing/2014/main" id="{696615D3-D156-3BC8-6B6A-3C23C6273E7C}"/>
              </a:ext>
            </a:extLst>
          </p:cNvPr>
          <p:cNvSpPr/>
          <p:nvPr/>
        </p:nvSpPr>
        <p:spPr>
          <a:xfrm>
            <a:off x="12645482" y="7672039"/>
            <a:ext cx="1984917" cy="680224"/>
          </a:xfrm>
          <a:prstGeom prst="rect">
            <a:avLst/>
          </a:prstGeom>
          <a:solidFill>
            <a:srgbClr val="FFFD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F1ECC82-CAED-9F3B-2997-47646F0F5DB6}"/>
              </a:ext>
            </a:extLst>
          </p:cNvPr>
          <p:cNvSpPr txBox="1"/>
          <p:nvPr/>
        </p:nvSpPr>
        <p:spPr>
          <a:xfrm>
            <a:off x="2203938" y="2555631"/>
            <a:ext cx="10339754" cy="2646878"/>
          </a:xfrm>
          <a:prstGeom prst="rect">
            <a:avLst/>
          </a:prstGeom>
          <a:noFill/>
        </p:spPr>
        <p:txBody>
          <a:bodyPr wrap="square" rtlCol="0">
            <a:spAutoFit/>
          </a:bodyPr>
          <a:lstStyle/>
          <a:p>
            <a:r>
              <a:rPr lang="en-IN" sz="16600" dirty="0">
                <a:latin typeface="Harlow Solid Italic" panose="04030604020F02020D02" pitchFamily="82" charset="0"/>
              </a:rPr>
              <a:t>Thank You </a:t>
            </a:r>
          </a:p>
        </p:txBody>
      </p:sp>
      <p:sp>
        <p:nvSpPr>
          <p:cNvPr id="3" name="Rectangle 2">
            <a:extLst>
              <a:ext uri="{FF2B5EF4-FFF2-40B4-BE49-F238E27FC236}">
                <a16:creationId xmlns:a16="http://schemas.microsoft.com/office/drawing/2014/main" id="{48CBA6E2-9C79-1F0C-5290-24C03C45A917}"/>
              </a:ext>
            </a:extLst>
          </p:cNvPr>
          <p:cNvSpPr/>
          <p:nvPr/>
        </p:nvSpPr>
        <p:spPr>
          <a:xfrm>
            <a:off x="12645482" y="7672039"/>
            <a:ext cx="1984917" cy="680224"/>
          </a:xfrm>
          <a:prstGeom prst="rect">
            <a:avLst/>
          </a:prstGeom>
          <a:solidFill>
            <a:srgbClr val="FFFD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7363255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TotalTime>
  <Words>1401</Words>
  <Application>Microsoft Office PowerPoint</Application>
  <PresentationFormat>Custom</PresentationFormat>
  <Paragraphs>97</Paragraphs>
  <Slides>10</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Calibri</vt:lpstr>
      <vt:lpstr>Syne Bold</vt:lpstr>
      <vt:lpstr>Lucida Sans Unicode</vt:lpstr>
      <vt:lpstr>Overpass Light</vt:lpstr>
      <vt:lpstr>Times New Roman</vt:lpstr>
      <vt:lpstr>Harlow Solid Italic</vt:lpstr>
      <vt:lpstr>Arial</vt:lpstr>
      <vt:lpstr>Office Theme</vt:lpstr>
      <vt:lpstr>PowerPoint Presentation</vt:lpstr>
      <vt:lpstr>PowerPoint Presentation</vt:lpstr>
      <vt:lpstr>PowerPoint Presentation</vt:lpstr>
      <vt:lpstr>Timeline</vt:lpstr>
      <vt:lpstr>PowerPoint Presentation</vt:lpstr>
      <vt:lpstr>PowerPoint Presentation</vt:lpstr>
      <vt:lpstr>Workflow</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ayushi saran singh</cp:lastModifiedBy>
  <cp:revision>2</cp:revision>
  <dcterms:created xsi:type="dcterms:W3CDTF">2025-05-27T04:32:41Z</dcterms:created>
  <dcterms:modified xsi:type="dcterms:W3CDTF">2025-05-27T05:01:47Z</dcterms:modified>
</cp:coreProperties>
</file>