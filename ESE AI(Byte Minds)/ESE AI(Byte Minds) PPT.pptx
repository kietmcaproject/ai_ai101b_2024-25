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71" r:id="rId2"/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</p:sldIdLst>
  <p:sldSz cx="14630400" cy="8229600"/>
  <p:notesSz cx="8229600" cy="14630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58" d="100"/>
          <a:sy n="58" d="100"/>
        </p:scale>
        <p:origin x="52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942248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“Good morning everyone!  We are here to present our project on </a:t>
            </a:r>
            <a:r>
              <a:rPr lang="en-US" i="1" dirty="0"/>
              <a:t>Healthcare Data Cleaning which</a:t>
            </a:r>
            <a:r>
              <a:rPr lang="en-US" dirty="0"/>
              <a:t> focuses on how clean data can dramatically improve the healthcare industry.”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32904C-3949-4E99-9098-CC1B9939DF2A}" type="slidenum">
              <a:rPr lang="en-IN" smtClean="0"/>
              <a:t>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3784852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6F4F4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6F4F4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6F4F4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6F4F4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6F4F4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6F4F4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6F4F4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6F4F4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14033B-C1CB-1754-9CFB-86BF8AE30DE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8800" y="1346836"/>
            <a:ext cx="10972800" cy="2865120"/>
          </a:xfrm>
        </p:spPr>
        <p:txBody>
          <a:bodyPr anchor="b"/>
          <a:lstStyle>
            <a:lvl1pPr algn="ctr">
              <a:defRPr sz="54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77F7485-6AB7-ED91-AD1E-F6AF8321504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4322446"/>
            <a:ext cx="10972800" cy="1986914"/>
          </a:xfrm>
        </p:spPr>
        <p:txBody>
          <a:bodyPr/>
          <a:lstStyle>
            <a:lvl1pPr marL="0" indent="0" algn="ctr">
              <a:buNone/>
              <a:defRPr sz="2160"/>
            </a:lvl1pPr>
            <a:lvl2pPr marL="411480" indent="0" algn="ctr">
              <a:buNone/>
              <a:defRPr sz="1800"/>
            </a:lvl2pPr>
            <a:lvl3pPr marL="822960" indent="0" algn="ctr">
              <a:buNone/>
              <a:defRPr sz="1620"/>
            </a:lvl3pPr>
            <a:lvl4pPr marL="1234440" indent="0" algn="ctr">
              <a:buNone/>
              <a:defRPr sz="1440"/>
            </a:lvl4pPr>
            <a:lvl5pPr marL="1645920" indent="0" algn="ctr">
              <a:buNone/>
              <a:defRPr sz="1440"/>
            </a:lvl5pPr>
            <a:lvl6pPr marL="2057400" indent="0" algn="ctr">
              <a:buNone/>
              <a:defRPr sz="1440"/>
            </a:lvl6pPr>
            <a:lvl7pPr marL="2468880" indent="0" algn="ctr">
              <a:buNone/>
              <a:defRPr sz="1440"/>
            </a:lvl7pPr>
            <a:lvl8pPr marL="2880360" indent="0" algn="ctr">
              <a:buNone/>
              <a:defRPr sz="1440"/>
            </a:lvl8pPr>
            <a:lvl9pPr marL="3291840" indent="0" algn="ctr">
              <a:buNone/>
              <a:defRPr sz="144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12DE61-1E8E-21E6-91F5-9ACFEE0A5A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D0576A-07DB-3B46-AC99-97A70AE23956}" type="datetimeFigureOut">
              <a:rPr lang="en-US" smtClean="0"/>
              <a:t>5/27/2025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B0C74B-DB87-D74C-25EF-E2DFA9BBC0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94EB34-C25C-43DD-1A50-13C7E6692A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EAFB7-D942-8C40-850B-F7A53EC532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52072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B5C05F-6C10-AAB8-B9A1-704086EB83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20286" y="1984205"/>
            <a:ext cx="8229600" cy="1611802"/>
          </a:xfrm>
        </p:spPr>
        <p:txBody>
          <a:bodyPr>
            <a:normAutofit fontScale="90000"/>
          </a:bodyPr>
          <a:lstStyle/>
          <a:p>
            <a:r>
              <a:rPr lang="en-US" sz="432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AI-I (AI101B)</a:t>
            </a:r>
            <a:br>
              <a:rPr lang="en-IN" sz="252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324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Even Semester</a:t>
            </a:r>
            <a:br>
              <a:rPr lang="en-IN" sz="324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324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Session 2024-25</a:t>
            </a:r>
            <a:endParaRPr lang="en-US" sz="324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2C24FBC-2E61-AD49-3BD0-DA7AA89F9A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12776" y="4048901"/>
            <a:ext cx="7725206" cy="801796"/>
          </a:xfrm>
        </p:spPr>
        <p:txBody>
          <a:bodyPr>
            <a:normAutofit/>
          </a:bodyPr>
          <a:lstStyle/>
          <a:p>
            <a:r>
              <a:rPr lang="en-US" sz="3150" b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PREDICTING HEART DISEASE</a:t>
            </a:r>
          </a:p>
          <a:p>
            <a:endParaRPr lang="en-US" sz="3150" b="1" u="sn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43043289-20F1-1B73-C850-CE92562B546B}"/>
              </a:ext>
            </a:extLst>
          </p:cNvPr>
          <p:cNvSpPr txBox="1">
            <a:spLocks/>
          </p:cNvSpPr>
          <p:nvPr/>
        </p:nvSpPr>
        <p:spPr>
          <a:xfrm>
            <a:off x="9878287" y="5303592"/>
            <a:ext cx="2519394" cy="964406"/>
          </a:xfrm>
          <a:prstGeom prst="rect">
            <a:avLst/>
          </a:prstGeom>
        </p:spPr>
        <p:txBody>
          <a:bodyPr vert="horz" lIns="82296" tIns="41148" rIns="82296" bIns="41148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 defTabSz="822960">
              <a:spcBef>
                <a:spcPts val="900"/>
              </a:spcBef>
            </a:pPr>
            <a:r>
              <a:rPr lang="en-IN" sz="2160" b="1" u="sng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Project Supervisor:</a:t>
            </a:r>
          </a:p>
          <a:p>
            <a:pPr algn="just" defTabSz="822960">
              <a:spcBef>
                <a:spcPts val="900"/>
              </a:spcBef>
            </a:pPr>
            <a:r>
              <a:rPr lang="en-IN" sz="216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Mrs. Komal </a:t>
            </a:r>
            <a:r>
              <a:rPr lang="en-IN" sz="2160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Salgotra</a:t>
            </a:r>
            <a:endParaRPr lang="en-IN" sz="216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 defTabSz="822960">
              <a:spcBef>
                <a:spcPts val="900"/>
              </a:spcBef>
            </a:pPr>
            <a:endParaRPr lang="en-IN" sz="2160" b="1" u="sng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9A50B94-DBEB-9815-4684-223EC27F9F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79117"/>
            <a:ext cx="10972800" cy="1246042"/>
          </a:xfrm>
          <a:prstGeom prst="rect">
            <a:avLst/>
          </a:prstGeom>
        </p:spPr>
      </p:pic>
      <p:sp>
        <p:nvSpPr>
          <p:cNvPr id="6" name="Subtitle 2">
            <a:extLst>
              <a:ext uri="{FF2B5EF4-FFF2-40B4-BE49-F238E27FC236}">
                <a16:creationId xmlns:a16="http://schemas.microsoft.com/office/drawing/2014/main" id="{FA08CDA2-AA7D-B2B5-1576-FE58A4BF32BC}"/>
              </a:ext>
            </a:extLst>
          </p:cNvPr>
          <p:cNvSpPr txBox="1">
            <a:spLocks/>
          </p:cNvSpPr>
          <p:nvPr/>
        </p:nvSpPr>
        <p:spPr>
          <a:xfrm>
            <a:off x="1979233" y="5303592"/>
            <a:ext cx="6911095" cy="1760155"/>
          </a:xfrm>
          <a:prstGeom prst="rect">
            <a:avLst/>
          </a:prstGeom>
        </p:spPr>
        <p:txBody>
          <a:bodyPr vert="horz" lIns="82296" tIns="41148" rIns="82296" bIns="41148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 defTabSz="822960">
              <a:spcBef>
                <a:spcPts val="900"/>
              </a:spcBef>
            </a:pPr>
            <a:r>
              <a:rPr lang="en-IN" sz="2160" b="1" u="sng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Submitted By:</a:t>
            </a:r>
          </a:p>
          <a:p>
            <a:pPr algn="l" defTabSz="822960">
              <a:lnSpc>
                <a:spcPct val="120000"/>
              </a:lnSpc>
              <a:spcBef>
                <a:spcPts val="900"/>
              </a:spcBef>
              <a:spcAft>
                <a:spcPts val="900"/>
              </a:spcAft>
            </a:pPr>
            <a:endParaRPr lang="en-US" sz="1620" dirty="0">
              <a:solidFill>
                <a:prstClr val="black"/>
              </a:solidFill>
              <a:latin typeface="Times New Roman" panose="02020603050405020304" pitchFamily="18" charset="0"/>
              <a:ea typeface="MS Mincho" panose="02020609040205080304" pitchFamily="49" charset="-128"/>
              <a:cs typeface="Mangal" panose="02040503050203030202" pitchFamily="18" charset="0"/>
            </a:endParaRPr>
          </a:p>
          <a:p>
            <a:pPr algn="l" defTabSz="822960">
              <a:lnSpc>
                <a:spcPct val="120000"/>
              </a:lnSpc>
              <a:spcBef>
                <a:spcPts val="900"/>
              </a:spcBef>
              <a:spcAft>
                <a:spcPts val="900"/>
              </a:spcAft>
            </a:pPr>
            <a:endParaRPr lang="en-IN" sz="216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 defTabSz="822960">
              <a:spcBef>
                <a:spcPts val="900"/>
              </a:spcBef>
            </a:pPr>
            <a:endParaRPr lang="en-IN" sz="2160" b="1" u="sng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AA7AF96-8101-2C9A-7285-F948A676D7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79233" y="5794863"/>
            <a:ext cx="5161366" cy="11831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56746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93790" y="2382560"/>
            <a:ext cx="7556421" cy="1417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Predicting Heart Disease with AI</a:t>
            </a:r>
            <a:endParaRPr lang="en-US" sz="4450" dirty="0"/>
          </a:p>
        </p:txBody>
      </p:sp>
      <p:sp>
        <p:nvSpPr>
          <p:cNvPr id="4" name="Text 1"/>
          <p:cNvSpPr/>
          <p:nvPr/>
        </p:nvSpPr>
        <p:spPr>
          <a:xfrm>
            <a:off x="793790" y="4140279"/>
            <a:ext cx="7556421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Revolutionizing healthcare with machine learning models to predict heart disease early. This project leverages Random Forest and Artificial Neural Networks for impactful diagnosis.</a:t>
            </a:r>
            <a:endParaRPr lang="en-US" sz="1750" dirty="0"/>
          </a:p>
        </p:txBody>
      </p:sp>
      <p:sp>
        <p:nvSpPr>
          <p:cNvPr id="5" name="Text 2"/>
          <p:cNvSpPr/>
          <p:nvPr/>
        </p:nvSpPr>
        <p:spPr>
          <a:xfrm>
            <a:off x="793790" y="5484138"/>
            <a:ext cx="75564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Presented by [Your Name], [Your Affiliation/Title].</a:t>
            </a:r>
            <a:endParaRPr lang="en-US" sz="1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199942" y="957501"/>
            <a:ext cx="7379851" cy="6371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000"/>
              </a:lnSpc>
              <a:buNone/>
            </a:pPr>
            <a:r>
              <a:rPr lang="en-US" sz="40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The Challenge: Heart Disease</a:t>
            </a:r>
            <a:endParaRPr lang="en-US" sz="4000" dirty="0"/>
          </a:p>
        </p:txBody>
      </p:sp>
      <p:sp>
        <p:nvSpPr>
          <p:cNvPr id="4" name="Shape 1"/>
          <p:cNvSpPr/>
          <p:nvPr/>
        </p:nvSpPr>
        <p:spPr>
          <a:xfrm>
            <a:off x="6199942" y="1900357"/>
            <a:ext cx="7716917" cy="1190030"/>
          </a:xfrm>
          <a:prstGeom prst="roundRect">
            <a:avLst>
              <a:gd name="adj" fmla="val 7196"/>
            </a:avLst>
          </a:prstGeom>
          <a:solidFill>
            <a:srgbClr val="DADBF1"/>
          </a:solidFill>
          <a:ln w="7620">
            <a:solidFill>
              <a:srgbClr val="C0C1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Text 2"/>
          <p:cNvSpPr/>
          <p:nvPr/>
        </p:nvSpPr>
        <p:spPr>
          <a:xfrm>
            <a:off x="6411397" y="2111812"/>
            <a:ext cx="2548652" cy="3186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Global Impact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6411397" y="2552700"/>
            <a:ext cx="7294007" cy="3262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16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Leading cause of death globally, approx. 17.9 million deaths yearly.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6199942" y="3294221"/>
            <a:ext cx="7716917" cy="1190030"/>
          </a:xfrm>
          <a:prstGeom prst="roundRect">
            <a:avLst>
              <a:gd name="adj" fmla="val 7196"/>
            </a:avLst>
          </a:prstGeom>
          <a:solidFill>
            <a:srgbClr val="DADBF1"/>
          </a:solidFill>
          <a:ln w="7620">
            <a:solidFill>
              <a:srgbClr val="C0C1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5"/>
          <p:cNvSpPr/>
          <p:nvPr/>
        </p:nvSpPr>
        <p:spPr>
          <a:xfrm>
            <a:off x="6411397" y="3505676"/>
            <a:ext cx="2698433" cy="3186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Detection Importance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6411397" y="3946565"/>
            <a:ext cx="7294007" cy="3262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16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Early detection is key to effective treatment and prevention.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6199942" y="4688086"/>
            <a:ext cx="7716917" cy="1190030"/>
          </a:xfrm>
          <a:prstGeom prst="roundRect">
            <a:avLst>
              <a:gd name="adj" fmla="val 7196"/>
            </a:avLst>
          </a:prstGeom>
          <a:solidFill>
            <a:srgbClr val="DADBF1"/>
          </a:solidFill>
          <a:ln w="7620">
            <a:solidFill>
              <a:srgbClr val="C0C1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8"/>
          <p:cNvSpPr/>
          <p:nvPr/>
        </p:nvSpPr>
        <p:spPr>
          <a:xfrm>
            <a:off x="6411397" y="4899541"/>
            <a:ext cx="2548652" cy="3186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Limitations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6411397" y="5340429"/>
            <a:ext cx="7294007" cy="3262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16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Traditional diagnostics can be slow and sometimes inaccurate.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6199942" y="6081951"/>
            <a:ext cx="7716917" cy="1190030"/>
          </a:xfrm>
          <a:prstGeom prst="roundRect">
            <a:avLst>
              <a:gd name="adj" fmla="val 7196"/>
            </a:avLst>
          </a:prstGeom>
          <a:solidFill>
            <a:srgbClr val="DADBF1"/>
          </a:solidFill>
          <a:ln w="7620">
            <a:solidFill>
              <a:srgbClr val="C0C1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1"/>
          <p:cNvSpPr/>
          <p:nvPr/>
        </p:nvSpPr>
        <p:spPr>
          <a:xfrm>
            <a:off x="6411397" y="6293406"/>
            <a:ext cx="2548652" cy="3186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Opportunity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6411397" y="6734294"/>
            <a:ext cx="7294007" cy="3262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16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offers faster, more precise prediction methods for heart disease.</a:t>
            </a:r>
            <a:endParaRPr lang="en-US" sz="16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B3DC98A-F779-6367-416E-902D7CA59458}"/>
              </a:ext>
            </a:extLst>
          </p:cNvPr>
          <p:cNvSpPr txBox="1"/>
          <p:nvPr/>
        </p:nvSpPr>
        <p:spPr>
          <a:xfrm>
            <a:off x="12790583" y="7777908"/>
            <a:ext cx="1740665" cy="37457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en-IN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2362795"/>
            <a:ext cx="9171384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Our Approach: Machine Learning</a:t>
            </a:r>
            <a:endParaRPr lang="en-US" sz="4450" dirty="0"/>
          </a:p>
        </p:txBody>
      </p:sp>
      <p:sp>
        <p:nvSpPr>
          <p:cNvPr id="3" name="Text 1"/>
          <p:cNvSpPr/>
          <p:nvPr/>
        </p:nvSpPr>
        <p:spPr>
          <a:xfrm>
            <a:off x="793790" y="3638550"/>
            <a:ext cx="2845594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Supervised Learning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93790" y="4574024"/>
            <a:ext cx="2845594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Models trained on labeled patient data to predict outcomes.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4200406" y="3638550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Feature Selection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200406" y="4219694"/>
            <a:ext cx="2845594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Focus on key risk factors influencing heart disease prediction.</a:t>
            </a:r>
            <a:endParaRPr lang="en-US" sz="1750" dirty="0"/>
          </a:p>
        </p:txBody>
      </p:sp>
      <p:sp>
        <p:nvSpPr>
          <p:cNvPr id="7" name="Text 5"/>
          <p:cNvSpPr/>
          <p:nvPr/>
        </p:nvSpPr>
        <p:spPr>
          <a:xfrm>
            <a:off x="7607022" y="3638550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Algorithms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7607022" y="4219694"/>
            <a:ext cx="2845594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Random Forest</a:t>
            </a:r>
            <a:endParaRPr lang="en-US" sz="1750" dirty="0"/>
          </a:p>
        </p:txBody>
      </p:sp>
      <p:sp>
        <p:nvSpPr>
          <p:cNvPr id="9" name="Text 7"/>
          <p:cNvSpPr/>
          <p:nvPr/>
        </p:nvSpPr>
        <p:spPr>
          <a:xfrm>
            <a:off x="7607022" y="4661892"/>
            <a:ext cx="2845594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Artificial Neural Networks (ANNs)</a:t>
            </a:r>
            <a:endParaRPr lang="en-US" sz="1750" dirty="0"/>
          </a:p>
        </p:txBody>
      </p:sp>
      <p:sp>
        <p:nvSpPr>
          <p:cNvPr id="10" name="Text 8"/>
          <p:cNvSpPr/>
          <p:nvPr/>
        </p:nvSpPr>
        <p:spPr>
          <a:xfrm>
            <a:off x="11013638" y="3638550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Goal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1013638" y="4219694"/>
            <a:ext cx="2845594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Create an accurate, reliable predictive model.</a:t>
            </a:r>
            <a:endParaRPr lang="en-US" sz="175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CB63E9C-95AC-CD2C-F390-32261C68D7CD}"/>
              </a:ext>
            </a:extLst>
          </p:cNvPr>
          <p:cNvSpPr txBox="1"/>
          <p:nvPr/>
        </p:nvSpPr>
        <p:spPr>
          <a:xfrm>
            <a:off x="12834651" y="7634689"/>
            <a:ext cx="1696597" cy="59491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en-IN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3073" y="1127879"/>
            <a:ext cx="7406402" cy="6902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400"/>
              </a:lnSpc>
              <a:buNone/>
            </a:pPr>
            <a:r>
              <a:rPr lang="en-US" sz="43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Algorithm 1: Random Forest</a:t>
            </a:r>
            <a:endParaRPr lang="en-US" sz="4300" dirty="0"/>
          </a:p>
        </p:txBody>
      </p:sp>
      <p:sp>
        <p:nvSpPr>
          <p:cNvPr id="4" name="Shape 1"/>
          <p:cNvSpPr/>
          <p:nvPr/>
        </p:nvSpPr>
        <p:spPr>
          <a:xfrm>
            <a:off x="773073" y="2149316"/>
            <a:ext cx="496967" cy="496967"/>
          </a:xfrm>
          <a:prstGeom prst="roundRect">
            <a:avLst>
              <a:gd name="adj" fmla="val 18669"/>
            </a:avLst>
          </a:prstGeom>
          <a:solidFill>
            <a:srgbClr val="DADBF1"/>
          </a:solidFill>
          <a:ln w="7620">
            <a:solidFill>
              <a:srgbClr val="C0C1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Text 2"/>
          <p:cNvSpPr/>
          <p:nvPr/>
        </p:nvSpPr>
        <p:spPr>
          <a:xfrm>
            <a:off x="1490901" y="2225159"/>
            <a:ext cx="2761178" cy="3450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1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Ensemble Learning</a:t>
            </a:r>
            <a:endParaRPr lang="en-US" sz="2150" dirty="0"/>
          </a:p>
        </p:txBody>
      </p:sp>
      <p:sp>
        <p:nvSpPr>
          <p:cNvPr id="6" name="Text 3"/>
          <p:cNvSpPr/>
          <p:nvPr/>
        </p:nvSpPr>
        <p:spPr>
          <a:xfrm>
            <a:off x="1490901" y="2702719"/>
            <a:ext cx="6880027" cy="353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17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Combines multiple decision trees for robust predictions.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773073" y="3497818"/>
            <a:ext cx="496967" cy="496967"/>
          </a:xfrm>
          <a:prstGeom prst="roundRect">
            <a:avLst>
              <a:gd name="adj" fmla="val 18669"/>
            </a:avLst>
          </a:prstGeom>
          <a:solidFill>
            <a:srgbClr val="DADBF1"/>
          </a:solidFill>
          <a:ln w="7620">
            <a:solidFill>
              <a:srgbClr val="C0C1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5"/>
          <p:cNvSpPr/>
          <p:nvPr/>
        </p:nvSpPr>
        <p:spPr>
          <a:xfrm>
            <a:off x="1490901" y="3573661"/>
            <a:ext cx="2789515" cy="3450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1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Overfitting Resistant</a:t>
            </a:r>
            <a:endParaRPr lang="en-US" sz="2150" dirty="0"/>
          </a:p>
        </p:txBody>
      </p:sp>
      <p:sp>
        <p:nvSpPr>
          <p:cNvPr id="9" name="Text 6"/>
          <p:cNvSpPr/>
          <p:nvPr/>
        </p:nvSpPr>
        <p:spPr>
          <a:xfrm>
            <a:off x="1490901" y="4051221"/>
            <a:ext cx="6880027" cy="353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17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Maintains high accuracy with strong generalization to new data.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773073" y="4846320"/>
            <a:ext cx="496967" cy="496967"/>
          </a:xfrm>
          <a:prstGeom prst="roundRect">
            <a:avLst>
              <a:gd name="adj" fmla="val 18669"/>
            </a:avLst>
          </a:prstGeom>
          <a:solidFill>
            <a:srgbClr val="DADBF1"/>
          </a:solidFill>
          <a:ln w="7620">
            <a:solidFill>
              <a:srgbClr val="C0C1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8"/>
          <p:cNvSpPr/>
          <p:nvPr/>
        </p:nvSpPr>
        <p:spPr>
          <a:xfrm>
            <a:off x="1490901" y="4922163"/>
            <a:ext cx="2761178" cy="3450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1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Feature Importance</a:t>
            </a:r>
            <a:endParaRPr lang="en-US" sz="2150" dirty="0"/>
          </a:p>
        </p:txBody>
      </p:sp>
      <p:sp>
        <p:nvSpPr>
          <p:cNvPr id="12" name="Text 9"/>
          <p:cNvSpPr/>
          <p:nvPr/>
        </p:nvSpPr>
        <p:spPr>
          <a:xfrm>
            <a:off x="1490901" y="5399723"/>
            <a:ext cx="6880027" cy="353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17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Identifies key factors affecting heart disease risk.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773073" y="6194822"/>
            <a:ext cx="496967" cy="496967"/>
          </a:xfrm>
          <a:prstGeom prst="roundRect">
            <a:avLst>
              <a:gd name="adj" fmla="val 18669"/>
            </a:avLst>
          </a:prstGeom>
          <a:solidFill>
            <a:srgbClr val="DADBF1"/>
          </a:solidFill>
          <a:ln w="7620">
            <a:solidFill>
              <a:srgbClr val="C0C1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1"/>
          <p:cNvSpPr/>
          <p:nvPr/>
        </p:nvSpPr>
        <p:spPr>
          <a:xfrm>
            <a:off x="1490901" y="6270665"/>
            <a:ext cx="2761178" cy="3450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1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Example Metric</a:t>
            </a:r>
            <a:endParaRPr lang="en-US" sz="2150" dirty="0"/>
          </a:p>
        </p:txBody>
      </p:sp>
      <p:sp>
        <p:nvSpPr>
          <p:cNvPr id="15" name="Text 12"/>
          <p:cNvSpPr/>
          <p:nvPr/>
        </p:nvSpPr>
        <p:spPr>
          <a:xfrm>
            <a:off x="1490901" y="6748224"/>
            <a:ext cx="6880027" cy="353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17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Mean Decrease in Gini Coefficient measures feature influence.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2362795"/>
            <a:ext cx="12598598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Algorithm 2: Artificial Neural Networks (ANN)</a:t>
            </a:r>
            <a:endParaRPr lang="en-US" sz="4450" dirty="0"/>
          </a:p>
        </p:txBody>
      </p:sp>
      <p:sp>
        <p:nvSpPr>
          <p:cNvPr id="3" name="Text 1"/>
          <p:cNvSpPr/>
          <p:nvPr/>
        </p:nvSpPr>
        <p:spPr>
          <a:xfrm>
            <a:off x="793790" y="3638550"/>
            <a:ext cx="2845594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Brain-Inspired Model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93790" y="4574024"/>
            <a:ext cx="2845594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Interconnected nodes simulate how neurons process information.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4200406" y="3638550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Deep Learning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200406" y="4219694"/>
            <a:ext cx="2845594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Multiple layers capture complex patterns in data.</a:t>
            </a:r>
            <a:endParaRPr lang="en-US" sz="1750" dirty="0"/>
          </a:p>
        </p:txBody>
      </p:sp>
      <p:sp>
        <p:nvSpPr>
          <p:cNvPr id="7" name="Text 5"/>
          <p:cNvSpPr/>
          <p:nvPr/>
        </p:nvSpPr>
        <p:spPr>
          <a:xfrm>
            <a:off x="7607022" y="3638550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Feature Learning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7607022" y="4219694"/>
            <a:ext cx="2845594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Automatically discovers hidden relationships in features.</a:t>
            </a:r>
            <a:endParaRPr lang="en-US" sz="1750" dirty="0"/>
          </a:p>
        </p:txBody>
      </p:sp>
      <p:sp>
        <p:nvSpPr>
          <p:cNvPr id="9" name="Text 7"/>
          <p:cNvSpPr/>
          <p:nvPr/>
        </p:nvSpPr>
        <p:spPr>
          <a:xfrm>
            <a:off x="11013638" y="3638550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Activations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1013638" y="4219694"/>
            <a:ext cx="2845594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Uses ReLU and Sigmoid functions for non-linear transformations.</a:t>
            </a:r>
            <a:endParaRPr lang="en-US" sz="175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D9C4028-D814-7247-EFCA-94AA6B536660}"/>
              </a:ext>
            </a:extLst>
          </p:cNvPr>
          <p:cNvSpPr txBox="1"/>
          <p:nvPr/>
        </p:nvSpPr>
        <p:spPr>
          <a:xfrm>
            <a:off x="12779566" y="7711807"/>
            <a:ext cx="1850834" cy="517793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en-IN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172795" y="694611"/>
            <a:ext cx="4902994" cy="6128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800"/>
              </a:lnSpc>
              <a:buNone/>
            </a:pPr>
            <a:r>
              <a:rPr lang="en-US" sz="385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Data and Features</a:t>
            </a:r>
            <a:endParaRPr lang="en-US" sz="3850" dirty="0"/>
          </a:p>
        </p:txBody>
      </p:sp>
      <p:sp>
        <p:nvSpPr>
          <p:cNvPr id="4" name="Shape 1"/>
          <p:cNvSpPr/>
          <p:nvPr/>
        </p:nvSpPr>
        <p:spPr>
          <a:xfrm>
            <a:off x="6172795" y="1601510"/>
            <a:ext cx="7771209" cy="1145143"/>
          </a:xfrm>
          <a:prstGeom prst="roundRect">
            <a:avLst>
              <a:gd name="adj" fmla="val 7193"/>
            </a:avLst>
          </a:prstGeom>
          <a:solidFill>
            <a:srgbClr val="DADBF1"/>
          </a:solidFill>
          <a:ln w="7620">
            <a:solidFill>
              <a:srgbClr val="C0C1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Text 2"/>
          <p:cNvSpPr/>
          <p:nvPr/>
        </p:nvSpPr>
        <p:spPr>
          <a:xfrm>
            <a:off x="6376511" y="1805226"/>
            <a:ext cx="2451497" cy="3063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0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Dataset</a:t>
            </a:r>
            <a:endParaRPr lang="en-US" sz="1900" dirty="0"/>
          </a:p>
        </p:txBody>
      </p:sp>
      <p:sp>
        <p:nvSpPr>
          <p:cNvPr id="6" name="Text 3"/>
          <p:cNvSpPr/>
          <p:nvPr/>
        </p:nvSpPr>
        <p:spPr>
          <a:xfrm>
            <a:off x="6376511" y="2229207"/>
            <a:ext cx="7363778" cy="3137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r>
              <a:rPr lang="en-US" sz="15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Utilizes Kaggle Heart Disease Dataset with comprehensive patient records.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172795" y="2942749"/>
            <a:ext cx="7771209" cy="1145143"/>
          </a:xfrm>
          <a:prstGeom prst="roundRect">
            <a:avLst>
              <a:gd name="adj" fmla="val 7193"/>
            </a:avLst>
          </a:prstGeom>
          <a:solidFill>
            <a:srgbClr val="DADBF1"/>
          </a:solidFill>
          <a:ln w="7620">
            <a:solidFill>
              <a:srgbClr val="C0C1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5"/>
          <p:cNvSpPr/>
          <p:nvPr/>
        </p:nvSpPr>
        <p:spPr>
          <a:xfrm>
            <a:off x="6376511" y="3146465"/>
            <a:ext cx="2451497" cy="3063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0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Dataset Size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6376511" y="3570446"/>
            <a:ext cx="7363778" cy="3137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r>
              <a:rPr lang="en-US" sz="15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Over 1,000 patients with 13+ clinical features each.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6172795" y="4283988"/>
            <a:ext cx="7771209" cy="1909763"/>
          </a:xfrm>
          <a:prstGeom prst="roundRect">
            <a:avLst>
              <a:gd name="adj" fmla="val 4313"/>
            </a:avLst>
          </a:prstGeom>
          <a:solidFill>
            <a:srgbClr val="DADBF1"/>
          </a:solidFill>
          <a:ln w="7620">
            <a:solidFill>
              <a:srgbClr val="C0C1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8"/>
          <p:cNvSpPr/>
          <p:nvPr/>
        </p:nvSpPr>
        <p:spPr>
          <a:xfrm>
            <a:off x="6376511" y="4487704"/>
            <a:ext cx="2451497" cy="3063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0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Key Features</a:t>
            </a:r>
            <a:endParaRPr lang="en-US" sz="1900" dirty="0"/>
          </a:p>
        </p:txBody>
      </p:sp>
      <p:sp>
        <p:nvSpPr>
          <p:cNvPr id="12" name="Text 9"/>
          <p:cNvSpPr/>
          <p:nvPr/>
        </p:nvSpPr>
        <p:spPr>
          <a:xfrm>
            <a:off x="6376511" y="4911685"/>
            <a:ext cx="7363778" cy="3137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450"/>
              </a:lnSpc>
              <a:buSzPct val="100000"/>
              <a:buChar char="•"/>
            </a:pPr>
            <a:r>
              <a:rPr lang="en-US" sz="15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Age, Sex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6376511" y="5293995"/>
            <a:ext cx="7363778" cy="3137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450"/>
              </a:lnSpc>
              <a:buSzPct val="100000"/>
              <a:buChar char="•"/>
            </a:pPr>
            <a:r>
              <a:rPr lang="en-US" sz="15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Cholesterol, Blood Pressure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6376511" y="5676305"/>
            <a:ext cx="7363778" cy="3137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450"/>
              </a:lnSpc>
              <a:buSzPct val="100000"/>
              <a:buChar char="•"/>
            </a:pPr>
            <a:r>
              <a:rPr lang="en-US" sz="15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ECG results and other factors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172795" y="6389846"/>
            <a:ext cx="7771209" cy="1145143"/>
          </a:xfrm>
          <a:prstGeom prst="roundRect">
            <a:avLst>
              <a:gd name="adj" fmla="val 7193"/>
            </a:avLst>
          </a:prstGeom>
          <a:solidFill>
            <a:srgbClr val="DADBF1"/>
          </a:solidFill>
          <a:ln w="7620">
            <a:solidFill>
              <a:srgbClr val="C0C1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3"/>
          <p:cNvSpPr/>
          <p:nvPr/>
        </p:nvSpPr>
        <p:spPr>
          <a:xfrm>
            <a:off x="6376511" y="6593562"/>
            <a:ext cx="2451497" cy="3063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0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Preprocessing</a:t>
            </a:r>
            <a:endParaRPr lang="en-US" sz="1900" dirty="0"/>
          </a:p>
        </p:txBody>
      </p:sp>
      <p:sp>
        <p:nvSpPr>
          <p:cNvPr id="17" name="Text 14"/>
          <p:cNvSpPr/>
          <p:nvPr/>
        </p:nvSpPr>
        <p:spPr>
          <a:xfrm>
            <a:off x="6376511" y="7017544"/>
            <a:ext cx="7363778" cy="3137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r>
              <a:rPr lang="en-US" sz="15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cleaning and normalization to improve model quality.</a:t>
            </a:r>
            <a:endParaRPr lang="en-US" sz="15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170E452-C56B-7CA9-4703-870F2DAABB23}"/>
              </a:ext>
            </a:extLst>
          </p:cNvPr>
          <p:cNvSpPr txBox="1"/>
          <p:nvPr/>
        </p:nvSpPr>
        <p:spPr>
          <a:xfrm>
            <a:off x="12779566" y="7711807"/>
            <a:ext cx="1850834" cy="517793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en-IN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2301954"/>
            <a:ext cx="6974324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Results and Performance</a:t>
            </a:r>
            <a:endParaRPr lang="en-US" sz="4450" dirty="0"/>
          </a:p>
        </p:txBody>
      </p:sp>
      <p:sp>
        <p:nvSpPr>
          <p:cNvPr id="3" name="Text 1"/>
          <p:cNvSpPr/>
          <p:nvPr/>
        </p:nvSpPr>
        <p:spPr>
          <a:xfrm>
            <a:off x="793790" y="3577709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Evaluation Metrics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93790" y="4158853"/>
            <a:ext cx="2845594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Accuracy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793790" y="4601051"/>
            <a:ext cx="2845594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Precision</a:t>
            </a:r>
            <a:endParaRPr lang="en-US" sz="1750" dirty="0"/>
          </a:p>
        </p:txBody>
      </p:sp>
      <p:sp>
        <p:nvSpPr>
          <p:cNvPr id="6" name="Text 4"/>
          <p:cNvSpPr/>
          <p:nvPr/>
        </p:nvSpPr>
        <p:spPr>
          <a:xfrm>
            <a:off x="793790" y="5043249"/>
            <a:ext cx="2845594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Recall</a:t>
            </a:r>
            <a:endParaRPr lang="en-US" sz="1750" dirty="0"/>
          </a:p>
        </p:txBody>
      </p:sp>
      <p:sp>
        <p:nvSpPr>
          <p:cNvPr id="7" name="Text 5"/>
          <p:cNvSpPr/>
          <p:nvPr/>
        </p:nvSpPr>
        <p:spPr>
          <a:xfrm>
            <a:off x="793790" y="5485448"/>
            <a:ext cx="2845594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F1-Score, AUC-ROC</a:t>
            </a:r>
            <a:endParaRPr lang="en-US" sz="1750" dirty="0"/>
          </a:p>
        </p:txBody>
      </p:sp>
      <p:sp>
        <p:nvSpPr>
          <p:cNvPr id="8" name="Text 6"/>
          <p:cNvSpPr/>
          <p:nvPr/>
        </p:nvSpPr>
        <p:spPr>
          <a:xfrm>
            <a:off x="4200406" y="3577709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Random Forest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200406" y="4158853"/>
            <a:ext cx="2845594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Achieved 85% accuracy on test data.</a:t>
            </a:r>
            <a:endParaRPr lang="en-US" sz="1750" dirty="0"/>
          </a:p>
        </p:txBody>
      </p:sp>
      <p:sp>
        <p:nvSpPr>
          <p:cNvPr id="10" name="Text 8"/>
          <p:cNvSpPr/>
          <p:nvPr/>
        </p:nvSpPr>
        <p:spPr>
          <a:xfrm>
            <a:off x="7607022" y="3577709"/>
            <a:ext cx="2845594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Artificial Neural Networks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7607022" y="4513183"/>
            <a:ext cx="2845594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Outperformed with 89% accuracy.</a:t>
            </a:r>
            <a:endParaRPr lang="en-US" sz="1750" dirty="0"/>
          </a:p>
        </p:txBody>
      </p:sp>
      <p:sp>
        <p:nvSpPr>
          <p:cNvPr id="12" name="Text 10"/>
          <p:cNvSpPr/>
          <p:nvPr/>
        </p:nvSpPr>
        <p:spPr>
          <a:xfrm>
            <a:off x="11013638" y="3577709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Comparison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11013638" y="4158853"/>
            <a:ext cx="2845594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ANN beat Random Forest by 4%, showing better pattern learning.</a:t>
            </a:r>
            <a:endParaRPr lang="en-US" sz="175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0369101-75C3-2382-B62A-8339318D3D5D}"/>
              </a:ext>
            </a:extLst>
          </p:cNvPr>
          <p:cNvSpPr txBox="1"/>
          <p:nvPr/>
        </p:nvSpPr>
        <p:spPr>
          <a:xfrm>
            <a:off x="12779566" y="7711807"/>
            <a:ext cx="1850834" cy="517793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en-IN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206966" y="705922"/>
            <a:ext cx="7702868" cy="1287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050"/>
              </a:lnSpc>
              <a:buNone/>
            </a:pPr>
            <a:r>
              <a:rPr lang="en-US" sz="405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Conclusion and Future Directions</a:t>
            </a:r>
            <a:endParaRPr lang="en-US" sz="4050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06966" y="2301835"/>
            <a:ext cx="1029533" cy="1235393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7545348" y="2507694"/>
            <a:ext cx="2573774" cy="3217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Conclusion</a:t>
            </a:r>
            <a:endParaRPr lang="en-US" sz="2000" dirty="0"/>
          </a:p>
        </p:txBody>
      </p:sp>
      <p:sp>
        <p:nvSpPr>
          <p:cNvPr id="6" name="Text 2"/>
          <p:cNvSpPr/>
          <p:nvPr/>
        </p:nvSpPr>
        <p:spPr>
          <a:xfrm>
            <a:off x="7545348" y="2952869"/>
            <a:ext cx="6364486" cy="3293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16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significantly boosts early heart disease diagnosis accuracy.</a:t>
            </a:r>
            <a:endParaRPr lang="en-US" sz="1600" dirty="0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06966" y="3537228"/>
            <a:ext cx="1029533" cy="1235393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7545348" y="3743087"/>
            <a:ext cx="2573774" cy="3217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Next Steps</a:t>
            </a:r>
            <a:endParaRPr lang="en-US" sz="2000" dirty="0"/>
          </a:p>
        </p:txBody>
      </p:sp>
      <p:sp>
        <p:nvSpPr>
          <p:cNvPr id="9" name="Text 4"/>
          <p:cNvSpPr/>
          <p:nvPr/>
        </p:nvSpPr>
        <p:spPr>
          <a:xfrm>
            <a:off x="7545348" y="4188262"/>
            <a:ext cx="6364486" cy="3293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16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Deploy models in clinical settings and collect real-time feedback.</a:t>
            </a:r>
            <a:endParaRPr lang="en-US" sz="1600" dirty="0"/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06966" y="4772620"/>
            <a:ext cx="1029533" cy="1235393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7545348" y="4978479"/>
            <a:ext cx="2573774" cy="3217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Further Research</a:t>
            </a:r>
            <a:endParaRPr lang="en-US" sz="2000" dirty="0"/>
          </a:p>
        </p:txBody>
      </p:sp>
      <p:sp>
        <p:nvSpPr>
          <p:cNvPr id="12" name="Text 6"/>
          <p:cNvSpPr/>
          <p:nvPr/>
        </p:nvSpPr>
        <p:spPr>
          <a:xfrm>
            <a:off x="7545348" y="5423654"/>
            <a:ext cx="6364486" cy="3293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16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Expand datasets and explore advanced ML techniques.</a:t>
            </a:r>
            <a:endParaRPr lang="en-US" sz="1600" dirty="0"/>
          </a:p>
        </p:txBody>
      </p:sp>
      <p:pic>
        <p:nvPicPr>
          <p:cNvPr id="1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06966" y="6008013"/>
            <a:ext cx="1029533" cy="1515547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7545348" y="6213872"/>
            <a:ext cx="2573774" cy="3217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Ultimate Goal</a:t>
            </a:r>
            <a:endParaRPr lang="en-US" sz="2000" dirty="0"/>
          </a:p>
        </p:txBody>
      </p:sp>
      <p:sp>
        <p:nvSpPr>
          <p:cNvPr id="15" name="Text 8"/>
          <p:cNvSpPr/>
          <p:nvPr/>
        </p:nvSpPr>
        <p:spPr>
          <a:xfrm>
            <a:off x="7545348" y="6659047"/>
            <a:ext cx="6364486" cy="6586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16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Save lives through fast, accurate, AI-enabled heart disease detection.</a:t>
            </a:r>
            <a:endParaRPr lang="en-US" sz="16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E4D432B-737A-51C1-2B5F-66B301CA4001}"/>
              </a:ext>
            </a:extLst>
          </p:cNvPr>
          <p:cNvSpPr txBox="1"/>
          <p:nvPr/>
        </p:nvSpPr>
        <p:spPr>
          <a:xfrm>
            <a:off x="12779566" y="7711807"/>
            <a:ext cx="1850834" cy="517793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en-IN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444</Words>
  <Application>Microsoft Office PowerPoint</Application>
  <PresentationFormat>Custom</PresentationFormat>
  <Paragraphs>88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Arial</vt:lpstr>
      <vt:lpstr>Inter</vt:lpstr>
      <vt:lpstr>Inter Bold</vt:lpstr>
      <vt:lpstr>Times New Roman</vt:lpstr>
      <vt:lpstr>Office Theme</vt:lpstr>
      <vt:lpstr>AI-I (AI101B) Even Semester Session 2024-25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SAURABH KUMAR SINGH</cp:lastModifiedBy>
  <cp:revision>2</cp:revision>
  <dcterms:created xsi:type="dcterms:W3CDTF">2025-05-27T08:11:23Z</dcterms:created>
  <dcterms:modified xsi:type="dcterms:W3CDTF">2025-05-27T08:16:54Z</dcterms:modified>
</cp:coreProperties>
</file>