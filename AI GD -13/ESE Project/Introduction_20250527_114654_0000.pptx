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alibri" pitchFamily="34" charset="0"/>
      <p:regular r:id="rId15"/>
      <p:bold r:id="rId16"/>
      <p:italic r:id="rId17"/>
      <p:boldItalic r:id="rId18"/>
    </p:embeddedFont>
    <p:embeddedFont>
      <p:font typeface="Canva Sans" charset="0"/>
      <p:regular r:id="rId19"/>
    </p:embeddedFont>
    <p:embeddedFont>
      <p:font typeface="Canva Sans Bold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8" d="100"/>
          <a:sy n="58" d="100"/>
        </p:scale>
        <p:origin x="-466" y="-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92588" y="557515"/>
            <a:ext cx="13502823" cy="9171969"/>
          </a:xfrm>
          <a:custGeom>
            <a:avLst/>
            <a:gdLst/>
            <a:ahLst/>
            <a:cxnLst/>
            <a:rect l="l" t="t" r="r" b="b"/>
            <a:pathLst>
              <a:path w="13502823" h="9171969">
                <a:moveTo>
                  <a:pt x="0" y="0"/>
                </a:moveTo>
                <a:lnTo>
                  <a:pt x="13502824" y="0"/>
                </a:lnTo>
                <a:lnTo>
                  <a:pt x="13502824" y="9171970"/>
                </a:lnTo>
                <a:lnTo>
                  <a:pt x="0" y="9171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33" r="-4133" b="-1874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060512" y="3656517"/>
            <a:ext cx="4274462" cy="2081162"/>
            <a:chOff x="0" y="0"/>
            <a:chExt cx="1125784" cy="5481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25784" cy="548125"/>
            </a:xfrm>
            <a:custGeom>
              <a:avLst/>
              <a:gdLst/>
              <a:ahLst/>
              <a:cxnLst/>
              <a:rect l="l" t="t" r="r" b="b"/>
              <a:pathLst>
                <a:path w="1125784" h="548125">
                  <a:moveTo>
                    <a:pt x="0" y="0"/>
                  </a:moveTo>
                  <a:lnTo>
                    <a:pt x="1125784" y="0"/>
                  </a:lnTo>
                  <a:lnTo>
                    <a:pt x="1125784" y="548125"/>
                  </a:lnTo>
                  <a:lnTo>
                    <a:pt x="0" y="5481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25784" cy="586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713778" y="3589842"/>
            <a:ext cx="10967929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"E-commerce Product Recommendation System"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67546" y="4612640"/>
            <a:ext cx="566039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 to AI (AI101B)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76158" y="-617815"/>
            <a:ext cx="20240315" cy="1996791"/>
            <a:chOff x="0" y="0"/>
            <a:chExt cx="5330783" cy="5259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30783" cy="525904"/>
            </a:xfrm>
            <a:custGeom>
              <a:avLst/>
              <a:gdLst/>
              <a:ahLst/>
              <a:cxnLst/>
              <a:rect l="l" t="t" r="r" b="b"/>
              <a:pathLst>
                <a:path w="5330783" h="525904">
                  <a:moveTo>
                    <a:pt x="0" y="0"/>
                  </a:moveTo>
                  <a:lnTo>
                    <a:pt x="5330783" y="0"/>
                  </a:lnTo>
                  <a:lnTo>
                    <a:pt x="5330783" y="525904"/>
                  </a:lnTo>
                  <a:lnTo>
                    <a:pt x="0" y="525904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30783" cy="564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334304" y="294855"/>
            <a:ext cx="3867096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175388"/>
            <a:ext cx="15786810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E-commerce Product Recommendation System is a type of software or algorithm used by online shopping platforms to suggest products to users based on their preferences, behavior, and interactions.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057650"/>
            <a:ext cx="15786810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 E-commerce Product Recommendation System is an intelligent system that analyzes user behavior and product data to suggest personalized items, aiming to enhance user experience and increase sales.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6076950"/>
            <a:ext cx="15786810" cy="2693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data like browsing history, ratings, purchases</a:t>
            </a:r>
          </a:p>
          <a:p>
            <a:pPr algn="just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Employs techniques like collaborative filtering, content-based filtering, or hybrid models.</a:t>
            </a:r>
          </a:p>
          <a:p>
            <a:pPr algn="just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Often powered by machine learning or AI, such as NLP and deep </a:t>
            </a:r>
            <a:r>
              <a:rPr lang="en-US" sz="3000" dirty="0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learning models.</a:t>
            </a:r>
          </a:p>
          <a:p>
            <a:pPr algn="just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76158" y="-617815"/>
            <a:ext cx="20240315" cy="1996791"/>
            <a:chOff x="0" y="0"/>
            <a:chExt cx="5330783" cy="5259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30783" cy="525904"/>
            </a:xfrm>
            <a:custGeom>
              <a:avLst/>
              <a:gdLst/>
              <a:ahLst/>
              <a:cxnLst/>
              <a:rect l="l" t="t" r="r" b="b"/>
              <a:pathLst>
                <a:path w="5330783" h="525904">
                  <a:moveTo>
                    <a:pt x="0" y="0"/>
                  </a:moveTo>
                  <a:lnTo>
                    <a:pt x="5330783" y="0"/>
                  </a:lnTo>
                  <a:lnTo>
                    <a:pt x="5330783" y="525904"/>
                  </a:lnTo>
                  <a:lnTo>
                    <a:pt x="0" y="525904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30783" cy="564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269767" y="1755140"/>
            <a:ext cx="17387409" cy="6719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endParaRPr dirty="0"/>
          </a:p>
          <a:p>
            <a:pPr algn="just">
              <a:lnSpc>
                <a:spcPts val="4480"/>
              </a:lnSpc>
            </a:pPr>
            <a:endParaRPr dirty="0"/>
          </a:p>
          <a:p>
            <a:pPr algn="just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Addresses scalability and personalization in recommender systems.</a:t>
            </a:r>
          </a:p>
          <a:p>
            <a:pPr algn="just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Combines collaborative and content-based filtering.</a:t>
            </a:r>
          </a:p>
          <a:p>
            <a:pPr algn="just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480"/>
              </a:lnSpc>
            </a:pPr>
            <a:r>
              <a:rPr lang="en-US" sz="3200" dirty="0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</a:t>
            </a:r>
            <a:r>
              <a:rPr lang="en-US" sz="3200" dirty="0" err="1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DistilBERT</a:t>
            </a:r>
            <a:r>
              <a:rPr lang="en-US" sz="3200" dirty="0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for semantic embedding.</a:t>
            </a:r>
          </a:p>
          <a:p>
            <a:pPr algn="just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Outperforms traditional models in accuracy and adaptability.</a:t>
            </a:r>
          </a:p>
          <a:p>
            <a:pPr algn="just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597238" y="3010255"/>
            <a:ext cx="708130" cy="354065"/>
            <a:chOff x="0" y="0"/>
            <a:chExt cx="812800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924800" y="294855"/>
            <a:ext cx="2753537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Abstract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597238" y="4154896"/>
            <a:ext cx="708130" cy="354065"/>
            <a:chOff x="0" y="0"/>
            <a:chExt cx="812800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97238" y="5298716"/>
            <a:ext cx="708130" cy="354065"/>
            <a:chOff x="0" y="0"/>
            <a:chExt cx="812800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97238" y="6347327"/>
            <a:ext cx="708130" cy="354065"/>
            <a:chOff x="0" y="0"/>
            <a:chExt cx="812800" cy="406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76158" y="-617815"/>
            <a:ext cx="20240315" cy="1996791"/>
            <a:chOff x="0" y="0"/>
            <a:chExt cx="5330783" cy="5259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30783" cy="525904"/>
            </a:xfrm>
            <a:custGeom>
              <a:avLst/>
              <a:gdLst/>
              <a:ahLst/>
              <a:cxnLst/>
              <a:rect l="l" t="t" r="r" b="b"/>
              <a:pathLst>
                <a:path w="5330783" h="525904">
                  <a:moveTo>
                    <a:pt x="0" y="0"/>
                  </a:moveTo>
                  <a:lnTo>
                    <a:pt x="5330783" y="0"/>
                  </a:lnTo>
                  <a:lnTo>
                    <a:pt x="5330783" y="525904"/>
                  </a:lnTo>
                  <a:lnTo>
                    <a:pt x="0" y="525904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30783" cy="564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629947" y="1713506"/>
            <a:ext cx="11677758" cy="615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endParaRPr dirty="0"/>
          </a:p>
          <a:p>
            <a:pPr algn="just">
              <a:lnSpc>
                <a:spcPts val="4480"/>
              </a:lnSpc>
            </a:pPr>
            <a:endParaRPr dirty="0"/>
          </a:p>
          <a:p>
            <a:pPr algn="just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Overwhelming product variety in e-commerce.</a:t>
            </a:r>
          </a:p>
          <a:p>
            <a:pPr algn="just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Need for intelligent systems to simplify decision-making.</a:t>
            </a:r>
          </a:p>
          <a:p>
            <a:pPr algn="just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Goal: Accurate, real-time personalized product suggestions.</a:t>
            </a:r>
          </a:p>
          <a:p>
            <a:pPr algn="just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580898" y="294855"/>
            <a:ext cx="3544301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Motivation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74635" y="3008308"/>
            <a:ext cx="708130" cy="354065"/>
            <a:chOff x="0" y="0"/>
            <a:chExt cx="812800" cy="406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4635" y="5163265"/>
            <a:ext cx="708130" cy="354065"/>
            <a:chOff x="0" y="0"/>
            <a:chExt cx="812800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74635" y="4085300"/>
            <a:ext cx="708130" cy="354065"/>
            <a:chOff x="0" y="0"/>
            <a:chExt cx="812800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76158" y="-617815"/>
            <a:ext cx="20240315" cy="1996791"/>
            <a:chOff x="0" y="0"/>
            <a:chExt cx="5330783" cy="5259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30783" cy="525904"/>
            </a:xfrm>
            <a:custGeom>
              <a:avLst/>
              <a:gdLst/>
              <a:ahLst/>
              <a:cxnLst/>
              <a:rect l="l" t="t" r="r" b="b"/>
              <a:pathLst>
                <a:path w="5330783" h="525904">
                  <a:moveTo>
                    <a:pt x="0" y="0"/>
                  </a:moveTo>
                  <a:lnTo>
                    <a:pt x="5330783" y="0"/>
                  </a:lnTo>
                  <a:lnTo>
                    <a:pt x="5330783" y="525904"/>
                  </a:lnTo>
                  <a:lnTo>
                    <a:pt x="0" y="525904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30783" cy="564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7035" y="2936930"/>
            <a:ext cx="708130" cy="354065"/>
            <a:chOff x="0" y="0"/>
            <a:chExt cx="812800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621406" y="294855"/>
            <a:ext cx="3351393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05139" y="2879090"/>
            <a:ext cx="9632535" cy="447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Preprocess behavioral and textual data.</a:t>
            </a:r>
          </a:p>
          <a:p>
            <a:pPr algn="just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480"/>
              </a:lnSpc>
            </a:pPr>
            <a:r>
              <a:rPr lang="en-US" sz="3200" dirty="0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Build hybrid model using </a:t>
            </a:r>
            <a:r>
              <a:rPr lang="en-US" sz="3200" dirty="0" err="1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DistilBERT</a:t>
            </a:r>
            <a:r>
              <a:rPr lang="en-US" sz="3200" dirty="0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200" dirty="0" err="1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embeddings</a:t>
            </a:r>
            <a:r>
              <a:rPr lang="en-US" sz="3200" dirty="0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just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Evaluate using 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Precision@K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Recall@K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MRR.</a:t>
            </a:r>
          </a:p>
          <a:p>
            <a:pPr algn="just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Compare with traditional recommender models.</a:t>
            </a:r>
          </a:p>
          <a:p>
            <a:pPr algn="just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827035" y="6418987"/>
            <a:ext cx="708130" cy="354065"/>
            <a:chOff x="0" y="0"/>
            <a:chExt cx="812800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27035" y="5360251"/>
            <a:ext cx="708130" cy="354065"/>
            <a:chOff x="0" y="0"/>
            <a:chExt cx="812800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7035" y="4148246"/>
            <a:ext cx="708130" cy="354065"/>
            <a:chOff x="0" y="0"/>
            <a:chExt cx="812800" cy="406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76158" y="-617815"/>
            <a:ext cx="20240315" cy="1996791"/>
            <a:chOff x="0" y="0"/>
            <a:chExt cx="5330783" cy="5259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30783" cy="525904"/>
            </a:xfrm>
            <a:custGeom>
              <a:avLst/>
              <a:gdLst/>
              <a:ahLst/>
              <a:cxnLst/>
              <a:rect l="l" t="t" r="r" b="b"/>
              <a:pathLst>
                <a:path w="5330783" h="525904">
                  <a:moveTo>
                    <a:pt x="0" y="0"/>
                  </a:moveTo>
                  <a:lnTo>
                    <a:pt x="5330783" y="0"/>
                  </a:lnTo>
                  <a:lnTo>
                    <a:pt x="5330783" y="525904"/>
                  </a:lnTo>
                  <a:lnTo>
                    <a:pt x="0" y="525904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30783" cy="564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305348" y="2793133"/>
            <a:ext cx="13677305" cy="3909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Traditional: CF and CBF (cold start, data 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sparsity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issues).</a:t>
            </a:r>
          </a:p>
          <a:p>
            <a:pPr algn="just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Deep learning: NCF, 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Autoencoders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RNNs.</a:t>
            </a:r>
          </a:p>
          <a:p>
            <a:pPr algn="just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480"/>
              </a:lnSpc>
            </a:pPr>
            <a:r>
              <a:rPr lang="en-US" sz="3200" dirty="0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Transformers: BERT and </a:t>
            </a:r>
            <a:r>
              <a:rPr lang="en-US" sz="3200" dirty="0" err="1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DistilBERT</a:t>
            </a:r>
            <a:r>
              <a:rPr lang="en-US" sz="3200" dirty="0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offer deep context understanding.</a:t>
            </a:r>
          </a:p>
          <a:p>
            <a:pPr algn="just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Research gap: Lightweight, scalable, and interpretable models.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79951" y="294855"/>
            <a:ext cx="8328097" cy="77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Literature Review (Summary)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27035" y="2936930"/>
            <a:ext cx="708130" cy="354065"/>
            <a:chOff x="0" y="0"/>
            <a:chExt cx="812800" cy="406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7035" y="4055483"/>
            <a:ext cx="708130" cy="354065"/>
            <a:chOff x="0" y="0"/>
            <a:chExt cx="812800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27035" y="5174036"/>
            <a:ext cx="708130" cy="354065"/>
            <a:chOff x="0" y="0"/>
            <a:chExt cx="812800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7035" y="6292589"/>
            <a:ext cx="708130" cy="354065"/>
            <a:chOff x="0" y="0"/>
            <a:chExt cx="812800" cy="406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76158" y="-617815"/>
            <a:ext cx="20240315" cy="1996791"/>
            <a:chOff x="0" y="0"/>
            <a:chExt cx="5330783" cy="5259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30783" cy="525904"/>
            </a:xfrm>
            <a:custGeom>
              <a:avLst/>
              <a:gdLst/>
              <a:ahLst/>
              <a:cxnLst/>
              <a:rect l="l" t="t" r="r" b="b"/>
              <a:pathLst>
                <a:path w="5330783" h="525904">
                  <a:moveTo>
                    <a:pt x="0" y="0"/>
                  </a:moveTo>
                  <a:lnTo>
                    <a:pt x="5330783" y="0"/>
                  </a:lnTo>
                  <a:lnTo>
                    <a:pt x="5330783" y="525904"/>
                  </a:lnTo>
                  <a:lnTo>
                    <a:pt x="0" y="525904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30783" cy="564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366651" y="294855"/>
            <a:ext cx="5554699" cy="77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Description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827035" y="2936930"/>
            <a:ext cx="708130" cy="354065"/>
            <a:chOff x="0" y="0"/>
            <a:chExt cx="812800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27035" y="4079763"/>
            <a:ext cx="708130" cy="354065"/>
            <a:chOff x="0" y="0"/>
            <a:chExt cx="812800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7035" y="5222595"/>
            <a:ext cx="708130" cy="354065"/>
            <a:chOff x="0" y="0"/>
            <a:chExt cx="812800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27035" y="6365428"/>
            <a:ext cx="708130" cy="354065"/>
            <a:chOff x="0" y="0"/>
            <a:chExt cx="812800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305348" y="2793133"/>
            <a:ext cx="10653280" cy="447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80"/>
              </a:lnSpc>
            </a:pP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Kaggle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Amazon Beauty dataset.</a:t>
            </a:r>
          </a:p>
          <a:p>
            <a:pPr algn="just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480"/>
              </a:lnSpc>
            </a:pPr>
            <a:r>
              <a:rPr lang="en-US" sz="3200" dirty="0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</a:t>
            </a:r>
            <a:r>
              <a:rPr lang="en-US" sz="3200" dirty="0" err="1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DistilBERT</a:t>
            </a:r>
            <a:r>
              <a:rPr lang="en-US" sz="3200" dirty="0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for contextual </a:t>
            </a:r>
            <a:r>
              <a:rPr lang="en-US" sz="3200" dirty="0" err="1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embeddings</a:t>
            </a:r>
            <a:r>
              <a:rPr lang="en-US" sz="3200" dirty="0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just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Implements both content-based and hybrid models.</a:t>
            </a:r>
          </a:p>
          <a:p>
            <a:pPr algn="just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480"/>
              </a:lnSpc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Visualizations: </a:t>
            </a:r>
            <a:r>
              <a:rPr lang="en-US" sz="3200" dirty="0" err="1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Heatmaps</a:t>
            </a:r>
            <a:r>
              <a:rPr lang="en-US" sz="3200" dirty="0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bar 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charts, similarity graphs.</a:t>
            </a:r>
          </a:p>
          <a:p>
            <a:pPr algn="just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76158" y="-617815"/>
            <a:ext cx="20240315" cy="1996791"/>
            <a:chOff x="0" y="0"/>
            <a:chExt cx="5330783" cy="5259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30783" cy="525904"/>
            </a:xfrm>
            <a:custGeom>
              <a:avLst/>
              <a:gdLst/>
              <a:ahLst/>
              <a:cxnLst/>
              <a:rect l="l" t="t" r="r" b="b"/>
              <a:pathLst>
                <a:path w="5330783" h="525904">
                  <a:moveTo>
                    <a:pt x="0" y="0"/>
                  </a:moveTo>
                  <a:lnTo>
                    <a:pt x="5330783" y="0"/>
                  </a:lnTo>
                  <a:lnTo>
                    <a:pt x="5330783" y="525904"/>
                  </a:lnTo>
                  <a:lnTo>
                    <a:pt x="0" y="525904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30783" cy="564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237458" y="294855"/>
            <a:ext cx="3813085" cy="77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Methodology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20140" y="3034502"/>
            <a:ext cx="10834634" cy="5046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00"/>
              </a:lnSpc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Data Collection: Ratings, metadata, user interactions.</a:t>
            </a:r>
          </a:p>
          <a:p>
            <a:pPr algn="just">
              <a:lnSpc>
                <a:spcPts val="400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00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000"/>
              </a:lnSpc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Preprocessing: Clean, tokenize, and embed text.</a:t>
            </a:r>
          </a:p>
          <a:p>
            <a:pPr algn="just">
              <a:lnSpc>
                <a:spcPts val="400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00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000"/>
              </a:lnSpc>
            </a:pPr>
            <a:r>
              <a:rPr lang="en-US" sz="3200" dirty="0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 Model: Hybrid (</a:t>
            </a:r>
            <a:r>
              <a:rPr lang="en-US" sz="3200" dirty="0" err="1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DistilBERT</a:t>
            </a:r>
            <a:r>
              <a:rPr lang="en-US" sz="3200" dirty="0" smtClean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+ Collaborative Filtering).</a:t>
            </a:r>
          </a:p>
          <a:p>
            <a:pPr algn="just">
              <a:lnSpc>
                <a:spcPts val="400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00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000"/>
              </a:lnSpc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 Evaluation: 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Precision@K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Recall@K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MRR, 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nDCG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76158" y="-617815"/>
            <a:ext cx="20240315" cy="1996791"/>
            <a:chOff x="0" y="0"/>
            <a:chExt cx="5330783" cy="5259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30783" cy="525904"/>
            </a:xfrm>
            <a:custGeom>
              <a:avLst/>
              <a:gdLst/>
              <a:ahLst/>
              <a:cxnLst/>
              <a:rect l="l" t="t" r="r" b="b"/>
              <a:pathLst>
                <a:path w="5330783" h="525904">
                  <a:moveTo>
                    <a:pt x="0" y="0"/>
                  </a:moveTo>
                  <a:lnTo>
                    <a:pt x="5330783" y="0"/>
                  </a:lnTo>
                  <a:lnTo>
                    <a:pt x="5330783" y="525904"/>
                  </a:lnTo>
                  <a:lnTo>
                    <a:pt x="0" y="525904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30783" cy="564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798587" y="294855"/>
            <a:ext cx="6690826" cy="77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Tools and Technologies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36562" y="2851205"/>
            <a:ext cx="10252851" cy="4109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04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Languages: Python</a:t>
            </a:r>
          </a:p>
          <a:p>
            <a:pPr algn="just">
              <a:lnSpc>
                <a:spcPts val="4704"/>
              </a:lnSpc>
            </a:pPr>
            <a:endParaRPr lang="en-US" sz="32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704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Libraries: Pandas, NumPy, Scikit-learn, Transformers</a:t>
            </a:r>
          </a:p>
          <a:p>
            <a:pPr algn="just">
              <a:lnSpc>
                <a:spcPts val="4704"/>
              </a:lnSpc>
            </a:pPr>
            <a:endParaRPr lang="en-US" sz="32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704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Frameworks: PyTorch / TensorFlow</a:t>
            </a:r>
          </a:p>
          <a:p>
            <a:pPr algn="just">
              <a:lnSpc>
                <a:spcPts val="4704"/>
              </a:lnSpc>
            </a:pPr>
            <a:endParaRPr lang="en-US" sz="32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704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Visualization: Seaborn, Matplotlib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27035" y="2936930"/>
            <a:ext cx="708130" cy="354065"/>
            <a:chOff x="0" y="0"/>
            <a:chExt cx="812800" cy="406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7035" y="4163366"/>
            <a:ext cx="708130" cy="354065"/>
            <a:chOff x="0" y="0"/>
            <a:chExt cx="812800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27035" y="5389802"/>
            <a:ext cx="708130" cy="354065"/>
            <a:chOff x="0" y="0"/>
            <a:chExt cx="812800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7035" y="6616238"/>
            <a:ext cx="708130" cy="354065"/>
            <a:chOff x="0" y="0"/>
            <a:chExt cx="812800" cy="406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76158" y="-617815"/>
            <a:ext cx="20240315" cy="1996791"/>
            <a:chOff x="0" y="0"/>
            <a:chExt cx="5330783" cy="5259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30783" cy="525904"/>
            </a:xfrm>
            <a:custGeom>
              <a:avLst/>
              <a:gdLst/>
              <a:ahLst/>
              <a:cxnLst/>
              <a:rect l="l" t="t" r="r" b="b"/>
              <a:pathLst>
                <a:path w="5330783" h="525904">
                  <a:moveTo>
                    <a:pt x="0" y="0"/>
                  </a:moveTo>
                  <a:lnTo>
                    <a:pt x="5330783" y="0"/>
                  </a:lnTo>
                  <a:lnTo>
                    <a:pt x="5330783" y="525904"/>
                  </a:lnTo>
                  <a:lnTo>
                    <a:pt x="0" y="525904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30783" cy="564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021207" y="294855"/>
            <a:ext cx="6245586" cy="77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Code Implementation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82428" y="2719983"/>
            <a:ext cx="9984365" cy="455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84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Preprocess &amp; merge ratings and metadata.</a:t>
            </a:r>
          </a:p>
          <a:p>
            <a:pPr algn="just">
              <a:lnSpc>
                <a:spcPts val="5184"/>
              </a:lnSpc>
            </a:pPr>
            <a:endParaRPr lang="en-US" sz="32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5184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 user-item matrix.</a:t>
            </a:r>
          </a:p>
          <a:p>
            <a:pPr algn="just">
              <a:lnSpc>
                <a:spcPts val="5184"/>
              </a:lnSpc>
            </a:pPr>
            <a:endParaRPr lang="en-US" sz="32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5184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Apply Truncated SVD for dimensionality reduction.</a:t>
            </a:r>
          </a:p>
          <a:p>
            <a:pPr algn="just">
              <a:lnSpc>
                <a:spcPts val="5184"/>
              </a:lnSpc>
            </a:pPr>
            <a:endParaRPr lang="en-US" sz="32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5184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Generate similarity matrix &amp; recommendations.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27035" y="2936930"/>
            <a:ext cx="708130" cy="354065"/>
            <a:chOff x="0" y="0"/>
            <a:chExt cx="812800" cy="406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7035" y="4264497"/>
            <a:ext cx="708130" cy="354065"/>
            <a:chOff x="0" y="0"/>
            <a:chExt cx="812800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27035" y="5590112"/>
            <a:ext cx="708130" cy="354065"/>
            <a:chOff x="0" y="0"/>
            <a:chExt cx="812800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7035" y="6919629"/>
            <a:ext cx="708130" cy="354065"/>
            <a:chOff x="0" y="0"/>
            <a:chExt cx="812800" cy="406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76158" y="-617815"/>
            <a:ext cx="20240315" cy="1996791"/>
            <a:chOff x="0" y="0"/>
            <a:chExt cx="5330783" cy="5259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30783" cy="525904"/>
            </a:xfrm>
            <a:custGeom>
              <a:avLst/>
              <a:gdLst/>
              <a:ahLst/>
              <a:cxnLst/>
              <a:rect l="l" t="t" r="r" b="b"/>
              <a:pathLst>
                <a:path w="5330783" h="525904">
                  <a:moveTo>
                    <a:pt x="0" y="0"/>
                  </a:moveTo>
                  <a:lnTo>
                    <a:pt x="5330783" y="0"/>
                  </a:lnTo>
                  <a:lnTo>
                    <a:pt x="5330783" y="525904"/>
                  </a:lnTo>
                  <a:lnTo>
                    <a:pt x="0" y="525904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30783" cy="564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000263" y="294855"/>
            <a:ext cx="6287474" cy="77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Enhancements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74605" y="2822630"/>
            <a:ext cx="9380339" cy="6337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88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Real-time deployment via APIs.</a:t>
            </a:r>
          </a:p>
          <a:p>
            <a:pPr algn="just">
              <a:lnSpc>
                <a:spcPts val="5088"/>
              </a:lnSpc>
            </a:pPr>
            <a:endParaRPr lang="en-US" sz="32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5088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Multilingual recommendations.</a:t>
            </a:r>
          </a:p>
          <a:p>
            <a:pPr algn="just">
              <a:lnSpc>
                <a:spcPts val="5088"/>
              </a:lnSpc>
            </a:pPr>
            <a:endParaRPr lang="en-US" sz="32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5088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Explainable AI integration.</a:t>
            </a:r>
          </a:p>
          <a:p>
            <a:pPr algn="just">
              <a:lnSpc>
                <a:spcPts val="5088"/>
              </a:lnSpc>
            </a:pPr>
            <a:endParaRPr lang="en-US" sz="32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5088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Advanced models (GNNs, RL).</a:t>
            </a:r>
          </a:p>
          <a:p>
            <a:pPr algn="just">
              <a:lnSpc>
                <a:spcPts val="5088"/>
              </a:lnSpc>
            </a:pPr>
            <a:endParaRPr lang="en-US" sz="32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5088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Continuous retraining and feedback integration.</a:t>
            </a:r>
          </a:p>
          <a:p>
            <a:pPr algn="just">
              <a:lnSpc>
                <a:spcPts val="5088"/>
              </a:lnSpc>
            </a:pPr>
            <a:endParaRPr lang="en-US" sz="32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827035" y="2936930"/>
            <a:ext cx="708130" cy="354065"/>
            <a:chOff x="0" y="0"/>
            <a:chExt cx="812800" cy="406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27035" y="4219995"/>
            <a:ext cx="708130" cy="354065"/>
            <a:chOff x="0" y="0"/>
            <a:chExt cx="812800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27035" y="5507510"/>
            <a:ext cx="708130" cy="354065"/>
            <a:chOff x="0" y="0"/>
            <a:chExt cx="812800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7035" y="6795025"/>
            <a:ext cx="708130" cy="354065"/>
            <a:chOff x="0" y="0"/>
            <a:chExt cx="812800" cy="406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27035" y="8082540"/>
            <a:ext cx="708130" cy="354065"/>
            <a:chOff x="0" y="0"/>
            <a:chExt cx="812800" cy="406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76158" y="-617815"/>
            <a:ext cx="20240315" cy="1996791"/>
            <a:chOff x="0" y="0"/>
            <a:chExt cx="5330783" cy="5259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30783" cy="525904"/>
            </a:xfrm>
            <a:custGeom>
              <a:avLst/>
              <a:gdLst/>
              <a:ahLst/>
              <a:cxnLst/>
              <a:rect l="l" t="t" r="r" b="b"/>
              <a:pathLst>
                <a:path w="5330783" h="525904">
                  <a:moveTo>
                    <a:pt x="0" y="0"/>
                  </a:moveTo>
                  <a:lnTo>
                    <a:pt x="5330783" y="0"/>
                  </a:lnTo>
                  <a:lnTo>
                    <a:pt x="5330783" y="525904"/>
                  </a:lnTo>
                  <a:lnTo>
                    <a:pt x="0" y="525904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330783" cy="5640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7035" y="2936930"/>
            <a:ext cx="708130" cy="354065"/>
            <a:chOff x="0" y="0"/>
            <a:chExt cx="812800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540959" y="294855"/>
            <a:ext cx="3206083" cy="778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74605" y="2822630"/>
            <a:ext cx="10832036" cy="3784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88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Effective use of DistilBERT for hybrid recommendation.</a:t>
            </a:r>
          </a:p>
          <a:p>
            <a:pPr algn="just">
              <a:lnSpc>
                <a:spcPts val="5088"/>
              </a:lnSpc>
            </a:pPr>
            <a:endParaRPr lang="en-US" sz="32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5088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Improved accuracy, relevance, and scalability.</a:t>
            </a:r>
          </a:p>
          <a:p>
            <a:pPr algn="just">
              <a:lnSpc>
                <a:spcPts val="5088"/>
              </a:lnSpc>
            </a:pPr>
            <a:endParaRPr lang="en-US" sz="32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5088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Ready for deployment and future extension.</a:t>
            </a:r>
          </a:p>
          <a:p>
            <a:pPr algn="just">
              <a:lnSpc>
                <a:spcPts val="5088"/>
              </a:lnSpc>
            </a:pPr>
            <a:endParaRPr lang="en-US" sz="32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827035" y="4315843"/>
            <a:ext cx="708130" cy="354065"/>
            <a:chOff x="0" y="0"/>
            <a:chExt cx="812800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27035" y="5561229"/>
            <a:ext cx="708130" cy="354065"/>
            <a:chOff x="0" y="0"/>
            <a:chExt cx="812800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05B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77800" y="-38100"/>
              <a:ext cx="5588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2184380"/>
          </a:xfrm>
          <a:custGeom>
            <a:avLst/>
            <a:gdLst/>
            <a:ahLst/>
            <a:cxnLst/>
            <a:rect l="l" t="t" r="r" b="b"/>
            <a:pathLst>
              <a:path w="18288000" h="1218438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421</Words>
  <Application>Microsoft Office PowerPoint</Application>
  <PresentationFormat>Custom</PresentationFormat>
  <Paragraphs>96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Canva Sans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cp:lastModifiedBy>Suhel Saifi</cp:lastModifiedBy>
  <cp:revision>5</cp:revision>
  <dcterms:created xsi:type="dcterms:W3CDTF">2006-08-16T00:00:00Z</dcterms:created>
  <dcterms:modified xsi:type="dcterms:W3CDTF">2025-05-27T08:12:02Z</dcterms:modified>
  <dc:identifier>DAGjl_TauPw</dc:identifier>
</cp:coreProperties>
</file>