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8" r:id="rId2"/>
    <p:sldId id="266" r:id="rId3"/>
    <p:sldId id="256" r:id="rId4"/>
    <p:sldId id="257" r:id="rId5"/>
    <p:sldId id="258" r:id="rId6"/>
    <p:sldId id="259" r:id="rId7"/>
    <p:sldId id="260" r:id="rId8"/>
    <p:sldId id="267" r:id="rId9"/>
    <p:sldId id="262" r:id="rId10"/>
    <p:sldId id="263" r:id="rId11"/>
    <p:sldId id="264" r:id="rId12"/>
    <p:sldId id="265" r:id="rId13"/>
  </p:sldIdLst>
  <p:sldSz cx="14630400" cy="8229600"/>
  <p:notesSz cx="8229600" cy="14630400"/>
  <p:embeddedFontLst>
    <p:embeddedFont>
      <p:font typeface="Calibri" panose="020F0502020204030204" pitchFamily="34" charset="0"/>
      <p:regular r:id="rId15"/>
      <p:bold r:id="rId16"/>
      <p:italic r:id="rId17"/>
      <p:boldItalic r:id="rId18"/>
    </p:embeddedFont>
    <p:embeddedFont>
      <p:font typeface="Lora" panose="020B0604020202020204" charset="0"/>
      <p:regular r:id="rId19"/>
    </p:embeddedFont>
    <p:embeddedFont>
      <p:font typeface="Source Sans Pro" panose="020B050303040302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82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66E3F-9FC5-42AC-8F05-55CEB8F77A11}"/>
              </a:ext>
            </a:extLst>
          </p:cNvPr>
          <p:cNvSpPr txBox="1">
            <a:spLocks/>
          </p:cNvSpPr>
          <p:nvPr/>
        </p:nvSpPr>
        <p:spPr>
          <a:xfrm>
            <a:off x="1771650" y="2555397"/>
            <a:ext cx="11424088" cy="2628438"/>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INTRODUCTION TO AI (AI101B)</a:t>
            </a:r>
            <a:br>
              <a:rPr lang="en-IN" sz="24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Even Semester</a:t>
            </a:r>
            <a:br>
              <a:rPr lang="en-IN" sz="3500" b="1" dirty="0">
                <a:latin typeface="Times New Roman" panose="02020603050405020304" pitchFamily="18" charset="0"/>
                <a:cs typeface="Times New Roman" panose="02020603050405020304" pitchFamily="18" charset="0"/>
              </a:rPr>
            </a:br>
            <a:br>
              <a:rPr lang="en-IN" sz="3500" b="1" dirty="0">
                <a:latin typeface="Times New Roman" panose="02020603050405020304" pitchFamily="18" charset="0"/>
                <a:cs typeface="Times New Roman" panose="02020603050405020304" pitchFamily="18" charset="0"/>
              </a:rPr>
            </a:br>
            <a:r>
              <a:rPr lang="en-IN" sz="3100" b="1" u="sng" dirty="0">
                <a:latin typeface="Times New Roman" panose="02020603050405020304" pitchFamily="18" charset="0"/>
                <a:cs typeface="Times New Roman" panose="02020603050405020304" pitchFamily="18" charset="0"/>
              </a:rPr>
              <a:t>Session 2024-25</a:t>
            </a:r>
          </a:p>
          <a:p>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House Price Prediction Using ML</a:t>
            </a:r>
            <a:endParaRPr lang="en-US" sz="35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D0447F7-FD9C-477B-95A3-B130F7A0A7BA}"/>
              </a:ext>
            </a:extLst>
          </p:cNvPr>
          <p:cNvPicPr>
            <a:picLocks noChangeAspect="1"/>
          </p:cNvPicPr>
          <p:nvPr/>
        </p:nvPicPr>
        <p:blipFill>
          <a:blip r:embed="rId2"/>
          <a:stretch>
            <a:fillRect/>
          </a:stretch>
        </p:blipFill>
        <p:spPr>
          <a:xfrm>
            <a:off x="94593" y="144399"/>
            <a:ext cx="14441214" cy="1639905"/>
          </a:xfrm>
          <a:prstGeom prst="rect">
            <a:avLst/>
          </a:prstGeom>
        </p:spPr>
      </p:pic>
      <p:sp>
        <p:nvSpPr>
          <p:cNvPr id="4" name="Subtitle 2">
            <a:extLst>
              <a:ext uri="{FF2B5EF4-FFF2-40B4-BE49-F238E27FC236}">
                <a16:creationId xmlns:a16="http://schemas.microsoft.com/office/drawing/2014/main" id="{1E917DEC-5973-4E02-A623-AA90A4948CBE}"/>
              </a:ext>
            </a:extLst>
          </p:cNvPr>
          <p:cNvSpPr txBox="1">
            <a:spLocks/>
          </p:cNvSpPr>
          <p:nvPr/>
        </p:nvSpPr>
        <p:spPr>
          <a:xfrm>
            <a:off x="-236483" y="6496669"/>
            <a:ext cx="5974080" cy="1736868"/>
          </a:xfrm>
          <a:prstGeom prst="rect">
            <a:avLst/>
          </a:prstGeom>
        </p:spPr>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b="1" u="sng" dirty="0">
                <a:latin typeface="Times New Roman" panose="02020603050405020304" pitchFamily="18" charset="0"/>
                <a:cs typeface="Times New Roman" panose="02020603050405020304" pitchFamily="18" charset="0"/>
              </a:rPr>
              <a:t>Group Members: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Nishant </a:t>
            </a:r>
            <a:r>
              <a:rPr lang="en-US" sz="1800" dirty="0" err="1">
                <a:latin typeface="Times New Roman" panose="02020603050405020304" pitchFamily="18" charset="0"/>
                <a:cs typeface="Times New Roman" panose="02020603050405020304" pitchFamily="18" charset="0"/>
              </a:rPr>
              <a:t>Raikwar</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202410116100135)</a:t>
            </a:r>
          </a:p>
          <a:p>
            <a:r>
              <a:rPr lang="en-US" sz="1800" dirty="0">
                <a:latin typeface="Times New Roman" panose="02020603050405020304" pitchFamily="18" charset="0"/>
                <a:ea typeface="Times New Roman" panose="02020603050405020304" pitchFamily="18" charset="0"/>
              </a:rPr>
              <a:t>Palak Goyal  (202410116100138)</a:t>
            </a:r>
          </a:p>
          <a:p>
            <a:r>
              <a:rPr lang="en-GB" sz="1800" dirty="0">
                <a:latin typeface="Times New Roman" panose="02020603050405020304" pitchFamily="18" charset="0"/>
                <a:cs typeface="Times New Roman" panose="02020603050405020304" pitchFamily="18" charset="0"/>
              </a:rPr>
              <a:t>R</a:t>
            </a:r>
            <a:r>
              <a:rPr lang="en-US" sz="1800" dirty="0" err="1">
                <a:latin typeface="Times New Roman" panose="02020603050405020304" pitchFamily="18" charset="0"/>
                <a:cs typeface="Times New Roman" panose="02020603050405020304" pitchFamily="18" charset="0"/>
              </a:rPr>
              <a:t>ahul</a:t>
            </a:r>
            <a:r>
              <a:rPr lang="en-US" sz="1800" dirty="0">
                <a:latin typeface="Times New Roman" panose="02020603050405020304" pitchFamily="18" charset="0"/>
                <a:cs typeface="Times New Roman" panose="02020603050405020304" pitchFamily="18" charset="0"/>
              </a:rPr>
              <a:t> Rawat  (202410116100159)</a:t>
            </a:r>
          </a:p>
          <a:p>
            <a:r>
              <a:rPr lang="en-GB" sz="1800" dirty="0">
                <a:latin typeface="Times New Roman" panose="02020603050405020304" pitchFamily="18" charset="0"/>
                <a:cs typeface="Times New Roman" panose="02020603050405020304" pitchFamily="18" charset="0"/>
              </a:rPr>
              <a:t>Nilesh </a:t>
            </a:r>
            <a:r>
              <a:rPr lang="en-GB" sz="1800" dirty="0" err="1">
                <a:latin typeface="Times New Roman" panose="02020603050405020304" pitchFamily="18" charset="0"/>
                <a:cs typeface="Times New Roman" panose="02020603050405020304" pitchFamily="18" charset="0"/>
              </a:rPr>
              <a:t>Agrahari</a:t>
            </a:r>
            <a:r>
              <a:rPr lang="en-GB" sz="1800" dirty="0">
                <a:latin typeface="Times New Roman" panose="02020603050405020304" pitchFamily="18" charset="0"/>
                <a:cs typeface="Times New Roman" panose="02020603050405020304" pitchFamily="18" charset="0"/>
              </a:rPr>
              <a:t>  (202410116100134)</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2947F5FA-E002-4EE3-8712-CABE3FBF1A49}"/>
              </a:ext>
            </a:extLst>
          </p:cNvPr>
          <p:cNvSpPr txBox="1">
            <a:spLocks/>
          </p:cNvSpPr>
          <p:nvPr/>
        </p:nvSpPr>
        <p:spPr>
          <a:xfrm>
            <a:off x="11758010" y="6753122"/>
            <a:ext cx="3035300" cy="12239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b="1" u="sng" dirty="0">
                <a:latin typeface="Times New Roman" panose="02020603050405020304" pitchFamily="18" charset="0"/>
                <a:cs typeface="Times New Roman" panose="02020603050405020304" pitchFamily="18" charset="0"/>
              </a:rPr>
              <a:t>Project Supervisor:</a:t>
            </a:r>
          </a:p>
          <a:p>
            <a:pPr algn="just"/>
            <a:r>
              <a:rPr lang="en-IN" b="1" dirty="0">
                <a:solidFill>
                  <a:srgbClr val="FF0000"/>
                </a:solidFill>
                <a:latin typeface="Times New Roman" panose="02020603050405020304" pitchFamily="18" charset="0"/>
                <a:cs typeface="Times New Roman" panose="02020603050405020304" pitchFamily="18" charset="0"/>
              </a:rPr>
              <a:t>Mr. </a:t>
            </a:r>
            <a:r>
              <a:rPr lang="en-IN" b="1" dirty="0" err="1">
                <a:solidFill>
                  <a:srgbClr val="FF0000"/>
                </a:solidFill>
                <a:latin typeface="Times New Roman" panose="02020603050405020304" pitchFamily="18" charset="0"/>
                <a:cs typeface="Times New Roman" panose="02020603050405020304" pitchFamily="18" charset="0"/>
              </a:rPr>
              <a:t>Apoorv</a:t>
            </a:r>
            <a:r>
              <a:rPr lang="en-IN" b="1" dirty="0">
                <a:solidFill>
                  <a:srgbClr val="FF0000"/>
                </a:solidFill>
                <a:latin typeface="Times New Roman" panose="02020603050405020304" pitchFamily="18" charset="0"/>
                <a:cs typeface="Times New Roman" panose="02020603050405020304" pitchFamily="18" charset="0"/>
              </a:rPr>
              <a:t> Jain</a:t>
            </a:r>
          </a:p>
          <a:p>
            <a:pPr algn="just"/>
            <a:r>
              <a:rPr lang="en-IN" dirty="0">
                <a:solidFill>
                  <a:srgbClr val="FF0000"/>
                </a:solidFill>
                <a:latin typeface="Times New Roman" panose="02020603050405020304" pitchFamily="18" charset="0"/>
                <a:cs typeface="Times New Roman" panose="02020603050405020304" pitchFamily="18" charset="0"/>
              </a:rPr>
              <a:t>Assistant Professor</a:t>
            </a:r>
          </a:p>
          <a:p>
            <a:pPr algn="just"/>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4685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599367"/>
          </a:xfrm>
          <a:prstGeom prst="rect">
            <a:avLst/>
          </a:prstGeom>
        </p:spPr>
      </p:pic>
      <p:sp>
        <p:nvSpPr>
          <p:cNvPr id="3" name="Text 0"/>
          <p:cNvSpPr/>
          <p:nvPr/>
        </p:nvSpPr>
        <p:spPr>
          <a:xfrm>
            <a:off x="447794" y="2029539"/>
            <a:ext cx="3010614" cy="376357"/>
          </a:xfrm>
          <a:prstGeom prst="rect">
            <a:avLst/>
          </a:prstGeom>
          <a:noFill/>
          <a:ln/>
        </p:spPr>
        <p:txBody>
          <a:bodyPr wrap="none" lIns="0" tIns="0" rIns="0" bIns="0" rtlCol="0" anchor="t"/>
          <a:lstStyle/>
          <a:p>
            <a:pPr marL="0" indent="0" algn="l">
              <a:lnSpc>
                <a:spcPts val="2950"/>
              </a:lnSpc>
              <a:buNone/>
            </a:pPr>
            <a:r>
              <a:rPr lang="en-US" sz="2350" dirty="0">
                <a:solidFill>
                  <a:srgbClr val="F98AC7"/>
                </a:solidFill>
                <a:latin typeface="Lora" pitchFamily="34" charset="0"/>
                <a:ea typeface="Lora" pitchFamily="34" charset="-122"/>
                <a:cs typeface="Lora" pitchFamily="34" charset="-120"/>
              </a:rPr>
              <a:t>Content Page</a:t>
            </a:r>
            <a:endParaRPr lang="en-US" sz="2350" dirty="0"/>
          </a:p>
        </p:txBody>
      </p:sp>
      <p:pic>
        <p:nvPicPr>
          <p:cNvPr id="4" name="Image 1" descr="preencoded.png"/>
          <p:cNvPicPr>
            <a:picLocks noChangeAspect="1"/>
          </p:cNvPicPr>
          <p:nvPr/>
        </p:nvPicPr>
        <p:blipFill>
          <a:blip r:embed="rId4"/>
          <a:stretch>
            <a:fillRect/>
          </a:stretch>
        </p:blipFill>
        <p:spPr>
          <a:xfrm>
            <a:off x="3572351" y="2597825"/>
            <a:ext cx="618053" cy="443865"/>
          </a:xfrm>
          <a:prstGeom prst="rect">
            <a:avLst/>
          </a:prstGeom>
        </p:spPr>
      </p:pic>
      <p:sp>
        <p:nvSpPr>
          <p:cNvPr id="5" name="Text 1"/>
          <p:cNvSpPr/>
          <p:nvPr/>
        </p:nvSpPr>
        <p:spPr>
          <a:xfrm>
            <a:off x="3791307" y="2754630"/>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1</a:t>
            </a:r>
            <a:endParaRPr lang="en-US" sz="1400" dirty="0"/>
          </a:p>
        </p:txBody>
      </p:sp>
      <p:sp>
        <p:nvSpPr>
          <p:cNvPr id="6" name="Text 2"/>
          <p:cNvSpPr/>
          <p:nvPr/>
        </p:nvSpPr>
        <p:spPr>
          <a:xfrm>
            <a:off x="4318278" y="2725698"/>
            <a:ext cx="888683"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Introduction</a:t>
            </a:r>
            <a:endParaRPr lang="en-US" sz="1150" dirty="0"/>
          </a:p>
        </p:txBody>
      </p:sp>
      <p:sp>
        <p:nvSpPr>
          <p:cNvPr id="7" name="Shape 3"/>
          <p:cNvSpPr/>
          <p:nvPr/>
        </p:nvSpPr>
        <p:spPr>
          <a:xfrm>
            <a:off x="4222313" y="3053834"/>
            <a:ext cx="9928384" cy="7620"/>
          </a:xfrm>
          <a:prstGeom prst="roundRect">
            <a:avLst>
              <a:gd name="adj" fmla="val 251879"/>
            </a:avLst>
          </a:prstGeom>
          <a:solidFill>
            <a:srgbClr val="5D606B"/>
          </a:solidFill>
          <a:ln/>
        </p:spPr>
      </p:sp>
      <p:pic>
        <p:nvPicPr>
          <p:cNvPr id="8" name="Image 2" descr="preencoded.png"/>
          <p:cNvPicPr>
            <a:picLocks noChangeAspect="1"/>
          </p:cNvPicPr>
          <p:nvPr/>
        </p:nvPicPr>
        <p:blipFill>
          <a:blip r:embed="rId5"/>
          <a:stretch>
            <a:fillRect/>
          </a:stretch>
        </p:blipFill>
        <p:spPr>
          <a:xfrm>
            <a:off x="3263384" y="3073598"/>
            <a:ext cx="1236107" cy="443865"/>
          </a:xfrm>
          <a:prstGeom prst="rect">
            <a:avLst/>
          </a:prstGeom>
        </p:spPr>
      </p:pic>
      <p:sp>
        <p:nvSpPr>
          <p:cNvPr id="9" name="Text 4"/>
          <p:cNvSpPr/>
          <p:nvPr/>
        </p:nvSpPr>
        <p:spPr>
          <a:xfrm>
            <a:off x="3791426" y="3183017"/>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2</a:t>
            </a:r>
            <a:endParaRPr lang="en-US" sz="1400" dirty="0"/>
          </a:p>
        </p:txBody>
      </p:sp>
      <p:sp>
        <p:nvSpPr>
          <p:cNvPr id="10" name="Text 5"/>
          <p:cNvSpPr/>
          <p:nvPr/>
        </p:nvSpPr>
        <p:spPr>
          <a:xfrm>
            <a:off x="4627364" y="3201472"/>
            <a:ext cx="1351359"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Problem Statement</a:t>
            </a:r>
            <a:endParaRPr lang="en-US" sz="1150" dirty="0"/>
          </a:p>
        </p:txBody>
      </p:sp>
      <p:sp>
        <p:nvSpPr>
          <p:cNvPr id="11" name="Shape 6"/>
          <p:cNvSpPr/>
          <p:nvPr/>
        </p:nvSpPr>
        <p:spPr>
          <a:xfrm>
            <a:off x="4531400" y="3529608"/>
            <a:ext cx="9619298" cy="7620"/>
          </a:xfrm>
          <a:prstGeom prst="roundRect">
            <a:avLst>
              <a:gd name="adj" fmla="val 251879"/>
            </a:avLst>
          </a:prstGeom>
          <a:solidFill>
            <a:srgbClr val="5D606B"/>
          </a:solidFill>
          <a:ln/>
        </p:spPr>
      </p:sp>
      <p:pic>
        <p:nvPicPr>
          <p:cNvPr id="12" name="Image 3" descr="preencoded.png"/>
          <p:cNvPicPr>
            <a:picLocks noChangeAspect="1"/>
          </p:cNvPicPr>
          <p:nvPr/>
        </p:nvPicPr>
        <p:blipFill>
          <a:blip r:embed="rId6"/>
          <a:stretch>
            <a:fillRect/>
          </a:stretch>
        </p:blipFill>
        <p:spPr>
          <a:xfrm>
            <a:off x="2954298" y="3549372"/>
            <a:ext cx="1854160" cy="443865"/>
          </a:xfrm>
          <a:prstGeom prst="rect">
            <a:avLst/>
          </a:prstGeom>
        </p:spPr>
      </p:pic>
      <p:sp>
        <p:nvSpPr>
          <p:cNvPr id="13" name="Text 7"/>
          <p:cNvSpPr/>
          <p:nvPr/>
        </p:nvSpPr>
        <p:spPr>
          <a:xfrm>
            <a:off x="3791426" y="3658791"/>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3</a:t>
            </a:r>
            <a:endParaRPr lang="en-US" sz="1400" dirty="0"/>
          </a:p>
        </p:txBody>
      </p:sp>
      <p:sp>
        <p:nvSpPr>
          <p:cNvPr id="14" name="Text 8"/>
          <p:cNvSpPr/>
          <p:nvPr/>
        </p:nvSpPr>
        <p:spPr>
          <a:xfrm>
            <a:off x="4936331" y="3677245"/>
            <a:ext cx="663893"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Objective</a:t>
            </a:r>
            <a:endParaRPr lang="en-US" sz="1150" dirty="0"/>
          </a:p>
        </p:txBody>
      </p:sp>
      <p:sp>
        <p:nvSpPr>
          <p:cNvPr id="15" name="Shape 9"/>
          <p:cNvSpPr/>
          <p:nvPr/>
        </p:nvSpPr>
        <p:spPr>
          <a:xfrm>
            <a:off x="4840367" y="4005382"/>
            <a:ext cx="9310330" cy="7620"/>
          </a:xfrm>
          <a:prstGeom prst="roundRect">
            <a:avLst>
              <a:gd name="adj" fmla="val 251879"/>
            </a:avLst>
          </a:prstGeom>
          <a:solidFill>
            <a:srgbClr val="5D606B"/>
          </a:solidFill>
          <a:ln/>
        </p:spPr>
      </p:sp>
      <p:pic>
        <p:nvPicPr>
          <p:cNvPr id="16" name="Image 4" descr="preencoded.png"/>
          <p:cNvPicPr>
            <a:picLocks noChangeAspect="1"/>
          </p:cNvPicPr>
          <p:nvPr/>
        </p:nvPicPr>
        <p:blipFill>
          <a:blip r:embed="rId7"/>
          <a:stretch>
            <a:fillRect/>
          </a:stretch>
        </p:blipFill>
        <p:spPr>
          <a:xfrm>
            <a:off x="2645331" y="4025146"/>
            <a:ext cx="2472214" cy="443865"/>
          </a:xfrm>
          <a:prstGeom prst="rect">
            <a:avLst/>
          </a:prstGeom>
        </p:spPr>
      </p:pic>
      <p:sp>
        <p:nvSpPr>
          <p:cNvPr id="17" name="Text 10"/>
          <p:cNvSpPr/>
          <p:nvPr/>
        </p:nvSpPr>
        <p:spPr>
          <a:xfrm>
            <a:off x="3791426" y="4134564"/>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4</a:t>
            </a:r>
            <a:endParaRPr lang="en-US" sz="1400" dirty="0"/>
          </a:p>
        </p:txBody>
      </p:sp>
      <p:sp>
        <p:nvSpPr>
          <p:cNvPr id="18" name="Text 11"/>
          <p:cNvSpPr/>
          <p:nvPr/>
        </p:nvSpPr>
        <p:spPr>
          <a:xfrm>
            <a:off x="5245418" y="4153019"/>
            <a:ext cx="2034778"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Tools and Technologies Used</a:t>
            </a:r>
            <a:endParaRPr lang="en-US" sz="1150" dirty="0"/>
          </a:p>
        </p:txBody>
      </p:sp>
      <p:sp>
        <p:nvSpPr>
          <p:cNvPr id="19" name="Shape 12"/>
          <p:cNvSpPr/>
          <p:nvPr/>
        </p:nvSpPr>
        <p:spPr>
          <a:xfrm>
            <a:off x="5149453" y="4481155"/>
            <a:ext cx="9001244" cy="7620"/>
          </a:xfrm>
          <a:prstGeom prst="roundRect">
            <a:avLst>
              <a:gd name="adj" fmla="val 251879"/>
            </a:avLst>
          </a:prstGeom>
          <a:solidFill>
            <a:srgbClr val="5D606B"/>
          </a:solidFill>
          <a:ln/>
        </p:spPr>
      </p:sp>
      <p:pic>
        <p:nvPicPr>
          <p:cNvPr id="20" name="Image 5" descr="preencoded.png"/>
          <p:cNvPicPr>
            <a:picLocks noChangeAspect="1"/>
          </p:cNvPicPr>
          <p:nvPr/>
        </p:nvPicPr>
        <p:blipFill>
          <a:blip r:embed="rId8"/>
          <a:stretch>
            <a:fillRect/>
          </a:stretch>
        </p:blipFill>
        <p:spPr>
          <a:xfrm>
            <a:off x="2336244" y="4500920"/>
            <a:ext cx="3090267" cy="443865"/>
          </a:xfrm>
          <a:prstGeom prst="rect">
            <a:avLst/>
          </a:prstGeom>
        </p:spPr>
      </p:pic>
      <p:sp>
        <p:nvSpPr>
          <p:cNvPr id="21" name="Text 13"/>
          <p:cNvSpPr/>
          <p:nvPr/>
        </p:nvSpPr>
        <p:spPr>
          <a:xfrm>
            <a:off x="3791307" y="4610338"/>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5</a:t>
            </a:r>
            <a:endParaRPr lang="en-US" sz="1400" dirty="0"/>
          </a:p>
        </p:txBody>
      </p:sp>
      <p:sp>
        <p:nvSpPr>
          <p:cNvPr id="22" name="Text 14"/>
          <p:cNvSpPr/>
          <p:nvPr/>
        </p:nvSpPr>
        <p:spPr>
          <a:xfrm>
            <a:off x="5554385" y="4628793"/>
            <a:ext cx="1433036"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System Architecture</a:t>
            </a:r>
            <a:endParaRPr lang="en-US" sz="1150" dirty="0"/>
          </a:p>
        </p:txBody>
      </p:sp>
      <p:sp>
        <p:nvSpPr>
          <p:cNvPr id="23" name="Shape 15"/>
          <p:cNvSpPr/>
          <p:nvPr/>
        </p:nvSpPr>
        <p:spPr>
          <a:xfrm>
            <a:off x="5458420" y="4956929"/>
            <a:ext cx="8692277" cy="7620"/>
          </a:xfrm>
          <a:prstGeom prst="roundRect">
            <a:avLst>
              <a:gd name="adj" fmla="val 251879"/>
            </a:avLst>
          </a:prstGeom>
          <a:solidFill>
            <a:srgbClr val="5D606B"/>
          </a:solidFill>
          <a:ln/>
        </p:spPr>
      </p:sp>
      <p:pic>
        <p:nvPicPr>
          <p:cNvPr id="24" name="Image 6" descr="preencoded.png"/>
          <p:cNvPicPr>
            <a:picLocks noChangeAspect="1"/>
          </p:cNvPicPr>
          <p:nvPr/>
        </p:nvPicPr>
        <p:blipFill>
          <a:blip r:embed="rId9"/>
          <a:stretch>
            <a:fillRect/>
          </a:stretch>
        </p:blipFill>
        <p:spPr>
          <a:xfrm>
            <a:off x="2027277" y="4976693"/>
            <a:ext cx="3708321" cy="443865"/>
          </a:xfrm>
          <a:prstGeom prst="rect">
            <a:avLst/>
          </a:prstGeom>
        </p:spPr>
      </p:pic>
      <p:sp>
        <p:nvSpPr>
          <p:cNvPr id="25" name="Text 16"/>
          <p:cNvSpPr/>
          <p:nvPr/>
        </p:nvSpPr>
        <p:spPr>
          <a:xfrm>
            <a:off x="3791426" y="5086112"/>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6</a:t>
            </a:r>
            <a:endParaRPr lang="en-US" sz="1400" dirty="0"/>
          </a:p>
        </p:txBody>
      </p:sp>
      <p:sp>
        <p:nvSpPr>
          <p:cNvPr id="26" name="Text 17"/>
          <p:cNvSpPr/>
          <p:nvPr/>
        </p:nvSpPr>
        <p:spPr>
          <a:xfrm>
            <a:off x="5863471" y="5104567"/>
            <a:ext cx="1881902"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Features of the Application</a:t>
            </a:r>
            <a:endParaRPr lang="en-US" sz="1150" dirty="0"/>
          </a:p>
        </p:txBody>
      </p:sp>
      <p:sp>
        <p:nvSpPr>
          <p:cNvPr id="27" name="Shape 18"/>
          <p:cNvSpPr/>
          <p:nvPr/>
        </p:nvSpPr>
        <p:spPr>
          <a:xfrm>
            <a:off x="5767507" y="5432703"/>
            <a:ext cx="8383191" cy="7620"/>
          </a:xfrm>
          <a:prstGeom prst="roundRect">
            <a:avLst>
              <a:gd name="adj" fmla="val 251879"/>
            </a:avLst>
          </a:prstGeom>
          <a:solidFill>
            <a:srgbClr val="5D606B"/>
          </a:solidFill>
          <a:ln/>
        </p:spPr>
      </p:sp>
      <p:pic>
        <p:nvPicPr>
          <p:cNvPr id="28" name="Image 7" descr="preencoded.png"/>
          <p:cNvPicPr>
            <a:picLocks noChangeAspect="1"/>
          </p:cNvPicPr>
          <p:nvPr/>
        </p:nvPicPr>
        <p:blipFill>
          <a:blip r:embed="rId10"/>
          <a:stretch>
            <a:fillRect/>
          </a:stretch>
        </p:blipFill>
        <p:spPr>
          <a:xfrm>
            <a:off x="1718191" y="5452467"/>
            <a:ext cx="4326374" cy="443865"/>
          </a:xfrm>
          <a:prstGeom prst="rect">
            <a:avLst/>
          </a:prstGeom>
        </p:spPr>
      </p:pic>
      <p:sp>
        <p:nvSpPr>
          <p:cNvPr id="29" name="Text 19"/>
          <p:cNvSpPr/>
          <p:nvPr/>
        </p:nvSpPr>
        <p:spPr>
          <a:xfrm>
            <a:off x="3791307" y="5561886"/>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7</a:t>
            </a:r>
            <a:endParaRPr lang="en-US" sz="1400" dirty="0"/>
          </a:p>
        </p:txBody>
      </p:sp>
      <p:sp>
        <p:nvSpPr>
          <p:cNvPr id="30" name="Text 20"/>
          <p:cNvSpPr/>
          <p:nvPr/>
        </p:nvSpPr>
        <p:spPr>
          <a:xfrm>
            <a:off x="6172438" y="5580340"/>
            <a:ext cx="2471261"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Implementation Screens and Usage</a:t>
            </a:r>
            <a:endParaRPr lang="en-US" sz="1150" dirty="0"/>
          </a:p>
        </p:txBody>
      </p:sp>
      <p:sp>
        <p:nvSpPr>
          <p:cNvPr id="31" name="Shape 21"/>
          <p:cNvSpPr/>
          <p:nvPr/>
        </p:nvSpPr>
        <p:spPr>
          <a:xfrm>
            <a:off x="6076474" y="5908477"/>
            <a:ext cx="8074223" cy="7620"/>
          </a:xfrm>
          <a:prstGeom prst="roundRect">
            <a:avLst>
              <a:gd name="adj" fmla="val 251879"/>
            </a:avLst>
          </a:prstGeom>
          <a:solidFill>
            <a:srgbClr val="5D606B"/>
          </a:solidFill>
          <a:ln/>
        </p:spPr>
      </p:sp>
      <p:pic>
        <p:nvPicPr>
          <p:cNvPr id="32" name="Image 8" descr="preencoded.png"/>
          <p:cNvPicPr>
            <a:picLocks noChangeAspect="1"/>
          </p:cNvPicPr>
          <p:nvPr/>
        </p:nvPicPr>
        <p:blipFill>
          <a:blip r:embed="rId11"/>
          <a:stretch>
            <a:fillRect/>
          </a:stretch>
        </p:blipFill>
        <p:spPr>
          <a:xfrm>
            <a:off x="1409224" y="5928241"/>
            <a:ext cx="4944428" cy="443865"/>
          </a:xfrm>
          <a:prstGeom prst="rect">
            <a:avLst/>
          </a:prstGeom>
        </p:spPr>
      </p:pic>
      <p:sp>
        <p:nvSpPr>
          <p:cNvPr id="33" name="Text 22"/>
          <p:cNvSpPr/>
          <p:nvPr/>
        </p:nvSpPr>
        <p:spPr>
          <a:xfrm>
            <a:off x="3791426" y="6037659"/>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8</a:t>
            </a:r>
            <a:endParaRPr lang="en-US" sz="1400" dirty="0"/>
          </a:p>
        </p:txBody>
      </p:sp>
      <p:sp>
        <p:nvSpPr>
          <p:cNvPr id="34" name="Text 23"/>
          <p:cNvSpPr/>
          <p:nvPr/>
        </p:nvSpPr>
        <p:spPr>
          <a:xfrm>
            <a:off x="6481524" y="6056114"/>
            <a:ext cx="3693438"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Challenges and Solutions Faced During Development</a:t>
            </a:r>
            <a:endParaRPr lang="en-US" sz="1150" dirty="0"/>
          </a:p>
        </p:txBody>
      </p:sp>
      <p:sp>
        <p:nvSpPr>
          <p:cNvPr id="35" name="Shape 24"/>
          <p:cNvSpPr/>
          <p:nvPr/>
        </p:nvSpPr>
        <p:spPr>
          <a:xfrm>
            <a:off x="6385560" y="6384250"/>
            <a:ext cx="7765137" cy="7620"/>
          </a:xfrm>
          <a:prstGeom prst="roundRect">
            <a:avLst>
              <a:gd name="adj" fmla="val 251879"/>
            </a:avLst>
          </a:prstGeom>
          <a:solidFill>
            <a:srgbClr val="5D606B"/>
          </a:solidFill>
          <a:ln/>
        </p:spPr>
      </p:sp>
      <p:pic>
        <p:nvPicPr>
          <p:cNvPr id="36" name="Image 9" descr="preencoded.png"/>
          <p:cNvPicPr>
            <a:picLocks noChangeAspect="1"/>
          </p:cNvPicPr>
          <p:nvPr/>
        </p:nvPicPr>
        <p:blipFill>
          <a:blip r:embed="rId12"/>
          <a:stretch>
            <a:fillRect/>
          </a:stretch>
        </p:blipFill>
        <p:spPr>
          <a:xfrm>
            <a:off x="1100138" y="6404015"/>
            <a:ext cx="5562481" cy="443865"/>
          </a:xfrm>
          <a:prstGeom prst="rect">
            <a:avLst/>
          </a:prstGeom>
        </p:spPr>
      </p:pic>
      <p:sp>
        <p:nvSpPr>
          <p:cNvPr id="37" name="Text 25"/>
          <p:cNvSpPr/>
          <p:nvPr/>
        </p:nvSpPr>
        <p:spPr>
          <a:xfrm>
            <a:off x="3791426" y="6513433"/>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9</a:t>
            </a:r>
            <a:endParaRPr lang="en-US" sz="1400" dirty="0"/>
          </a:p>
        </p:txBody>
      </p:sp>
      <p:sp>
        <p:nvSpPr>
          <p:cNvPr id="38" name="Text 26"/>
          <p:cNvSpPr/>
          <p:nvPr/>
        </p:nvSpPr>
        <p:spPr>
          <a:xfrm>
            <a:off x="6790492" y="6531888"/>
            <a:ext cx="1356955"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Results and Testing</a:t>
            </a:r>
            <a:endParaRPr lang="en-US" sz="1150" dirty="0"/>
          </a:p>
        </p:txBody>
      </p:sp>
      <p:sp>
        <p:nvSpPr>
          <p:cNvPr id="39" name="Shape 27"/>
          <p:cNvSpPr/>
          <p:nvPr/>
        </p:nvSpPr>
        <p:spPr>
          <a:xfrm>
            <a:off x="6694527" y="6860024"/>
            <a:ext cx="7456170" cy="7620"/>
          </a:xfrm>
          <a:prstGeom prst="roundRect">
            <a:avLst>
              <a:gd name="adj" fmla="val 251879"/>
            </a:avLst>
          </a:prstGeom>
          <a:solidFill>
            <a:srgbClr val="5D606B"/>
          </a:solidFill>
          <a:ln/>
        </p:spPr>
      </p:sp>
      <p:pic>
        <p:nvPicPr>
          <p:cNvPr id="40" name="Image 10" descr="preencoded.png"/>
          <p:cNvPicPr>
            <a:picLocks noChangeAspect="1"/>
          </p:cNvPicPr>
          <p:nvPr/>
        </p:nvPicPr>
        <p:blipFill>
          <a:blip r:embed="rId13"/>
          <a:stretch>
            <a:fillRect/>
          </a:stretch>
        </p:blipFill>
        <p:spPr>
          <a:xfrm>
            <a:off x="791051" y="6879788"/>
            <a:ext cx="6180653" cy="443865"/>
          </a:xfrm>
          <a:prstGeom prst="rect">
            <a:avLst/>
          </a:prstGeom>
        </p:spPr>
      </p:pic>
      <p:sp>
        <p:nvSpPr>
          <p:cNvPr id="41" name="Text 28"/>
          <p:cNvSpPr/>
          <p:nvPr/>
        </p:nvSpPr>
        <p:spPr>
          <a:xfrm>
            <a:off x="3791426" y="6989207"/>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10</a:t>
            </a:r>
            <a:endParaRPr lang="en-US" sz="1400" dirty="0"/>
          </a:p>
        </p:txBody>
      </p:sp>
      <p:sp>
        <p:nvSpPr>
          <p:cNvPr id="42" name="Text 29"/>
          <p:cNvSpPr/>
          <p:nvPr/>
        </p:nvSpPr>
        <p:spPr>
          <a:xfrm>
            <a:off x="7099578" y="7007662"/>
            <a:ext cx="786884"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Conclusion</a:t>
            </a:r>
            <a:endParaRPr lang="en-US" sz="1150" dirty="0"/>
          </a:p>
        </p:txBody>
      </p:sp>
      <p:sp>
        <p:nvSpPr>
          <p:cNvPr id="43" name="Shape 30"/>
          <p:cNvSpPr/>
          <p:nvPr/>
        </p:nvSpPr>
        <p:spPr>
          <a:xfrm>
            <a:off x="7003613" y="7335798"/>
            <a:ext cx="7147084" cy="7620"/>
          </a:xfrm>
          <a:prstGeom prst="roundRect">
            <a:avLst>
              <a:gd name="adj" fmla="val 251879"/>
            </a:avLst>
          </a:prstGeom>
          <a:solidFill>
            <a:srgbClr val="5D606B"/>
          </a:solidFill>
          <a:ln/>
        </p:spPr>
      </p:sp>
      <p:pic>
        <p:nvPicPr>
          <p:cNvPr id="44" name="Image 11" descr="preencoded.png"/>
          <p:cNvPicPr>
            <a:picLocks noChangeAspect="1"/>
          </p:cNvPicPr>
          <p:nvPr/>
        </p:nvPicPr>
        <p:blipFill>
          <a:blip r:embed="rId14"/>
          <a:stretch>
            <a:fillRect/>
          </a:stretch>
        </p:blipFill>
        <p:spPr>
          <a:xfrm>
            <a:off x="482084" y="7355562"/>
            <a:ext cx="6798707" cy="443865"/>
          </a:xfrm>
          <a:prstGeom prst="rect">
            <a:avLst/>
          </a:prstGeom>
        </p:spPr>
      </p:pic>
      <p:sp>
        <p:nvSpPr>
          <p:cNvPr id="45" name="Text 31"/>
          <p:cNvSpPr/>
          <p:nvPr/>
        </p:nvSpPr>
        <p:spPr>
          <a:xfrm>
            <a:off x="3791426" y="7464981"/>
            <a:ext cx="179903" cy="224909"/>
          </a:xfrm>
          <a:prstGeom prst="rect">
            <a:avLst/>
          </a:prstGeom>
          <a:noFill/>
          <a:ln/>
        </p:spPr>
        <p:txBody>
          <a:bodyPr wrap="none" lIns="0" tIns="0" rIns="0" bIns="0" rtlCol="0" anchor="t"/>
          <a:lstStyle/>
          <a:p>
            <a:pPr marL="0" indent="0" algn="ctr">
              <a:lnSpc>
                <a:spcPts val="2250"/>
              </a:lnSpc>
              <a:buNone/>
            </a:pPr>
            <a:r>
              <a:rPr lang="en-US" sz="1400" dirty="0">
                <a:solidFill>
                  <a:srgbClr val="D6E5EF"/>
                </a:solidFill>
                <a:latin typeface="Lora" pitchFamily="34" charset="0"/>
                <a:ea typeface="Lora" pitchFamily="34" charset="-122"/>
                <a:cs typeface="Lora" pitchFamily="34" charset="-120"/>
              </a:rPr>
              <a:t>11</a:t>
            </a:r>
            <a:endParaRPr lang="en-US" sz="1400" dirty="0"/>
          </a:p>
        </p:txBody>
      </p:sp>
      <p:sp>
        <p:nvSpPr>
          <p:cNvPr id="46" name="Text 32"/>
          <p:cNvSpPr/>
          <p:nvPr/>
        </p:nvSpPr>
        <p:spPr>
          <a:xfrm>
            <a:off x="7408664" y="7483435"/>
            <a:ext cx="928330" cy="188119"/>
          </a:xfrm>
          <a:prstGeom prst="rect">
            <a:avLst/>
          </a:prstGeom>
          <a:noFill/>
          <a:ln/>
        </p:spPr>
        <p:txBody>
          <a:bodyPr wrap="none" lIns="0" tIns="0" rIns="0" bIns="0" rtlCol="0" anchor="t"/>
          <a:lstStyle/>
          <a:p>
            <a:pPr marL="0" indent="0" algn="l">
              <a:lnSpc>
                <a:spcPts val="1450"/>
              </a:lnSpc>
              <a:buNone/>
            </a:pPr>
            <a:r>
              <a:rPr lang="en-US" sz="1150" dirty="0">
                <a:solidFill>
                  <a:srgbClr val="D6E5EF"/>
                </a:solidFill>
                <a:latin typeface="Lora" pitchFamily="34" charset="0"/>
                <a:ea typeface="Lora" pitchFamily="34" charset="-122"/>
                <a:cs typeface="Lora" pitchFamily="34" charset="-120"/>
              </a:rPr>
              <a:t>Future Scope</a:t>
            </a:r>
            <a:endParaRPr lang="en-US" sz="1150" dirty="0"/>
          </a:p>
        </p:txBody>
      </p:sp>
      <p:sp>
        <p:nvSpPr>
          <p:cNvPr id="47" name="Rectangle 46">
            <a:extLst>
              <a:ext uri="{FF2B5EF4-FFF2-40B4-BE49-F238E27FC236}">
                <a16:creationId xmlns:a16="http://schemas.microsoft.com/office/drawing/2014/main" id="{167D3050-D560-4390-AD64-36F8FF4BD503}"/>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021080"/>
            <a:ext cx="7468553" cy="2112050"/>
          </a:xfrm>
          <a:prstGeom prst="rect">
            <a:avLst/>
          </a:prstGeom>
          <a:noFill/>
          <a:ln/>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House Price Prediction  Using Machine Learning</a:t>
            </a:r>
            <a:endParaRPr lang="en-US" sz="4400" dirty="0"/>
          </a:p>
        </p:txBody>
      </p:sp>
      <p:sp>
        <p:nvSpPr>
          <p:cNvPr id="4" name="Text 1"/>
          <p:cNvSpPr/>
          <p:nvPr/>
        </p:nvSpPr>
        <p:spPr>
          <a:xfrm>
            <a:off x="837724" y="3492103"/>
            <a:ext cx="7468553" cy="2298144"/>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India's real estate market is booming thanks to rapid urbanization and economic expansion. Traditional property valuation methods, however, are often subjective, leading to unreliable price estimations that can confuse buyers and sellers. By applying machine learning and geographic information systems (GIS), we can revolutionize this landscape with accurate, data-driven predictions.</a:t>
            </a:r>
            <a:endParaRPr lang="en-US" sz="1850" dirty="0"/>
          </a:p>
        </p:txBody>
      </p:sp>
      <p:sp>
        <p:nvSpPr>
          <p:cNvPr id="5" name="Text 2"/>
          <p:cNvSpPr/>
          <p:nvPr/>
        </p:nvSpPr>
        <p:spPr>
          <a:xfrm>
            <a:off x="837724" y="6059448"/>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This presentation introduces a cutting-edge approach using ML models to predict house prices across India, helping real estate stakeholders make smarter and more confident decisions.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148834"/>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Problem Statement</a:t>
            </a:r>
            <a:endParaRPr lang="en-US" sz="4400" dirty="0"/>
          </a:p>
        </p:txBody>
      </p:sp>
      <p:sp>
        <p:nvSpPr>
          <p:cNvPr id="4" name="Shape 1"/>
          <p:cNvSpPr/>
          <p:nvPr/>
        </p:nvSpPr>
        <p:spPr>
          <a:xfrm>
            <a:off x="6324124" y="2211824"/>
            <a:ext cx="3614618" cy="2506266"/>
          </a:xfrm>
          <a:prstGeom prst="roundRect">
            <a:avLst>
              <a:gd name="adj" fmla="val 1433"/>
            </a:avLst>
          </a:prstGeom>
          <a:solidFill>
            <a:srgbClr val="444752"/>
          </a:solidFill>
          <a:ln/>
        </p:spPr>
      </p:sp>
      <p:sp>
        <p:nvSpPr>
          <p:cNvPr id="5" name="Text 2"/>
          <p:cNvSpPr/>
          <p:nvPr/>
        </p:nvSpPr>
        <p:spPr>
          <a:xfrm>
            <a:off x="6563439" y="245114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Market Inefficiencies</a:t>
            </a:r>
            <a:endParaRPr lang="en-US" sz="2200" dirty="0"/>
          </a:p>
        </p:txBody>
      </p:sp>
      <p:sp>
        <p:nvSpPr>
          <p:cNvPr id="6" name="Text 3"/>
          <p:cNvSpPr/>
          <p:nvPr/>
        </p:nvSpPr>
        <p:spPr>
          <a:xfrm>
            <a:off x="6563439" y="2946678"/>
            <a:ext cx="3135987"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Current property price estimations are inconsistent, often varying widely due to subjective assessments.</a:t>
            </a:r>
            <a:endParaRPr lang="en-US" sz="1850" dirty="0"/>
          </a:p>
        </p:txBody>
      </p:sp>
      <p:sp>
        <p:nvSpPr>
          <p:cNvPr id="7" name="Shape 4"/>
          <p:cNvSpPr/>
          <p:nvPr/>
        </p:nvSpPr>
        <p:spPr>
          <a:xfrm>
            <a:off x="10178058" y="2211824"/>
            <a:ext cx="3614618" cy="2506266"/>
          </a:xfrm>
          <a:prstGeom prst="roundRect">
            <a:avLst>
              <a:gd name="adj" fmla="val 1433"/>
            </a:avLst>
          </a:prstGeom>
          <a:solidFill>
            <a:srgbClr val="444752"/>
          </a:solidFill>
          <a:ln/>
        </p:spPr>
      </p:sp>
      <p:sp>
        <p:nvSpPr>
          <p:cNvPr id="8" name="Text 5"/>
          <p:cNvSpPr/>
          <p:nvPr/>
        </p:nvSpPr>
        <p:spPr>
          <a:xfrm>
            <a:off x="10417373" y="245114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Tool Deficiency</a:t>
            </a:r>
            <a:endParaRPr lang="en-US" sz="2200" dirty="0"/>
          </a:p>
        </p:txBody>
      </p:sp>
      <p:sp>
        <p:nvSpPr>
          <p:cNvPr id="9" name="Text 6"/>
          <p:cNvSpPr/>
          <p:nvPr/>
        </p:nvSpPr>
        <p:spPr>
          <a:xfrm>
            <a:off x="10417373" y="2946678"/>
            <a:ext cx="3135987"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There is a lack of accessible, user-friendly digital tools that integrate detailed features and location data.</a:t>
            </a:r>
            <a:endParaRPr lang="en-US" sz="1850" dirty="0"/>
          </a:p>
        </p:txBody>
      </p:sp>
      <p:sp>
        <p:nvSpPr>
          <p:cNvPr id="10" name="Shape 7"/>
          <p:cNvSpPr/>
          <p:nvPr/>
        </p:nvSpPr>
        <p:spPr>
          <a:xfrm>
            <a:off x="6324124" y="4957405"/>
            <a:ext cx="7468553" cy="2123242"/>
          </a:xfrm>
          <a:prstGeom prst="roundRect">
            <a:avLst>
              <a:gd name="adj" fmla="val 1691"/>
            </a:avLst>
          </a:prstGeom>
          <a:solidFill>
            <a:srgbClr val="444752"/>
          </a:solidFill>
          <a:ln/>
        </p:spPr>
      </p:sp>
      <p:sp>
        <p:nvSpPr>
          <p:cNvPr id="11" name="Text 8"/>
          <p:cNvSpPr/>
          <p:nvPr/>
        </p:nvSpPr>
        <p:spPr>
          <a:xfrm>
            <a:off x="6563439" y="5196721"/>
            <a:ext cx="3524250"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Complex Market Dynamics</a:t>
            </a:r>
            <a:endParaRPr lang="en-US" sz="2200" dirty="0"/>
          </a:p>
        </p:txBody>
      </p:sp>
      <p:sp>
        <p:nvSpPr>
          <p:cNvPr id="12" name="Text 9"/>
          <p:cNvSpPr/>
          <p:nvPr/>
        </p:nvSpPr>
        <p:spPr>
          <a:xfrm>
            <a:off x="6563439" y="5692259"/>
            <a:ext cx="6989921"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Existing solutions struggle to capture the complexity of India's diverse real estate market, such as Bangalore’s 20-30% price variation for similar properties.</a:t>
            </a:r>
            <a:endParaRPr lang="en-US" sz="1850" dirty="0"/>
          </a:p>
        </p:txBody>
      </p:sp>
      <p:sp>
        <p:nvSpPr>
          <p:cNvPr id="13" name="Rectangle 12">
            <a:extLst>
              <a:ext uri="{FF2B5EF4-FFF2-40B4-BE49-F238E27FC236}">
                <a16:creationId xmlns:a16="http://schemas.microsoft.com/office/drawing/2014/main" id="{19941B04-7AEC-4CC9-89D7-783E954B34B4}"/>
              </a:ext>
            </a:extLst>
          </p:cNvPr>
          <p:cNvSpPr/>
          <p:nvPr/>
        </p:nvSpPr>
        <p:spPr>
          <a:xfrm>
            <a:off x="12738538"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2458"/>
          </a:xfrm>
          <a:prstGeom prst="rect">
            <a:avLst/>
          </a:prstGeom>
        </p:spPr>
      </p:pic>
      <p:sp>
        <p:nvSpPr>
          <p:cNvPr id="3" name="Text 0"/>
          <p:cNvSpPr/>
          <p:nvPr/>
        </p:nvSpPr>
        <p:spPr>
          <a:xfrm>
            <a:off x="6236851" y="589598"/>
            <a:ext cx="5045512" cy="630674"/>
          </a:xfrm>
          <a:prstGeom prst="rect">
            <a:avLst/>
          </a:prstGeom>
          <a:noFill/>
          <a:ln/>
        </p:spPr>
        <p:txBody>
          <a:bodyPr wrap="none" lIns="0" tIns="0" rIns="0" bIns="0" rtlCol="0" anchor="t"/>
          <a:lstStyle/>
          <a:p>
            <a:pPr marL="0" indent="0" algn="l">
              <a:lnSpc>
                <a:spcPts val="4950"/>
              </a:lnSpc>
              <a:buNone/>
            </a:pPr>
            <a:r>
              <a:rPr lang="en-US" sz="3950" dirty="0">
                <a:solidFill>
                  <a:srgbClr val="F98AC7"/>
                </a:solidFill>
                <a:latin typeface="Lora" pitchFamily="34" charset="0"/>
                <a:ea typeface="Lora" pitchFamily="34" charset="-122"/>
                <a:cs typeface="Lora" pitchFamily="34" charset="-120"/>
              </a:rPr>
              <a:t>Project Objective</a:t>
            </a:r>
            <a:endParaRPr lang="en-US" sz="3950" dirty="0"/>
          </a:p>
        </p:txBody>
      </p:sp>
      <p:sp>
        <p:nvSpPr>
          <p:cNvPr id="4" name="Shape 1"/>
          <p:cNvSpPr/>
          <p:nvPr/>
        </p:nvSpPr>
        <p:spPr>
          <a:xfrm>
            <a:off x="6236851" y="1541859"/>
            <a:ext cx="482441" cy="482441"/>
          </a:xfrm>
          <a:prstGeom prst="roundRect">
            <a:avLst>
              <a:gd name="adj" fmla="val 6667"/>
            </a:avLst>
          </a:prstGeom>
          <a:solidFill>
            <a:srgbClr val="444752"/>
          </a:solidFill>
          <a:ln/>
        </p:spPr>
      </p:sp>
      <p:sp>
        <p:nvSpPr>
          <p:cNvPr id="5" name="Text 2"/>
          <p:cNvSpPr/>
          <p:nvPr/>
        </p:nvSpPr>
        <p:spPr>
          <a:xfrm>
            <a:off x="6326743" y="1593890"/>
            <a:ext cx="302657" cy="378381"/>
          </a:xfrm>
          <a:prstGeom prst="rect">
            <a:avLst/>
          </a:prstGeom>
          <a:noFill/>
          <a:ln/>
        </p:spPr>
        <p:txBody>
          <a:bodyPr wrap="none" lIns="0" tIns="0" rIns="0" bIns="0" rtlCol="0" anchor="t"/>
          <a:lstStyle/>
          <a:p>
            <a:pPr marL="0" indent="0" algn="ctr">
              <a:lnSpc>
                <a:spcPts val="2350"/>
              </a:lnSpc>
              <a:buNone/>
            </a:pPr>
            <a:r>
              <a:rPr lang="en-US" sz="2350" dirty="0">
                <a:solidFill>
                  <a:srgbClr val="D6E5EF"/>
                </a:solidFill>
                <a:latin typeface="Lora" pitchFamily="34" charset="0"/>
                <a:ea typeface="Lora" pitchFamily="34" charset="-122"/>
                <a:cs typeface="Lora" pitchFamily="34" charset="-120"/>
              </a:rPr>
              <a:t>1</a:t>
            </a:r>
            <a:endParaRPr lang="en-US" sz="2350" dirty="0"/>
          </a:p>
        </p:txBody>
      </p:sp>
      <p:sp>
        <p:nvSpPr>
          <p:cNvPr id="6" name="Text 3"/>
          <p:cNvSpPr/>
          <p:nvPr/>
        </p:nvSpPr>
        <p:spPr>
          <a:xfrm>
            <a:off x="6933724" y="1615559"/>
            <a:ext cx="2679383" cy="31527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Lora" pitchFamily="34" charset="0"/>
                <a:ea typeface="Lora" pitchFamily="34" charset="-122"/>
                <a:cs typeface="Lora" pitchFamily="34" charset="-120"/>
              </a:rPr>
              <a:t>Web App Development</a:t>
            </a:r>
            <a:endParaRPr lang="en-US" sz="1950" dirty="0"/>
          </a:p>
        </p:txBody>
      </p:sp>
      <p:sp>
        <p:nvSpPr>
          <p:cNvPr id="7" name="Text 4"/>
          <p:cNvSpPr/>
          <p:nvPr/>
        </p:nvSpPr>
        <p:spPr>
          <a:xfrm>
            <a:off x="6933724" y="2059424"/>
            <a:ext cx="6946225" cy="686038"/>
          </a:xfrm>
          <a:prstGeom prst="rect">
            <a:avLst/>
          </a:prstGeom>
          <a:noFill/>
          <a:ln/>
        </p:spPr>
        <p:txBody>
          <a:bodyPr wrap="square" lIns="0" tIns="0" rIns="0" bIns="0" rtlCol="0" anchor="t"/>
          <a:lstStyle/>
          <a:p>
            <a:pPr marL="0" indent="0" algn="l">
              <a:lnSpc>
                <a:spcPts val="2700"/>
              </a:lnSpc>
              <a:buNone/>
            </a:pPr>
            <a:r>
              <a:rPr lang="en-US" sz="1650" dirty="0">
                <a:solidFill>
                  <a:srgbClr val="D6E5EF"/>
                </a:solidFill>
                <a:latin typeface="Source Sans Pro" pitchFamily="34" charset="0"/>
                <a:ea typeface="Source Sans Pro" pitchFamily="34" charset="-122"/>
                <a:cs typeface="Source Sans Pro" pitchFamily="34" charset="-120"/>
              </a:rPr>
              <a:t>Create an interactive web-based tool for house price prediction harnessing machine learning capabilities.</a:t>
            </a:r>
            <a:endParaRPr lang="en-US" sz="1650" dirty="0"/>
          </a:p>
        </p:txBody>
      </p:sp>
      <p:sp>
        <p:nvSpPr>
          <p:cNvPr id="8" name="Shape 5"/>
          <p:cNvSpPr/>
          <p:nvPr/>
        </p:nvSpPr>
        <p:spPr>
          <a:xfrm>
            <a:off x="6236851" y="3174325"/>
            <a:ext cx="482441" cy="482441"/>
          </a:xfrm>
          <a:prstGeom prst="roundRect">
            <a:avLst>
              <a:gd name="adj" fmla="val 6667"/>
            </a:avLst>
          </a:prstGeom>
          <a:solidFill>
            <a:srgbClr val="444752"/>
          </a:solidFill>
          <a:ln/>
        </p:spPr>
      </p:sp>
      <p:sp>
        <p:nvSpPr>
          <p:cNvPr id="9" name="Text 6"/>
          <p:cNvSpPr/>
          <p:nvPr/>
        </p:nvSpPr>
        <p:spPr>
          <a:xfrm>
            <a:off x="6326743" y="3226356"/>
            <a:ext cx="302657" cy="378381"/>
          </a:xfrm>
          <a:prstGeom prst="rect">
            <a:avLst/>
          </a:prstGeom>
          <a:noFill/>
          <a:ln/>
        </p:spPr>
        <p:txBody>
          <a:bodyPr wrap="none" lIns="0" tIns="0" rIns="0" bIns="0" rtlCol="0" anchor="t"/>
          <a:lstStyle/>
          <a:p>
            <a:pPr marL="0" indent="0" algn="ctr">
              <a:lnSpc>
                <a:spcPts val="2350"/>
              </a:lnSpc>
              <a:buNone/>
            </a:pPr>
            <a:r>
              <a:rPr lang="en-US" sz="2350" dirty="0">
                <a:solidFill>
                  <a:srgbClr val="D6E5EF"/>
                </a:solidFill>
                <a:latin typeface="Lora" pitchFamily="34" charset="0"/>
                <a:ea typeface="Lora" pitchFamily="34" charset="-122"/>
                <a:cs typeface="Lora" pitchFamily="34" charset="-120"/>
              </a:rPr>
              <a:t>2</a:t>
            </a:r>
            <a:endParaRPr lang="en-US" sz="2350" dirty="0"/>
          </a:p>
        </p:txBody>
      </p:sp>
      <p:sp>
        <p:nvSpPr>
          <p:cNvPr id="10" name="Text 7"/>
          <p:cNvSpPr/>
          <p:nvPr/>
        </p:nvSpPr>
        <p:spPr>
          <a:xfrm>
            <a:off x="6933724" y="3248025"/>
            <a:ext cx="2522696" cy="31527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Lora" pitchFamily="34" charset="0"/>
                <a:ea typeface="Lora" pitchFamily="34" charset="-122"/>
                <a:cs typeface="Lora" pitchFamily="34" charset="-120"/>
              </a:rPr>
              <a:t>Multi-Model Training</a:t>
            </a:r>
            <a:endParaRPr lang="en-US" sz="1950" dirty="0"/>
          </a:p>
        </p:txBody>
      </p:sp>
      <p:sp>
        <p:nvSpPr>
          <p:cNvPr id="11" name="Text 8"/>
          <p:cNvSpPr/>
          <p:nvPr/>
        </p:nvSpPr>
        <p:spPr>
          <a:xfrm>
            <a:off x="6933724" y="3691890"/>
            <a:ext cx="6946225" cy="686038"/>
          </a:xfrm>
          <a:prstGeom prst="rect">
            <a:avLst/>
          </a:prstGeom>
          <a:noFill/>
          <a:ln/>
        </p:spPr>
        <p:txBody>
          <a:bodyPr wrap="square" lIns="0" tIns="0" rIns="0" bIns="0" rtlCol="0" anchor="t"/>
          <a:lstStyle/>
          <a:p>
            <a:pPr marL="0" indent="0" algn="l">
              <a:lnSpc>
                <a:spcPts val="2700"/>
              </a:lnSpc>
              <a:buNone/>
            </a:pPr>
            <a:r>
              <a:rPr lang="en-US" sz="1650" dirty="0">
                <a:solidFill>
                  <a:srgbClr val="D6E5EF"/>
                </a:solidFill>
                <a:latin typeface="Source Sans Pro" pitchFamily="34" charset="0"/>
                <a:ea typeface="Source Sans Pro" pitchFamily="34" charset="-122"/>
                <a:cs typeface="Source Sans Pro" pitchFamily="34" charset="-120"/>
              </a:rPr>
              <a:t>Train and compare multiple regression algorithms including Decision Tree, Random Forest, KNN, Huber, and CatBoost to identify the most accurate.</a:t>
            </a:r>
            <a:endParaRPr lang="en-US" sz="1650" dirty="0"/>
          </a:p>
        </p:txBody>
      </p:sp>
      <p:sp>
        <p:nvSpPr>
          <p:cNvPr id="12" name="Shape 9"/>
          <p:cNvSpPr/>
          <p:nvPr/>
        </p:nvSpPr>
        <p:spPr>
          <a:xfrm>
            <a:off x="6236851" y="4806791"/>
            <a:ext cx="482441" cy="482441"/>
          </a:xfrm>
          <a:prstGeom prst="roundRect">
            <a:avLst>
              <a:gd name="adj" fmla="val 6667"/>
            </a:avLst>
          </a:prstGeom>
          <a:solidFill>
            <a:srgbClr val="444752"/>
          </a:solidFill>
          <a:ln/>
        </p:spPr>
      </p:sp>
      <p:sp>
        <p:nvSpPr>
          <p:cNvPr id="13" name="Text 10"/>
          <p:cNvSpPr/>
          <p:nvPr/>
        </p:nvSpPr>
        <p:spPr>
          <a:xfrm>
            <a:off x="6326743" y="4858822"/>
            <a:ext cx="302657" cy="378381"/>
          </a:xfrm>
          <a:prstGeom prst="rect">
            <a:avLst/>
          </a:prstGeom>
          <a:noFill/>
          <a:ln/>
        </p:spPr>
        <p:txBody>
          <a:bodyPr wrap="none" lIns="0" tIns="0" rIns="0" bIns="0" rtlCol="0" anchor="t"/>
          <a:lstStyle/>
          <a:p>
            <a:pPr marL="0" indent="0" algn="ctr">
              <a:lnSpc>
                <a:spcPts val="2350"/>
              </a:lnSpc>
              <a:buNone/>
            </a:pPr>
            <a:r>
              <a:rPr lang="en-US" sz="2350" dirty="0">
                <a:solidFill>
                  <a:srgbClr val="D6E5EF"/>
                </a:solidFill>
                <a:latin typeface="Lora" pitchFamily="34" charset="0"/>
                <a:ea typeface="Lora" pitchFamily="34" charset="-122"/>
                <a:cs typeface="Lora" pitchFamily="34" charset="-120"/>
              </a:rPr>
              <a:t>3</a:t>
            </a:r>
            <a:endParaRPr lang="en-US" sz="2350" dirty="0"/>
          </a:p>
        </p:txBody>
      </p:sp>
      <p:sp>
        <p:nvSpPr>
          <p:cNvPr id="14" name="Text 11"/>
          <p:cNvSpPr/>
          <p:nvPr/>
        </p:nvSpPr>
        <p:spPr>
          <a:xfrm>
            <a:off x="6933724" y="4880491"/>
            <a:ext cx="2522696" cy="31527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Lora" pitchFamily="34" charset="0"/>
                <a:ea typeface="Lora" pitchFamily="34" charset="-122"/>
                <a:cs typeface="Lora" pitchFamily="34" charset="-120"/>
              </a:rPr>
              <a:t>GIS Integration</a:t>
            </a:r>
            <a:endParaRPr lang="en-US" sz="1950" dirty="0"/>
          </a:p>
        </p:txBody>
      </p:sp>
      <p:sp>
        <p:nvSpPr>
          <p:cNvPr id="15" name="Text 12"/>
          <p:cNvSpPr/>
          <p:nvPr/>
        </p:nvSpPr>
        <p:spPr>
          <a:xfrm>
            <a:off x="6933724" y="5324356"/>
            <a:ext cx="6946225" cy="686038"/>
          </a:xfrm>
          <a:prstGeom prst="rect">
            <a:avLst/>
          </a:prstGeom>
          <a:noFill/>
          <a:ln/>
        </p:spPr>
        <p:txBody>
          <a:bodyPr wrap="square" lIns="0" tIns="0" rIns="0" bIns="0" rtlCol="0" anchor="t"/>
          <a:lstStyle/>
          <a:p>
            <a:pPr marL="0" indent="0" algn="l">
              <a:lnSpc>
                <a:spcPts val="2700"/>
              </a:lnSpc>
              <a:buNone/>
            </a:pPr>
            <a:r>
              <a:rPr lang="en-US" sz="1650" dirty="0">
                <a:solidFill>
                  <a:srgbClr val="D6E5EF"/>
                </a:solidFill>
                <a:latin typeface="Source Sans Pro" pitchFamily="34" charset="0"/>
                <a:ea typeface="Source Sans Pro" pitchFamily="34" charset="-122"/>
                <a:cs typeface="Source Sans Pro" pitchFamily="34" charset="-120"/>
              </a:rPr>
              <a:t>Plan to integrate Google Maps API for enhanced spatial data usage and location accuracy.</a:t>
            </a:r>
            <a:endParaRPr lang="en-US" sz="1650" dirty="0"/>
          </a:p>
        </p:txBody>
      </p:sp>
      <p:sp>
        <p:nvSpPr>
          <p:cNvPr id="16" name="Shape 13"/>
          <p:cNvSpPr/>
          <p:nvPr/>
        </p:nvSpPr>
        <p:spPr>
          <a:xfrm>
            <a:off x="6236851" y="6439257"/>
            <a:ext cx="482441" cy="482441"/>
          </a:xfrm>
          <a:prstGeom prst="roundRect">
            <a:avLst>
              <a:gd name="adj" fmla="val 6667"/>
            </a:avLst>
          </a:prstGeom>
          <a:solidFill>
            <a:srgbClr val="444752"/>
          </a:solidFill>
          <a:ln/>
        </p:spPr>
      </p:sp>
      <p:sp>
        <p:nvSpPr>
          <p:cNvPr id="17" name="Text 14"/>
          <p:cNvSpPr/>
          <p:nvPr/>
        </p:nvSpPr>
        <p:spPr>
          <a:xfrm>
            <a:off x="6326743" y="6491288"/>
            <a:ext cx="302657" cy="378381"/>
          </a:xfrm>
          <a:prstGeom prst="rect">
            <a:avLst/>
          </a:prstGeom>
          <a:noFill/>
          <a:ln/>
        </p:spPr>
        <p:txBody>
          <a:bodyPr wrap="none" lIns="0" tIns="0" rIns="0" bIns="0" rtlCol="0" anchor="t"/>
          <a:lstStyle/>
          <a:p>
            <a:pPr marL="0" indent="0" algn="ctr">
              <a:lnSpc>
                <a:spcPts val="2350"/>
              </a:lnSpc>
              <a:buNone/>
            </a:pPr>
            <a:r>
              <a:rPr lang="en-US" sz="2350" dirty="0">
                <a:solidFill>
                  <a:srgbClr val="D6E5EF"/>
                </a:solidFill>
                <a:latin typeface="Lora" pitchFamily="34" charset="0"/>
                <a:ea typeface="Lora" pitchFamily="34" charset="-122"/>
                <a:cs typeface="Lora" pitchFamily="34" charset="-120"/>
              </a:rPr>
              <a:t>4</a:t>
            </a:r>
            <a:endParaRPr lang="en-US" sz="2350" dirty="0"/>
          </a:p>
        </p:txBody>
      </p:sp>
      <p:sp>
        <p:nvSpPr>
          <p:cNvPr id="18" name="Text 15"/>
          <p:cNvSpPr/>
          <p:nvPr/>
        </p:nvSpPr>
        <p:spPr>
          <a:xfrm>
            <a:off x="6933724" y="6512957"/>
            <a:ext cx="2522696" cy="31527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Lora" pitchFamily="34" charset="0"/>
                <a:ea typeface="Lora" pitchFamily="34" charset="-122"/>
                <a:cs typeface="Lora" pitchFamily="34" charset="-120"/>
              </a:rPr>
              <a:t>User Engagement</a:t>
            </a:r>
            <a:endParaRPr lang="en-US" sz="1950" dirty="0"/>
          </a:p>
        </p:txBody>
      </p:sp>
      <p:sp>
        <p:nvSpPr>
          <p:cNvPr id="19" name="Text 16"/>
          <p:cNvSpPr/>
          <p:nvPr/>
        </p:nvSpPr>
        <p:spPr>
          <a:xfrm>
            <a:off x="6933724" y="6956822"/>
            <a:ext cx="6946225" cy="686038"/>
          </a:xfrm>
          <a:prstGeom prst="rect">
            <a:avLst/>
          </a:prstGeom>
          <a:noFill/>
          <a:ln/>
        </p:spPr>
        <p:txBody>
          <a:bodyPr wrap="square" lIns="0" tIns="0" rIns="0" bIns="0" rtlCol="0" anchor="t"/>
          <a:lstStyle/>
          <a:p>
            <a:pPr marL="0" indent="0" algn="l">
              <a:lnSpc>
                <a:spcPts val="2700"/>
              </a:lnSpc>
              <a:buNone/>
            </a:pPr>
            <a:r>
              <a:rPr lang="en-US" sz="1650" dirty="0">
                <a:solidFill>
                  <a:srgbClr val="D6E5EF"/>
                </a:solidFill>
                <a:latin typeface="Source Sans Pro" pitchFamily="34" charset="0"/>
                <a:ea typeface="Source Sans Pro" pitchFamily="34" charset="-122"/>
                <a:cs typeface="Source Sans Pro" pitchFamily="34" charset="-120"/>
              </a:rPr>
              <a:t>Provide buyers, sellers, and analysts with a real-time tool targeting 90% prediction accuracy within a ±5% margin.</a:t>
            </a:r>
            <a:endParaRPr lang="en-US" sz="1650" dirty="0"/>
          </a:p>
        </p:txBody>
      </p:sp>
      <p:sp>
        <p:nvSpPr>
          <p:cNvPr id="20" name="Rectangle 19">
            <a:extLst>
              <a:ext uri="{FF2B5EF4-FFF2-40B4-BE49-F238E27FC236}">
                <a16:creationId xmlns:a16="http://schemas.microsoft.com/office/drawing/2014/main" id="{E63F008E-1E3B-4BAD-99A4-1C98343F98AC}"/>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2234565"/>
            <a:ext cx="6146483"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Tools and Technologies</a:t>
            </a:r>
            <a:endParaRPr lang="en-US" sz="4400" dirty="0"/>
          </a:p>
        </p:txBody>
      </p:sp>
      <p:sp>
        <p:nvSpPr>
          <p:cNvPr id="3" name="Text 1"/>
          <p:cNvSpPr/>
          <p:nvPr/>
        </p:nvSpPr>
        <p:spPr>
          <a:xfrm>
            <a:off x="837724" y="3536871"/>
            <a:ext cx="3283029"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Programming &amp; Libraries</a:t>
            </a:r>
            <a:endParaRPr lang="en-US" sz="2200" dirty="0"/>
          </a:p>
        </p:txBody>
      </p:sp>
      <p:sp>
        <p:nvSpPr>
          <p:cNvPr id="4" name="Text 2"/>
          <p:cNvSpPr/>
          <p:nvPr/>
        </p:nvSpPr>
        <p:spPr>
          <a:xfrm>
            <a:off x="837724" y="4128135"/>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Python 3.9</a:t>
            </a:r>
            <a:endParaRPr lang="en-US" sz="1850" dirty="0"/>
          </a:p>
        </p:txBody>
      </p:sp>
      <p:sp>
        <p:nvSpPr>
          <p:cNvPr id="5" name="Text 3"/>
          <p:cNvSpPr/>
          <p:nvPr/>
        </p:nvSpPr>
        <p:spPr>
          <a:xfrm>
            <a:off x="837724" y="4594860"/>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Pandas, NumPy</a:t>
            </a:r>
            <a:endParaRPr lang="en-US" sz="1850" dirty="0"/>
          </a:p>
        </p:txBody>
      </p:sp>
      <p:sp>
        <p:nvSpPr>
          <p:cNvPr id="6" name="Text 4"/>
          <p:cNvSpPr/>
          <p:nvPr/>
        </p:nvSpPr>
        <p:spPr>
          <a:xfrm>
            <a:off x="837724" y="5061585"/>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Scikit-learn 1.2</a:t>
            </a:r>
            <a:endParaRPr lang="en-US" sz="1850" dirty="0"/>
          </a:p>
        </p:txBody>
      </p:sp>
      <p:sp>
        <p:nvSpPr>
          <p:cNvPr id="7" name="Text 5"/>
          <p:cNvSpPr/>
          <p:nvPr/>
        </p:nvSpPr>
        <p:spPr>
          <a:xfrm>
            <a:off x="837724" y="5528310"/>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CatBoost</a:t>
            </a:r>
            <a:endParaRPr lang="en-US" sz="1850" dirty="0"/>
          </a:p>
        </p:txBody>
      </p:sp>
      <p:sp>
        <p:nvSpPr>
          <p:cNvPr id="8" name="Text 6"/>
          <p:cNvSpPr/>
          <p:nvPr/>
        </p:nvSpPr>
        <p:spPr>
          <a:xfrm>
            <a:off x="5357813" y="3536871"/>
            <a:ext cx="3757017"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Development &amp; Visualization</a:t>
            </a:r>
            <a:endParaRPr lang="en-US" sz="2200" dirty="0"/>
          </a:p>
        </p:txBody>
      </p:sp>
      <p:sp>
        <p:nvSpPr>
          <p:cNvPr id="9" name="Text 7"/>
          <p:cNvSpPr/>
          <p:nvPr/>
        </p:nvSpPr>
        <p:spPr>
          <a:xfrm>
            <a:off x="5357813" y="4128135"/>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Flask Web Framework 2.0</a:t>
            </a:r>
            <a:endParaRPr lang="en-US" sz="1850" dirty="0"/>
          </a:p>
        </p:txBody>
      </p:sp>
      <p:sp>
        <p:nvSpPr>
          <p:cNvPr id="10" name="Text 8"/>
          <p:cNvSpPr/>
          <p:nvPr/>
        </p:nvSpPr>
        <p:spPr>
          <a:xfrm>
            <a:off x="5357813" y="4594860"/>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Frontend: HTML, CSS, JavaScript</a:t>
            </a:r>
            <a:endParaRPr lang="en-US" sz="1850" dirty="0"/>
          </a:p>
        </p:txBody>
      </p:sp>
      <p:sp>
        <p:nvSpPr>
          <p:cNvPr id="11" name="Text 9"/>
          <p:cNvSpPr/>
          <p:nvPr/>
        </p:nvSpPr>
        <p:spPr>
          <a:xfrm>
            <a:off x="5357813" y="5061585"/>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Matplotlib &amp; Seaborn for charts</a:t>
            </a:r>
            <a:endParaRPr lang="en-US" sz="1850" dirty="0"/>
          </a:p>
        </p:txBody>
      </p:sp>
      <p:sp>
        <p:nvSpPr>
          <p:cNvPr id="12" name="Text 10"/>
          <p:cNvSpPr/>
          <p:nvPr/>
        </p:nvSpPr>
        <p:spPr>
          <a:xfrm>
            <a:off x="5357813" y="5528310"/>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6E5EF"/>
                </a:solidFill>
                <a:latin typeface="Source Sans Pro" pitchFamily="34" charset="0"/>
                <a:ea typeface="Source Sans Pro" pitchFamily="34" charset="-122"/>
                <a:cs typeface="Source Sans Pro" pitchFamily="34" charset="-120"/>
              </a:rPr>
              <a:t>Deployment on Render.com</a:t>
            </a:r>
            <a:endParaRPr lang="en-US" sz="1850" dirty="0"/>
          </a:p>
        </p:txBody>
      </p:sp>
      <p:sp>
        <p:nvSpPr>
          <p:cNvPr id="13" name="Text 11"/>
          <p:cNvSpPr/>
          <p:nvPr/>
        </p:nvSpPr>
        <p:spPr>
          <a:xfrm>
            <a:off x="9877901" y="353687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Future Integrations</a:t>
            </a:r>
            <a:endParaRPr lang="en-US" sz="2200" dirty="0"/>
          </a:p>
        </p:txBody>
      </p:sp>
      <p:sp>
        <p:nvSpPr>
          <p:cNvPr id="14" name="Text 12"/>
          <p:cNvSpPr/>
          <p:nvPr/>
        </p:nvSpPr>
        <p:spPr>
          <a:xfrm>
            <a:off x="9877901" y="4128135"/>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GIS capabilities using Google Maps API for richer spatial data integration to enhance prediction accuracy.</a:t>
            </a:r>
            <a:endParaRPr lang="en-US" sz="1850" dirty="0"/>
          </a:p>
        </p:txBody>
      </p:sp>
      <p:sp>
        <p:nvSpPr>
          <p:cNvPr id="15" name="Rectangle 14">
            <a:extLst>
              <a:ext uri="{FF2B5EF4-FFF2-40B4-BE49-F238E27FC236}">
                <a16:creationId xmlns:a16="http://schemas.microsoft.com/office/drawing/2014/main" id="{F0E23114-A8A1-46A6-A9AE-5CC99D2014E3}"/>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2798" y="679847"/>
            <a:ext cx="4749522" cy="593646"/>
          </a:xfrm>
          <a:prstGeom prst="rect">
            <a:avLst/>
          </a:prstGeom>
          <a:noFill/>
          <a:ln/>
        </p:spPr>
        <p:txBody>
          <a:bodyPr wrap="none" lIns="0" tIns="0" rIns="0" bIns="0" rtlCol="0" anchor="t"/>
          <a:lstStyle/>
          <a:p>
            <a:pPr marL="0" indent="0" algn="l">
              <a:lnSpc>
                <a:spcPts val="4650"/>
              </a:lnSpc>
              <a:buNone/>
            </a:pPr>
            <a:r>
              <a:rPr lang="en-US" sz="3700" dirty="0">
                <a:solidFill>
                  <a:srgbClr val="F98AC7"/>
                </a:solidFill>
                <a:latin typeface="Lora" pitchFamily="34" charset="0"/>
                <a:ea typeface="Lora" pitchFamily="34" charset="-122"/>
                <a:cs typeface="Lora" pitchFamily="34" charset="-120"/>
              </a:rPr>
              <a:t>System Architecture</a:t>
            </a:r>
            <a:endParaRPr lang="en-US" sz="3700" dirty="0"/>
          </a:p>
        </p:txBody>
      </p:sp>
      <p:pic>
        <p:nvPicPr>
          <p:cNvPr id="4" name="Image 1" descr="preencoded.png"/>
          <p:cNvPicPr>
            <a:picLocks noChangeAspect="1"/>
          </p:cNvPicPr>
          <p:nvPr/>
        </p:nvPicPr>
        <p:blipFill>
          <a:blip r:embed="rId4"/>
          <a:stretch>
            <a:fillRect/>
          </a:stretch>
        </p:blipFill>
        <p:spPr>
          <a:xfrm>
            <a:off x="6192798" y="1576268"/>
            <a:ext cx="1009174" cy="1467326"/>
          </a:xfrm>
          <a:prstGeom prst="rect">
            <a:avLst/>
          </a:prstGeom>
        </p:spPr>
      </p:pic>
      <p:sp>
        <p:nvSpPr>
          <p:cNvPr id="5" name="Text 1"/>
          <p:cNvSpPr/>
          <p:nvPr/>
        </p:nvSpPr>
        <p:spPr>
          <a:xfrm>
            <a:off x="7504748" y="1778079"/>
            <a:ext cx="2374702" cy="296823"/>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User Input</a:t>
            </a:r>
            <a:endParaRPr lang="en-US" sz="1850" dirty="0"/>
          </a:p>
        </p:txBody>
      </p:sp>
      <p:sp>
        <p:nvSpPr>
          <p:cNvPr id="6" name="Text 2"/>
          <p:cNvSpPr/>
          <p:nvPr/>
        </p:nvSpPr>
        <p:spPr>
          <a:xfrm>
            <a:off x="7504748" y="2195989"/>
            <a:ext cx="6419255" cy="645795"/>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Users submit property details like area, location, and amenities via a web interface.</a:t>
            </a:r>
            <a:endParaRPr lang="en-US" sz="1550" dirty="0"/>
          </a:p>
        </p:txBody>
      </p:sp>
      <p:pic>
        <p:nvPicPr>
          <p:cNvPr id="7" name="Image 2" descr="preencoded.png"/>
          <p:cNvPicPr>
            <a:picLocks noChangeAspect="1"/>
          </p:cNvPicPr>
          <p:nvPr/>
        </p:nvPicPr>
        <p:blipFill>
          <a:blip r:embed="rId5"/>
          <a:stretch>
            <a:fillRect/>
          </a:stretch>
        </p:blipFill>
        <p:spPr>
          <a:xfrm>
            <a:off x="6192798" y="3043595"/>
            <a:ext cx="1009174" cy="1211104"/>
          </a:xfrm>
          <a:prstGeom prst="rect">
            <a:avLst/>
          </a:prstGeom>
        </p:spPr>
      </p:pic>
      <p:sp>
        <p:nvSpPr>
          <p:cNvPr id="8" name="Text 3"/>
          <p:cNvSpPr/>
          <p:nvPr/>
        </p:nvSpPr>
        <p:spPr>
          <a:xfrm>
            <a:off x="7504748" y="3245406"/>
            <a:ext cx="2374702" cy="296823"/>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Data Processing</a:t>
            </a:r>
            <a:endParaRPr lang="en-US" sz="1850" dirty="0"/>
          </a:p>
        </p:txBody>
      </p:sp>
      <p:sp>
        <p:nvSpPr>
          <p:cNvPr id="9" name="Text 4"/>
          <p:cNvSpPr/>
          <p:nvPr/>
        </p:nvSpPr>
        <p:spPr>
          <a:xfrm>
            <a:off x="7504748" y="3663315"/>
            <a:ext cx="6419255" cy="322898"/>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Backend Flask API preprocesses data, including encoding and cleaning.</a:t>
            </a:r>
            <a:endParaRPr lang="en-US" sz="1550" dirty="0"/>
          </a:p>
        </p:txBody>
      </p:sp>
      <p:pic>
        <p:nvPicPr>
          <p:cNvPr id="10" name="Image 3" descr="preencoded.png"/>
          <p:cNvPicPr>
            <a:picLocks noChangeAspect="1"/>
          </p:cNvPicPr>
          <p:nvPr/>
        </p:nvPicPr>
        <p:blipFill>
          <a:blip r:embed="rId6"/>
          <a:stretch>
            <a:fillRect/>
          </a:stretch>
        </p:blipFill>
        <p:spPr>
          <a:xfrm>
            <a:off x="6192798" y="4254698"/>
            <a:ext cx="1009174" cy="1211104"/>
          </a:xfrm>
          <a:prstGeom prst="rect">
            <a:avLst/>
          </a:prstGeom>
        </p:spPr>
      </p:pic>
      <p:sp>
        <p:nvSpPr>
          <p:cNvPr id="11" name="Text 5"/>
          <p:cNvSpPr/>
          <p:nvPr/>
        </p:nvSpPr>
        <p:spPr>
          <a:xfrm>
            <a:off x="7504748" y="4456509"/>
            <a:ext cx="2374702" cy="296823"/>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ML Model Prediction</a:t>
            </a:r>
            <a:endParaRPr lang="en-US" sz="1850" dirty="0"/>
          </a:p>
        </p:txBody>
      </p:sp>
      <p:sp>
        <p:nvSpPr>
          <p:cNvPr id="12" name="Text 6"/>
          <p:cNvSpPr/>
          <p:nvPr/>
        </p:nvSpPr>
        <p:spPr>
          <a:xfrm>
            <a:off x="7504748" y="4874419"/>
            <a:ext cx="6419255" cy="322898"/>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Trained regression models generate house price estimates in real-time.</a:t>
            </a:r>
            <a:endParaRPr lang="en-US" sz="1550" dirty="0"/>
          </a:p>
        </p:txBody>
      </p:sp>
      <p:pic>
        <p:nvPicPr>
          <p:cNvPr id="13" name="Image 4" descr="preencoded.png"/>
          <p:cNvPicPr>
            <a:picLocks noChangeAspect="1"/>
          </p:cNvPicPr>
          <p:nvPr/>
        </p:nvPicPr>
        <p:blipFill>
          <a:blip r:embed="rId7"/>
          <a:stretch>
            <a:fillRect/>
          </a:stretch>
        </p:blipFill>
        <p:spPr>
          <a:xfrm>
            <a:off x="6192798" y="5465802"/>
            <a:ext cx="1009174" cy="1211104"/>
          </a:xfrm>
          <a:prstGeom prst="rect">
            <a:avLst/>
          </a:prstGeom>
        </p:spPr>
      </p:pic>
      <p:sp>
        <p:nvSpPr>
          <p:cNvPr id="14" name="Text 7"/>
          <p:cNvSpPr/>
          <p:nvPr/>
        </p:nvSpPr>
        <p:spPr>
          <a:xfrm>
            <a:off x="7504748" y="5667613"/>
            <a:ext cx="2374702" cy="296823"/>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Output Display</a:t>
            </a:r>
            <a:endParaRPr lang="en-US" sz="1850" dirty="0"/>
          </a:p>
        </p:txBody>
      </p:sp>
      <p:sp>
        <p:nvSpPr>
          <p:cNvPr id="15" name="Text 8"/>
          <p:cNvSpPr/>
          <p:nvPr/>
        </p:nvSpPr>
        <p:spPr>
          <a:xfrm>
            <a:off x="7504748" y="6085523"/>
            <a:ext cx="6419255" cy="322898"/>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Results presented promptly on the frontend, aiding user decisions.</a:t>
            </a:r>
            <a:endParaRPr lang="en-US" sz="1550" dirty="0"/>
          </a:p>
        </p:txBody>
      </p:sp>
      <p:sp>
        <p:nvSpPr>
          <p:cNvPr id="16" name="Text 9"/>
          <p:cNvSpPr/>
          <p:nvPr/>
        </p:nvSpPr>
        <p:spPr>
          <a:xfrm>
            <a:off x="6192798" y="6903958"/>
            <a:ext cx="7731204" cy="645795"/>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The backend stores models using Pickle serialization and is designed for scalability to serve 1000+ concurrent users, with plans for database upgrade to PostGres.</a:t>
            </a:r>
            <a:endParaRPr lang="en-US" sz="1550" dirty="0"/>
          </a:p>
        </p:txBody>
      </p:sp>
      <p:sp>
        <p:nvSpPr>
          <p:cNvPr id="17" name="Rectangle 16">
            <a:extLst>
              <a:ext uri="{FF2B5EF4-FFF2-40B4-BE49-F238E27FC236}">
                <a16:creationId xmlns:a16="http://schemas.microsoft.com/office/drawing/2014/main" id="{709D28E6-BF3E-489A-BDF0-002D027A6D63}"/>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397722" y="914043"/>
            <a:ext cx="4978956" cy="6401514"/>
          </a:xfrm>
          <a:prstGeom prst="rect">
            <a:avLst/>
          </a:prstGeom>
        </p:spPr>
      </p:pic>
      <p:sp>
        <p:nvSpPr>
          <p:cNvPr id="4" name="Text 0"/>
          <p:cNvSpPr/>
          <p:nvPr/>
        </p:nvSpPr>
        <p:spPr>
          <a:xfrm>
            <a:off x="710446" y="767953"/>
            <a:ext cx="4776192" cy="597098"/>
          </a:xfrm>
          <a:prstGeom prst="rect">
            <a:avLst/>
          </a:prstGeom>
          <a:noFill/>
          <a:ln/>
        </p:spPr>
        <p:txBody>
          <a:bodyPr wrap="none" lIns="0" tIns="0" rIns="0" bIns="0" rtlCol="0" anchor="t"/>
          <a:lstStyle/>
          <a:p>
            <a:pPr marL="0" indent="0" algn="l">
              <a:lnSpc>
                <a:spcPts val="4700"/>
              </a:lnSpc>
              <a:buNone/>
            </a:pPr>
            <a:r>
              <a:rPr lang="en-US" sz="3750" dirty="0">
                <a:solidFill>
                  <a:srgbClr val="F98AC7"/>
                </a:solidFill>
                <a:latin typeface="Lora" pitchFamily="34" charset="0"/>
                <a:ea typeface="Lora" pitchFamily="34" charset="-122"/>
                <a:cs typeface="Lora" pitchFamily="34" charset="-120"/>
              </a:rPr>
              <a:t>Key Features</a:t>
            </a:r>
            <a:endParaRPr lang="en-US" sz="3750" dirty="0"/>
          </a:p>
        </p:txBody>
      </p:sp>
      <p:pic>
        <p:nvPicPr>
          <p:cNvPr id="5" name="Image 2" descr="preencoded.png"/>
          <p:cNvPicPr>
            <a:picLocks noChangeAspect="1"/>
          </p:cNvPicPr>
          <p:nvPr/>
        </p:nvPicPr>
        <p:blipFill>
          <a:blip r:embed="rId5"/>
          <a:stretch>
            <a:fillRect/>
          </a:stretch>
        </p:blipFill>
        <p:spPr>
          <a:xfrm>
            <a:off x="710446" y="1669494"/>
            <a:ext cx="507444" cy="507444"/>
          </a:xfrm>
          <a:prstGeom prst="rect">
            <a:avLst/>
          </a:prstGeom>
        </p:spPr>
      </p:pic>
      <p:sp>
        <p:nvSpPr>
          <p:cNvPr id="6" name="Text 1"/>
          <p:cNvSpPr/>
          <p:nvPr/>
        </p:nvSpPr>
        <p:spPr>
          <a:xfrm>
            <a:off x="710446" y="2379821"/>
            <a:ext cx="2388037" cy="298490"/>
          </a:xfrm>
          <a:prstGeom prst="rect">
            <a:avLst/>
          </a:prstGeom>
          <a:noFill/>
          <a:ln/>
        </p:spPr>
        <p:txBody>
          <a:bodyPr wrap="none" lIns="0" tIns="0" rIns="0" bIns="0" rtlCol="0" anchor="t"/>
          <a:lstStyle/>
          <a:p>
            <a:pPr marL="0" indent="0" algn="l">
              <a:lnSpc>
                <a:spcPts val="2350"/>
              </a:lnSpc>
              <a:buNone/>
            </a:pPr>
            <a:r>
              <a:rPr lang="en-US" sz="1850" dirty="0">
                <a:solidFill>
                  <a:srgbClr val="D6E5EF"/>
                </a:solidFill>
                <a:latin typeface="Lora" pitchFamily="34" charset="0"/>
                <a:ea typeface="Lora" pitchFamily="34" charset="-122"/>
                <a:cs typeface="Lora" pitchFamily="34" charset="-120"/>
              </a:rPr>
              <a:t>Input Variables</a:t>
            </a:r>
            <a:endParaRPr lang="en-US" sz="1850" dirty="0"/>
          </a:p>
        </p:txBody>
      </p:sp>
      <p:sp>
        <p:nvSpPr>
          <p:cNvPr id="7" name="Text 2"/>
          <p:cNvSpPr/>
          <p:nvPr/>
        </p:nvSpPr>
        <p:spPr>
          <a:xfrm>
            <a:off x="710446" y="2799993"/>
            <a:ext cx="2405182" cy="1299210"/>
          </a:xfrm>
          <a:prstGeom prst="rect">
            <a:avLst/>
          </a:prstGeom>
          <a:noFill/>
          <a:ln/>
        </p:spPr>
        <p:txBody>
          <a:bodyPr wrap="square" lIns="0" tIns="0" rIns="0" bIns="0" rtlCol="0" anchor="t"/>
          <a:lstStyle/>
          <a:p>
            <a:pPr marL="0" indent="0" algn="l">
              <a:lnSpc>
                <a:spcPts val="2550"/>
              </a:lnSpc>
              <a:buNone/>
            </a:pPr>
            <a:r>
              <a:rPr lang="en-US" sz="1550" dirty="0">
                <a:solidFill>
                  <a:srgbClr val="D6E5EF"/>
                </a:solidFill>
                <a:latin typeface="Source Sans Pro" pitchFamily="34" charset="0"/>
                <a:ea typeface="Source Sans Pro" pitchFamily="34" charset="-122"/>
                <a:cs typeface="Source Sans Pro" pitchFamily="34" charset="-120"/>
              </a:rPr>
              <a:t>Includes critical parameters like area (sq ft), number of bedrooms, bathrooms, and amenities.</a:t>
            </a:r>
            <a:endParaRPr lang="en-US" sz="1550" dirty="0"/>
          </a:p>
        </p:txBody>
      </p:sp>
      <p:pic>
        <p:nvPicPr>
          <p:cNvPr id="8" name="Image 3" descr="preencoded.png"/>
          <p:cNvPicPr>
            <a:picLocks noChangeAspect="1"/>
          </p:cNvPicPr>
          <p:nvPr/>
        </p:nvPicPr>
        <p:blipFill>
          <a:blip r:embed="rId6"/>
          <a:stretch>
            <a:fillRect/>
          </a:stretch>
        </p:blipFill>
        <p:spPr>
          <a:xfrm>
            <a:off x="3369350" y="1669494"/>
            <a:ext cx="507444" cy="507444"/>
          </a:xfrm>
          <a:prstGeom prst="rect">
            <a:avLst/>
          </a:prstGeom>
        </p:spPr>
      </p:pic>
      <p:sp>
        <p:nvSpPr>
          <p:cNvPr id="9" name="Text 3"/>
          <p:cNvSpPr/>
          <p:nvPr/>
        </p:nvSpPr>
        <p:spPr>
          <a:xfrm>
            <a:off x="3369350" y="2379821"/>
            <a:ext cx="2388037" cy="298490"/>
          </a:xfrm>
          <a:prstGeom prst="rect">
            <a:avLst/>
          </a:prstGeom>
          <a:noFill/>
          <a:ln/>
        </p:spPr>
        <p:txBody>
          <a:bodyPr wrap="none" lIns="0" tIns="0" rIns="0" bIns="0" rtlCol="0" anchor="t"/>
          <a:lstStyle/>
          <a:p>
            <a:pPr marL="0" indent="0" algn="l">
              <a:lnSpc>
                <a:spcPts val="2350"/>
              </a:lnSpc>
              <a:buNone/>
            </a:pPr>
            <a:r>
              <a:rPr lang="en-US" sz="1850" dirty="0">
                <a:solidFill>
                  <a:srgbClr val="D6E5EF"/>
                </a:solidFill>
                <a:latin typeface="Lora" pitchFamily="34" charset="0"/>
                <a:ea typeface="Lora" pitchFamily="34" charset="-122"/>
                <a:cs typeface="Lora" pitchFamily="34" charset="-120"/>
              </a:rPr>
              <a:t>Multiple Models</a:t>
            </a:r>
            <a:endParaRPr lang="en-US" sz="1850" dirty="0"/>
          </a:p>
        </p:txBody>
      </p:sp>
      <p:sp>
        <p:nvSpPr>
          <p:cNvPr id="10" name="Text 4"/>
          <p:cNvSpPr/>
          <p:nvPr/>
        </p:nvSpPr>
        <p:spPr>
          <a:xfrm>
            <a:off x="3369350" y="2799993"/>
            <a:ext cx="2405182" cy="1299210"/>
          </a:xfrm>
          <a:prstGeom prst="rect">
            <a:avLst/>
          </a:prstGeom>
          <a:noFill/>
          <a:ln/>
        </p:spPr>
        <p:txBody>
          <a:bodyPr wrap="square" lIns="0" tIns="0" rIns="0" bIns="0" rtlCol="0" anchor="t"/>
          <a:lstStyle/>
          <a:p>
            <a:pPr marL="0" indent="0" algn="l">
              <a:lnSpc>
                <a:spcPts val="2550"/>
              </a:lnSpc>
              <a:buNone/>
            </a:pPr>
            <a:r>
              <a:rPr lang="en-US" sz="1550" dirty="0">
                <a:solidFill>
                  <a:srgbClr val="D6E5EF"/>
                </a:solidFill>
                <a:latin typeface="Source Sans Pro" pitchFamily="34" charset="0"/>
                <a:ea typeface="Source Sans Pro" pitchFamily="34" charset="-122"/>
                <a:cs typeface="Source Sans Pro" pitchFamily="34" charset="-120"/>
              </a:rPr>
              <a:t>Allows switching among regression models to enhance prediction reliability.</a:t>
            </a:r>
            <a:endParaRPr lang="en-US" sz="1550" dirty="0"/>
          </a:p>
        </p:txBody>
      </p:sp>
      <p:pic>
        <p:nvPicPr>
          <p:cNvPr id="11" name="Image 4" descr="preencoded.png"/>
          <p:cNvPicPr>
            <a:picLocks noChangeAspect="1"/>
          </p:cNvPicPr>
          <p:nvPr/>
        </p:nvPicPr>
        <p:blipFill>
          <a:blip r:embed="rId7"/>
          <a:stretch>
            <a:fillRect/>
          </a:stretch>
        </p:blipFill>
        <p:spPr>
          <a:xfrm>
            <a:off x="6028253" y="1669494"/>
            <a:ext cx="507444" cy="507444"/>
          </a:xfrm>
          <a:prstGeom prst="rect">
            <a:avLst/>
          </a:prstGeom>
        </p:spPr>
      </p:pic>
      <p:sp>
        <p:nvSpPr>
          <p:cNvPr id="12" name="Text 5"/>
          <p:cNvSpPr/>
          <p:nvPr/>
        </p:nvSpPr>
        <p:spPr>
          <a:xfrm>
            <a:off x="6028253" y="2379821"/>
            <a:ext cx="2388037" cy="298490"/>
          </a:xfrm>
          <a:prstGeom prst="rect">
            <a:avLst/>
          </a:prstGeom>
          <a:noFill/>
          <a:ln/>
        </p:spPr>
        <p:txBody>
          <a:bodyPr wrap="none" lIns="0" tIns="0" rIns="0" bIns="0" rtlCol="0" anchor="t"/>
          <a:lstStyle/>
          <a:p>
            <a:pPr marL="0" indent="0" algn="l">
              <a:lnSpc>
                <a:spcPts val="2350"/>
              </a:lnSpc>
              <a:buNone/>
            </a:pPr>
            <a:r>
              <a:rPr lang="en-US" sz="1850" dirty="0">
                <a:solidFill>
                  <a:srgbClr val="D6E5EF"/>
                </a:solidFill>
                <a:latin typeface="Lora" pitchFamily="34" charset="0"/>
                <a:ea typeface="Lora" pitchFamily="34" charset="-122"/>
                <a:cs typeface="Lora" pitchFamily="34" charset="-120"/>
              </a:rPr>
              <a:t>Location Encoding</a:t>
            </a:r>
            <a:endParaRPr lang="en-US" sz="1850" dirty="0"/>
          </a:p>
        </p:txBody>
      </p:sp>
      <p:sp>
        <p:nvSpPr>
          <p:cNvPr id="13" name="Text 6"/>
          <p:cNvSpPr/>
          <p:nvPr/>
        </p:nvSpPr>
        <p:spPr>
          <a:xfrm>
            <a:off x="6028253" y="2799993"/>
            <a:ext cx="2405182" cy="1299210"/>
          </a:xfrm>
          <a:prstGeom prst="rect">
            <a:avLst/>
          </a:prstGeom>
          <a:noFill/>
          <a:ln/>
        </p:spPr>
        <p:txBody>
          <a:bodyPr wrap="square" lIns="0" tIns="0" rIns="0" bIns="0" rtlCol="0" anchor="t"/>
          <a:lstStyle/>
          <a:p>
            <a:pPr marL="0" indent="0" algn="l">
              <a:lnSpc>
                <a:spcPts val="2550"/>
              </a:lnSpc>
              <a:buNone/>
            </a:pPr>
            <a:r>
              <a:rPr lang="en-US" sz="1550" dirty="0">
                <a:solidFill>
                  <a:srgbClr val="D6E5EF"/>
                </a:solidFill>
                <a:latin typeface="Source Sans Pro" pitchFamily="34" charset="0"/>
                <a:ea typeface="Source Sans Pro" pitchFamily="34" charset="-122"/>
                <a:cs typeface="Source Sans Pro" pitchFamily="34" charset="-120"/>
              </a:rPr>
              <a:t>Encodes location data to provide context-sensitive and more accurate price evaluations.</a:t>
            </a:r>
            <a:endParaRPr lang="en-US" sz="1550" dirty="0"/>
          </a:p>
        </p:txBody>
      </p:sp>
      <p:pic>
        <p:nvPicPr>
          <p:cNvPr id="14" name="Image 5" descr="preencoded.png"/>
          <p:cNvPicPr>
            <a:picLocks noChangeAspect="1"/>
          </p:cNvPicPr>
          <p:nvPr/>
        </p:nvPicPr>
        <p:blipFill>
          <a:blip r:embed="rId8"/>
          <a:stretch>
            <a:fillRect/>
          </a:stretch>
        </p:blipFill>
        <p:spPr>
          <a:xfrm>
            <a:off x="710446" y="4505087"/>
            <a:ext cx="507444" cy="507444"/>
          </a:xfrm>
          <a:prstGeom prst="rect">
            <a:avLst/>
          </a:prstGeom>
        </p:spPr>
      </p:pic>
      <p:sp>
        <p:nvSpPr>
          <p:cNvPr id="15" name="Text 7"/>
          <p:cNvSpPr/>
          <p:nvPr/>
        </p:nvSpPr>
        <p:spPr>
          <a:xfrm>
            <a:off x="710446" y="5215414"/>
            <a:ext cx="2405182" cy="596979"/>
          </a:xfrm>
          <a:prstGeom prst="rect">
            <a:avLst/>
          </a:prstGeom>
          <a:noFill/>
          <a:ln/>
        </p:spPr>
        <p:txBody>
          <a:bodyPr wrap="square" lIns="0" tIns="0" rIns="0" bIns="0" rtlCol="0" anchor="t"/>
          <a:lstStyle/>
          <a:p>
            <a:pPr marL="0" indent="0" algn="l">
              <a:lnSpc>
                <a:spcPts val="2350"/>
              </a:lnSpc>
              <a:buNone/>
            </a:pPr>
            <a:r>
              <a:rPr lang="en-US" sz="1850" dirty="0">
                <a:solidFill>
                  <a:srgbClr val="D6E5EF"/>
                </a:solidFill>
                <a:latin typeface="Lora" pitchFamily="34" charset="0"/>
                <a:ea typeface="Lora" pitchFamily="34" charset="-122"/>
                <a:cs typeface="Lora" pitchFamily="34" charset="-120"/>
              </a:rPr>
              <a:t>Real-Time Interaction</a:t>
            </a:r>
            <a:endParaRPr lang="en-US" sz="1850" dirty="0"/>
          </a:p>
        </p:txBody>
      </p:sp>
      <p:sp>
        <p:nvSpPr>
          <p:cNvPr id="16" name="Text 8"/>
          <p:cNvSpPr/>
          <p:nvPr/>
        </p:nvSpPr>
        <p:spPr>
          <a:xfrm>
            <a:off x="710446" y="5934075"/>
            <a:ext cx="2405182" cy="974408"/>
          </a:xfrm>
          <a:prstGeom prst="rect">
            <a:avLst/>
          </a:prstGeom>
          <a:noFill/>
          <a:ln/>
        </p:spPr>
        <p:txBody>
          <a:bodyPr wrap="square" lIns="0" tIns="0" rIns="0" bIns="0" rtlCol="0" anchor="t"/>
          <a:lstStyle/>
          <a:p>
            <a:pPr marL="0" indent="0" algn="l">
              <a:lnSpc>
                <a:spcPts val="2550"/>
              </a:lnSpc>
              <a:buNone/>
            </a:pPr>
            <a:r>
              <a:rPr lang="en-US" sz="1550" dirty="0">
                <a:solidFill>
                  <a:srgbClr val="D6E5EF"/>
                </a:solidFill>
                <a:latin typeface="Source Sans Pro" pitchFamily="34" charset="0"/>
                <a:ea typeface="Source Sans Pro" pitchFamily="34" charset="-122"/>
                <a:cs typeface="Source Sans Pro" pitchFamily="34" charset="-120"/>
              </a:rPr>
              <a:t>User-friendly form updating predicted prices instantly upon data input.</a:t>
            </a:r>
            <a:endParaRPr lang="en-US" sz="1550" dirty="0"/>
          </a:p>
        </p:txBody>
      </p:sp>
      <p:sp>
        <p:nvSpPr>
          <p:cNvPr id="17" name="Text 9"/>
          <p:cNvSpPr/>
          <p:nvPr/>
        </p:nvSpPr>
        <p:spPr>
          <a:xfrm>
            <a:off x="710446" y="7136844"/>
            <a:ext cx="7723108" cy="324802"/>
          </a:xfrm>
          <a:prstGeom prst="rect">
            <a:avLst/>
          </a:prstGeom>
          <a:noFill/>
          <a:ln/>
        </p:spPr>
        <p:txBody>
          <a:bodyPr wrap="none" lIns="0" tIns="0" rIns="0" bIns="0" rtlCol="0" anchor="t"/>
          <a:lstStyle/>
          <a:p>
            <a:pPr marL="0" indent="0" algn="l">
              <a:lnSpc>
                <a:spcPts val="2550"/>
              </a:lnSpc>
              <a:buNone/>
            </a:pPr>
            <a:r>
              <a:rPr lang="en-US" sz="1550" dirty="0">
                <a:solidFill>
                  <a:srgbClr val="D6E5EF"/>
                </a:solidFill>
                <a:latin typeface="Source Sans Pro" pitchFamily="34" charset="0"/>
                <a:ea typeface="Source Sans Pro" pitchFamily="34" charset="-122"/>
                <a:cs typeface="Source Sans Pro" pitchFamily="34" charset="-120"/>
              </a:rPr>
              <a:t>Planned enhancement: integrating dynamic GIS maps to refine spatial accuracy.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2159675"/>
            <a:ext cx="7030045"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Implementation and Usage</a:t>
            </a:r>
            <a:endParaRPr lang="en-US" sz="4400" dirty="0"/>
          </a:p>
        </p:txBody>
      </p:sp>
      <p:sp>
        <p:nvSpPr>
          <p:cNvPr id="3" name="Text 1"/>
          <p:cNvSpPr/>
          <p:nvPr/>
        </p:nvSpPr>
        <p:spPr>
          <a:xfrm>
            <a:off x="837724" y="346198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Home Page</a:t>
            </a:r>
            <a:endParaRPr lang="en-US" sz="2200" dirty="0"/>
          </a:p>
        </p:txBody>
      </p:sp>
      <p:sp>
        <p:nvSpPr>
          <p:cNvPr id="4" name="Text 2"/>
          <p:cNvSpPr/>
          <p:nvPr/>
        </p:nvSpPr>
        <p:spPr>
          <a:xfrm>
            <a:off x="837724" y="4053245"/>
            <a:ext cx="3928586"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Clean interface welcoming users to enter property details.</a:t>
            </a:r>
            <a:endParaRPr lang="en-US" sz="1850" dirty="0"/>
          </a:p>
        </p:txBody>
      </p:sp>
      <p:sp>
        <p:nvSpPr>
          <p:cNvPr id="5" name="Text 3"/>
          <p:cNvSpPr/>
          <p:nvPr/>
        </p:nvSpPr>
        <p:spPr>
          <a:xfrm>
            <a:off x="5357813" y="346198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Input Form</a:t>
            </a:r>
            <a:endParaRPr lang="en-US" sz="2200" dirty="0"/>
          </a:p>
        </p:txBody>
      </p:sp>
      <p:sp>
        <p:nvSpPr>
          <p:cNvPr id="6" name="Text 4"/>
          <p:cNvSpPr/>
          <p:nvPr/>
        </p:nvSpPr>
        <p:spPr>
          <a:xfrm>
            <a:off x="5357813" y="4053245"/>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Users specify location, property area, bedrooms, bathrooms, and amenities for prediction.</a:t>
            </a:r>
            <a:endParaRPr lang="en-US" sz="1850" dirty="0"/>
          </a:p>
        </p:txBody>
      </p:sp>
      <p:sp>
        <p:nvSpPr>
          <p:cNvPr id="7" name="Text 5"/>
          <p:cNvSpPr/>
          <p:nvPr/>
        </p:nvSpPr>
        <p:spPr>
          <a:xfrm>
            <a:off x="9877901" y="346198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Output Screen</a:t>
            </a:r>
            <a:endParaRPr lang="en-US" sz="2200" dirty="0"/>
          </a:p>
        </p:txBody>
      </p:sp>
      <p:sp>
        <p:nvSpPr>
          <p:cNvPr id="8" name="Text 6"/>
          <p:cNvSpPr/>
          <p:nvPr/>
        </p:nvSpPr>
        <p:spPr>
          <a:xfrm>
            <a:off x="9877901" y="4053245"/>
            <a:ext cx="3928586"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app instantly displays the predicted price, e.g. for a 1200 sq ft 2BHK apartment in Mumbai.</a:t>
            </a:r>
            <a:endParaRPr lang="en-US" sz="1850" dirty="0"/>
          </a:p>
        </p:txBody>
      </p:sp>
      <p:sp>
        <p:nvSpPr>
          <p:cNvPr id="9" name="Text 7"/>
          <p:cNvSpPr/>
          <p:nvPr/>
        </p:nvSpPr>
        <p:spPr>
          <a:xfrm>
            <a:off x="837724" y="5686901"/>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This seamless flow ensures users get quick, actionable insights to support buying or selling decisions.</a:t>
            </a:r>
            <a:endParaRPr lang="en-US" sz="1850" dirty="0"/>
          </a:p>
        </p:txBody>
      </p:sp>
      <p:sp>
        <p:nvSpPr>
          <p:cNvPr id="10" name="Rectangle 9">
            <a:extLst>
              <a:ext uri="{FF2B5EF4-FFF2-40B4-BE49-F238E27FC236}">
                <a16:creationId xmlns:a16="http://schemas.microsoft.com/office/drawing/2014/main" id="{A138FE8F-13B6-4683-85AD-EACC6C0FCF41}"/>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1843" y="539234"/>
            <a:ext cx="5368528" cy="576024"/>
          </a:xfrm>
          <a:prstGeom prst="rect">
            <a:avLst/>
          </a:prstGeom>
          <a:noFill/>
          <a:ln/>
        </p:spPr>
        <p:txBody>
          <a:bodyPr wrap="none" lIns="0" tIns="0" rIns="0" bIns="0" rtlCol="0" anchor="t"/>
          <a:lstStyle/>
          <a:p>
            <a:pPr marL="0" indent="0" algn="l">
              <a:lnSpc>
                <a:spcPts val="4500"/>
              </a:lnSpc>
              <a:buNone/>
            </a:pPr>
            <a:r>
              <a:rPr lang="en-US" sz="3600" dirty="0">
                <a:solidFill>
                  <a:srgbClr val="F98AC7"/>
                </a:solidFill>
                <a:latin typeface="Lora" pitchFamily="34" charset="0"/>
                <a:ea typeface="Lora" pitchFamily="34" charset="-122"/>
                <a:cs typeface="Lora" pitchFamily="34" charset="-120"/>
              </a:rPr>
              <a:t>Challenges and Solutions</a:t>
            </a:r>
            <a:endParaRPr lang="en-US" sz="3600" dirty="0"/>
          </a:p>
        </p:txBody>
      </p:sp>
      <p:sp>
        <p:nvSpPr>
          <p:cNvPr id="4" name="Shape 1"/>
          <p:cNvSpPr/>
          <p:nvPr/>
        </p:nvSpPr>
        <p:spPr>
          <a:xfrm>
            <a:off x="6171843" y="1408986"/>
            <a:ext cx="7773114" cy="1423511"/>
          </a:xfrm>
          <a:prstGeom prst="roundRect">
            <a:avLst>
              <a:gd name="adj" fmla="val 2064"/>
            </a:avLst>
          </a:prstGeom>
          <a:solidFill>
            <a:srgbClr val="444752"/>
          </a:solidFill>
          <a:ln/>
        </p:spPr>
      </p:sp>
      <p:sp>
        <p:nvSpPr>
          <p:cNvPr id="5" name="Text 2"/>
          <p:cNvSpPr/>
          <p:nvPr/>
        </p:nvSpPr>
        <p:spPr>
          <a:xfrm>
            <a:off x="6367582" y="1604724"/>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Lora" pitchFamily="34" charset="0"/>
                <a:ea typeface="Lora" pitchFamily="34" charset="-122"/>
                <a:cs typeface="Lora" pitchFamily="34" charset="-120"/>
              </a:rPr>
              <a:t>Missing Data</a:t>
            </a:r>
            <a:endParaRPr lang="en-US" sz="1800" dirty="0"/>
          </a:p>
        </p:txBody>
      </p:sp>
      <p:sp>
        <p:nvSpPr>
          <p:cNvPr id="6" name="Text 3"/>
          <p:cNvSpPr/>
          <p:nvPr/>
        </p:nvSpPr>
        <p:spPr>
          <a:xfrm>
            <a:off x="6367582" y="2010013"/>
            <a:ext cx="7381637" cy="626745"/>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latin typeface="Source Sans Pro" pitchFamily="34" charset="0"/>
                <a:ea typeface="Source Sans Pro" pitchFamily="34" charset="-122"/>
                <a:cs typeface="Source Sans Pro" pitchFamily="34" charset="-120"/>
              </a:rPr>
              <a:t>Handled placeholder values like '9' by applying Simple Imputer with most frequent strategy to maintain data integrity.</a:t>
            </a:r>
            <a:endParaRPr lang="en-US" sz="1500" dirty="0"/>
          </a:p>
        </p:txBody>
      </p:sp>
      <p:sp>
        <p:nvSpPr>
          <p:cNvPr id="7" name="Shape 4"/>
          <p:cNvSpPr/>
          <p:nvPr/>
        </p:nvSpPr>
        <p:spPr>
          <a:xfrm>
            <a:off x="6171843" y="3028236"/>
            <a:ext cx="7773114" cy="1423511"/>
          </a:xfrm>
          <a:prstGeom prst="roundRect">
            <a:avLst>
              <a:gd name="adj" fmla="val 2064"/>
            </a:avLst>
          </a:prstGeom>
          <a:solidFill>
            <a:srgbClr val="444752"/>
          </a:solidFill>
          <a:ln/>
        </p:spPr>
      </p:sp>
      <p:sp>
        <p:nvSpPr>
          <p:cNvPr id="8" name="Text 5"/>
          <p:cNvSpPr/>
          <p:nvPr/>
        </p:nvSpPr>
        <p:spPr>
          <a:xfrm>
            <a:off x="6367582" y="3223974"/>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Lora" pitchFamily="34" charset="0"/>
                <a:ea typeface="Lora" pitchFamily="34" charset="-122"/>
                <a:cs typeface="Lora" pitchFamily="34" charset="-120"/>
              </a:rPr>
              <a:t>Location Complexity</a:t>
            </a:r>
            <a:endParaRPr lang="en-US" sz="1800" dirty="0"/>
          </a:p>
        </p:txBody>
      </p:sp>
      <p:sp>
        <p:nvSpPr>
          <p:cNvPr id="9" name="Text 6"/>
          <p:cNvSpPr/>
          <p:nvPr/>
        </p:nvSpPr>
        <p:spPr>
          <a:xfrm>
            <a:off x="6367582" y="3629263"/>
            <a:ext cx="7381637" cy="626745"/>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latin typeface="Source Sans Pro" pitchFamily="34" charset="0"/>
                <a:ea typeface="Source Sans Pro" pitchFamily="34" charset="-122"/>
                <a:cs typeface="Source Sans Pro" pitchFamily="34" charset="-120"/>
              </a:rPr>
              <a:t>Addressed varied geographic inputs via one-hot encoding to preserve essential spatial distinctions.</a:t>
            </a:r>
            <a:endParaRPr lang="en-US" sz="1500" dirty="0"/>
          </a:p>
        </p:txBody>
      </p:sp>
      <p:sp>
        <p:nvSpPr>
          <p:cNvPr id="10" name="Shape 7"/>
          <p:cNvSpPr/>
          <p:nvPr/>
        </p:nvSpPr>
        <p:spPr>
          <a:xfrm>
            <a:off x="6171843" y="4647486"/>
            <a:ext cx="7773114" cy="1423511"/>
          </a:xfrm>
          <a:prstGeom prst="roundRect">
            <a:avLst>
              <a:gd name="adj" fmla="val 2064"/>
            </a:avLst>
          </a:prstGeom>
          <a:solidFill>
            <a:srgbClr val="444752"/>
          </a:solidFill>
          <a:ln/>
        </p:spPr>
      </p:sp>
      <p:sp>
        <p:nvSpPr>
          <p:cNvPr id="11" name="Text 8"/>
          <p:cNvSpPr/>
          <p:nvPr/>
        </p:nvSpPr>
        <p:spPr>
          <a:xfrm>
            <a:off x="6367582" y="4843224"/>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Lora" pitchFamily="34" charset="0"/>
                <a:ea typeface="Lora" pitchFamily="34" charset="-122"/>
                <a:cs typeface="Lora" pitchFamily="34" charset="-120"/>
              </a:rPr>
              <a:t>Model Accuracy</a:t>
            </a:r>
            <a:endParaRPr lang="en-US" sz="1800" dirty="0"/>
          </a:p>
        </p:txBody>
      </p:sp>
      <p:sp>
        <p:nvSpPr>
          <p:cNvPr id="12" name="Text 9"/>
          <p:cNvSpPr/>
          <p:nvPr/>
        </p:nvSpPr>
        <p:spPr>
          <a:xfrm>
            <a:off x="6367582" y="5248513"/>
            <a:ext cx="7381637" cy="626745"/>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latin typeface="Source Sans Pro" pitchFamily="34" charset="0"/>
                <a:ea typeface="Source Sans Pro" pitchFamily="34" charset="-122"/>
                <a:cs typeface="Source Sans Pro" pitchFamily="34" charset="-120"/>
              </a:rPr>
              <a:t>Improved predictions using ensemble models and robust 10-fold cross-validation with an 80/20 train/test split.</a:t>
            </a:r>
            <a:endParaRPr lang="en-US" sz="1500" dirty="0"/>
          </a:p>
        </p:txBody>
      </p:sp>
      <p:sp>
        <p:nvSpPr>
          <p:cNvPr id="13" name="Shape 10"/>
          <p:cNvSpPr/>
          <p:nvPr/>
        </p:nvSpPr>
        <p:spPr>
          <a:xfrm>
            <a:off x="6171843" y="6266736"/>
            <a:ext cx="7773114" cy="1423511"/>
          </a:xfrm>
          <a:prstGeom prst="roundRect">
            <a:avLst>
              <a:gd name="adj" fmla="val 2064"/>
            </a:avLst>
          </a:prstGeom>
          <a:solidFill>
            <a:srgbClr val="444752"/>
          </a:solidFill>
          <a:ln/>
        </p:spPr>
      </p:sp>
      <p:sp>
        <p:nvSpPr>
          <p:cNvPr id="14" name="Text 11"/>
          <p:cNvSpPr/>
          <p:nvPr/>
        </p:nvSpPr>
        <p:spPr>
          <a:xfrm>
            <a:off x="6367582" y="6462474"/>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Lora" pitchFamily="34" charset="0"/>
                <a:ea typeface="Lora" pitchFamily="34" charset="-122"/>
                <a:cs typeface="Lora" pitchFamily="34" charset="-120"/>
              </a:rPr>
              <a:t>Interpretability</a:t>
            </a:r>
            <a:endParaRPr lang="en-US" sz="1800" dirty="0"/>
          </a:p>
        </p:txBody>
      </p:sp>
      <p:sp>
        <p:nvSpPr>
          <p:cNvPr id="15" name="Text 12"/>
          <p:cNvSpPr/>
          <p:nvPr/>
        </p:nvSpPr>
        <p:spPr>
          <a:xfrm>
            <a:off x="6367582" y="6867763"/>
            <a:ext cx="7381637" cy="626745"/>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latin typeface="Source Sans Pro" pitchFamily="34" charset="0"/>
                <a:ea typeface="Source Sans Pro" pitchFamily="34" charset="-122"/>
                <a:cs typeface="Source Sans Pro" pitchFamily="34" charset="-120"/>
              </a:rPr>
              <a:t>Enhanced understanding by visualizing feature importance, especially for complex models like CatBoost.</a:t>
            </a:r>
            <a:endParaRPr lang="en-US" sz="1500" dirty="0"/>
          </a:p>
        </p:txBody>
      </p:sp>
      <p:sp>
        <p:nvSpPr>
          <p:cNvPr id="16" name="Rectangle 15">
            <a:extLst>
              <a:ext uri="{FF2B5EF4-FFF2-40B4-BE49-F238E27FC236}">
                <a16:creationId xmlns:a16="http://schemas.microsoft.com/office/drawing/2014/main" id="{A308D51D-8B11-42D5-89F0-414A97AB38CC}"/>
              </a:ext>
            </a:extLst>
          </p:cNvPr>
          <p:cNvSpPr/>
          <p:nvPr/>
        </p:nvSpPr>
        <p:spPr>
          <a:xfrm>
            <a:off x="12722772" y="7671554"/>
            <a:ext cx="1907628" cy="5504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6051" y="798195"/>
            <a:ext cx="5284946" cy="660559"/>
          </a:xfrm>
          <a:prstGeom prst="rect">
            <a:avLst/>
          </a:prstGeom>
          <a:noFill/>
          <a:ln/>
        </p:spPr>
        <p:txBody>
          <a:bodyPr wrap="none" lIns="0" tIns="0" rIns="0" bIns="0" rtlCol="0" anchor="t"/>
          <a:lstStyle/>
          <a:p>
            <a:pPr marL="0" indent="0" algn="l">
              <a:lnSpc>
                <a:spcPts val="5200"/>
              </a:lnSpc>
              <a:buNone/>
            </a:pPr>
            <a:r>
              <a:rPr lang="en-US" sz="4150" dirty="0">
                <a:solidFill>
                  <a:srgbClr val="F98AC7"/>
                </a:solidFill>
                <a:latin typeface="Lora" pitchFamily="34" charset="0"/>
                <a:ea typeface="Lora" pitchFamily="34" charset="-122"/>
                <a:cs typeface="Lora" pitchFamily="34" charset="-120"/>
              </a:rPr>
              <a:t>Results and Testing</a:t>
            </a:r>
            <a:endParaRPr lang="en-US" sz="4150" dirty="0"/>
          </a:p>
        </p:txBody>
      </p:sp>
      <p:sp>
        <p:nvSpPr>
          <p:cNvPr id="4" name="Shape 1"/>
          <p:cNvSpPr/>
          <p:nvPr/>
        </p:nvSpPr>
        <p:spPr>
          <a:xfrm>
            <a:off x="1038701" y="1795582"/>
            <a:ext cx="30480" cy="5635704"/>
          </a:xfrm>
          <a:prstGeom prst="roundRect">
            <a:avLst>
              <a:gd name="adj" fmla="val 110539"/>
            </a:avLst>
          </a:prstGeom>
          <a:solidFill>
            <a:srgbClr val="5D606B"/>
          </a:solidFill>
          <a:ln/>
        </p:spPr>
      </p:sp>
      <p:sp>
        <p:nvSpPr>
          <p:cNvPr id="5" name="Shape 2"/>
          <p:cNvSpPr/>
          <p:nvPr/>
        </p:nvSpPr>
        <p:spPr>
          <a:xfrm>
            <a:off x="1260872" y="2032992"/>
            <a:ext cx="673775" cy="30480"/>
          </a:xfrm>
          <a:prstGeom prst="roundRect">
            <a:avLst>
              <a:gd name="adj" fmla="val 110539"/>
            </a:avLst>
          </a:prstGeom>
          <a:solidFill>
            <a:srgbClr val="5D606B"/>
          </a:solidFill>
          <a:ln/>
        </p:spPr>
      </p:sp>
      <p:sp>
        <p:nvSpPr>
          <p:cNvPr id="6" name="Shape 3"/>
          <p:cNvSpPr/>
          <p:nvPr/>
        </p:nvSpPr>
        <p:spPr>
          <a:xfrm>
            <a:off x="786051" y="1795582"/>
            <a:ext cx="505301" cy="505301"/>
          </a:xfrm>
          <a:prstGeom prst="roundRect">
            <a:avLst>
              <a:gd name="adj" fmla="val 6668"/>
            </a:avLst>
          </a:prstGeom>
          <a:solidFill>
            <a:srgbClr val="444752"/>
          </a:solidFill>
          <a:ln/>
        </p:spPr>
      </p:sp>
      <p:sp>
        <p:nvSpPr>
          <p:cNvPr id="7" name="Text 4"/>
          <p:cNvSpPr/>
          <p:nvPr/>
        </p:nvSpPr>
        <p:spPr>
          <a:xfrm>
            <a:off x="880170" y="1850053"/>
            <a:ext cx="317063" cy="396359"/>
          </a:xfrm>
          <a:prstGeom prst="rect">
            <a:avLst/>
          </a:prstGeom>
          <a:noFill/>
          <a:ln/>
        </p:spPr>
        <p:txBody>
          <a:bodyPr wrap="none" lIns="0" tIns="0" rIns="0" bIns="0" rtlCol="0" anchor="t"/>
          <a:lstStyle/>
          <a:p>
            <a:pPr marL="0" indent="0" algn="ctr">
              <a:lnSpc>
                <a:spcPts val="2450"/>
              </a:lnSpc>
              <a:buNone/>
            </a:pPr>
            <a:r>
              <a:rPr lang="en-US" sz="2450" dirty="0">
                <a:solidFill>
                  <a:srgbClr val="D6E5EF"/>
                </a:solidFill>
                <a:latin typeface="Lora" pitchFamily="34" charset="0"/>
                <a:ea typeface="Lora" pitchFamily="34" charset="-122"/>
                <a:cs typeface="Lora" pitchFamily="34" charset="-120"/>
              </a:rPr>
              <a:t>1</a:t>
            </a:r>
            <a:endParaRPr lang="en-US" sz="2450" dirty="0"/>
          </a:p>
        </p:txBody>
      </p:sp>
      <p:sp>
        <p:nvSpPr>
          <p:cNvPr id="8" name="Text 5"/>
          <p:cNvSpPr/>
          <p:nvPr/>
        </p:nvSpPr>
        <p:spPr>
          <a:xfrm>
            <a:off x="2161699" y="1872734"/>
            <a:ext cx="2642473" cy="33016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Evaluation Metrics</a:t>
            </a:r>
            <a:endParaRPr lang="en-US" sz="2050" dirty="0"/>
          </a:p>
        </p:txBody>
      </p:sp>
      <p:sp>
        <p:nvSpPr>
          <p:cNvPr id="9" name="Text 6"/>
          <p:cNvSpPr/>
          <p:nvPr/>
        </p:nvSpPr>
        <p:spPr>
          <a:xfrm>
            <a:off x="2161699" y="2337554"/>
            <a:ext cx="6196251" cy="718899"/>
          </a:xfrm>
          <a:prstGeom prst="rect">
            <a:avLst/>
          </a:prstGeom>
          <a:noFill/>
          <a:ln/>
        </p:spPr>
        <p:txBody>
          <a:bodyPr wrap="squar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Mean Absolute Error (MAE), Root Mean Squared Error (RMSE), and R² quantify model performance.</a:t>
            </a:r>
            <a:endParaRPr lang="en-US" sz="1750" dirty="0"/>
          </a:p>
        </p:txBody>
      </p:sp>
      <p:sp>
        <p:nvSpPr>
          <p:cNvPr id="10" name="Shape 7"/>
          <p:cNvSpPr/>
          <p:nvPr/>
        </p:nvSpPr>
        <p:spPr>
          <a:xfrm>
            <a:off x="1260872" y="3743087"/>
            <a:ext cx="673775" cy="30480"/>
          </a:xfrm>
          <a:prstGeom prst="roundRect">
            <a:avLst>
              <a:gd name="adj" fmla="val 110539"/>
            </a:avLst>
          </a:prstGeom>
          <a:solidFill>
            <a:srgbClr val="5D606B"/>
          </a:solidFill>
          <a:ln/>
        </p:spPr>
      </p:sp>
      <p:sp>
        <p:nvSpPr>
          <p:cNvPr id="11" name="Shape 8"/>
          <p:cNvSpPr/>
          <p:nvPr/>
        </p:nvSpPr>
        <p:spPr>
          <a:xfrm>
            <a:off x="786051" y="3505676"/>
            <a:ext cx="505301" cy="505301"/>
          </a:xfrm>
          <a:prstGeom prst="roundRect">
            <a:avLst>
              <a:gd name="adj" fmla="val 6668"/>
            </a:avLst>
          </a:prstGeom>
          <a:solidFill>
            <a:srgbClr val="444752"/>
          </a:solidFill>
          <a:ln/>
        </p:spPr>
      </p:sp>
      <p:sp>
        <p:nvSpPr>
          <p:cNvPr id="12" name="Text 9"/>
          <p:cNvSpPr/>
          <p:nvPr/>
        </p:nvSpPr>
        <p:spPr>
          <a:xfrm>
            <a:off x="880170" y="3560147"/>
            <a:ext cx="317063" cy="396359"/>
          </a:xfrm>
          <a:prstGeom prst="rect">
            <a:avLst/>
          </a:prstGeom>
          <a:noFill/>
          <a:ln/>
        </p:spPr>
        <p:txBody>
          <a:bodyPr wrap="none" lIns="0" tIns="0" rIns="0" bIns="0" rtlCol="0" anchor="t"/>
          <a:lstStyle/>
          <a:p>
            <a:pPr marL="0" indent="0" algn="ctr">
              <a:lnSpc>
                <a:spcPts val="2450"/>
              </a:lnSpc>
              <a:buNone/>
            </a:pPr>
            <a:r>
              <a:rPr lang="en-US" sz="2450" dirty="0">
                <a:solidFill>
                  <a:srgbClr val="D6E5EF"/>
                </a:solidFill>
                <a:latin typeface="Lora" pitchFamily="34" charset="0"/>
                <a:ea typeface="Lora" pitchFamily="34" charset="-122"/>
                <a:cs typeface="Lora" pitchFamily="34" charset="-120"/>
              </a:rPr>
              <a:t>2</a:t>
            </a:r>
            <a:endParaRPr lang="en-US" sz="2450" dirty="0"/>
          </a:p>
        </p:txBody>
      </p:sp>
      <p:sp>
        <p:nvSpPr>
          <p:cNvPr id="13" name="Text 10"/>
          <p:cNvSpPr/>
          <p:nvPr/>
        </p:nvSpPr>
        <p:spPr>
          <a:xfrm>
            <a:off x="2161699" y="3582829"/>
            <a:ext cx="2642473" cy="33016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Top Model</a:t>
            </a:r>
            <a:endParaRPr lang="en-US" sz="2050" dirty="0"/>
          </a:p>
        </p:txBody>
      </p:sp>
      <p:sp>
        <p:nvSpPr>
          <p:cNvPr id="14" name="Text 11"/>
          <p:cNvSpPr/>
          <p:nvPr/>
        </p:nvSpPr>
        <p:spPr>
          <a:xfrm>
            <a:off x="2161699" y="4047649"/>
            <a:ext cx="6196251" cy="718899"/>
          </a:xfrm>
          <a:prstGeom prst="rect">
            <a:avLst/>
          </a:prstGeom>
          <a:noFill/>
          <a:ln/>
        </p:spPr>
        <p:txBody>
          <a:bodyPr wrap="square" lIns="0" tIns="0" rIns="0" bIns="0" rtlCol="0" anchor="t"/>
          <a:lstStyle/>
          <a:p>
            <a:pPr marL="0" indent="0" algn="l">
              <a:lnSpc>
                <a:spcPts val="2800"/>
              </a:lnSpc>
              <a:buNone/>
            </a:pPr>
            <a:r>
              <a:rPr lang="en-US" sz="1750" dirty="0">
                <a:solidFill>
                  <a:srgbClr val="D6E5EF"/>
                </a:solidFill>
                <a:latin typeface="Source Sans Pro" pitchFamily="34" charset="0"/>
                <a:ea typeface="Source Sans Pro" pitchFamily="34" charset="-122"/>
                <a:cs typeface="Source Sans Pro" pitchFamily="34" charset="-120"/>
              </a:rPr>
              <a:t>CatBoost Regressor delivered highest accuracy with MAE of 40,000 INR and R² of 0.92.</a:t>
            </a:r>
            <a:endParaRPr lang="en-US" sz="1750" dirty="0"/>
          </a:p>
        </p:txBody>
      </p:sp>
      <p:sp>
        <p:nvSpPr>
          <p:cNvPr id="15" name="Shape 12"/>
          <p:cNvSpPr/>
          <p:nvPr/>
        </p:nvSpPr>
        <p:spPr>
          <a:xfrm>
            <a:off x="1260872" y="5453182"/>
            <a:ext cx="673775" cy="30480"/>
          </a:xfrm>
          <a:prstGeom prst="roundRect">
            <a:avLst>
              <a:gd name="adj" fmla="val 110539"/>
            </a:avLst>
          </a:prstGeom>
          <a:solidFill>
            <a:srgbClr val="5D606B"/>
          </a:solidFill>
          <a:ln/>
        </p:spPr>
      </p:sp>
      <p:sp>
        <p:nvSpPr>
          <p:cNvPr id="16" name="Shape 13"/>
          <p:cNvSpPr/>
          <p:nvPr/>
        </p:nvSpPr>
        <p:spPr>
          <a:xfrm>
            <a:off x="786051" y="5215771"/>
            <a:ext cx="505301" cy="505301"/>
          </a:xfrm>
          <a:prstGeom prst="roundRect">
            <a:avLst>
              <a:gd name="adj" fmla="val 6668"/>
            </a:avLst>
          </a:prstGeom>
          <a:solidFill>
            <a:srgbClr val="444752"/>
          </a:solidFill>
          <a:ln/>
        </p:spPr>
      </p:sp>
      <p:sp>
        <p:nvSpPr>
          <p:cNvPr id="17" name="Text 14"/>
          <p:cNvSpPr/>
          <p:nvPr/>
        </p:nvSpPr>
        <p:spPr>
          <a:xfrm>
            <a:off x="880170" y="5270242"/>
            <a:ext cx="317063" cy="396359"/>
          </a:xfrm>
          <a:prstGeom prst="rect">
            <a:avLst/>
          </a:prstGeom>
          <a:noFill/>
          <a:ln/>
        </p:spPr>
        <p:txBody>
          <a:bodyPr wrap="none" lIns="0" tIns="0" rIns="0" bIns="0" rtlCol="0" anchor="t"/>
          <a:lstStyle/>
          <a:p>
            <a:pPr marL="0" indent="0" algn="ctr">
              <a:lnSpc>
                <a:spcPts val="2450"/>
              </a:lnSpc>
              <a:buNone/>
            </a:pPr>
            <a:r>
              <a:rPr lang="en-US" sz="2450" dirty="0">
                <a:solidFill>
                  <a:srgbClr val="D6E5EF"/>
                </a:solidFill>
                <a:latin typeface="Lora" pitchFamily="34" charset="0"/>
                <a:ea typeface="Lora" pitchFamily="34" charset="-122"/>
                <a:cs typeface="Lora" pitchFamily="34" charset="-120"/>
              </a:rPr>
              <a:t>3</a:t>
            </a:r>
            <a:endParaRPr lang="en-US" sz="2450" dirty="0"/>
          </a:p>
        </p:txBody>
      </p:sp>
      <p:sp>
        <p:nvSpPr>
          <p:cNvPr id="18" name="Text 15"/>
          <p:cNvSpPr/>
          <p:nvPr/>
        </p:nvSpPr>
        <p:spPr>
          <a:xfrm>
            <a:off x="2161699" y="5292923"/>
            <a:ext cx="2642473" cy="330160"/>
          </a:xfrm>
          <a:prstGeom prst="rect">
            <a:avLst/>
          </a:prstGeom>
          <a:noFill/>
          <a:ln/>
        </p:spPr>
        <p:txBody>
          <a:bodyPr wrap="none" lIns="0" tIns="0" rIns="0" bIns="0" rtlCol="0" anchor="t"/>
          <a:lstStyle/>
          <a:p>
            <a:pPr marL="0" indent="0" algn="l">
              <a:lnSpc>
                <a:spcPts val="2600"/>
              </a:lnSpc>
              <a:buNone/>
            </a:pPr>
            <a:r>
              <a:rPr lang="en-US" sz="2050" dirty="0">
                <a:solidFill>
                  <a:srgbClr val="D6E5EF"/>
                </a:solidFill>
                <a:latin typeface="Lora" pitchFamily="34" charset="0"/>
                <a:ea typeface="Lora" pitchFamily="34" charset="-122"/>
                <a:cs typeface="Lora" pitchFamily="34" charset="-120"/>
              </a:rPr>
              <a:t>Visual Analysis</a:t>
            </a:r>
            <a:endParaRPr lang="en-US" sz="2050" dirty="0"/>
          </a:p>
        </p:txBody>
      </p:sp>
      <p:sp>
        <p:nvSpPr>
          <p:cNvPr id="19" name="Text 16"/>
          <p:cNvSpPr/>
          <p:nvPr/>
        </p:nvSpPr>
        <p:spPr>
          <a:xfrm>
            <a:off x="2161699" y="5757743"/>
            <a:ext cx="6196251" cy="359450"/>
          </a:xfrm>
          <a:prstGeom prst="rect">
            <a:avLst/>
          </a:prstGeom>
          <a:noFill/>
          <a:ln/>
        </p:spPr>
        <p:txBody>
          <a:bodyPr wrap="none" lIns="0" tIns="0" rIns="0" bIns="0" rtlCol="0" anchor="t"/>
          <a:lstStyle/>
          <a:p>
            <a:pPr marL="342900" indent="-342900" algn="l">
              <a:lnSpc>
                <a:spcPts val="2800"/>
              </a:lnSpc>
              <a:buSzPct val="100000"/>
              <a:buFont typeface="+mj-lt"/>
              <a:buAutoNum type="arabicPeriod"/>
            </a:pPr>
            <a:r>
              <a:rPr lang="en-US" sz="1750" dirty="0">
                <a:solidFill>
                  <a:srgbClr val="D6E5EF"/>
                </a:solidFill>
                <a:latin typeface="Source Sans Pro" pitchFamily="34" charset="0"/>
                <a:ea typeface="Source Sans Pro" pitchFamily="34" charset="-122"/>
                <a:cs typeface="Source Sans Pro" pitchFamily="34" charset="-120"/>
              </a:rPr>
              <a:t>Price distribution histogram comparing actual vs predicted</a:t>
            </a:r>
            <a:endParaRPr lang="en-US" sz="1750" dirty="0"/>
          </a:p>
        </p:txBody>
      </p:sp>
      <p:sp>
        <p:nvSpPr>
          <p:cNvPr id="20" name="Text 17"/>
          <p:cNvSpPr/>
          <p:nvPr/>
        </p:nvSpPr>
        <p:spPr>
          <a:xfrm>
            <a:off x="2161699" y="6195774"/>
            <a:ext cx="6196251" cy="359450"/>
          </a:xfrm>
          <a:prstGeom prst="rect">
            <a:avLst/>
          </a:prstGeom>
          <a:noFill/>
          <a:ln/>
        </p:spPr>
        <p:txBody>
          <a:bodyPr wrap="none" lIns="0" tIns="0" rIns="0" bIns="0" rtlCol="0" anchor="t"/>
          <a:lstStyle/>
          <a:p>
            <a:pPr marL="342900" indent="-342900" algn="l">
              <a:lnSpc>
                <a:spcPts val="2800"/>
              </a:lnSpc>
              <a:buSzPct val="100000"/>
              <a:buFont typeface="+mj-lt"/>
              <a:buAutoNum type="arabicPeriod" startAt="2"/>
            </a:pPr>
            <a:r>
              <a:rPr lang="en-US" sz="1750" dirty="0">
                <a:solidFill>
                  <a:srgbClr val="D6E5EF"/>
                </a:solidFill>
                <a:latin typeface="Source Sans Pro" pitchFamily="34" charset="0"/>
                <a:ea typeface="Source Sans Pro" pitchFamily="34" charset="-122"/>
                <a:cs typeface="Source Sans Pro" pitchFamily="34" charset="-120"/>
              </a:rPr>
              <a:t>Prediction versus actual price scatter plot</a:t>
            </a:r>
            <a:endParaRPr lang="en-US" sz="1750" dirty="0"/>
          </a:p>
        </p:txBody>
      </p:sp>
      <p:sp>
        <p:nvSpPr>
          <p:cNvPr id="21" name="Text 18"/>
          <p:cNvSpPr/>
          <p:nvPr/>
        </p:nvSpPr>
        <p:spPr>
          <a:xfrm>
            <a:off x="2161699" y="6633805"/>
            <a:ext cx="6196251" cy="359450"/>
          </a:xfrm>
          <a:prstGeom prst="rect">
            <a:avLst/>
          </a:prstGeom>
          <a:noFill/>
          <a:ln/>
        </p:spPr>
        <p:txBody>
          <a:bodyPr wrap="none" lIns="0" tIns="0" rIns="0" bIns="0" rtlCol="0" anchor="t"/>
          <a:lstStyle/>
          <a:p>
            <a:pPr marL="342900" indent="-342900" algn="l">
              <a:lnSpc>
                <a:spcPts val="2800"/>
              </a:lnSpc>
              <a:buSzPct val="100000"/>
              <a:buFont typeface="+mj-lt"/>
              <a:buAutoNum type="arabicPeriod" startAt="3"/>
            </a:pPr>
            <a:r>
              <a:rPr lang="en-US" sz="1750" dirty="0">
                <a:solidFill>
                  <a:srgbClr val="D6E5EF"/>
                </a:solidFill>
                <a:latin typeface="Source Sans Pro" pitchFamily="34" charset="0"/>
                <a:ea typeface="Source Sans Pro" pitchFamily="34" charset="-122"/>
                <a:cs typeface="Source Sans Pro" pitchFamily="34" charset="-120"/>
              </a:rPr>
              <a:t>Residual plot to detect errors systematically</a:t>
            </a:r>
            <a:endParaRPr lang="en-US" sz="1750" dirty="0"/>
          </a:p>
        </p:txBody>
      </p:sp>
      <p:sp>
        <p:nvSpPr>
          <p:cNvPr id="22" name="Text 19"/>
          <p:cNvSpPr/>
          <p:nvPr/>
        </p:nvSpPr>
        <p:spPr>
          <a:xfrm>
            <a:off x="2161699" y="7071836"/>
            <a:ext cx="6196251" cy="359450"/>
          </a:xfrm>
          <a:prstGeom prst="rect">
            <a:avLst/>
          </a:prstGeom>
          <a:noFill/>
          <a:ln/>
        </p:spPr>
        <p:txBody>
          <a:bodyPr wrap="none" lIns="0" tIns="0" rIns="0" bIns="0" rtlCol="0" anchor="t"/>
          <a:lstStyle/>
          <a:p>
            <a:pPr marL="342900" indent="-342900" algn="l">
              <a:lnSpc>
                <a:spcPts val="2800"/>
              </a:lnSpc>
              <a:buSzPct val="100000"/>
              <a:buFont typeface="+mj-lt"/>
              <a:buAutoNum type="arabicPeriod" startAt="4"/>
            </a:pPr>
            <a:r>
              <a:rPr lang="en-US" sz="1750" dirty="0">
                <a:solidFill>
                  <a:srgbClr val="D6E5EF"/>
                </a:solidFill>
                <a:latin typeface="Source Sans Pro" pitchFamily="34" charset="0"/>
                <a:ea typeface="Source Sans Pro" pitchFamily="34" charset="-122"/>
                <a:cs typeface="Source Sans Pro" pitchFamily="34" charset="-120"/>
              </a:rPr>
              <a:t>Feature importance bar chart for model transparency</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100"/>
          </a:xfrm>
          <a:prstGeom prst="rect">
            <a:avLst/>
          </a:prstGeom>
        </p:spPr>
      </p:pic>
      <p:sp>
        <p:nvSpPr>
          <p:cNvPr id="3" name="Text 0"/>
          <p:cNvSpPr/>
          <p:nvPr/>
        </p:nvSpPr>
        <p:spPr>
          <a:xfrm>
            <a:off x="703659" y="552807"/>
            <a:ext cx="6453664" cy="591264"/>
          </a:xfrm>
          <a:prstGeom prst="rect">
            <a:avLst/>
          </a:prstGeom>
          <a:noFill/>
          <a:ln/>
        </p:spPr>
        <p:txBody>
          <a:bodyPr wrap="none" lIns="0" tIns="0" rIns="0" bIns="0" rtlCol="0" anchor="t"/>
          <a:lstStyle/>
          <a:p>
            <a:pPr marL="0" indent="0" algn="l">
              <a:lnSpc>
                <a:spcPts val="4650"/>
              </a:lnSpc>
              <a:buNone/>
            </a:pPr>
            <a:r>
              <a:rPr lang="en-US" sz="3700" dirty="0">
                <a:solidFill>
                  <a:srgbClr val="F98AC7"/>
                </a:solidFill>
                <a:latin typeface="Lora" pitchFamily="34" charset="0"/>
                <a:ea typeface="Lora" pitchFamily="34" charset="-122"/>
                <a:cs typeface="Lora" pitchFamily="34" charset="-120"/>
              </a:rPr>
              <a:t>Conclusion and Future Scope</a:t>
            </a:r>
            <a:endParaRPr lang="en-US" sz="3700" dirty="0"/>
          </a:p>
        </p:txBody>
      </p:sp>
      <p:sp>
        <p:nvSpPr>
          <p:cNvPr id="4" name="Shape 1"/>
          <p:cNvSpPr/>
          <p:nvPr/>
        </p:nvSpPr>
        <p:spPr>
          <a:xfrm>
            <a:off x="703659" y="1445538"/>
            <a:ext cx="150733" cy="1059656"/>
          </a:xfrm>
          <a:prstGeom prst="roundRect">
            <a:avLst>
              <a:gd name="adj" fmla="val 20008"/>
            </a:avLst>
          </a:prstGeom>
          <a:solidFill>
            <a:srgbClr val="444752"/>
          </a:solidFill>
          <a:ln/>
        </p:spPr>
      </p:sp>
      <p:sp>
        <p:nvSpPr>
          <p:cNvPr id="5" name="Text 2"/>
          <p:cNvSpPr/>
          <p:nvPr/>
        </p:nvSpPr>
        <p:spPr>
          <a:xfrm>
            <a:off x="1155859" y="1445538"/>
            <a:ext cx="2365296" cy="295632"/>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Conclusion</a:t>
            </a:r>
            <a:endParaRPr lang="en-US" sz="1850" dirty="0"/>
          </a:p>
        </p:txBody>
      </p:sp>
      <p:sp>
        <p:nvSpPr>
          <p:cNvPr id="6" name="Text 3"/>
          <p:cNvSpPr/>
          <p:nvPr/>
        </p:nvSpPr>
        <p:spPr>
          <a:xfrm>
            <a:off x="1155859" y="1861780"/>
            <a:ext cx="7284482" cy="643414"/>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Machine learning significantly enhances accuracy of house price predictions in India's real estate sector.</a:t>
            </a:r>
            <a:endParaRPr lang="en-US" sz="1550" dirty="0"/>
          </a:p>
        </p:txBody>
      </p:sp>
      <p:sp>
        <p:nvSpPr>
          <p:cNvPr id="7" name="Shape 4"/>
          <p:cNvSpPr/>
          <p:nvPr/>
        </p:nvSpPr>
        <p:spPr>
          <a:xfrm>
            <a:off x="1005126" y="2706172"/>
            <a:ext cx="150733" cy="1059656"/>
          </a:xfrm>
          <a:prstGeom prst="roundRect">
            <a:avLst>
              <a:gd name="adj" fmla="val 20008"/>
            </a:avLst>
          </a:prstGeom>
          <a:solidFill>
            <a:srgbClr val="444752"/>
          </a:solidFill>
          <a:ln/>
        </p:spPr>
      </p:sp>
      <p:sp>
        <p:nvSpPr>
          <p:cNvPr id="8" name="Text 5"/>
          <p:cNvSpPr/>
          <p:nvPr/>
        </p:nvSpPr>
        <p:spPr>
          <a:xfrm>
            <a:off x="1457325" y="2706172"/>
            <a:ext cx="2365296" cy="295632"/>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Key Models</a:t>
            </a:r>
            <a:endParaRPr lang="en-US" sz="1850" dirty="0"/>
          </a:p>
        </p:txBody>
      </p:sp>
      <p:sp>
        <p:nvSpPr>
          <p:cNvPr id="9" name="Text 6"/>
          <p:cNvSpPr/>
          <p:nvPr/>
        </p:nvSpPr>
        <p:spPr>
          <a:xfrm>
            <a:off x="1457325" y="3122414"/>
            <a:ext cx="6983016" cy="643414"/>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CatBoost and Random Forest stand out as reliable models supporting detailed prediction based on varied features.</a:t>
            </a:r>
            <a:endParaRPr lang="en-US" sz="1550" dirty="0"/>
          </a:p>
        </p:txBody>
      </p:sp>
      <p:sp>
        <p:nvSpPr>
          <p:cNvPr id="10" name="Shape 7"/>
          <p:cNvSpPr/>
          <p:nvPr/>
        </p:nvSpPr>
        <p:spPr>
          <a:xfrm>
            <a:off x="1306711" y="3966805"/>
            <a:ext cx="150733" cy="1059656"/>
          </a:xfrm>
          <a:prstGeom prst="roundRect">
            <a:avLst>
              <a:gd name="adj" fmla="val 20008"/>
            </a:avLst>
          </a:prstGeom>
          <a:solidFill>
            <a:srgbClr val="444752"/>
          </a:solidFill>
          <a:ln/>
        </p:spPr>
      </p:sp>
      <p:sp>
        <p:nvSpPr>
          <p:cNvPr id="11" name="Text 8"/>
          <p:cNvSpPr/>
          <p:nvPr/>
        </p:nvSpPr>
        <p:spPr>
          <a:xfrm>
            <a:off x="1758910" y="3966805"/>
            <a:ext cx="2365296" cy="295632"/>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Applications</a:t>
            </a:r>
            <a:endParaRPr lang="en-US" sz="1850" dirty="0"/>
          </a:p>
        </p:txBody>
      </p:sp>
      <p:sp>
        <p:nvSpPr>
          <p:cNvPr id="12" name="Text 9"/>
          <p:cNvSpPr/>
          <p:nvPr/>
        </p:nvSpPr>
        <p:spPr>
          <a:xfrm>
            <a:off x="1758910" y="4383048"/>
            <a:ext cx="6681430" cy="643414"/>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The tool empowers buyers, sellers, and analysts by delivering precise, data-driven valuation insights in real-time.</a:t>
            </a:r>
            <a:endParaRPr lang="en-US" sz="1550" dirty="0"/>
          </a:p>
        </p:txBody>
      </p:sp>
      <p:sp>
        <p:nvSpPr>
          <p:cNvPr id="13" name="Shape 10"/>
          <p:cNvSpPr/>
          <p:nvPr/>
        </p:nvSpPr>
        <p:spPr>
          <a:xfrm>
            <a:off x="1608296" y="5227439"/>
            <a:ext cx="150733" cy="1381363"/>
          </a:xfrm>
          <a:prstGeom prst="roundRect">
            <a:avLst>
              <a:gd name="adj" fmla="val 20008"/>
            </a:avLst>
          </a:prstGeom>
          <a:solidFill>
            <a:srgbClr val="444752"/>
          </a:solidFill>
          <a:ln/>
        </p:spPr>
      </p:sp>
      <p:sp>
        <p:nvSpPr>
          <p:cNvPr id="14" name="Text 11"/>
          <p:cNvSpPr/>
          <p:nvPr/>
        </p:nvSpPr>
        <p:spPr>
          <a:xfrm>
            <a:off x="2060496" y="5227439"/>
            <a:ext cx="2365296" cy="295632"/>
          </a:xfrm>
          <a:prstGeom prst="rect">
            <a:avLst/>
          </a:prstGeom>
          <a:noFill/>
          <a:ln/>
        </p:spPr>
        <p:txBody>
          <a:bodyPr wrap="none" lIns="0" tIns="0" rIns="0" bIns="0" rtlCol="0" anchor="t"/>
          <a:lstStyle/>
          <a:p>
            <a:pPr marL="0" indent="0" algn="l">
              <a:lnSpc>
                <a:spcPts val="2300"/>
              </a:lnSpc>
              <a:buNone/>
            </a:pPr>
            <a:r>
              <a:rPr lang="en-US" sz="1850" dirty="0">
                <a:solidFill>
                  <a:srgbClr val="D6E5EF"/>
                </a:solidFill>
                <a:latin typeface="Lora" pitchFamily="34" charset="0"/>
                <a:ea typeface="Lora" pitchFamily="34" charset="-122"/>
                <a:cs typeface="Lora" pitchFamily="34" charset="-120"/>
              </a:rPr>
              <a:t>Future Development</a:t>
            </a:r>
            <a:endParaRPr lang="en-US" sz="1850" dirty="0"/>
          </a:p>
        </p:txBody>
      </p:sp>
      <p:sp>
        <p:nvSpPr>
          <p:cNvPr id="15" name="Text 12"/>
          <p:cNvSpPr/>
          <p:nvPr/>
        </p:nvSpPr>
        <p:spPr>
          <a:xfrm>
            <a:off x="2060496" y="5643682"/>
            <a:ext cx="6379845" cy="965121"/>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Focus on integrating GIS data, expanding coverage to more cities and incorporating live market trends and explainable AI models for transparency.</a:t>
            </a:r>
            <a:endParaRPr lang="en-US" sz="1550" dirty="0"/>
          </a:p>
        </p:txBody>
      </p:sp>
      <p:sp>
        <p:nvSpPr>
          <p:cNvPr id="16" name="Text 13"/>
          <p:cNvSpPr/>
          <p:nvPr/>
        </p:nvSpPr>
        <p:spPr>
          <a:xfrm>
            <a:off x="703659" y="7035879"/>
            <a:ext cx="7736681" cy="643414"/>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Source Sans Pro" pitchFamily="34" charset="0"/>
                <a:ea typeface="Source Sans Pro" pitchFamily="34" charset="-122"/>
                <a:cs typeface="Source Sans Pro" pitchFamily="34" charset="-120"/>
              </a:rPr>
              <a:t>The vision is to achieve 95% prediction accuracy while ensuring a seamless user experience, revolutionizing property valuation in India.</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20</TotalTime>
  <Words>895</Words>
  <Application>Microsoft Office PowerPoint</Application>
  <PresentationFormat>Custom</PresentationFormat>
  <Paragraphs>140</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Lora</vt:lpstr>
      <vt:lpstr>Times New Roman</vt:lpstr>
      <vt:lpstr>Arial</vt:lpstr>
      <vt:lpstr>Source Sans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NILESH AGRAHARI</cp:lastModifiedBy>
  <cp:revision>8</cp:revision>
  <dcterms:created xsi:type="dcterms:W3CDTF">2025-05-26T18:07:14Z</dcterms:created>
  <dcterms:modified xsi:type="dcterms:W3CDTF">2025-05-27T07:50:29Z</dcterms:modified>
</cp:coreProperties>
</file>