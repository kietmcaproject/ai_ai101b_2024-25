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9" r:id="rId4"/>
    <p:sldId id="261" r:id="rId5"/>
    <p:sldId id="266" r:id="rId6"/>
    <p:sldId id="270" r:id="rId7"/>
    <p:sldId id="271" r:id="rId8"/>
    <p:sldId id="279" r:id="rId9"/>
    <p:sldId id="272" r:id="rId10"/>
    <p:sldId id="273" r:id="rId11"/>
    <p:sldId id="275"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9"/>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3A374-E257-BA40-8027-2F76366D0775}" type="datetimeFigureOut">
              <a:rPr lang="en-US" smtClean="0"/>
              <a:t>5/27/2025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A341E-1834-1A45-B594-3CD153D3973B}" type="slidenum">
              <a:rPr lang="en-US" smtClean="0"/>
              <a:t>‹#›</a:t>
            </a:fld>
            <a:endParaRPr lang="en-US"/>
          </a:p>
        </p:txBody>
      </p:sp>
    </p:spTree>
    <p:extLst>
      <p:ext uri="{BB962C8B-B14F-4D97-AF65-F5344CB8AC3E}">
        <p14:creationId xmlns:p14="http://schemas.microsoft.com/office/powerpoint/2010/main" val="383050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p:cNvSpPr>
            <a:spLocks noGrp="1"/>
          </p:cNvSpPr>
          <p:nvPr>
            <p:ph type="sldNum" sz="quarter" idx="5"/>
          </p:nvPr>
        </p:nvSpPr>
        <p:spPr/>
        <p:txBody>
          <a:bodyPr/>
          <a:lstStyle/>
          <a:p>
            <a:fld id="{7919DA09-95EA-445C-8C87-C274365D506A}" type="slidenum">
              <a:rPr lang="en-IN" smtClean="0"/>
              <a:t>2</a:t>
            </a:fld>
            <a:endParaRPr lang="en-IN"/>
          </a:p>
        </p:txBody>
      </p:sp>
    </p:spTree>
    <p:extLst>
      <p:ext uri="{BB962C8B-B14F-4D97-AF65-F5344CB8AC3E}">
        <p14:creationId xmlns:p14="http://schemas.microsoft.com/office/powerpoint/2010/main" val="116241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BE56-EE12-A068-7411-268FC106A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0719-7949-65F4-8567-807B82470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93F43-CD27-67E6-F270-891B76509BC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7549705-963A-05A0-9B13-88F583F8A0CD}"/>
              </a:ext>
            </a:extLst>
          </p:cNvPr>
          <p:cNvSpPr>
            <a:spLocks noGrp="1"/>
          </p:cNvSpPr>
          <p:nvPr>
            <p:ph type="sldNum" sz="quarter" idx="5"/>
          </p:nvPr>
        </p:nvSpPr>
        <p:spPr/>
        <p:txBody>
          <a:bodyPr/>
          <a:lstStyle/>
          <a:p>
            <a:fld id="{7919DA09-95EA-445C-8C87-C274365D506A}" type="slidenum">
              <a:rPr lang="en-IN" smtClean="0"/>
              <a:t>3</a:t>
            </a:fld>
            <a:endParaRPr lang="en-IN"/>
          </a:p>
        </p:txBody>
      </p:sp>
    </p:spTree>
    <p:extLst>
      <p:ext uri="{BB962C8B-B14F-4D97-AF65-F5344CB8AC3E}">
        <p14:creationId xmlns:p14="http://schemas.microsoft.com/office/powerpoint/2010/main" val="3640149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BA155-0859-F2CC-A345-55D6207F1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E583F-BEFD-6DD1-ECB9-E0C145763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35B20-B7B1-88E1-6E6D-2D7C97C6DD37}"/>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D24FA1F5-D943-7DBD-EAF6-79A2FF602FDE}"/>
              </a:ext>
            </a:extLst>
          </p:cNvPr>
          <p:cNvSpPr>
            <a:spLocks noGrp="1"/>
          </p:cNvSpPr>
          <p:nvPr>
            <p:ph type="sldNum" sz="quarter" idx="5"/>
          </p:nvPr>
        </p:nvSpPr>
        <p:spPr/>
        <p:txBody>
          <a:bodyPr/>
          <a:lstStyle/>
          <a:p>
            <a:fld id="{7919DA09-95EA-445C-8C87-C274365D506A}" type="slidenum">
              <a:rPr lang="en-IN" smtClean="0"/>
              <a:t>4</a:t>
            </a:fld>
            <a:endParaRPr lang="en-IN"/>
          </a:p>
        </p:txBody>
      </p:sp>
    </p:spTree>
    <p:extLst>
      <p:ext uri="{BB962C8B-B14F-4D97-AF65-F5344CB8AC3E}">
        <p14:creationId xmlns:p14="http://schemas.microsoft.com/office/powerpoint/2010/main" val="4096012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D652A-BA82-B828-30CD-4F38C2922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A1B93-0E48-0FD5-048F-3DC3C2E09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96148-975E-DEEF-31C9-F814A491072F}"/>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01574BBB-D07F-F4E0-C81B-DC6F152095FA}"/>
              </a:ext>
            </a:extLst>
          </p:cNvPr>
          <p:cNvSpPr>
            <a:spLocks noGrp="1"/>
          </p:cNvSpPr>
          <p:nvPr>
            <p:ph type="sldNum" sz="quarter" idx="5"/>
          </p:nvPr>
        </p:nvSpPr>
        <p:spPr/>
        <p:txBody>
          <a:bodyPr/>
          <a:lstStyle/>
          <a:p>
            <a:fld id="{7919DA09-95EA-445C-8C87-C274365D506A}" type="slidenum">
              <a:rPr lang="en-IN" smtClean="0"/>
              <a:t>5</a:t>
            </a:fld>
            <a:endParaRPr lang="en-IN"/>
          </a:p>
        </p:txBody>
      </p:sp>
    </p:spTree>
    <p:extLst>
      <p:ext uri="{BB962C8B-B14F-4D97-AF65-F5344CB8AC3E}">
        <p14:creationId xmlns:p14="http://schemas.microsoft.com/office/powerpoint/2010/main" val="1741658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48868-8601-A126-DD99-3C45FB5E3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58855-53C8-AF17-DE6D-D64F2EDC3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2B9EB-1B48-B015-C2E0-E364A4BCA50C}"/>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4A11B322-7615-DBB6-8AAB-840902D1A3D9}"/>
              </a:ext>
            </a:extLst>
          </p:cNvPr>
          <p:cNvSpPr>
            <a:spLocks noGrp="1"/>
          </p:cNvSpPr>
          <p:nvPr>
            <p:ph type="sldNum" sz="quarter" idx="5"/>
          </p:nvPr>
        </p:nvSpPr>
        <p:spPr/>
        <p:txBody>
          <a:bodyPr/>
          <a:lstStyle/>
          <a:p>
            <a:fld id="{7919DA09-95EA-445C-8C87-C274365D506A}" type="slidenum">
              <a:rPr lang="en-IN" smtClean="0"/>
              <a:t>6</a:t>
            </a:fld>
            <a:endParaRPr lang="en-IN"/>
          </a:p>
        </p:txBody>
      </p:sp>
    </p:spTree>
    <p:extLst>
      <p:ext uri="{BB962C8B-B14F-4D97-AF65-F5344CB8AC3E}">
        <p14:creationId xmlns:p14="http://schemas.microsoft.com/office/powerpoint/2010/main" val="3600649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830B-382D-4FD6-434E-0BBDCF5E8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96566-B6F3-EC01-B4A3-3FB85FCCD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399BA-F3EB-A22D-A4FF-0C2EFD0CFD1A}"/>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2AD36BCB-BBD4-7CE0-64D2-8A144E8262F9}"/>
              </a:ext>
            </a:extLst>
          </p:cNvPr>
          <p:cNvSpPr>
            <a:spLocks noGrp="1"/>
          </p:cNvSpPr>
          <p:nvPr>
            <p:ph type="sldNum" sz="quarter" idx="5"/>
          </p:nvPr>
        </p:nvSpPr>
        <p:spPr/>
        <p:txBody>
          <a:bodyPr/>
          <a:lstStyle/>
          <a:p>
            <a:fld id="{7919DA09-95EA-445C-8C87-C274365D506A}" type="slidenum">
              <a:rPr lang="en-IN" smtClean="0"/>
              <a:t>12</a:t>
            </a:fld>
            <a:endParaRPr lang="en-IN"/>
          </a:p>
        </p:txBody>
      </p:sp>
    </p:spTree>
    <p:extLst>
      <p:ext uri="{BB962C8B-B14F-4D97-AF65-F5344CB8AC3E}">
        <p14:creationId xmlns:p14="http://schemas.microsoft.com/office/powerpoint/2010/main" val="3154930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7E67-3BFC-BDEF-8A87-69915E028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C607F-B2C3-67D4-ECF1-8B50363CF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65FB2-1C9D-4050-EC01-3E3199597CB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F26BA3AD-C1FB-EA75-B7B4-E8A6244F1F42}"/>
              </a:ext>
            </a:extLst>
          </p:cNvPr>
          <p:cNvSpPr>
            <a:spLocks noGrp="1"/>
          </p:cNvSpPr>
          <p:nvPr>
            <p:ph type="sldNum" sz="quarter" idx="5"/>
          </p:nvPr>
        </p:nvSpPr>
        <p:spPr/>
        <p:txBody>
          <a:bodyPr/>
          <a:lstStyle/>
          <a:p>
            <a:fld id="{7919DA09-95EA-445C-8C87-C274365D506A}" type="slidenum">
              <a:rPr lang="en-IN" smtClean="0"/>
              <a:t>13</a:t>
            </a:fld>
            <a:endParaRPr lang="en-IN"/>
          </a:p>
        </p:txBody>
      </p:sp>
    </p:spTree>
    <p:extLst>
      <p:ext uri="{BB962C8B-B14F-4D97-AF65-F5344CB8AC3E}">
        <p14:creationId xmlns:p14="http://schemas.microsoft.com/office/powerpoint/2010/main" val="300900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33B-C1CB-1754-9CFB-86BF8AE30D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7F7485-6AB7-ED91-AD1E-F6AF83215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112DE61-1E8E-21E6-91F5-9ACFEE0A5AF2}"/>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3BB0C74B-DB87-D74C-25EF-E2DFA9BBC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4EB34-C25C-43DD-1A50-13C7E6692AB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8531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85E8-D1F0-3201-C513-282DAD8464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A2AC0AD-2C49-613F-7309-CA7169803D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11593B-EACA-5742-BD7F-BBE8EF098D91}"/>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C6032B52-D214-778D-EBBC-4D434F2DF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6133C-3644-B4AE-38D1-B6502E79464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426208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90C2-0E03-59D3-2EC9-A7CEBD2A0C3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63D4C1-E515-B744-7095-139C57B2CA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609EE3-1AD3-FA54-93C5-86879BAC8DA5}"/>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9019E5D3-42E2-501B-4318-0A159470A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B1FAE-A829-24D5-8503-C294C28F83B0}"/>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501454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B38F-72B4-7564-C133-A8CAF7D4EC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0B9F648-9D9E-7763-6BAB-B390C53F903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3456F47-3898-C18D-71A7-B777853035E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C2CE839-A226-7F30-2E42-D8C07E5146FB}"/>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6" name="Footer Placeholder 5">
            <a:extLst>
              <a:ext uri="{FF2B5EF4-FFF2-40B4-BE49-F238E27FC236}">
                <a16:creationId xmlns:a16="http://schemas.microsoft.com/office/drawing/2014/main" id="{CDCF7FCD-23EC-B0DD-BE70-3A095C494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94252-86A4-63D0-754B-CBB385D3C73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740062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59CE-6C76-046E-841B-6EA0F787154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BA51E6-7D4F-39D6-DA6C-601B63902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D4CA2B-944D-91E6-F3C1-9E8B8804FA7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667490-A622-5F5B-FFA5-1191FC5F87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9E8B953-35E2-D50D-3C23-96F3EA8A96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D078F9F-EF39-1158-FFBB-B082D766A6DE}"/>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8" name="Footer Placeholder 7">
            <a:extLst>
              <a:ext uri="{FF2B5EF4-FFF2-40B4-BE49-F238E27FC236}">
                <a16:creationId xmlns:a16="http://schemas.microsoft.com/office/drawing/2014/main" id="{E17A79C8-D42A-D086-9A2C-59BDC44BBD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C02294-325E-C44F-6A05-FBDBCF942B4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4908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6425-17EE-1CF7-BD80-9B51FD9611B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714A2E-804D-2430-8785-8198012E9AE4}"/>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4" name="Footer Placeholder 3">
            <a:extLst>
              <a:ext uri="{FF2B5EF4-FFF2-40B4-BE49-F238E27FC236}">
                <a16:creationId xmlns:a16="http://schemas.microsoft.com/office/drawing/2014/main" id="{BB6E586F-1A2C-46B0-E88F-42E97FF8F1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0DCC0-E42B-4E16-2659-DE7666BDE83A}"/>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89670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DC0D8-D29F-7928-5C8E-932C35C7999E}"/>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3" name="Footer Placeholder 2">
            <a:extLst>
              <a:ext uri="{FF2B5EF4-FFF2-40B4-BE49-F238E27FC236}">
                <a16:creationId xmlns:a16="http://schemas.microsoft.com/office/drawing/2014/main" id="{A46381DF-626E-EA82-70A9-10E124594E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6DBE00-CBB3-2EA9-A8AD-EED32DAA2585}"/>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683688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6360-D970-1460-9ACE-C05150BFB3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9589798-D111-FBE5-6324-CC95E2CD3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40DC15-10D0-0F6F-3033-BC7F116A9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F4E66B-040C-17B4-ADF5-813D37631EB3}"/>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6" name="Footer Placeholder 5">
            <a:extLst>
              <a:ext uri="{FF2B5EF4-FFF2-40B4-BE49-F238E27FC236}">
                <a16:creationId xmlns:a16="http://schemas.microsoft.com/office/drawing/2014/main" id="{261D7DC8-6E0F-8333-626D-418440093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94196-7598-4217-57B3-7873D5820FF6}"/>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14233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5154-D40A-B42C-288E-C719D539AB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DA1DA1E-1E67-5A29-051C-8438263049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F18FC5-2DD3-C9EF-C7BF-36F167EC5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0F03EC-88F4-EC8D-270C-34F4D1181910}"/>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6" name="Footer Placeholder 5">
            <a:extLst>
              <a:ext uri="{FF2B5EF4-FFF2-40B4-BE49-F238E27FC236}">
                <a16:creationId xmlns:a16="http://schemas.microsoft.com/office/drawing/2014/main" id="{B33DC8FE-1BCB-047D-5F52-E902AC39B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B3D0D-1060-1C28-1F1A-231E43E411E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76395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9D28-A6C4-84CC-7AD0-1AF88C70EEC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933BF9-1D81-F7B1-6917-58E88F5D0D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466503-6FF8-76D4-851E-BF686B74DF52}"/>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25A06448-39D6-5009-B041-CA30D4724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0FC16-7BF7-6E7E-42AB-25069EB7AC12}"/>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41138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F52CA7-F9AD-0C1E-852C-42392B02D3C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44B219-750C-7F94-6064-31521601535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217404-C2CA-70FA-A5B4-9AE95C7F9A93}"/>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2743AD08-86AD-4165-1C92-6B56C79B7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2F7B6-7C91-353F-2D5E-37F732F3E00D}"/>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296410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132A7A-246A-E18A-4C93-A4BA988EEF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4919EB-94FF-60FF-BB8D-B66AF177AF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4F8F3A-267F-D219-664F-DEDAAC19E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16C10F51-7255-50C1-18D0-94D395A5F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535A5A-9156-5F50-DE6D-645C17C79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EAFB7-D942-8C40-850B-F7A53EC532FC}" type="slidenum">
              <a:rPr lang="en-US" smtClean="0"/>
              <a:t>‹#›</a:t>
            </a:fld>
            <a:endParaRPr lang="en-US"/>
          </a:p>
        </p:txBody>
      </p:sp>
    </p:spTree>
    <p:extLst>
      <p:ext uri="{BB962C8B-B14F-4D97-AF65-F5344CB8AC3E}">
        <p14:creationId xmlns:p14="http://schemas.microsoft.com/office/powerpoint/2010/main" val="2046532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kaggle.com/datasets/mlg-ulb/creditcardfraud"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C05F-6C10-AAB8-B9A1-704086EB8325}"/>
              </a:ext>
            </a:extLst>
          </p:cNvPr>
          <p:cNvSpPr>
            <a:spLocks noGrp="1"/>
          </p:cNvSpPr>
          <p:nvPr>
            <p:ph type="ctrTitle"/>
          </p:nvPr>
        </p:nvSpPr>
        <p:spPr>
          <a:xfrm>
            <a:off x="1524000" y="2072639"/>
            <a:ext cx="9144000" cy="1790891"/>
          </a:xfrm>
        </p:spPr>
        <p:txBody>
          <a:bodyPr>
            <a:normAutofit/>
          </a:bodyPr>
          <a:lstStyle/>
          <a:p>
            <a:r>
              <a:rPr lang="en-IN" sz="4000" b="1" dirty="0">
                <a:latin typeface="Times New Roman" panose="02020603050405020304" pitchFamily="18" charset="0"/>
                <a:cs typeface="Times New Roman" panose="02020603050405020304" pitchFamily="18" charset="0"/>
              </a:rPr>
              <a:t>INTRODUCTION TO AI(AI101B)</a:t>
            </a:r>
            <a:br>
              <a:rPr lang="en-IN" sz="24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Even Semester</a:t>
            </a:r>
            <a:br>
              <a:rPr lang="en-IN" sz="35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Session 2024-25</a:t>
            </a:r>
            <a:endParaRPr lang="en-US" sz="35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C24FBC-2E61-AD49-3BD0-DA7AA89F9A81}"/>
              </a:ext>
            </a:extLst>
          </p:cNvPr>
          <p:cNvSpPr>
            <a:spLocks noGrp="1"/>
          </p:cNvSpPr>
          <p:nvPr>
            <p:ph type="subTitle" idx="1"/>
          </p:nvPr>
        </p:nvSpPr>
        <p:spPr>
          <a:xfrm>
            <a:off x="1524000" y="4077526"/>
            <a:ext cx="9144000" cy="1875218"/>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STUDENT PERFORMANCE PREDICTION</a:t>
            </a:r>
          </a:p>
          <a:p>
            <a:r>
              <a:rPr lang="en-IN" dirty="0"/>
              <a:t>SHANTANU YADAV(202410116100193)</a:t>
            </a:r>
          </a:p>
          <a:p>
            <a:r>
              <a:rPr lang="en-IN" dirty="0"/>
              <a:t>SONAM DOBRIYAL(202410116100210)</a:t>
            </a:r>
          </a:p>
          <a:p>
            <a:r>
              <a:rPr lang="en-IN" dirty="0"/>
              <a:t> SHIVAM CHATURVEDI(202410116100198) </a:t>
            </a:r>
          </a:p>
          <a:p>
            <a:r>
              <a:rPr lang="en-IN" dirty="0"/>
              <a:t>VINEET KUMAR(202410116100246)</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C7EFE38A-2987-AEC9-33EC-1BC6CB5C10DA}"/>
              </a:ext>
            </a:extLst>
          </p:cNvPr>
          <p:cNvSpPr txBox="1">
            <a:spLocks/>
          </p:cNvSpPr>
          <p:nvPr/>
        </p:nvSpPr>
        <p:spPr>
          <a:xfrm>
            <a:off x="1524000" y="4782598"/>
            <a:ext cx="9144000" cy="76269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43043289-20F1-1B73-C850-CE92562B546B}"/>
              </a:ext>
            </a:extLst>
          </p:cNvPr>
          <p:cNvSpPr txBox="1">
            <a:spLocks/>
          </p:cNvSpPr>
          <p:nvPr/>
        </p:nvSpPr>
        <p:spPr>
          <a:xfrm>
            <a:off x="9156700" y="5634038"/>
            <a:ext cx="3035300" cy="1221452"/>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b="1" u="sng" dirty="0">
                <a:latin typeface="Times New Roman" panose="02020603050405020304" pitchFamily="18" charset="0"/>
                <a:cs typeface="Times New Roman" panose="02020603050405020304" pitchFamily="18" charset="0"/>
              </a:rPr>
              <a:t>Project Supervisor:</a:t>
            </a:r>
          </a:p>
          <a:p>
            <a:pPr algn="just"/>
            <a:r>
              <a:rPr lang="en-IN" dirty="0">
                <a:solidFill>
                  <a:srgbClr val="FF0000"/>
                </a:solidFill>
                <a:latin typeface="Times New Roman" panose="02020603050405020304" pitchFamily="18" charset="0"/>
                <a:cs typeface="Times New Roman" panose="02020603050405020304" pitchFamily="18" charset="0"/>
              </a:rPr>
              <a:t>Mr Apoorv Jain</a:t>
            </a:r>
          </a:p>
          <a:p>
            <a:pPr algn="just"/>
            <a:r>
              <a:rPr lang="en-IN" dirty="0">
                <a:solidFill>
                  <a:srgbClr val="FF0000"/>
                </a:solidFill>
                <a:latin typeface="Times New Roman" panose="02020603050405020304" pitchFamily="18" charset="0"/>
                <a:cs typeface="Times New Roman" panose="02020603050405020304" pitchFamily="18" charset="0"/>
              </a:rPr>
              <a:t>Assist. Professor</a:t>
            </a:r>
          </a:p>
          <a:p>
            <a:pPr algn="just"/>
            <a:endParaRPr lang="en-IN" dirty="0">
              <a:solidFill>
                <a:srgbClr val="FF0000"/>
              </a:solidFill>
              <a:latin typeface="Times New Roman" panose="02020603050405020304" pitchFamily="18" charset="0"/>
              <a:cs typeface="Times New Roman" panose="02020603050405020304" pitchFamily="18" charset="0"/>
            </a:endParaRPr>
          </a:p>
          <a:p>
            <a:pPr algn="just"/>
            <a:endParaRPr lang="en-IN" b="1" u="sng"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9A50B94-DBEB-9815-4684-223EC27F9F0D}"/>
              </a:ext>
            </a:extLst>
          </p:cNvPr>
          <p:cNvPicPr>
            <a:picLocks noChangeAspect="1"/>
          </p:cNvPicPr>
          <p:nvPr/>
        </p:nvPicPr>
        <p:blipFill>
          <a:blip r:embed="rId2"/>
          <a:stretch>
            <a:fillRect/>
          </a:stretch>
        </p:blipFill>
        <p:spPr>
          <a:xfrm>
            <a:off x="0" y="2510"/>
            <a:ext cx="12192000" cy="1384490"/>
          </a:xfrm>
          <a:prstGeom prst="rect">
            <a:avLst/>
          </a:prstGeom>
        </p:spPr>
      </p:pic>
    </p:spTree>
    <p:extLst>
      <p:ext uri="{BB962C8B-B14F-4D97-AF65-F5344CB8AC3E}">
        <p14:creationId xmlns:p14="http://schemas.microsoft.com/office/powerpoint/2010/main" val="149316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B72F0-7EB3-A394-ABD6-7A41EF3CE737}"/>
              </a:ext>
            </a:extLst>
          </p:cNvPr>
          <p:cNvSpPr>
            <a:spLocks noGrp="1"/>
          </p:cNvSpPr>
          <p:nvPr>
            <p:ph type="title"/>
          </p:nvPr>
        </p:nvSpPr>
        <p:spPr>
          <a:xfrm>
            <a:off x="0" y="0"/>
            <a:ext cx="12192000" cy="1267968"/>
          </a:xfrm>
          <a:solidFill>
            <a:schemeClr val="accent2">
              <a:lumMod val="40000"/>
              <a:lumOff val="60000"/>
            </a:schemeClr>
          </a:solidFill>
        </p:spPr>
        <p:txBody>
          <a:bodyPr>
            <a:normAutofit/>
          </a:bodyPr>
          <a:lstStyle/>
          <a:p>
            <a:pPr algn="ctr"/>
            <a:r>
              <a:rPr lang="en-IN" b="1" dirty="0">
                <a:latin typeface="Times New Roman" panose="02020603050405020304" pitchFamily="18" charset="0"/>
                <a:ea typeface="Tahoma" panose="020B0604030504040204" pitchFamily="34" charset="0"/>
                <a:cs typeface="Times New Roman" panose="02020603050405020304" pitchFamily="18" charset="0"/>
              </a:rPr>
              <a:t>Content</a:t>
            </a:r>
          </a:p>
        </p:txBody>
      </p:sp>
      <p:sp>
        <p:nvSpPr>
          <p:cNvPr id="5" name="Content Placeholder 4">
            <a:extLst>
              <a:ext uri="{FF2B5EF4-FFF2-40B4-BE49-F238E27FC236}">
                <a16:creationId xmlns:a16="http://schemas.microsoft.com/office/drawing/2014/main" id="{4AD30AE4-1C9D-4F26-8884-C30D15E187A7}"/>
              </a:ext>
            </a:extLst>
          </p:cNvPr>
          <p:cNvSpPr>
            <a:spLocks noGrp="1"/>
          </p:cNvSpPr>
          <p:nvPr>
            <p:ph idx="1"/>
          </p:nvPr>
        </p:nvSpPr>
        <p:spPr/>
        <p:txBody>
          <a:bodyPr>
            <a:normAutofit/>
          </a:bodyPr>
          <a:lstStyle/>
          <a:p>
            <a:pPr lvl="0">
              <a:buFont typeface="Wingdings" pitchFamily="2" charset="2"/>
              <a:buChar char="Ø"/>
              <a:tabLst>
                <a:tab pos="457200" algn="l"/>
              </a:tabLst>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Introduction </a:t>
            </a:r>
          </a:p>
          <a:p>
            <a:pPr lvl="0">
              <a:buFont typeface="Wingdings" pitchFamily="2" charset="2"/>
              <a:buChar char="Ø"/>
              <a:tabLst>
                <a:tab pos="457200" algn="l"/>
              </a:tabLst>
            </a:pPr>
            <a:r>
              <a:rPr lang="en-IN" sz="2400" kern="100" dirty="0">
                <a:latin typeface="Times New Roman" panose="02020603050405020304" pitchFamily="18" charset="0"/>
                <a:ea typeface="Aptos" panose="020B0004020202020204" pitchFamily="34" charset="0"/>
                <a:cs typeface="Times New Roman" panose="02020603050405020304" pitchFamily="18" charset="0"/>
              </a:rPr>
              <a:t>Objective</a:t>
            </a:r>
            <a:endParaRPr lang="en-IN"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r>
              <a:rPr lang="en-IN" sz="2400" kern="100" dirty="0">
                <a:latin typeface="Times New Roman" panose="02020603050405020304" pitchFamily="18" charset="0"/>
                <a:ea typeface="Aptos" panose="020B0004020202020204" pitchFamily="34" charset="0"/>
                <a:cs typeface="Times New Roman" panose="02020603050405020304" pitchFamily="18" charset="0"/>
              </a:rPr>
              <a:t>Methodology</a:t>
            </a:r>
          </a:p>
          <a:p>
            <a:pPr lvl="0">
              <a:buFont typeface="Wingdings" pitchFamily="2" charset="2"/>
              <a:buChar char="Ø"/>
              <a:tabLst>
                <a:tab pos="457200" algn="l"/>
              </a:tabLst>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Code</a:t>
            </a:r>
          </a:p>
          <a:p>
            <a:pPr lvl="0">
              <a:buFont typeface="Wingdings" pitchFamily="2" charset="2"/>
              <a:buChar char="Ø"/>
              <a:tabLst>
                <a:tab pos="457200" algn="l"/>
              </a:tabLst>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Outcomes</a:t>
            </a:r>
          </a:p>
          <a:p>
            <a:pPr lvl="0">
              <a:buFont typeface="Wingdings" pitchFamily="2" charset="2"/>
              <a:buChar char="Ø"/>
              <a:tabLst>
                <a:tab pos="457200" algn="l"/>
              </a:tabLst>
            </a:pPr>
            <a:r>
              <a:rPr lang="en-IN" sz="2400" kern="100" dirty="0">
                <a:effectLst/>
                <a:latin typeface="Times New Roman" panose="02020603050405020304" pitchFamily="18" charset="0"/>
                <a:ea typeface="Aptos" panose="020B0004020202020204" pitchFamily="34" charset="0"/>
                <a:cs typeface="Times New Roman" panose="02020603050405020304" pitchFamily="18" charset="0"/>
              </a:rPr>
              <a:t>References </a:t>
            </a:r>
          </a:p>
        </p:txBody>
      </p:sp>
    </p:spTree>
    <p:extLst>
      <p:ext uri="{BB962C8B-B14F-4D97-AF65-F5344CB8AC3E}">
        <p14:creationId xmlns:p14="http://schemas.microsoft.com/office/powerpoint/2010/main" val="411715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6102F-978C-3EAF-61E2-60C25A98C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5F62-65DD-AD75-A67D-7D11353DC281}"/>
              </a:ext>
            </a:extLst>
          </p:cNvPr>
          <p:cNvSpPr>
            <a:spLocks noGrp="1"/>
          </p:cNvSpPr>
          <p:nvPr>
            <p:ph type="title"/>
          </p:nvPr>
        </p:nvSpPr>
        <p:spPr>
          <a:xfrm>
            <a:off x="0" y="-3175"/>
            <a:ext cx="12192000" cy="123456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Introduction</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417BD6D-03AD-639D-0D53-24A0683B6D63}"/>
              </a:ext>
            </a:extLst>
          </p:cNvPr>
          <p:cNvSpPr>
            <a:spLocks noGrp="1"/>
          </p:cNvSpPr>
          <p:nvPr>
            <p:ph idx="1"/>
          </p:nvPr>
        </p:nvSpPr>
        <p:spPr/>
        <p:txBody>
          <a:bodyPr>
            <a:normAutofit/>
          </a:bodyPr>
          <a:lstStyle/>
          <a:p>
            <a:pPr marL="0" lvl="0" indent="0" algn="just">
              <a:lnSpc>
                <a:spcPct val="100000"/>
              </a:lnSpc>
              <a:buNone/>
              <a:tabLst>
                <a:tab pos="4572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Credit card fraud analysis is a crucial aspect of financial security, involving the detection and prevention of unauthorized transactions. Machine learning algorithms are increasingly used to identify fraudulent patterns in transaction data. This analysis helps financial institutions reduce losses, protect customers, and maintain trust in the payment system. </a:t>
            </a:r>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1562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6EBDE-A511-E80F-D5E9-0604A420E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401A3-3948-4147-3AEF-34640B41015C}"/>
              </a:ext>
            </a:extLst>
          </p:cNvPr>
          <p:cNvSpPr>
            <a:spLocks noGrp="1"/>
          </p:cNvSpPr>
          <p:nvPr>
            <p:ph type="title"/>
          </p:nvPr>
        </p:nvSpPr>
        <p:spPr>
          <a:xfrm>
            <a:off x="0" y="0"/>
            <a:ext cx="12192000" cy="124675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Objective of the Project</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71D3FF4-855C-A317-936E-1CA113829547}"/>
              </a:ext>
            </a:extLst>
          </p:cNvPr>
          <p:cNvSpPr>
            <a:spLocks noGrp="1"/>
          </p:cNvSpPr>
          <p:nvPr>
            <p:ph idx="1"/>
          </p:nvPr>
        </p:nvSpPr>
        <p:spPr/>
        <p:txBody>
          <a:bodyPr>
            <a:normAutofit lnSpcReduction="10000"/>
          </a:bodyPr>
          <a:lstStyle/>
          <a:p>
            <a:pPr marL="0" indent="0">
              <a:lnSpc>
                <a:spcPct val="150000"/>
              </a:lnSpc>
              <a:buNone/>
              <a:tabLst>
                <a:tab pos="457200" algn="l"/>
              </a:tabLs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primary objective of this project is to design and implement a robust machine learning pipeline to accurately detect fraudulent credit card transactions from a real-world dataset. Given the highly imbalanced nature of fraud detection—where genuine transactions vastly outnumber fraudulent ones—the project emphasizes the importance of handling class imbalance using techniques such as SMOTE (Synthetic Minority Oversampling Technique) and class weighting. The project explores and compares multiple classification algorithms, including Random Forest and Logistic Regression, with a focus on evaluating key performance metrics such as precision, recall, F1-score, and the area under the ROC and Precision-Recall curves. Additional goals include preprocessing the data effectively (including scaling features like transaction amount and time), interpreting feature importance, and visualizing correlations to enhance model interpretability. Ultimately, the project aims to develop a scalable, reliable solution that can help financial institutions minimize losses by proactively identifying suspicious activity while maintaining a low false-positive rate.</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424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F15C5-633A-19D9-26D0-5F9DB477D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B80E5-FC90-50B2-5F63-C651AC028B08}"/>
              </a:ext>
            </a:extLst>
          </p:cNvPr>
          <p:cNvSpPr>
            <a:spLocks noGrp="1"/>
          </p:cNvSpPr>
          <p:nvPr>
            <p:ph type="title"/>
          </p:nvPr>
        </p:nvSpPr>
        <p:spPr>
          <a:xfrm>
            <a:off x="0" y="-3175"/>
            <a:ext cx="12192000" cy="1234567"/>
          </a:xfrm>
          <a:solidFill>
            <a:schemeClr val="accent2">
              <a:lumMod val="40000"/>
              <a:lumOff val="60000"/>
            </a:schemeClr>
          </a:solidFill>
        </p:spPr>
        <p:txBody>
          <a:bodyPr>
            <a:normAutofit/>
          </a:bodyPr>
          <a:lstStyle/>
          <a:p>
            <a:pPr algn="ctr"/>
            <a:r>
              <a:rPr lang="en-US" b="1" dirty="0">
                <a:latin typeface="Times New Roman" panose="02020603050405020304" pitchFamily="18" charset="0"/>
                <a:ea typeface="Tahoma" panose="020B0604030504040204" pitchFamily="34" charset="0"/>
                <a:cs typeface="Times New Roman" panose="02020603050405020304" pitchFamily="18" charset="0"/>
              </a:rPr>
              <a:t>Methodology</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2AE3BF1B-EDE7-08F0-9CA4-E2AED314E3ED}"/>
              </a:ext>
            </a:extLst>
          </p:cNvPr>
          <p:cNvSpPr>
            <a:spLocks noGrp="1" noChangeArrowheads="1"/>
          </p:cNvSpPr>
          <p:nvPr>
            <p:ph idx="1"/>
          </p:nvPr>
        </p:nvSpPr>
        <p:spPr bwMode="auto">
          <a:xfrm>
            <a:off x="353962" y="1881682"/>
            <a:ext cx="11198941"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Data Collection </a:t>
            </a:r>
            <a:r>
              <a:rPr kumimoji="0" lang="en-US" altLang="en-US" sz="1800" b="0" i="0" u="none" strike="noStrike" cap="none" normalizeH="0" baseline="0" dirty="0">
                <a:ln>
                  <a:noFill/>
                </a:ln>
                <a:solidFill>
                  <a:schemeClr val="tx1"/>
                </a:solidFill>
                <a:effectLst/>
                <a:latin typeface="Arial" panose="020B0604020202020204" pitchFamily="34" charset="0"/>
              </a:rPr>
              <a:t>: The dataset used contains credit card transactions labeled as fraudulent or legitimate.</a:t>
            </a:r>
          </a:p>
          <a:p>
            <a:pPr marL="457200" lvl="1" indent="0"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Data Preprocessing</a:t>
            </a:r>
            <a:r>
              <a:rPr kumimoji="0" lang="en-US" altLang="en-US" sz="1800" b="0" i="0" u="none" strike="noStrike" cap="none" normalizeH="0" baseline="0" dirty="0">
                <a:ln>
                  <a:noFill/>
                </a:ln>
                <a:solidFill>
                  <a:schemeClr val="tx1"/>
                </a:solidFill>
                <a:effectLst/>
                <a:latin typeface="Arial" panose="020B0604020202020204" pitchFamily="34" charset="0"/>
              </a:rPr>
              <a:t>: Cleaned the dataset and handled missing values.</a:t>
            </a:r>
          </a:p>
          <a:p>
            <a:pPr marL="457200" lvl="1" indent="0"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Feature Selection and Engineering</a:t>
            </a:r>
            <a:r>
              <a:rPr kumimoji="0" lang="en-US" altLang="en-US" sz="1800" b="0" i="0" u="none" strike="noStrike" cap="none" normalizeH="0" baseline="0" dirty="0">
                <a:ln>
                  <a:noFill/>
                </a:ln>
                <a:solidFill>
                  <a:schemeClr val="tx1"/>
                </a:solidFill>
                <a:effectLst/>
                <a:latin typeface="Arial" panose="020B0604020202020204" pitchFamily="34" charset="0"/>
              </a:rPr>
              <a:t>: Analyzed feature correlations.</a:t>
            </a:r>
          </a:p>
          <a:p>
            <a:pPr marL="457200" lvl="1" indent="0"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Selected meaningful variables to improve model performance.</a:t>
            </a:r>
          </a:p>
          <a:p>
            <a:pPr marL="457200" lvl="1" indent="0"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Model Selection and Training</a:t>
            </a:r>
            <a:r>
              <a:rPr kumimoji="0" lang="en-US" altLang="en-US" sz="1800" b="0" i="0" u="none" strike="noStrike" cap="none" normalizeH="0" baseline="0" dirty="0">
                <a:ln>
                  <a:noFill/>
                </a:ln>
                <a:solidFill>
                  <a:schemeClr val="tx1"/>
                </a:solidFill>
                <a:effectLst/>
                <a:latin typeface="Arial" panose="020B0604020202020204" pitchFamily="34" charset="0"/>
              </a:rPr>
              <a:t> : Applied machine learning models, primarily the Random Forest Classifier.</a:t>
            </a:r>
          </a:p>
          <a:p>
            <a:pPr marL="457200" lvl="1" indent="0"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Handled class imbalance using SMOTE for oversampling the minority class.</a:t>
            </a:r>
          </a:p>
          <a:p>
            <a:pPr marL="457200" lvl="1" indent="0" eaLnBrk="0" fontAlgn="base" hangingPunct="0">
              <a:lnSpc>
                <a:spcPct val="15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Model Evaluation </a:t>
            </a:r>
            <a:r>
              <a:rPr kumimoji="0" lang="en-US" altLang="en-US" sz="1800" b="0" i="0" u="none" strike="noStrike" cap="none" normalizeH="0" baseline="0" dirty="0">
                <a:ln>
                  <a:noFill/>
                </a:ln>
                <a:solidFill>
                  <a:schemeClr val="tx1"/>
                </a:solidFill>
                <a:effectLst/>
                <a:latin typeface="Arial" panose="020B0604020202020204" pitchFamily="34" charset="0"/>
              </a:rPr>
              <a:t>: Evaluated model using metrics like accuracy, precision, recall, F1-score.</a:t>
            </a:r>
          </a:p>
        </p:txBody>
      </p:sp>
    </p:spTree>
    <p:extLst>
      <p:ext uri="{BB962C8B-B14F-4D97-AF65-F5344CB8AC3E}">
        <p14:creationId xmlns:p14="http://schemas.microsoft.com/office/powerpoint/2010/main" val="3998786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61D3E-F416-9D02-C47C-70528E575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26983-FF21-E174-BC9A-3C8452C1B82D}"/>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US" b="1" dirty="0">
                <a:latin typeface="Times New Roman" panose="02020603050405020304" pitchFamily="18" charset="0"/>
                <a:ea typeface="Tahoma" panose="020B0604030504040204" pitchFamily="34" charset="0"/>
                <a:cs typeface="Times New Roman" panose="02020603050405020304" pitchFamily="18" charset="0"/>
              </a:rPr>
              <a:t>Code </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D00AF06F-08E4-162E-7E01-B2AD0EC9ABEF}"/>
              </a:ext>
            </a:extLst>
          </p:cNvPr>
          <p:cNvSpPr txBox="1"/>
          <p:nvPr/>
        </p:nvSpPr>
        <p:spPr>
          <a:xfrm>
            <a:off x="978309" y="1502927"/>
            <a:ext cx="502920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Loading and exploring Dataset </a:t>
            </a:r>
            <a:endParaRPr lang="en-IN" b="1" dirty="0"/>
          </a:p>
        </p:txBody>
      </p:sp>
      <p:pic>
        <p:nvPicPr>
          <p:cNvPr id="7" name="Picture 6">
            <a:extLst>
              <a:ext uri="{FF2B5EF4-FFF2-40B4-BE49-F238E27FC236}">
                <a16:creationId xmlns:a16="http://schemas.microsoft.com/office/drawing/2014/main" id="{10919059-B5CE-731B-BDD9-993DF2C11155}"/>
              </a:ext>
            </a:extLst>
          </p:cNvPr>
          <p:cNvPicPr>
            <a:picLocks noChangeAspect="1"/>
          </p:cNvPicPr>
          <p:nvPr/>
        </p:nvPicPr>
        <p:blipFill>
          <a:blip r:embed="rId3"/>
          <a:stretch>
            <a:fillRect/>
          </a:stretch>
        </p:blipFill>
        <p:spPr>
          <a:xfrm>
            <a:off x="838200" y="1872259"/>
            <a:ext cx="9472481" cy="4801016"/>
          </a:xfrm>
          <a:prstGeom prst="rect">
            <a:avLst/>
          </a:prstGeom>
        </p:spPr>
      </p:pic>
    </p:spTree>
    <p:extLst>
      <p:ext uri="{BB962C8B-B14F-4D97-AF65-F5344CB8AC3E}">
        <p14:creationId xmlns:p14="http://schemas.microsoft.com/office/powerpoint/2010/main" val="3091055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2C68E0-62F9-7240-C703-6903D394242D}"/>
              </a:ext>
            </a:extLst>
          </p:cNvPr>
          <p:cNvPicPr>
            <a:picLocks noChangeAspect="1"/>
          </p:cNvPicPr>
          <p:nvPr/>
        </p:nvPicPr>
        <p:blipFill>
          <a:blip r:embed="rId2"/>
          <a:srcRect r="22649"/>
          <a:stretch/>
        </p:blipFill>
        <p:spPr>
          <a:xfrm>
            <a:off x="449703" y="365125"/>
            <a:ext cx="6590194" cy="3924640"/>
          </a:xfrm>
          <a:prstGeom prst="rect">
            <a:avLst/>
          </a:prstGeom>
        </p:spPr>
      </p:pic>
      <p:pic>
        <p:nvPicPr>
          <p:cNvPr id="9" name="Picture 8">
            <a:extLst>
              <a:ext uri="{FF2B5EF4-FFF2-40B4-BE49-F238E27FC236}">
                <a16:creationId xmlns:a16="http://schemas.microsoft.com/office/drawing/2014/main" id="{A0599282-EC99-8FDC-8E5D-1B9703D37BD1}"/>
              </a:ext>
            </a:extLst>
          </p:cNvPr>
          <p:cNvPicPr>
            <a:picLocks noChangeAspect="1"/>
          </p:cNvPicPr>
          <p:nvPr/>
        </p:nvPicPr>
        <p:blipFill>
          <a:blip r:embed="rId3"/>
          <a:stretch>
            <a:fillRect/>
          </a:stretch>
        </p:blipFill>
        <p:spPr>
          <a:xfrm>
            <a:off x="520128" y="4652116"/>
            <a:ext cx="5654530" cy="1409822"/>
          </a:xfrm>
          <a:prstGeom prst="rect">
            <a:avLst/>
          </a:prstGeom>
        </p:spPr>
      </p:pic>
      <p:pic>
        <p:nvPicPr>
          <p:cNvPr id="11" name="Picture 10">
            <a:extLst>
              <a:ext uri="{FF2B5EF4-FFF2-40B4-BE49-F238E27FC236}">
                <a16:creationId xmlns:a16="http://schemas.microsoft.com/office/drawing/2014/main" id="{B2E626DE-010D-B72A-3C4B-9526939B4EC9}"/>
              </a:ext>
            </a:extLst>
          </p:cNvPr>
          <p:cNvPicPr>
            <a:picLocks noChangeAspect="1"/>
          </p:cNvPicPr>
          <p:nvPr/>
        </p:nvPicPr>
        <p:blipFill>
          <a:blip r:embed="rId4"/>
          <a:stretch>
            <a:fillRect/>
          </a:stretch>
        </p:blipFill>
        <p:spPr>
          <a:xfrm>
            <a:off x="7124789" y="796062"/>
            <a:ext cx="4625741" cy="5265876"/>
          </a:xfrm>
          <a:prstGeom prst="rect">
            <a:avLst/>
          </a:prstGeom>
        </p:spPr>
      </p:pic>
    </p:spTree>
    <p:extLst>
      <p:ext uri="{BB962C8B-B14F-4D97-AF65-F5344CB8AC3E}">
        <p14:creationId xmlns:p14="http://schemas.microsoft.com/office/powerpoint/2010/main" val="273616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23CBB9-0925-3AA3-1432-6E7979030605}"/>
              </a:ext>
            </a:extLst>
          </p:cNvPr>
          <p:cNvPicPr>
            <a:picLocks noChangeAspect="1"/>
          </p:cNvPicPr>
          <p:nvPr/>
        </p:nvPicPr>
        <p:blipFill>
          <a:blip r:embed="rId2"/>
          <a:stretch>
            <a:fillRect/>
          </a:stretch>
        </p:blipFill>
        <p:spPr>
          <a:xfrm>
            <a:off x="634969" y="179073"/>
            <a:ext cx="4511431" cy="1379340"/>
          </a:xfrm>
          <a:prstGeom prst="rect">
            <a:avLst/>
          </a:prstGeom>
        </p:spPr>
      </p:pic>
      <p:pic>
        <p:nvPicPr>
          <p:cNvPr id="3074" name="Picture 2">
            <a:extLst>
              <a:ext uri="{FF2B5EF4-FFF2-40B4-BE49-F238E27FC236}">
                <a16:creationId xmlns:a16="http://schemas.microsoft.com/office/drawing/2014/main" id="{AAC4F989-2535-4D6E-0782-B398DBDDCC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58413"/>
            <a:ext cx="6119060" cy="529958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6AE75EB-97DF-59BD-8299-AB6FC20F6258}"/>
              </a:ext>
            </a:extLst>
          </p:cNvPr>
          <p:cNvPicPr>
            <a:picLocks noChangeAspect="1"/>
          </p:cNvPicPr>
          <p:nvPr/>
        </p:nvPicPr>
        <p:blipFill>
          <a:blip r:embed="rId4"/>
          <a:stretch>
            <a:fillRect/>
          </a:stretch>
        </p:blipFill>
        <p:spPr>
          <a:xfrm>
            <a:off x="7506517" y="264865"/>
            <a:ext cx="3825572" cy="1310754"/>
          </a:xfrm>
          <a:prstGeom prst="rect">
            <a:avLst/>
          </a:prstGeom>
        </p:spPr>
      </p:pic>
      <p:pic>
        <p:nvPicPr>
          <p:cNvPr id="3076" name="Picture 4">
            <a:extLst>
              <a:ext uri="{FF2B5EF4-FFF2-40B4-BE49-F238E27FC236}">
                <a16:creationId xmlns:a16="http://schemas.microsoft.com/office/drawing/2014/main" id="{076CD72B-4881-90AC-3DDB-638B75817D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7027" y="2074606"/>
            <a:ext cx="6124973" cy="4059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008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F2AC12-9D3D-7709-D86D-0937CCE11BB7}"/>
              </a:ext>
            </a:extLst>
          </p:cNvPr>
          <p:cNvPicPr>
            <a:picLocks noChangeAspect="1"/>
          </p:cNvPicPr>
          <p:nvPr/>
        </p:nvPicPr>
        <p:blipFill>
          <a:blip r:embed="rId2"/>
          <a:stretch>
            <a:fillRect/>
          </a:stretch>
        </p:blipFill>
        <p:spPr>
          <a:xfrm>
            <a:off x="771392" y="440768"/>
            <a:ext cx="1893150" cy="5617232"/>
          </a:xfrm>
          <a:prstGeom prst="rect">
            <a:avLst/>
          </a:prstGeom>
        </p:spPr>
      </p:pic>
      <p:pic>
        <p:nvPicPr>
          <p:cNvPr id="9" name="Picture 8">
            <a:extLst>
              <a:ext uri="{FF2B5EF4-FFF2-40B4-BE49-F238E27FC236}">
                <a16:creationId xmlns:a16="http://schemas.microsoft.com/office/drawing/2014/main" id="{506DE549-A17C-C77F-780B-AF360BA4F02F}"/>
              </a:ext>
            </a:extLst>
          </p:cNvPr>
          <p:cNvPicPr>
            <a:picLocks noChangeAspect="1"/>
          </p:cNvPicPr>
          <p:nvPr/>
        </p:nvPicPr>
        <p:blipFill>
          <a:blip r:embed="rId3"/>
          <a:stretch>
            <a:fillRect/>
          </a:stretch>
        </p:blipFill>
        <p:spPr>
          <a:xfrm>
            <a:off x="3796054" y="720387"/>
            <a:ext cx="7018628" cy="4473328"/>
          </a:xfrm>
          <a:prstGeom prst="rect">
            <a:avLst/>
          </a:prstGeom>
        </p:spPr>
      </p:pic>
    </p:spTree>
    <p:extLst>
      <p:ext uri="{BB962C8B-B14F-4D97-AF65-F5344CB8AC3E}">
        <p14:creationId xmlns:p14="http://schemas.microsoft.com/office/powerpoint/2010/main" val="2188032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953314-FAAF-5980-45D6-93712E21BC08}"/>
              </a:ext>
            </a:extLst>
          </p:cNvPr>
          <p:cNvSpPr txBox="1"/>
          <p:nvPr/>
        </p:nvSpPr>
        <p:spPr>
          <a:xfrm>
            <a:off x="1297858" y="462244"/>
            <a:ext cx="7197213" cy="369332"/>
          </a:xfrm>
          <a:prstGeom prst="rect">
            <a:avLst/>
          </a:prstGeom>
          <a:noFill/>
        </p:spPr>
        <p:txBody>
          <a:bodyPr wrap="square">
            <a:spAutoFit/>
          </a:bodyPr>
          <a:lstStyle/>
          <a:p>
            <a:r>
              <a:rPr lang="en-US" b="1" dirty="0"/>
              <a:t>CLASSIFICATION REPORT</a:t>
            </a:r>
            <a:endParaRPr lang="en-IN" b="1" dirty="0"/>
          </a:p>
        </p:txBody>
      </p:sp>
      <p:pic>
        <p:nvPicPr>
          <p:cNvPr id="4" name="Picture 3">
            <a:extLst>
              <a:ext uri="{FF2B5EF4-FFF2-40B4-BE49-F238E27FC236}">
                <a16:creationId xmlns:a16="http://schemas.microsoft.com/office/drawing/2014/main" id="{98471E4A-3A94-6F76-0E98-7A22477EEFD8}"/>
              </a:ext>
            </a:extLst>
          </p:cNvPr>
          <p:cNvPicPr>
            <a:picLocks noChangeAspect="1"/>
          </p:cNvPicPr>
          <p:nvPr/>
        </p:nvPicPr>
        <p:blipFill>
          <a:blip r:embed="rId2"/>
          <a:stretch>
            <a:fillRect/>
          </a:stretch>
        </p:blipFill>
        <p:spPr>
          <a:xfrm>
            <a:off x="860498" y="1103206"/>
            <a:ext cx="5019018" cy="2505233"/>
          </a:xfrm>
          <a:prstGeom prst="rect">
            <a:avLst/>
          </a:prstGeom>
        </p:spPr>
      </p:pic>
      <p:sp>
        <p:nvSpPr>
          <p:cNvPr id="8" name="TextBox 7">
            <a:extLst>
              <a:ext uri="{FF2B5EF4-FFF2-40B4-BE49-F238E27FC236}">
                <a16:creationId xmlns:a16="http://schemas.microsoft.com/office/drawing/2014/main" id="{7A468DCB-33D7-8201-82F9-D1449245B24C}"/>
              </a:ext>
            </a:extLst>
          </p:cNvPr>
          <p:cNvSpPr txBox="1"/>
          <p:nvPr/>
        </p:nvSpPr>
        <p:spPr>
          <a:xfrm>
            <a:off x="6597445" y="1103206"/>
            <a:ext cx="5019018" cy="2308324"/>
          </a:xfrm>
          <a:prstGeom prst="rect">
            <a:avLst/>
          </a:prstGeom>
          <a:noFill/>
        </p:spPr>
        <p:txBody>
          <a:bodyPr wrap="square" rtlCol="0">
            <a:spAutoFit/>
          </a:bodyPr>
          <a:lstStyle/>
          <a:p>
            <a:pPr>
              <a:buFont typeface="Arial" panose="020B0604020202020204" pitchFamily="34" charset="0"/>
              <a:buChar char="•"/>
            </a:pPr>
            <a:r>
              <a:rPr lang="en-US" b="1" dirty="0"/>
              <a:t>Precision (Class 1)</a:t>
            </a:r>
            <a:r>
              <a:rPr lang="en-US" dirty="0"/>
              <a:t>: 83% of predicted frauds were actually frauds.</a:t>
            </a:r>
          </a:p>
          <a:p>
            <a:pPr>
              <a:buFont typeface="Arial" panose="020B0604020202020204" pitchFamily="34" charset="0"/>
              <a:buChar char="•"/>
            </a:pPr>
            <a:r>
              <a:rPr lang="en-US" b="1" dirty="0"/>
              <a:t>Recall (Class 1)</a:t>
            </a:r>
            <a:r>
              <a:rPr lang="en-US" dirty="0"/>
              <a:t>: 83% of actual frauds were correctly detected.</a:t>
            </a:r>
          </a:p>
          <a:p>
            <a:pPr>
              <a:buFont typeface="Arial" panose="020B0604020202020204" pitchFamily="34" charset="0"/>
              <a:buChar char="•"/>
            </a:pPr>
            <a:r>
              <a:rPr lang="en-US" b="1" dirty="0"/>
              <a:t>F1-Score</a:t>
            </a:r>
            <a:r>
              <a:rPr lang="en-US" dirty="0"/>
              <a:t>: Harmonic mean of precision and recall — balanced performance.</a:t>
            </a:r>
          </a:p>
          <a:p>
            <a:pPr>
              <a:buFont typeface="Arial" panose="020B0604020202020204" pitchFamily="34" charset="0"/>
              <a:buChar char="•"/>
            </a:pPr>
            <a:r>
              <a:rPr lang="en-US" b="1" dirty="0"/>
              <a:t>Support</a:t>
            </a:r>
            <a:r>
              <a:rPr lang="en-US" dirty="0"/>
              <a:t>: Number of true samples per class.</a:t>
            </a:r>
          </a:p>
          <a:p>
            <a:r>
              <a:rPr lang="en-US" dirty="0"/>
              <a:t>Accuracy: 1.00 (​99.94%)</a:t>
            </a:r>
          </a:p>
        </p:txBody>
      </p:sp>
      <p:graphicFrame>
        <p:nvGraphicFramePr>
          <p:cNvPr id="11" name="Table 10">
            <a:extLst>
              <a:ext uri="{FF2B5EF4-FFF2-40B4-BE49-F238E27FC236}">
                <a16:creationId xmlns:a16="http://schemas.microsoft.com/office/drawing/2014/main" id="{1914461D-B014-E456-CFFB-9C61B7B9C3C3}"/>
              </a:ext>
            </a:extLst>
          </p:cNvPr>
          <p:cNvGraphicFramePr>
            <a:graphicFrameLocks noGrp="1"/>
          </p:cNvGraphicFramePr>
          <p:nvPr>
            <p:extLst>
              <p:ext uri="{D42A27DB-BD31-4B8C-83A1-F6EECF244321}">
                <p14:modId xmlns:p14="http://schemas.microsoft.com/office/powerpoint/2010/main" val="2874233479"/>
              </p:ext>
            </p:extLst>
          </p:nvPr>
        </p:nvGraphicFramePr>
        <p:xfrm>
          <a:off x="742511" y="3775042"/>
          <a:ext cx="10515600" cy="1097280"/>
        </p:xfrm>
        <a:graphic>
          <a:graphicData uri="http://schemas.openxmlformats.org/drawingml/2006/table">
            <a:tbl>
              <a:tblPr>
                <a:tableStyleId>{69CF1AB2-1976-4502-BF36-3FF5EA218861}</a:tableStyleId>
              </a:tblPr>
              <a:tblGrid>
                <a:gridCol w="3505200">
                  <a:extLst>
                    <a:ext uri="{9D8B030D-6E8A-4147-A177-3AD203B41FA5}">
                      <a16:colId xmlns:a16="http://schemas.microsoft.com/office/drawing/2014/main" val="1815553994"/>
                    </a:ext>
                  </a:extLst>
                </a:gridCol>
                <a:gridCol w="3505200">
                  <a:extLst>
                    <a:ext uri="{9D8B030D-6E8A-4147-A177-3AD203B41FA5}">
                      <a16:colId xmlns:a16="http://schemas.microsoft.com/office/drawing/2014/main" val="4028333727"/>
                    </a:ext>
                  </a:extLst>
                </a:gridCol>
                <a:gridCol w="3505200">
                  <a:extLst>
                    <a:ext uri="{9D8B030D-6E8A-4147-A177-3AD203B41FA5}">
                      <a16:colId xmlns:a16="http://schemas.microsoft.com/office/drawing/2014/main" val="563209989"/>
                    </a:ext>
                  </a:extLst>
                </a:gridCol>
              </a:tblGrid>
              <a:tr h="0">
                <a:tc>
                  <a:txBody>
                    <a:bodyPr/>
                    <a:lstStyle/>
                    <a:p>
                      <a:endParaRPr lang="en-IN" dirty="0"/>
                    </a:p>
                  </a:txBody>
                  <a:tcPr anchor="ctr"/>
                </a:tc>
                <a:tc>
                  <a:txBody>
                    <a:bodyPr/>
                    <a:lstStyle/>
                    <a:p>
                      <a:r>
                        <a:rPr lang="en-IN" dirty="0"/>
                        <a:t>Predicted Non-Fraud</a:t>
                      </a:r>
                    </a:p>
                  </a:txBody>
                  <a:tcPr anchor="ctr"/>
                </a:tc>
                <a:tc>
                  <a:txBody>
                    <a:bodyPr/>
                    <a:lstStyle/>
                    <a:p>
                      <a:r>
                        <a:rPr lang="en-IN"/>
                        <a:t>Predicted Fraud</a:t>
                      </a:r>
                    </a:p>
                  </a:txBody>
                  <a:tcPr anchor="ctr"/>
                </a:tc>
                <a:extLst>
                  <a:ext uri="{0D108BD9-81ED-4DB2-BD59-A6C34878D82A}">
                    <a16:rowId xmlns:a16="http://schemas.microsoft.com/office/drawing/2014/main" val="3809313841"/>
                  </a:ext>
                </a:extLst>
              </a:tr>
              <a:tr h="0">
                <a:tc>
                  <a:txBody>
                    <a:bodyPr/>
                    <a:lstStyle/>
                    <a:p>
                      <a:r>
                        <a:rPr lang="en-IN" b="1" dirty="0"/>
                        <a:t>Actual Non-Fraud</a:t>
                      </a:r>
                      <a:endParaRPr lang="en-IN" dirty="0"/>
                    </a:p>
                  </a:txBody>
                  <a:tcPr anchor="ctr"/>
                </a:tc>
                <a:tc>
                  <a:txBody>
                    <a:bodyPr/>
                    <a:lstStyle/>
                    <a:p>
                      <a:r>
                        <a:rPr lang="en-IN"/>
                        <a:t>56847 (True Negatives)</a:t>
                      </a:r>
                    </a:p>
                  </a:txBody>
                  <a:tcPr anchor="ctr"/>
                </a:tc>
                <a:tc>
                  <a:txBody>
                    <a:bodyPr/>
                    <a:lstStyle/>
                    <a:p>
                      <a:r>
                        <a:rPr lang="en-IN"/>
                        <a:t>17 (False Positives)</a:t>
                      </a:r>
                    </a:p>
                  </a:txBody>
                  <a:tcPr anchor="ctr"/>
                </a:tc>
                <a:extLst>
                  <a:ext uri="{0D108BD9-81ED-4DB2-BD59-A6C34878D82A}">
                    <a16:rowId xmlns:a16="http://schemas.microsoft.com/office/drawing/2014/main" val="2940060947"/>
                  </a:ext>
                </a:extLst>
              </a:tr>
              <a:tr h="0">
                <a:tc>
                  <a:txBody>
                    <a:bodyPr/>
                    <a:lstStyle/>
                    <a:p>
                      <a:r>
                        <a:rPr lang="en-IN" b="1" dirty="0"/>
                        <a:t>Actual Fraud</a:t>
                      </a:r>
                      <a:endParaRPr lang="en-IN" dirty="0"/>
                    </a:p>
                  </a:txBody>
                  <a:tcPr anchor="ctr"/>
                </a:tc>
                <a:tc>
                  <a:txBody>
                    <a:bodyPr/>
                    <a:lstStyle/>
                    <a:p>
                      <a:r>
                        <a:rPr lang="en-IN" dirty="0"/>
                        <a:t>17 (False Negatives)</a:t>
                      </a:r>
                    </a:p>
                  </a:txBody>
                  <a:tcPr anchor="ctr"/>
                </a:tc>
                <a:tc>
                  <a:txBody>
                    <a:bodyPr/>
                    <a:lstStyle/>
                    <a:p>
                      <a:r>
                        <a:rPr lang="en-IN" dirty="0"/>
                        <a:t>81 (True Positives)</a:t>
                      </a:r>
                    </a:p>
                  </a:txBody>
                  <a:tcPr anchor="ctr"/>
                </a:tc>
                <a:extLst>
                  <a:ext uri="{0D108BD9-81ED-4DB2-BD59-A6C34878D82A}">
                    <a16:rowId xmlns:a16="http://schemas.microsoft.com/office/drawing/2014/main" val="907452105"/>
                  </a:ext>
                </a:extLst>
              </a:tr>
            </a:tbl>
          </a:graphicData>
        </a:graphic>
      </p:graphicFrame>
      <p:sp>
        <p:nvSpPr>
          <p:cNvPr id="13" name="TextBox 12">
            <a:extLst>
              <a:ext uri="{FF2B5EF4-FFF2-40B4-BE49-F238E27FC236}">
                <a16:creationId xmlns:a16="http://schemas.microsoft.com/office/drawing/2014/main" id="{B62E463B-4055-5766-0620-87B589608F72}"/>
              </a:ext>
            </a:extLst>
          </p:cNvPr>
          <p:cNvSpPr txBox="1"/>
          <p:nvPr/>
        </p:nvSpPr>
        <p:spPr>
          <a:xfrm>
            <a:off x="742511" y="5279923"/>
            <a:ext cx="8863605" cy="923330"/>
          </a:xfrm>
          <a:prstGeom prst="rect">
            <a:avLst/>
          </a:prstGeom>
          <a:noFill/>
        </p:spPr>
        <p:txBody>
          <a:bodyPr wrap="square" rtlCol="0">
            <a:spAutoFit/>
          </a:bodyPr>
          <a:lstStyle/>
          <a:p>
            <a:r>
              <a:rPr lang="en-US" dirty="0"/>
              <a:t>CONFUSION MATRIX :</a:t>
            </a:r>
          </a:p>
          <a:p>
            <a:r>
              <a:rPr lang="en-US" dirty="0"/>
              <a:t>False Positives (17): Legitimate transactions wrongly flagged as fraud.</a:t>
            </a:r>
          </a:p>
          <a:p>
            <a:r>
              <a:rPr lang="en-US" dirty="0"/>
              <a:t>False Negatives (17): Fraudulent transactions missed by the model.</a:t>
            </a:r>
            <a:endParaRPr lang="en-IN" dirty="0"/>
          </a:p>
        </p:txBody>
      </p:sp>
    </p:spTree>
    <p:extLst>
      <p:ext uri="{BB962C8B-B14F-4D97-AF65-F5344CB8AC3E}">
        <p14:creationId xmlns:p14="http://schemas.microsoft.com/office/powerpoint/2010/main" val="1620828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EC53EA-E97D-B665-3395-76D0A0D86E8A}"/>
              </a:ext>
            </a:extLst>
          </p:cNvPr>
          <p:cNvPicPr>
            <a:picLocks noChangeAspect="1"/>
          </p:cNvPicPr>
          <p:nvPr/>
        </p:nvPicPr>
        <p:blipFill>
          <a:blip r:embed="rId2"/>
          <a:stretch>
            <a:fillRect/>
          </a:stretch>
        </p:blipFill>
        <p:spPr>
          <a:xfrm>
            <a:off x="532837" y="152905"/>
            <a:ext cx="4694327" cy="1851820"/>
          </a:xfrm>
          <a:prstGeom prst="rect">
            <a:avLst/>
          </a:prstGeom>
        </p:spPr>
      </p:pic>
      <p:pic>
        <p:nvPicPr>
          <p:cNvPr id="5122" name="Picture 2">
            <a:extLst>
              <a:ext uri="{FF2B5EF4-FFF2-40B4-BE49-F238E27FC236}">
                <a16:creationId xmlns:a16="http://schemas.microsoft.com/office/drawing/2014/main" id="{767ECF4C-DA36-15E4-B47B-DEE26E646F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2593" y="2004725"/>
            <a:ext cx="7119406" cy="46297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273F86-7ADD-B56A-5DB6-C43741D52BB0}"/>
              </a:ext>
            </a:extLst>
          </p:cNvPr>
          <p:cNvSpPr txBox="1"/>
          <p:nvPr/>
        </p:nvSpPr>
        <p:spPr>
          <a:xfrm>
            <a:off x="6627367" y="324465"/>
            <a:ext cx="4694327" cy="523220"/>
          </a:xfrm>
          <a:prstGeom prst="rect">
            <a:avLst/>
          </a:prstGeom>
          <a:noFill/>
        </p:spPr>
        <p:txBody>
          <a:bodyPr wrap="square" rtlCol="0">
            <a:spAutoFit/>
          </a:bodyPr>
          <a:lstStyle/>
          <a:p>
            <a:r>
              <a:rPr lang="en-US" sz="2800" b="1" dirty="0"/>
              <a:t>FEATURE IMPORTANCE</a:t>
            </a:r>
            <a:endParaRPr lang="en-IN" sz="2800" b="1" dirty="0"/>
          </a:p>
        </p:txBody>
      </p:sp>
    </p:spTree>
    <p:extLst>
      <p:ext uri="{BB962C8B-B14F-4D97-AF65-F5344CB8AC3E}">
        <p14:creationId xmlns:p14="http://schemas.microsoft.com/office/powerpoint/2010/main" val="3956143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34DB-25C5-ADD3-CDFA-B1B0852BA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1CC37-D043-130F-E4E6-184C71A56FB0}"/>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US" b="1" dirty="0">
                <a:latin typeface="Times New Roman" panose="02020603050405020304" pitchFamily="18" charset="0"/>
                <a:ea typeface="Tahoma" panose="020B0604030504040204" pitchFamily="34" charset="0"/>
                <a:cs typeface="Times New Roman" panose="02020603050405020304" pitchFamily="18" charset="0"/>
              </a:rPr>
              <a:t>Outcome</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4ADC2314-F90A-9864-25DF-09253E952CFC}"/>
              </a:ext>
            </a:extLst>
          </p:cNvPr>
          <p:cNvSpPr>
            <a:spLocks noGrp="1" noChangeArrowheads="1"/>
          </p:cNvSpPr>
          <p:nvPr>
            <p:ph idx="1"/>
          </p:nvPr>
        </p:nvSpPr>
        <p:spPr bwMode="auto">
          <a:xfrm>
            <a:off x="758952" y="1581483"/>
            <a:ext cx="1067409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Accuracy: 100% (56928 out of 56962 predictions were correct).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Class 0 (Non-Fraud):Precision, Recall, F1-score = 1.00 → Almost perfect.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Class 1 (Fraud):Precision = 0.83 → 83% of predicted frauds were correct.</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latin typeface="Arial" panose="020B0604020202020204" pitchFamily="34" charset="0"/>
              </a:rPr>
              <a:t>The model performs extremely well, especially on the majority class.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latin typeface="Arial" panose="020B0604020202020204" pitchFamily="34" charset="0"/>
              </a:rPr>
              <a:t>For fraud detection (minority class):Catches 83% of frauds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latin typeface="Arial" panose="020B0604020202020204" pitchFamily="34" charset="0"/>
              </a:rPr>
              <a:t>Keeps false alarms relatively low.</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7814F7D7-EA29-3360-DCDC-9A644769637D}"/>
              </a:ext>
            </a:extLst>
          </p:cNvPr>
          <p:cNvPicPr>
            <a:picLocks noChangeAspect="1"/>
          </p:cNvPicPr>
          <p:nvPr/>
        </p:nvPicPr>
        <p:blipFill>
          <a:blip r:embed="rId3"/>
          <a:stretch>
            <a:fillRect/>
          </a:stretch>
        </p:blipFill>
        <p:spPr>
          <a:xfrm>
            <a:off x="865632" y="3905399"/>
            <a:ext cx="5019018" cy="2505233"/>
          </a:xfrm>
          <a:prstGeom prst="rect">
            <a:avLst/>
          </a:prstGeom>
        </p:spPr>
      </p:pic>
    </p:spTree>
    <p:extLst>
      <p:ext uri="{BB962C8B-B14F-4D97-AF65-F5344CB8AC3E}">
        <p14:creationId xmlns:p14="http://schemas.microsoft.com/office/powerpoint/2010/main" val="3917661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35E0D-1D75-E91F-E75B-C4DDF801D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98D0A-C035-F4F3-2047-44489595050A}"/>
              </a:ext>
            </a:extLst>
          </p:cNvPr>
          <p:cNvSpPr>
            <a:spLocks noGrp="1"/>
          </p:cNvSpPr>
          <p:nvPr>
            <p:ph type="title"/>
          </p:nvPr>
        </p:nvSpPr>
        <p:spPr>
          <a:xfrm>
            <a:off x="0" y="-3175"/>
            <a:ext cx="12192000" cy="124675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References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7C605085-16DF-F7D6-4903-A87DD61447AB}"/>
              </a:ext>
            </a:extLst>
          </p:cNvPr>
          <p:cNvSpPr>
            <a:spLocks noGrp="1" noChangeArrowheads="1"/>
          </p:cNvSpPr>
          <p:nvPr>
            <p:ph idx="1"/>
          </p:nvPr>
        </p:nvSpPr>
        <p:spPr bwMode="auto">
          <a:xfrm>
            <a:off x="318516" y="1505085"/>
            <a:ext cx="11250168" cy="2554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lang="en-US" altLang="en-US" dirty="0">
                <a:latin typeface="Times New Roman" panose="02020603050405020304" pitchFamily="18" charset="0"/>
                <a:cs typeface="Times New Roman" panose="02020603050405020304" pitchFamily="18" charset="0"/>
              </a:rPr>
              <a:t>Kaggle Dataset:</a:t>
            </a:r>
          </a:p>
          <a:p>
            <a:pPr marL="0" indent="0"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https://www.kaggle.com/datasets/mlg-ulb/creditcardfraud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787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411</TotalTime>
  <Words>668</Words>
  <Application>Microsoft Office PowerPoint</Application>
  <PresentationFormat>Widescreen</PresentationFormat>
  <Paragraphs>74</Paragraphs>
  <Slides>13</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Times New Roman</vt:lpstr>
      <vt:lpstr>Wingdings</vt:lpstr>
      <vt:lpstr>Office Theme</vt:lpstr>
      <vt:lpstr>INTRODUCTION TO AI(AI101B) Even Semester Session 2024-25</vt:lpstr>
      <vt:lpstr>Content</vt:lpstr>
      <vt:lpstr>Introduction</vt:lpstr>
      <vt:lpstr>Objective of the Project</vt:lpstr>
      <vt:lpstr>Methodology</vt:lpstr>
      <vt:lpstr>Code </vt:lpstr>
      <vt:lpstr>PowerPoint Presentation</vt:lpstr>
      <vt:lpstr>PowerPoint Presentation</vt:lpstr>
      <vt:lpstr>PowerPoint Presentation</vt:lpstr>
      <vt:lpstr>PowerPoint Presentation</vt:lpstr>
      <vt:lpstr>PowerPoint Presentation</vt:lpstr>
      <vt:lpstr>Outcome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Sonam</dc:creator>
  <cp:lastModifiedBy>Sonam DOBRIYAL</cp:lastModifiedBy>
  <cp:revision>14</cp:revision>
  <dcterms:created xsi:type="dcterms:W3CDTF">2024-09-12T08:34:15Z</dcterms:created>
  <dcterms:modified xsi:type="dcterms:W3CDTF">2025-05-26T19:42:34Z</dcterms:modified>
</cp:coreProperties>
</file>