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14"/>
  </p:notesMasterIdLst>
  <p:sldIdLst>
    <p:sldId id="256" r:id="rId3"/>
    <p:sldId id="258" r:id="rId4"/>
    <p:sldId id="273" r:id="rId5"/>
    <p:sldId id="280" r:id="rId6"/>
    <p:sldId id="287" r:id="rId7"/>
    <p:sldId id="268" r:id="rId8"/>
    <p:sldId id="288" r:id="rId9"/>
    <p:sldId id="284" r:id="rId10"/>
    <p:sldId id="285" r:id="rId11"/>
    <p:sldId id="283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AA183E-8D8D-482F-B916-2346667D0C23}" v="129" dt="2025-04-13T21:30:07.0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394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0AB34E-5087-4744-824E-C3097A44A3A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0A8DC4E-54BD-454B-9C49-2951005FE12A}">
      <dgm:prSet phldrT="[Text]"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Contextual Understanding</a:t>
          </a:r>
          <a:endParaRPr lang="en-IN" sz="2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20E3B2-9219-4E9B-8A5C-48F1B92CD6C6}" type="parTrans" cxnId="{F97BD3AD-2FE4-46A3-B189-DFFEF2B8653B}">
      <dgm:prSet/>
      <dgm:spPr/>
      <dgm:t>
        <a:bodyPr/>
        <a:lstStyle/>
        <a:p>
          <a:endParaRPr lang="en-IN"/>
        </a:p>
      </dgm:t>
    </dgm:pt>
    <dgm:pt modelId="{268A4165-D36C-4D00-BABA-7DCFBBE9A612}" type="sibTrans" cxnId="{F97BD3AD-2FE4-46A3-B189-DFFEF2B8653B}">
      <dgm:prSet/>
      <dgm:spPr/>
      <dgm:t>
        <a:bodyPr/>
        <a:lstStyle/>
        <a:p>
          <a:endParaRPr lang="en-IN"/>
        </a:p>
      </dgm:t>
    </dgm:pt>
    <dgm:pt modelId="{02C290A1-A4C6-4B48-B88B-36F3B6C30872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/>
            <a:t>   Understand context in resume text for accurate role prediction.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96AE16-2583-4711-91F7-BF2FA2C31459}" type="parTrans" cxnId="{0C32951C-FBBC-471D-96AD-C1DC9AC36D9D}">
      <dgm:prSet/>
      <dgm:spPr/>
      <dgm:t>
        <a:bodyPr/>
        <a:lstStyle/>
        <a:p>
          <a:endParaRPr lang="en-IN"/>
        </a:p>
      </dgm:t>
    </dgm:pt>
    <dgm:pt modelId="{15D50964-5403-4A03-A0C3-1555AF403B92}" type="sibTrans" cxnId="{0C32951C-FBBC-471D-96AD-C1DC9AC36D9D}">
      <dgm:prSet/>
      <dgm:spPr/>
      <dgm:t>
        <a:bodyPr/>
        <a:lstStyle/>
        <a:p>
          <a:endParaRPr lang="en-IN"/>
        </a:p>
      </dgm:t>
    </dgm:pt>
    <dgm:pt modelId="{ADD639B9-E28B-45B7-BF94-43CB34031D20}">
      <dgm:prSet phldrT="[Text]"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Confidence Scoring</a:t>
          </a:r>
          <a:endParaRPr lang="en-IN" sz="2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6CF63F-7826-46F0-8506-747324953643}" type="parTrans" cxnId="{FCB256DC-37D1-46D5-A72B-E86C51DF8F78}">
      <dgm:prSet/>
      <dgm:spPr/>
      <dgm:t>
        <a:bodyPr/>
        <a:lstStyle/>
        <a:p>
          <a:endParaRPr lang="en-IN"/>
        </a:p>
      </dgm:t>
    </dgm:pt>
    <dgm:pt modelId="{2BE00348-70DA-4596-8CA2-F0E154316AC4}" type="sibTrans" cxnId="{FCB256DC-37D1-46D5-A72B-E86C51DF8F78}">
      <dgm:prSet/>
      <dgm:spPr/>
      <dgm:t>
        <a:bodyPr/>
        <a:lstStyle/>
        <a:p>
          <a:endParaRPr lang="en-IN"/>
        </a:p>
      </dgm:t>
    </dgm:pt>
    <dgm:pt modelId="{179A64A3-70D5-43B1-9EE5-ACCA738A27B0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/>
            <a:t>   Provide confidence scores for each classification result.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4DC7EE-D7EC-45A6-A5CD-970CBC0279D1}" type="parTrans" cxnId="{BE1A5FDE-539C-4DFF-BB7D-3721A84ABB49}">
      <dgm:prSet/>
      <dgm:spPr/>
      <dgm:t>
        <a:bodyPr/>
        <a:lstStyle/>
        <a:p>
          <a:endParaRPr lang="en-IN"/>
        </a:p>
      </dgm:t>
    </dgm:pt>
    <dgm:pt modelId="{1AD30C53-3D39-4168-BB40-B7AB8AC23CC9}" type="sibTrans" cxnId="{BE1A5FDE-539C-4DFF-BB7D-3721A84ABB49}">
      <dgm:prSet/>
      <dgm:spPr/>
      <dgm:t>
        <a:bodyPr/>
        <a:lstStyle/>
        <a:p>
          <a:endParaRPr lang="en-IN"/>
        </a:p>
      </dgm:t>
    </dgm:pt>
    <dgm:pt modelId="{10527C28-FC2C-4874-AFA8-C2AA7C46604C}">
      <dgm:prSet phldrT="[Text]"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Improvement Suggestion</a:t>
          </a:r>
          <a:endParaRPr lang="en-IN" sz="2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752DEF-A756-41D0-BFE5-0079E40DEA7E}" type="parTrans" cxnId="{41F2C86B-045F-41A6-9F08-890B80FE0380}">
      <dgm:prSet/>
      <dgm:spPr/>
      <dgm:t>
        <a:bodyPr/>
        <a:lstStyle/>
        <a:p>
          <a:endParaRPr lang="en-IN"/>
        </a:p>
      </dgm:t>
    </dgm:pt>
    <dgm:pt modelId="{C14E4787-235A-43B4-BC8E-CF873B3F775A}" type="sibTrans" cxnId="{41F2C86B-045F-41A6-9F08-890B80FE0380}">
      <dgm:prSet/>
      <dgm:spPr/>
      <dgm:t>
        <a:bodyPr/>
        <a:lstStyle/>
        <a:p>
          <a:endParaRPr lang="en-IN"/>
        </a:p>
      </dgm:t>
    </dgm:pt>
    <dgm:pt modelId="{8BEC59A7-0A69-4CFA-B659-7DC68A94400C}">
      <dgm:prSet phldrT="[Text]"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User Interface</a:t>
          </a:r>
          <a:endParaRPr lang="en-IN" sz="2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23E4DD-F56B-41D5-A126-F320075B6401}" type="parTrans" cxnId="{5498E583-90B8-40CB-9911-EBF2ADECD504}">
      <dgm:prSet/>
      <dgm:spPr/>
      <dgm:t>
        <a:bodyPr/>
        <a:lstStyle/>
        <a:p>
          <a:endParaRPr lang="en-IN"/>
        </a:p>
      </dgm:t>
    </dgm:pt>
    <dgm:pt modelId="{30973C4B-9BC1-444D-9AFE-F31254F5816A}" type="sibTrans" cxnId="{5498E583-90B8-40CB-9911-EBF2ADECD504}">
      <dgm:prSet/>
      <dgm:spPr/>
      <dgm:t>
        <a:bodyPr/>
        <a:lstStyle/>
        <a:p>
          <a:endParaRPr lang="en-IN"/>
        </a:p>
      </dgm:t>
    </dgm:pt>
    <dgm:pt modelId="{A598BA96-EF14-41D9-8BB6-E1CE9E4AB528}" type="pres">
      <dgm:prSet presAssocID="{A40AB34E-5087-4744-824E-C3097A44A3A8}" presName="linear" presStyleCnt="0">
        <dgm:presLayoutVars>
          <dgm:animLvl val="lvl"/>
          <dgm:resizeHandles val="exact"/>
        </dgm:presLayoutVars>
      </dgm:prSet>
      <dgm:spPr/>
    </dgm:pt>
    <dgm:pt modelId="{B4812D7E-A3CD-47E4-992C-D862E3FDB153}" type="pres">
      <dgm:prSet presAssocID="{00A8DC4E-54BD-454B-9C49-2951005FE12A}" presName="parentText" presStyleLbl="node1" presStyleIdx="0" presStyleCnt="4" custScaleY="41594" custLinFactNeighborX="157" custLinFactNeighborY="-47730">
        <dgm:presLayoutVars>
          <dgm:chMax val="0"/>
          <dgm:bulletEnabled val="1"/>
        </dgm:presLayoutVars>
      </dgm:prSet>
      <dgm:spPr/>
    </dgm:pt>
    <dgm:pt modelId="{05FAC4CD-0625-4598-9297-8D50865B9C75}" type="pres">
      <dgm:prSet presAssocID="{00A8DC4E-54BD-454B-9C49-2951005FE12A}" presName="childText" presStyleLbl="revTx" presStyleIdx="0" presStyleCnt="2" custScaleY="54167" custLinFactNeighborY="-32955">
        <dgm:presLayoutVars>
          <dgm:bulletEnabled val="1"/>
        </dgm:presLayoutVars>
      </dgm:prSet>
      <dgm:spPr/>
    </dgm:pt>
    <dgm:pt modelId="{8DDF56E2-DA53-4D8B-9C1A-B99724EA5C5B}" type="pres">
      <dgm:prSet presAssocID="{ADD639B9-E28B-45B7-BF94-43CB34031D20}" presName="parentText" presStyleLbl="node1" presStyleIdx="1" presStyleCnt="4" custScaleY="42036" custLinFactNeighborY="-44017">
        <dgm:presLayoutVars>
          <dgm:chMax val="0"/>
          <dgm:bulletEnabled val="1"/>
        </dgm:presLayoutVars>
      </dgm:prSet>
      <dgm:spPr/>
    </dgm:pt>
    <dgm:pt modelId="{187E7486-77C6-4D91-860B-E631D87A260A}" type="pres">
      <dgm:prSet presAssocID="{ADD639B9-E28B-45B7-BF94-43CB34031D20}" presName="childText" presStyleLbl="revTx" presStyleIdx="1" presStyleCnt="2" custScaleY="68837" custLinFactNeighborY="-30128">
        <dgm:presLayoutVars>
          <dgm:bulletEnabled val="1"/>
        </dgm:presLayoutVars>
      </dgm:prSet>
      <dgm:spPr/>
    </dgm:pt>
    <dgm:pt modelId="{FD0A5C44-0F32-4352-8F54-9D76A9909D01}" type="pres">
      <dgm:prSet presAssocID="{10527C28-FC2C-4874-AFA8-C2AA7C46604C}" presName="parentText" presStyleLbl="node1" presStyleIdx="2" presStyleCnt="4" custScaleY="42036" custLinFactY="-31071" custLinFactNeighborY="-100000">
        <dgm:presLayoutVars>
          <dgm:chMax val="0"/>
          <dgm:bulletEnabled val="1"/>
        </dgm:presLayoutVars>
      </dgm:prSet>
      <dgm:spPr/>
    </dgm:pt>
    <dgm:pt modelId="{9C313AB6-99A5-4555-8E20-99DFD91EF612}" type="pres">
      <dgm:prSet presAssocID="{C14E4787-235A-43B4-BC8E-CF873B3F775A}" presName="spacer" presStyleCnt="0"/>
      <dgm:spPr/>
    </dgm:pt>
    <dgm:pt modelId="{780F3024-C329-41E8-BE6F-E8D8E1ABEF85}" type="pres">
      <dgm:prSet presAssocID="{8BEC59A7-0A69-4CFA-B659-7DC68A94400C}" presName="parentText" presStyleLbl="node1" presStyleIdx="3" presStyleCnt="4" custScaleY="42036" custLinFactNeighborY="-47587">
        <dgm:presLayoutVars>
          <dgm:chMax val="0"/>
          <dgm:bulletEnabled val="1"/>
        </dgm:presLayoutVars>
      </dgm:prSet>
      <dgm:spPr/>
    </dgm:pt>
  </dgm:ptLst>
  <dgm:cxnLst>
    <dgm:cxn modelId="{1CFC1E16-FEF8-460F-9910-A5731D0AA8C9}" type="presOf" srcId="{179A64A3-70D5-43B1-9EE5-ACCA738A27B0}" destId="{187E7486-77C6-4D91-860B-E631D87A260A}" srcOrd="0" destOrd="0" presId="urn:microsoft.com/office/officeart/2005/8/layout/vList2"/>
    <dgm:cxn modelId="{0C32951C-FBBC-471D-96AD-C1DC9AC36D9D}" srcId="{00A8DC4E-54BD-454B-9C49-2951005FE12A}" destId="{02C290A1-A4C6-4B48-B88B-36F3B6C30872}" srcOrd="0" destOrd="0" parTransId="{F996AE16-2583-4711-91F7-BF2FA2C31459}" sibTransId="{15D50964-5403-4A03-A0C3-1555AF403B92}"/>
    <dgm:cxn modelId="{558E7325-5B29-4D85-83F9-C5DC89602DD4}" type="presOf" srcId="{02C290A1-A4C6-4B48-B88B-36F3B6C30872}" destId="{05FAC4CD-0625-4598-9297-8D50865B9C75}" srcOrd="0" destOrd="0" presId="urn:microsoft.com/office/officeart/2005/8/layout/vList2"/>
    <dgm:cxn modelId="{FC6E0047-0EAA-432A-8A44-5192A0277184}" type="presOf" srcId="{8BEC59A7-0A69-4CFA-B659-7DC68A94400C}" destId="{780F3024-C329-41E8-BE6F-E8D8E1ABEF85}" srcOrd="0" destOrd="0" presId="urn:microsoft.com/office/officeart/2005/8/layout/vList2"/>
    <dgm:cxn modelId="{41F2C86B-045F-41A6-9F08-890B80FE0380}" srcId="{A40AB34E-5087-4744-824E-C3097A44A3A8}" destId="{10527C28-FC2C-4874-AFA8-C2AA7C46604C}" srcOrd="2" destOrd="0" parTransId="{2C752DEF-A756-41D0-BFE5-0079E40DEA7E}" sibTransId="{C14E4787-235A-43B4-BC8E-CF873B3F775A}"/>
    <dgm:cxn modelId="{B994E75A-A648-40A7-9906-1613F3EA3D7E}" type="presOf" srcId="{00A8DC4E-54BD-454B-9C49-2951005FE12A}" destId="{B4812D7E-A3CD-47E4-992C-D862E3FDB153}" srcOrd="0" destOrd="0" presId="urn:microsoft.com/office/officeart/2005/8/layout/vList2"/>
    <dgm:cxn modelId="{5498E583-90B8-40CB-9911-EBF2ADECD504}" srcId="{A40AB34E-5087-4744-824E-C3097A44A3A8}" destId="{8BEC59A7-0A69-4CFA-B659-7DC68A94400C}" srcOrd="3" destOrd="0" parTransId="{6923E4DD-F56B-41D5-A126-F320075B6401}" sibTransId="{30973C4B-9BC1-444D-9AFE-F31254F5816A}"/>
    <dgm:cxn modelId="{D87E8E94-5BE8-426F-83A2-F3EB1718E7B4}" type="presOf" srcId="{ADD639B9-E28B-45B7-BF94-43CB34031D20}" destId="{8DDF56E2-DA53-4D8B-9C1A-B99724EA5C5B}" srcOrd="0" destOrd="0" presId="urn:microsoft.com/office/officeart/2005/8/layout/vList2"/>
    <dgm:cxn modelId="{D06C2B9C-D31C-4E25-A7EA-C33EB8B44521}" type="presOf" srcId="{A40AB34E-5087-4744-824E-C3097A44A3A8}" destId="{A598BA96-EF14-41D9-8BB6-E1CE9E4AB528}" srcOrd="0" destOrd="0" presId="urn:microsoft.com/office/officeart/2005/8/layout/vList2"/>
    <dgm:cxn modelId="{F97BD3AD-2FE4-46A3-B189-DFFEF2B8653B}" srcId="{A40AB34E-5087-4744-824E-C3097A44A3A8}" destId="{00A8DC4E-54BD-454B-9C49-2951005FE12A}" srcOrd="0" destOrd="0" parTransId="{5720E3B2-9219-4E9B-8A5C-48F1B92CD6C6}" sibTransId="{268A4165-D36C-4D00-BABA-7DCFBBE9A612}"/>
    <dgm:cxn modelId="{3E040EC7-A32F-4070-B6D7-BAEA0B44AD04}" type="presOf" srcId="{10527C28-FC2C-4874-AFA8-C2AA7C46604C}" destId="{FD0A5C44-0F32-4352-8F54-9D76A9909D01}" srcOrd="0" destOrd="0" presId="urn:microsoft.com/office/officeart/2005/8/layout/vList2"/>
    <dgm:cxn modelId="{FCB256DC-37D1-46D5-A72B-E86C51DF8F78}" srcId="{A40AB34E-5087-4744-824E-C3097A44A3A8}" destId="{ADD639B9-E28B-45B7-BF94-43CB34031D20}" srcOrd="1" destOrd="0" parTransId="{DB6CF63F-7826-46F0-8506-747324953643}" sibTransId="{2BE00348-70DA-4596-8CA2-F0E154316AC4}"/>
    <dgm:cxn modelId="{BE1A5FDE-539C-4DFF-BB7D-3721A84ABB49}" srcId="{ADD639B9-E28B-45B7-BF94-43CB34031D20}" destId="{179A64A3-70D5-43B1-9EE5-ACCA738A27B0}" srcOrd="0" destOrd="0" parTransId="{754DC7EE-D7EC-45A6-A5CD-970CBC0279D1}" sibTransId="{1AD30C53-3D39-4168-BB40-B7AB8AC23CC9}"/>
    <dgm:cxn modelId="{B1F7A136-0A98-4737-AFF0-57025D879DD5}" type="presParOf" srcId="{A598BA96-EF14-41D9-8BB6-E1CE9E4AB528}" destId="{B4812D7E-A3CD-47E4-992C-D862E3FDB153}" srcOrd="0" destOrd="0" presId="urn:microsoft.com/office/officeart/2005/8/layout/vList2"/>
    <dgm:cxn modelId="{EDB22B53-E944-4D0D-8571-1136FD55F7E9}" type="presParOf" srcId="{A598BA96-EF14-41D9-8BB6-E1CE9E4AB528}" destId="{05FAC4CD-0625-4598-9297-8D50865B9C75}" srcOrd="1" destOrd="0" presId="urn:microsoft.com/office/officeart/2005/8/layout/vList2"/>
    <dgm:cxn modelId="{4EC85DA0-E6A4-4531-9EF2-7947A90BE1C7}" type="presParOf" srcId="{A598BA96-EF14-41D9-8BB6-E1CE9E4AB528}" destId="{8DDF56E2-DA53-4D8B-9C1A-B99724EA5C5B}" srcOrd="2" destOrd="0" presId="urn:microsoft.com/office/officeart/2005/8/layout/vList2"/>
    <dgm:cxn modelId="{50696692-C1AE-45E1-9575-D71018C43127}" type="presParOf" srcId="{A598BA96-EF14-41D9-8BB6-E1CE9E4AB528}" destId="{187E7486-77C6-4D91-860B-E631D87A260A}" srcOrd="3" destOrd="0" presId="urn:microsoft.com/office/officeart/2005/8/layout/vList2"/>
    <dgm:cxn modelId="{863BD17E-4D9E-4F7A-B636-9A87DD6D9259}" type="presParOf" srcId="{A598BA96-EF14-41D9-8BB6-E1CE9E4AB528}" destId="{FD0A5C44-0F32-4352-8F54-9D76A9909D01}" srcOrd="4" destOrd="0" presId="urn:microsoft.com/office/officeart/2005/8/layout/vList2"/>
    <dgm:cxn modelId="{B6048421-E7E6-4FAE-81C7-6C846C807A5D}" type="presParOf" srcId="{A598BA96-EF14-41D9-8BB6-E1CE9E4AB528}" destId="{9C313AB6-99A5-4555-8E20-99DFD91EF612}" srcOrd="5" destOrd="0" presId="urn:microsoft.com/office/officeart/2005/8/layout/vList2"/>
    <dgm:cxn modelId="{EAC4B2AD-65C6-4B29-B650-423127381A3B}" type="presParOf" srcId="{A598BA96-EF14-41D9-8BB6-E1CE9E4AB528}" destId="{780F3024-C329-41E8-BE6F-E8D8E1ABEF8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812D7E-A3CD-47E4-992C-D862E3FDB153}">
      <dsp:nvSpPr>
        <dsp:cNvPr id="0" name=""/>
        <dsp:cNvSpPr/>
      </dsp:nvSpPr>
      <dsp:spPr>
        <a:xfrm>
          <a:off x="0" y="430952"/>
          <a:ext cx="10205397" cy="4983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Contextual Understanding</a:t>
          </a:r>
          <a:endParaRPr lang="en-IN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326" y="455278"/>
        <a:ext cx="10156745" cy="449677"/>
      </dsp:txXfrm>
    </dsp:sp>
    <dsp:sp modelId="{05FAC4CD-0625-4598-9297-8D50865B9C75}">
      <dsp:nvSpPr>
        <dsp:cNvPr id="0" name=""/>
        <dsp:cNvSpPr/>
      </dsp:nvSpPr>
      <dsp:spPr>
        <a:xfrm>
          <a:off x="0" y="1040315"/>
          <a:ext cx="10205397" cy="5740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4021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§"/>
          </a:pPr>
          <a:r>
            <a:rPr lang="en-US" sz="2000" kern="1200" dirty="0"/>
            <a:t>   Understand context in resume text for accurate role prediction.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040315"/>
        <a:ext cx="10205397" cy="574083"/>
      </dsp:txXfrm>
    </dsp:sp>
    <dsp:sp modelId="{8DDF56E2-DA53-4D8B-9C1A-B99724EA5C5B}">
      <dsp:nvSpPr>
        <dsp:cNvPr id="0" name=""/>
        <dsp:cNvSpPr/>
      </dsp:nvSpPr>
      <dsp:spPr>
        <a:xfrm>
          <a:off x="0" y="1542716"/>
          <a:ext cx="10205397" cy="5036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Confidence Scoring</a:t>
          </a:r>
          <a:endParaRPr lang="en-IN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585" y="1567301"/>
        <a:ext cx="10156227" cy="454454"/>
      </dsp:txXfrm>
    </dsp:sp>
    <dsp:sp modelId="{187E7486-77C6-4D91-860B-E631D87A260A}">
      <dsp:nvSpPr>
        <dsp:cNvPr id="0" name=""/>
        <dsp:cNvSpPr/>
      </dsp:nvSpPr>
      <dsp:spPr>
        <a:xfrm>
          <a:off x="0" y="2151893"/>
          <a:ext cx="10205397" cy="729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4021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§"/>
          </a:pPr>
          <a:r>
            <a:rPr lang="en-US" sz="2000" kern="1200" dirty="0"/>
            <a:t>   Provide confidence scores for each classification result.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151893"/>
        <a:ext cx="10205397" cy="729562"/>
      </dsp:txXfrm>
    </dsp:sp>
    <dsp:sp modelId="{FD0A5C44-0F32-4352-8F54-9D76A9909D01}">
      <dsp:nvSpPr>
        <dsp:cNvPr id="0" name=""/>
        <dsp:cNvSpPr/>
      </dsp:nvSpPr>
      <dsp:spPr>
        <a:xfrm>
          <a:off x="0" y="2685838"/>
          <a:ext cx="10205397" cy="5036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Improvement Suggestion</a:t>
          </a:r>
          <a:endParaRPr lang="en-IN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585" y="2710423"/>
        <a:ext cx="10156227" cy="454454"/>
      </dsp:txXfrm>
    </dsp:sp>
    <dsp:sp modelId="{780F3024-C329-41E8-BE6F-E8D8E1ABEF85}">
      <dsp:nvSpPr>
        <dsp:cNvPr id="0" name=""/>
        <dsp:cNvSpPr/>
      </dsp:nvSpPr>
      <dsp:spPr>
        <a:xfrm>
          <a:off x="0" y="3842646"/>
          <a:ext cx="10205397" cy="5036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 Interface</a:t>
          </a:r>
          <a:endParaRPr lang="en-IN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585" y="3867231"/>
        <a:ext cx="10156227" cy="454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3A374-E257-BA40-8027-2F76366D0775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A341E-1834-1A45-B594-3CD153D3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0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418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BA155-0859-F2CC-A345-55D6207F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E583F-BEFD-6DD1-ECB9-E0C145763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35B20-B7B1-88E1-6E6D-2D7C97C6D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FA1F5-D943-7DBD-EAF6-79A2FF602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586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7E67-3BFC-BDEF-8A87-69915E028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C607F-B2C3-67D4-ECF1-8B50363CF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65FB2-1C9D-4050-EC01-3E3199597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BA3AD-C1FB-EA75-B7B4-E8A6244F1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000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08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97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67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13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1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6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0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6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8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2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41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E176F-8825-4BE0-926C-E8FAF4780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0545B-2130-4CF6-863E-7C8B842C7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99369-DC3D-4EEB-90FA-A87810C1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4385C-32D4-4571-B32A-8A67501EB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5E1F0-C59A-45AA-A54E-6A4532ABF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21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00E9-8DB9-412B-A443-084045D22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DF458-463D-4CC7-816D-FEF3F2FB9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0E0C8-1AE2-4E65-B1DD-934E45BF8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FC30A-333D-4B34-83F0-1B1EC9018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C2383-2BA5-4BED-9F33-A0110250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38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233F-AD1A-4604-AD34-3E4A19FA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016BA-C134-4FBB-84AC-F62C22C66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32587-72E2-4D1F-B09C-9AA8B6C2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6D3F4-6933-4F38-8FB9-C32E899F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87462-5729-485D-8430-C2145CBD6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20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40F56-FE77-4CE1-8D4C-F3556BBF8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9AFCD-5498-4451-A20D-CD7E957B0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818F1-0230-4EC2-9BF4-D329A232B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4D7BB-EA30-4165-B2B9-B85986BAB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690F5-6D97-4872-8331-460EB66D2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CA4F5-4BCB-488E-A507-F73A4B2A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94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FD531-C7A1-49BC-8B48-4C4D4E93B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01AA1-0BA7-4306-B2C7-5B22826D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32601-E1B4-47E1-A2F2-AC6BF00E0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15117-3E5C-4949-BD04-166177BCC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5DCAD8-24D0-4F47-BF0B-D76B73F7DB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ACD69E-992E-4A4D-9510-27C910DE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BE4A6-6DFD-4062-8046-99B9110AE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304BA-5CE7-4B1B-AEF1-CEF2F011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38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DEDE9-0ED4-419F-8169-BAC70D545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DF2B99-C94A-41EF-93FE-F8241F07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2D055-05F3-4D19-9178-6B8621B04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724E7C-B6EC-46D9-B7BC-AEEBA043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517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918FD9-986E-402D-BA77-07B4943A6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3ABA74-A06E-49FB-B892-A5658C29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A5818-4A48-42B0-AA52-C87F52325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280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F7E2A-51DC-4875-A204-12CC25EAB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D7DE3-0579-42EC-A8AB-F8ED81A3A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A38AA-4E25-437D-BF61-FFBAC4D1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37FFA-BD7C-4415-A1F6-1ACC2369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E5797-DEC8-448C-BFA3-61ABCC58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D1387-3E5C-4D3E-92AB-1CBFB563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576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0F822-6757-47E7-B1E0-6FEF5C4A3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F72069-6904-4E57-B790-013B94567C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43C213-39E0-4F27-BEE2-D6CDA184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28C79-D90C-488D-9F16-AA17A0A55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047F8-E5C8-4440-B4E5-17C540BD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3988D-DB20-4EF1-A193-879837E2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485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5F04F-87B4-4F98-A28A-56E079B2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FCCF4-99A0-4BC8-AC3E-5C3A19BEE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16896-F626-4BB4-A05B-D7E77DEBA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0834F-F2AC-4B09-8C25-84A415453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4DC83-DAE5-4246-A792-0EAFBD12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852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5B98A-1297-45A5-A556-3CF238F38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17FA8-70F2-4E92-9602-09E9FADBF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FA0E6-7F43-4120-AB23-D8BED7F53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D6928-B5C7-4167-9C1A-239E4B7D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A0AFD-9040-4B45-8283-44EC3897D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8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06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D18F33-A977-45A0-AEE8-7A983937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D256C-8BC0-4E18-86AD-27B6B9365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FCC9C-4E76-486E-BF4C-4A653C462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0576A-07DB-3B46-AC99-97A70AE239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75E36-4A0E-4E0D-9348-6560857E9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70D08-F560-4102-8214-52BE70E8D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6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C05F-6C10-AAB8-B9A1-704086EB8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7462"/>
            <a:ext cx="9144000" cy="1284834"/>
          </a:xfrm>
        </p:spPr>
        <p:txBody>
          <a:bodyPr>
            <a:no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AI(AI101B)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Semester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2024-25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24FBC-2E61-AD49-3BD0-DA7AA89F9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8589"/>
            <a:ext cx="9144000" cy="2216707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Screening using BERT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Mradul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Tyagi (2410116100125)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Gargi Singh (2410116100072)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Nainsi Jain (2410116100128)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EFE38A-2987-AEC9-33EC-1BC6CB5C10DA}"/>
              </a:ext>
            </a:extLst>
          </p:cNvPr>
          <p:cNvSpPr txBox="1">
            <a:spLocks/>
          </p:cNvSpPr>
          <p:nvPr/>
        </p:nvSpPr>
        <p:spPr>
          <a:xfrm>
            <a:off x="1524000" y="4782598"/>
            <a:ext cx="9144000" cy="762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3043289-20F1-1B73-C850-CE92562B546B}"/>
              </a:ext>
            </a:extLst>
          </p:cNvPr>
          <p:cNvSpPr txBox="1">
            <a:spLocks/>
          </p:cNvSpPr>
          <p:nvPr/>
        </p:nvSpPr>
        <p:spPr>
          <a:xfrm>
            <a:off x="9063394" y="5339717"/>
            <a:ext cx="3035300" cy="12239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  <a:p>
            <a:pPr algn="just"/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Apoorv Jain</a:t>
            </a:r>
          </a:p>
          <a:p>
            <a:pPr algn="just"/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just"/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A50B94-DBEB-9815-4684-223EC27F9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9"/>
            <a:ext cx="12192000" cy="147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61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C5ADA20-E567-4F88-93BA-265D9FA26477}"/>
              </a:ext>
            </a:extLst>
          </p:cNvPr>
          <p:cNvSpPr txBox="1">
            <a:spLocks/>
          </p:cNvSpPr>
          <p:nvPr/>
        </p:nvSpPr>
        <p:spPr>
          <a:xfrm>
            <a:off x="541176" y="1268960"/>
            <a:ext cx="5233983" cy="4795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274320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59436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914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23444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155448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an AI-based resume screening system that uses BERT to understand the context and meaning of resume content, not just keywords.</a:t>
            </a:r>
          </a:p>
          <a:p>
            <a:pPr>
              <a:spcBef>
                <a:spcPts val="600"/>
              </a:spcBef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resume alignment with predicted roles.</a:t>
            </a:r>
          </a:p>
          <a:p>
            <a:pPr>
              <a:spcBef>
                <a:spcPts val="600"/>
              </a:spcBef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 simple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 for uploading resumes and viewing results instantly.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9158C6-1AFE-DA61-15BD-00FD6171B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3649" y="4854719"/>
            <a:ext cx="1035698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93C4C52-D52A-2BB1-241E-4E6AB8FC1C4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543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Introduction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305E72-6B0F-78A2-14A8-51D2E5C87BD2}"/>
              </a:ext>
            </a:extLst>
          </p:cNvPr>
          <p:cNvSpPr/>
          <p:nvPr/>
        </p:nvSpPr>
        <p:spPr>
          <a:xfrm>
            <a:off x="796212" y="1324946"/>
            <a:ext cx="10599576" cy="447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2EF502-A0DB-75C1-5BC1-2FB6F240C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30478"/>
            <a:ext cx="6006349" cy="410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7B6221-8E49-6022-A74F-C8AE3802C314}"/>
              </a:ext>
            </a:extLst>
          </p:cNvPr>
          <p:cNvSpPr/>
          <p:nvPr/>
        </p:nvSpPr>
        <p:spPr>
          <a:xfrm>
            <a:off x="7380514" y="3312367"/>
            <a:ext cx="2052735" cy="66247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An AI-powered solution for classifying resumes. This project showcases contextual understanding and job role prediction using deep learning.</a:t>
            </a:r>
            <a:endParaRPr lang="en-I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13FBD5-2DB4-AF11-7EED-4AB1AC5A92B6}"/>
              </a:ext>
            </a:extLst>
          </p:cNvPr>
          <p:cNvSpPr/>
          <p:nvPr/>
        </p:nvSpPr>
        <p:spPr>
          <a:xfrm>
            <a:off x="10315075" y="5179964"/>
            <a:ext cx="1367833" cy="33704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Resume Screening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11715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6EBDE-A511-E80F-D5E9-0604A420E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01A3-3948-4147-3AEF-34640B41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9335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 of the Project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A740689-31FD-069D-E922-8F61CE531A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2759494"/>
              </p:ext>
            </p:extLst>
          </p:nvPr>
        </p:nvGraphicFramePr>
        <p:xfrm>
          <a:off x="993301" y="971636"/>
          <a:ext cx="10205397" cy="5370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761AD17-C959-DBEB-2E62-5FF118F4CB6B}"/>
              </a:ext>
            </a:extLst>
          </p:cNvPr>
          <p:cNvSpPr txBox="1"/>
          <p:nvPr/>
        </p:nvSpPr>
        <p:spPr>
          <a:xfrm>
            <a:off x="1249974" y="4175676"/>
            <a:ext cx="10194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103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suggestions to improve resume relevance for the predicted role.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40F37F-6A5D-72BF-8502-66AFAD7E8706}"/>
              </a:ext>
            </a:extLst>
          </p:cNvPr>
          <p:cNvSpPr txBox="1"/>
          <p:nvPr/>
        </p:nvSpPr>
        <p:spPr>
          <a:xfrm>
            <a:off x="993301" y="5392944"/>
            <a:ext cx="10194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595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immediate and meaningful replies for varied user queries.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03E802-E19C-EFCF-1DFF-FFF0ABDD435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543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kern="100" dirty="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99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BBAB5B-D58A-4D92-9D71-A1403B53DD82}"/>
              </a:ext>
            </a:extLst>
          </p:cNvPr>
          <p:cNvSpPr txBox="1"/>
          <p:nvPr/>
        </p:nvSpPr>
        <p:spPr>
          <a:xfrm>
            <a:off x="0" y="1297018"/>
            <a:ext cx="10683552" cy="4296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spcBef>
                <a:spcPts val="5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dataset with resumes labeled by job role</a:t>
            </a:r>
          </a:p>
          <a:p>
            <a:pPr marL="1200150" lvl="2" indent="-285750">
              <a:spcBef>
                <a:spcPts val="5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tokenized text using BERT tokenizer</a:t>
            </a:r>
          </a:p>
          <a:p>
            <a:pPr marL="1257300" lvl="2" indent="-342900">
              <a:spcBef>
                <a:spcPts val="5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into training and testing sets</a:t>
            </a:r>
          </a:p>
          <a:p>
            <a:pPr lvl="1">
              <a:spcBef>
                <a:spcPts val="5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marL="1257300" lvl="2" indent="-342900">
              <a:spcBef>
                <a:spcPts val="5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pre-trained BERT for multi-class classification</a:t>
            </a:r>
          </a:p>
          <a:p>
            <a:pPr marL="1257300" lvl="2" indent="-342900">
              <a:spcBef>
                <a:spcPts val="5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CrossEntropyLoss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Adam optimizer for training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5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Classification Pipeline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spcBef>
                <a:spcPts val="5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→ Tokenization → BERT prediction → Confidence scoring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50"/>
              </a:spcBef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Development</a:t>
            </a:r>
          </a:p>
          <a:p>
            <a:pPr marL="1257300" lvl="2" indent="-342900">
              <a:spcBef>
                <a:spcPts val="5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responsive web UI for resume upload and prediction display</a:t>
            </a:r>
          </a:p>
          <a:p>
            <a:pPr marL="1257300" lvl="2" indent="-342900">
              <a:spcBef>
                <a:spcPts val="5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extracted text, predicted role, confidence score, and suggestions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6149FCC-CB53-DC56-4155-D78E42485BE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543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Methodology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B9C899D-6D5B-50E6-05A7-C9952FFA9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FC01B5-9971-B0AA-1D51-9A88167DA936}"/>
              </a:ext>
            </a:extLst>
          </p:cNvPr>
          <p:cNvSpPr/>
          <p:nvPr/>
        </p:nvSpPr>
        <p:spPr>
          <a:xfrm>
            <a:off x="1181224" y="1683866"/>
            <a:ext cx="10599576" cy="106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98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E4494-66A1-2DF8-295E-99E792DFF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838" y="-1622408"/>
            <a:ext cx="10058400" cy="1450757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A776AA-1507-820F-15DC-0A93C31751B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543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8D8C97B-3787-113F-5D39-20C6035D2D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3696" y="1919689"/>
            <a:ext cx="1001829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NLP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Library: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Transformers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Model: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Handling: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Pandas,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 Text Extraction: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pdfplumber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A1638F-CC3B-F0F4-A9E6-B8F981EBCAD8}"/>
              </a:ext>
            </a:extLst>
          </p:cNvPr>
          <p:cNvSpPr/>
          <p:nvPr/>
        </p:nvSpPr>
        <p:spPr>
          <a:xfrm>
            <a:off x="796212" y="1324946"/>
            <a:ext cx="10599576" cy="447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5060BC-D678-89AE-63E6-22F4A725C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435" y="1919689"/>
            <a:ext cx="3384185" cy="365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6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35E0D-1D75-E91F-E75B-C4DDF801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22D123F-BD30-33B0-0C2F-04C280A62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65890" y="1413287"/>
            <a:ext cx="10058400" cy="1450757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EE291A1-5F87-E1F6-2C1E-72E2C47FC2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543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Application 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9FB1D9-3465-381C-7572-D5686501C957}"/>
              </a:ext>
            </a:extLst>
          </p:cNvPr>
          <p:cNvSpPr/>
          <p:nvPr/>
        </p:nvSpPr>
        <p:spPr>
          <a:xfrm>
            <a:off x="271091" y="1616242"/>
            <a:ext cx="3791830" cy="18127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upload a PDF resume 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5299E9-B7A1-2359-C44B-ADE13ADD9BCD}"/>
              </a:ext>
            </a:extLst>
          </p:cNvPr>
          <p:cNvSpPr/>
          <p:nvPr/>
        </p:nvSpPr>
        <p:spPr>
          <a:xfrm>
            <a:off x="4197096" y="1612418"/>
            <a:ext cx="3791830" cy="18127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extracts and 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preprocesses the resume text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1C5DE3-679B-A1DF-1B75-CF1144DAFB89}"/>
              </a:ext>
            </a:extLst>
          </p:cNvPr>
          <p:cNvSpPr/>
          <p:nvPr/>
        </p:nvSpPr>
        <p:spPr>
          <a:xfrm>
            <a:off x="271091" y="3990883"/>
            <a:ext cx="3791830" cy="18127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Displays: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role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to improve resume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alignment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3B8CE1-D0E9-E8F5-2EAC-4BE60B3316EA}"/>
              </a:ext>
            </a:extLst>
          </p:cNvPr>
          <p:cNvSpPr/>
          <p:nvPr/>
        </p:nvSpPr>
        <p:spPr>
          <a:xfrm>
            <a:off x="4198481" y="3990883"/>
            <a:ext cx="3791830" cy="18127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the most relevant job role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18A00D-0397-A078-F873-53A273DE4D17}"/>
              </a:ext>
            </a:extLst>
          </p:cNvPr>
          <p:cNvCxnSpPr>
            <a:cxnSpLocks/>
          </p:cNvCxnSpPr>
          <p:nvPr/>
        </p:nvCxnSpPr>
        <p:spPr>
          <a:xfrm>
            <a:off x="3801980" y="2401077"/>
            <a:ext cx="65772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47DD8E-47A7-2208-C6EB-5DEEAAE4F86D}"/>
              </a:ext>
            </a:extLst>
          </p:cNvPr>
          <p:cNvCxnSpPr/>
          <p:nvPr/>
        </p:nvCxnSpPr>
        <p:spPr>
          <a:xfrm>
            <a:off x="6144128" y="3284622"/>
            <a:ext cx="0" cy="8341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5FB55D-2373-B90B-2DAC-561192CE7B89}"/>
              </a:ext>
            </a:extLst>
          </p:cNvPr>
          <p:cNvCxnSpPr/>
          <p:nvPr/>
        </p:nvCxnSpPr>
        <p:spPr>
          <a:xfrm flipH="1">
            <a:off x="3754089" y="4788568"/>
            <a:ext cx="6176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4310E1B-5749-9140-D4B7-64B9026FA02A}"/>
              </a:ext>
            </a:extLst>
          </p:cNvPr>
          <p:cNvSpPr/>
          <p:nvPr/>
        </p:nvSpPr>
        <p:spPr>
          <a:xfrm flipV="1">
            <a:off x="7988971" y="1659072"/>
            <a:ext cx="3256545" cy="121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2F7F90-02E2-ED47-F659-64885CB51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565" y="1054359"/>
            <a:ext cx="4566706" cy="527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87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9AEAB-FE20-2AAA-57F9-768C4B717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70488-7CA8-FBDE-F9A4-A01FCC174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74DDCC1-0233-80AC-0E48-9B7E9A460F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543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3A9899D-E6E2-D726-0086-87B9FA86B8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6104" y="1340962"/>
            <a:ext cx="10836443" cy="4710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Metrics: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0.87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0.84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Score: 0.85</a:t>
            </a:r>
          </a:p>
          <a:p>
            <a:pPr lvl="1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86%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lower accuracy in overlapping roles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Developer vs. Software Developer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vs. Data Scientist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Distribution: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predictions mostly above 85% confidence. 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predictions in 50-70% confidence range.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trust in high-confidence outputs and flags uncertain cases for review.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68936E-BDD5-18CB-1428-B72F3D5651BA}"/>
              </a:ext>
            </a:extLst>
          </p:cNvPr>
          <p:cNvSpPr/>
          <p:nvPr/>
        </p:nvSpPr>
        <p:spPr>
          <a:xfrm>
            <a:off x="1036320" y="1737360"/>
            <a:ext cx="10599576" cy="72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8A8EAB-CEFC-2718-E617-9A1CAD627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828" y="1460266"/>
            <a:ext cx="4357719" cy="351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51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83BB-C893-90A5-8323-C2AC40CD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B1CB928-D7C7-B15D-9DBB-4966C69B98F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543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Challenges Faced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13E8BB-F818-BD33-55E8-806DFDE6B856}"/>
              </a:ext>
            </a:extLst>
          </p:cNvPr>
          <p:cNvSpPr/>
          <p:nvPr/>
        </p:nvSpPr>
        <p:spPr>
          <a:xfrm>
            <a:off x="796212" y="1324946"/>
            <a:ext cx="10599576" cy="447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34A54-AB6D-E7B3-D251-DE7E1B9E2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859" y="7829439"/>
            <a:ext cx="10058400" cy="4023360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CB7001-5D5E-AB5F-3DB0-CCD314070115}"/>
              </a:ext>
            </a:extLst>
          </p:cNvPr>
          <p:cNvSpPr/>
          <p:nvPr/>
        </p:nvSpPr>
        <p:spPr>
          <a:xfrm>
            <a:off x="796212" y="3120951"/>
            <a:ext cx="3208421" cy="121518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E6DBA9-73F3-7C72-D052-F362BC878301}"/>
              </a:ext>
            </a:extLst>
          </p:cNvPr>
          <p:cNvSpPr/>
          <p:nvPr/>
        </p:nvSpPr>
        <p:spPr>
          <a:xfrm>
            <a:off x="796211" y="4626548"/>
            <a:ext cx="5716884" cy="121518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F2FA517-BC98-5270-3317-335CCBAE94D0}"/>
              </a:ext>
            </a:extLst>
          </p:cNvPr>
          <p:cNvSpPr/>
          <p:nvPr/>
        </p:nvSpPr>
        <p:spPr>
          <a:xfrm>
            <a:off x="760920" y="1615354"/>
            <a:ext cx="1925052" cy="121518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737E47-F5F9-9208-0A18-EFFDCC51DF93}"/>
              </a:ext>
            </a:extLst>
          </p:cNvPr>
          <p:cNvCxnSpPr>
            <a:cxnSpLocks/>
          </p:cNvCxnSpPr>
          <p:nvPr/>
        </p:nvCxnSpPr>
        <p:spPr>
          <a:xfrm>
            <a:off x="2903621" y="2718249"/>
            <a:ext cx="82520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1AC502-0502-C3DF-14A2-638468D95B25}"/>
              </a:ext>
            </a:extLst>
          </p:cNvPr>
          <p:cNvCxnSpPr/>
          <p:nvPr/>
        </p:nvCxnSpPr>
        <p:spPr>
          <a:xfrm>
            <a:off x="4315326" y="4251157"/>
            <a:ext cx="6840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2F50630-38D2-874D-7DDC-2BA9B5A04BFC}"/>
              </a:ext>
            </a:extLst>
          </p:cNvPr>
          <p:cNvSpPr txBox="1"/>
          <p:nvPr/>
        </p:nvSpPr>
        <p:spPr>
          <a:xfrm>
            <a:off x="3090233" y="1930995"/>
            <a:ext cx="7661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Inaccurate labeling due to keyword-based tagging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7EB3E8-6582-18EB-163D-C32C6309AA03}"/>
              </a:ext>
            </a:extLst>
          </p:cNvPr>
          <p:cNvSpPr txBox="1"/>
          <p:nvPr/>
        </p:nvSpPr>
        <p:spPr>
          <a:xfrm>
            <a:off x="4519060" y="3419504"/>
            <a:ext cx="6043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large resume text efficiently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2F378B-6515-EB9E-0461-5992F9BC423C}"/>
              </a:ext>
            </a:extLst>
          </p:cNvPr>
          <p:cNvSpPr txBox="1"/>
          <p:nvPr/>
        </p:nvSpPr>
        <p:spPr>
          <a:xfrm>
            <a:off x="6811999" y="4968013"/>
            <a:ext cx="5716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dataset across job roles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991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1F7DC-64F1-97CD-E3AE-B97F9933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72DF-F74E-64F6-C4C3-99685EE8B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5817EC-E972-1039-E3FA-C3A2355B910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543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Future Enhancements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B87ED66-A9ED-9F4A-71CF-1C4A182DD3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17518" y="8245278"/>
            <a:ext cx="103327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dirty="0"/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D16DDC-78D4-DBF1-A96D-E31D3A5088C9}"/>
              </a:ext>
            </a:extLst>
          </p:cNvPr>
          <p:cNvSpPr/>
          <p:nvPr/>
        </p:nvSpPr>
        <p:spPr>
          <a:xfrm>
            <a:off x="796212" y="1324946"/>
            <a:ext cx="10599576" cy="447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48B7F1A3-00A7-B0E0-06F4-9B2C18DE8ED6}"/>
              </a:ext>
            </a:extLst>
          </p:cNvPr>
          <p:cNvSpPr/>
          <p:nvPr/>
        </p:nvSpPr>
        <p:spPr>
          <a:xfrm>
            <a:off x="556104" y="1635721"/>
            <a:ext cx="1305304" cy="107482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1.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A9A4F952-3306-1A77-38B8-257A74D4124A}"/>
              </a:ext>
            </a:extLst>
          </p:cNvPr>
          <p:cNvSpPr/>
          <p:nvPr/>
        </p:nvSpPr>
        <p:spPr>
          <a:xfrm>
            <a:off x="556104" y="3160294"/>
            <a:ext cx="1305304" cy="107482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2.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F8CCDFDA-53B0-CE84-06B1-08453BCD378E}"/>
              </a:ext>
            </a:extLst>
          </p:cNvPr>
          <p:cNvSpPr/>
          <p:nvPr/>
        </p:nvSpPr>
        <p:spPr>
          <a:xfrm>
            <a:off x="556104" y="4684868"/>
            <a:ext cx="1305304" cy="107482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2313DF-D1DB-45F9-4A6D-2FBEB5E8D51F}"/>
              </a:ext>
            </a:extLst>
          </p:cNvPr>
          <p:cNvSpPr/>
          <p:nvPr/>
        </p:nvSpPr>
        <p:spPr>
          <a:xfrm>
            <a:off x="2336254" y="3473114"/>
            <a:ext cx="9059534" cy="7218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HR software.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A2608C-C422-255A-1D3A-08E59AC45579}"/>
              </a:ext>
            </a:extLst>
          </p:cNvPr>
          <p:cNvSpPr/>
          <p:nvPr/>
        </p:nvSpPr>
        <p:spPr>
          <a:xfrm>
            <a:off x="2336254" y="4990186"/>
            <a:ext cx="9059534" cy="7218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Resume Ranking and Recommendation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41842-D268-56B4-E530-7AF4C313D803}"/>
              </a:ext>
            </a:extLst>
          </p:cNvPr>
          <p:cNvSpPr/>
          <p:nvPr/>
        </p:nvSpPr>
        <p:spPr>
          <a:xfrm>
            <a:off x="2352296" y="1960010"/>
            <a:ext cx="9059534" cy="7218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to more job roles and larger datasets.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07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3B91-9C7F-42AB-92B3-412800EFA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60A394B-4A14-E7C7-B04D-E043001D421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543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Conclusion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7E28C3C-FF99-1893-9BBD-A38CD21E37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778" y="1737360"/>
            <a:ext cx="10836443" cy="2569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/>
              <a:t>  This project successfully built an AI-powered resume screening system using BERT and </a:t>
            </a:r>
            <a:r>
              <a:rPr lang="en-US" dirty="0" err="1"/>
              <a:t>Streamlit</a:t>
            </a:r>
            <a:r>
              <a:rPr lang="en-US" dirty="0"/>
              <a:t>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delivers real-time predictions, confidence scores, and actionable feedback, making it highly practical for recruiters and job seekers.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modular design ensures the solution is scalable and ready for future integration into HR systems and job portals.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With improvements in data quality, resume parsing, and multi-language support, this system has the potential to become a complete hiring assistant.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626737-96A2-6953-6522-5CAAE7B7FA95}"/>
              </a:ext>
            </a:extLst>
          </p:cNvPr>
          <p:cNvSpPr/>
          <p:nvPr/>
        </p:nvSpPr>
        <p:spPr>
          <a:xfrm>
            <a:off x="796212" y="1324946"/>
            <a:ext cx="10599576" cy="447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044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65561C-9484-4563-998E-57C39B59758D}"/>
              </a:ext>
            </a:extLst>
          </p:cNvPr>
          <p:cNvSpPr/>
          <p:nvPr/>
        </p:nvSpPr>
        <p:spPr>
          <a:xfrm>
            <a:off x="2107948" y="2384381"/>
            <a:ext cx="783656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CA60B1-9A55-68E8-67A2-ADBC6A31BE61}"/>
              </a:ext>
            </a:extLst>
          </p:cNvPr>
          <p:cNvSpPr/>
          <p:nvPr/>
        </p:nvSpPr>
        <p:spPr>
          <a:xfrm>
            <a:off x="792324" y="1527875"/>
            <a:ext cx="10599576" cy="447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8188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1268</TotalTime>
  <Words>585</Words>
  <Application>Microsoft Office PowerPoint</Application>
  <PresentationFormat>Widescreen</PresentationFormat>
  <Paragraphs>109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Times New Roman</vt:lpstr>
      <vt:lpstr>Wingdings</vt:lpstr>
      <vt:lpstr>Retrospect</vt:lpstr>
      <vt:lpstr>Office Theme</vt:lpstr>
      <vt:lpstr>Introduction to AI(AI101B) Even Semester Session 2024-25</vt:lpstr>
      <vt:lpstr> </vt:lpstr>
      <vt:lpstr>Objective of the Project</vt:lpstr>
      <vt:lpstr> </vt:lpstr>
      <vt:lpstr> </vt:lpstr>
      <vt:lpstr> </vt:lpstr>
      <vt:lpstr> </vt:lpstr>
      <vt:lpstr> </vt:lpstr>
      <vt:lpstr> 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Project-I (K24MCA18P) Odd Semester Session 2024-25</dc:title>
  <dc:creator>Apoorv Jain</dc:creator>
  <cp:lastModifiedBy>Gargi Singh</cp:lastModifiedBy>
  <cp:revision>27</cp:revision>
  <dcterms:created xsi:type="dcterms:W3CDTF">2024-09-12T08:34:15Z</dcterms:created>
  <dcterms:modified xsi:type="dcterms:W3CDTF">2025-05-26T17:13:34Z</dcterms:modified>
</cp:coreProperties>
</file>