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Roboto Mono Medium"/>
      <p:regular r:id="rId15"/>
    </p:embeddedFont>
    <p:embeddedFont>
      <p:font typeface="Roboto Mono Medium"/>
      <p:regular r:id="rId16"/>
    </p:embeddedFont>
    <p:embeddedFont>
      <p:font typeface="Roboto Mono Medium"/>
      <p:regular r:id="rId17"/>
    </p:embeddedFont>
    <p:embeddedFont>
      <p:font typeface="Roboto Mono Medium"/>
      <p:regular r:id="rId18"/>
    </p:embeddedFont>
    <p:embeddedFont>
      <p:font typeface="Roboto"/>
      <p:regular r:id="rId19"/>
    </p:embeddedFont>
    <p:embeddedFont>
      <p:font typeface="Roboto"/>
      <p:regular r:id="rId20"/>
    </p:embeddedFont>
    <p:embeddedFont>
      <p:font typeface="Roboto"/>
      <p:regular r:id="rId21"/>
    </p:embeddedFont>
    <p:embeddedFont>
      <p:font typeface="Roboto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082046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Predicting Heart Disease: A Data-Driven Approach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54854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Cardiovascular disease causes 17.9 million deaths yearly worldwide.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516659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Early prediction is vital for prevention and effective treatment.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578465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science offers powerful tools for assessing heart disease risk.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173022"/>
            <a:ext cx="1020722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Understanding the Risk Factors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221962"/>
            <a:ext cx="4196358" cy="1669852"/>
          </a:xfrm>
          <a:prstGeom prst="roundRect">
            <a:avLst>
              <a:gd name="adj" fmla="val 2038"/>
            </a:avLst>
          </a:prstGeom>
          <a:solidFill>
            <a:srgbClr val="404040"/>
          </a:solidFill>
          <a:ln/>
        </p:spPr>
      </p:sp>
      <p:sp>
        <p:nvSpPr>
          <p:cNvPr id="5" name="Text 2"/>
          <p:cNvSpPr/>
          <p:nvPr/>
        </p:nvSpPr>
        <p:spPr>
          <a:xfrm>
            <a:off x="1020604" y="54487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Modifiable Risks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5939195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Smoking, obesity, hypertension, high cholesterol, diabetes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16962" y="5221962"/>
            <a:ext cx="4196358" cy="1669852"/>
          </a:xfrm>
          <a:prstGeom prst="roundRect">
            <a:avLst>
              <a:gd name="adj" fmla="val 2038"/>
            </a:avLst>
          </a:prstGeom>
          <a:solidFill>
            <a:srgbClr val="404040"/>
          </a:solidFill>
          <a:ln/>
        </p:spPr>
      </p:sp>
      <p:sp>
        <p:nvSpPr>
          <p:cNvPr id="8" name="Text 5"/>
          <p:cNvSpPr/>
          <p:nvPr/>
        </p:nvSpPr>
        <p:spPr>
          <a:xfrm>
            <a:off x="5443776" y="5448776"/>
            <a:ext cx="340102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Non-Modifiable Risks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43776" y="5939195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Age, sex, family history, genetic factors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9640133" y="5221962"/>
            <a:ext cx="4196358" cy="1669852"/>
          </a:xfrm>
          <a:prstGeom prst="roundRect">
            <a:avLst>
              <a:gd name="adj" fmla="val 2038"/>
            </a:avLst>
          </a:prstGeom>
          <a:solidFill>
            <a:srgbClr val="404040"/>
          </a:solidFill>
          <a:ln/>
        </p:spPr>
      </p:sp>
      <p:sp>
        <p:nvSpPr>
          <p:cNvPr id="11" name="Text 8"/>
          <p:cNvSpPr/>
          <p:nvPr/>
        </p:nvSpPr>
        <p:spPr>
          <a:xfrm>
            <a:off x="9866948" y="54487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Financial Impact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866948" y="5939195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CDC reports $216 billion spent on heart disease in 2018.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1926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Data Collection and Preparation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47698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04040"/>
          </a:solidFill>
          <a:ln/>
        </p:spPr>
      </p:sp>
      <p:sp>
        <p:nvSpPr>
          <p:cNvPr id="5" name="Text 2"/>
          <p:cNvSpPr/>
          <p:nvPr/>
        </p:nvSpPr>
        <p:spPr>
          <a:xfrm>
            <a:off x="1530906" y="35548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Key Datasets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4045268"/>
            <a:ext cx="28994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Framingham Heart Study, CDC, WHO data sources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713803" y="347698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04040"/>
          </a:solidFill>
          <a:ln/>
        </p:spPr>
      </p:sp>
      <p:sp>
        <p:nvSpPr>
          <p:cNvPr id="8" name="Text 5"/>
          <p:cNvSpPr/>
          <p:nvPr/>
        </p:nvSpPr>
        <p:spPr>
          <a:xfrm>
            <a:off x="5450919" y="3554849"/>
            <a:ext cx="289941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Important Features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50919" y="4399598"/>
            <a:ext cx="28994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Age, BMI, blood pressure, cholesterol, smoking status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579031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04040"/>
          </a:solidFill>
          <a:ln/>
        </p:spPr>
      </p:sp>
      <p:sp>
        <p:nvSpPr>
          <p:cNvPr id="11" name="Text 8"/>
          <p:cNvSpPr/>
          <p:nvPr/>
        </p:nvSpPr>
        <p:spPr>
          <a:xfrm>
            <a:off x="1530906" y="56568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Data Challenges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530906" y="6147316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Cleaning, transforming, handling missing or inaccurate data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62795"/>
            <a:ext cx="782562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Machine Learning Models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38550"/>
            <a:ext cx="284559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Logistic Regression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74024"/>
            <a:ext cx="284559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Simple, interpretable baseline model for classification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4200406" y="36385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Random Forest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200406" y="4219694"/>
            <a:ext cx="284559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Ensemble method, handles complexity and feature importance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607022" y="3638550"/>
            <a:ext cx="2845594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Gradient Boosting Machines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07022" y="4928354"/>
            <a:ext cx="284559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accuracy using models like XGBoost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1013638" y="36385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Neural Networks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013638" y="4219694"/>
            <a:ext cx="284559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Deep learning with potential for large dataset performance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7561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Model Building and Training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833330"/>
            <a:ext cx="170021" cy="853321"/>
          </a:xfrm>
          <a:prstGeom prst="roundRect">
            <a:avLst>
              <a:gd name="adj" fmla="val 20012"/>
            </a:avLst>
          </a:prstGeom>
          <a:solidFill>
            <a:srgbClr val="404040"/>
          </a:solidFill>
          <a:ln/>
        </p:spPr>
      </p:sp>
      <p:sp>
        <p:nvSpPr>
          <p:cNvPr id="5" name="Text 2"/>
          <p:cNvSpPr/>
          <p:nvPr/>
        </p:nvSpPr>
        <p:spPr>
          <a:xfrm>
            <a:off x="6790373" y="28333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Data Split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790373" y="3323749"/>
            <a:ext cx="704623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Training (70%) and testing (30%) datasets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20351" y="3913465"/>
            <a:ext cx="170021" cy="853321"/>
          </a:xfrm>
          <a:prstGeom prst="roundRect">
            <a:avLst>
              <a:gd name="adj" fmla="val 20012"/>
            </a:avLst>
          </a:prstGeom>
          <a:solidFill>
            <a:srgbClr val="404040"/>
          </a:solidFill>
          <a:ln/>
        </p:spPr>
      </p:sp>
      <p:sp>
        <p:nvSpPr>
          <p:cNvPr id="8" name="Text 5"/>
          <p:cNvSpPr/>
          <p:nvPr/>
        </p:nvSpPr>
        <p:spPr>
          <a:xfrm>
            <a:off x="7130534" y="3913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Cross-Validation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130534" y="4403884"/>
            <a:ext cx="6706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Minimizes overfitting through repeated sampling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960632" y="4993600"/>
            <a:ext cx="170021" cy="853321"/>
          </a:xfrm>
          <a:prstGeom prst="roundRect">
            <a:avLst>
              <a:gd name="adj" fmla="val 20012"/>
            </a:avLst>
          </a:prstGeom>
          <a:solidFill>
            <a:srgbClr val="404040"/>
          </a:solidFill>
          <a:ln/>
        </p:spPr>
      </p:sp>
      <p:sp>
        <p:nvSpPr>
          <p:cNvPr id="11" name="Text 8"/>
          <p:cNvSpPr/>
          <p:nvPr/>
        </p:nvSpPr>
        <p:spPr>
          <a:xfrm>
            <a:off x="7470815" y="4993600"/>
            <a:ext cx="357104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Hyperparameter Tuning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470815" y="5484019"/>
            <a:ext cx="63657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Optimizes algorithm performance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300913" y="6073735"/>
            <a:ext cx="170021" cy="853321"/>
          </a:xfrm>
          <a:prstGeom prst="roundRect">
            <a:avLst>
              <a:gd name="adj" fmla="val 20012"/>
            </a:avLst>
          </a:prstGeom>
          <a:solidFill>
            <a:srgbClr val="404040"/>
          </a:solidFill>
          <a:ln/>
        </p:spPr>
      </p:sp>
      <p:sp>
        <p:nvSpPr>
          <p:cNvPr id="14" name="Text 11"/>
          <p:cNvSpPr/>
          <p:nvPr/>
        </p:nvSpPr>
        <p:spPr>
          <a:xfrm>
            <a:off x="7811095" y="6073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Regularization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811095" y="6564154"/>
            <a:ext cx="60255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Prevents model from fitting noise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842028"/>
            <a:ext cx="952678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Model Evaluation and Metrics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4930616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87579" y="5025628"/>
            <a:ext cx="225421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Accuracy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1587579" y="5516047"/>
            <a:ext cx="22542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Overall correct predictions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5278" y="4930616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919067" y="5025628"/>
            <a:ext cx="225432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Precision &amp; Recall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4919067" y="5870377"/>
            <a:ext cx="22543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Balance true positives and false alarms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884" y="4930616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250674" y="5025628"/>
            <a:ext cx="22543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ROC &amp; AUC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8250674" y="5516047"/>
            <a:ext cx="22543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Measure trade-off performance visually</a:t>
            </a:r>
            <a:endParaRPr lang="en-US" sz="1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8491" y="4930616"/>
            <a:ext cx="566976" cy="56697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582281" y="5025628"/>
            <a:ext cx="22543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Sensitivity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11582281" y="5516047"/>
            <a:ext cx="225432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true positive rate to catch at-risk patients</a:t>
            </a:r>
            <a:endParaRPr lang="en-US" sz="1750" dirty="0"/>
          </a:p>
        </p:txBody>
      </p:sp>
      <p:sp>
        <p:nvSpPr>
          <p:cNvPr id="16" name="Text 9"/>
          <p:cNvSpPr/>
          <p:nvPr/>
        </p:nvSpPr>
        <p:spPr>
          <a:xfrm>
            <a:off x="793790" y="685990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Example: 90% accuracy with 85% sensitivity and 92% specificity.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360902"/>
            <a:ext cx="918650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Results and Interpretations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40984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04040"/>
          </a:solidFill>
          <a:ln/>
        </p:spPr>
      </p:sp>
      <p:sp>
        <p:nvSpPr>
          <p:cNvPr id="5" name="Text 2"/>
          <p:cNvSpPr/>
          <p:nvPr/>
        </p:nvSpPr>
        <p:spPr>
          <a:xfrm>
            <a:off x="1530906" y="54877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Top Predictors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5978128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cholesterol, hypertension, smoking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35893" y="540984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04040"/>
          </a:solidFill>
          <a:ln/>
        </p:spPr>
      </p:sp>
      <p:sp>
        <p:nvSpPr>
          <p:cNvPr id="8" name="Text 5"/>
          <p:cNvSpPr/>
          <p:nvPr/>
        </p:nvSpPr>
        <p:spPr>
          <a:xfrm>
            <a:off x="5973008" y="5487710"/>
            <a:ext cx="306097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Feature Importance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973008" y="5978128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Identifies influential factors for risk assessment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9677995" y="540984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04040"/>
          </a:solidFill>
          <a:ln/>
        </p:spPr>
      </p:sp>
      <p:sp>
        <p:nvSpPr>
          <p:cNvPr id="11" name="Text 8"/>
          <p:cNvSpPr/>
          <p:nvPr/>
        </p:nvSpPr>
        <p:spPr>
          <a:xfrm>
            <a:off x="10415111" y="54877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Insights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415111" y="5978128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aids healthcare and patient decision-making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42023"/>
            <a:ext cx="1088778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Conclusion and Future Directions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857256" y="25524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Promises of ML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042880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Improves early heart disease prediction accuracy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2653" y="2104430"/>
            <a:ext cx="4564975" cy="45649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26731" y="2867501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26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9937790" y="25524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Diverse Data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937790" y="3042880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Integrate genetics, lifestyle, and environment data</a:t>
            </a:r>
            <a:endParaRPr lang="en-US" sz="17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2653" y="2104430"/>
            <a:ext cx="4564975" cy="45649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452604" y="3256002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26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7"/>
          <p:cNvSpPr/>
          <p:nvPr/>
        </p:nvSpPr>
        <p:spPr>
          <a:xfrm>
            <a:off x="9937790" y="51864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Personalization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9937790" y="5676900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Tailor risk tools to individual profiles</a:t>
            </a:r>
            <a:endParaRPr lang="en-US" sz="17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104430"/>
            <a:ext cx="4564975" cy="45649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64103" y="5481876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26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5" name="Text 10"/>
          <p:cNvSpPr/>
          <p:nvPr/>
        </p:nvSpPr>
        <p:spPr>
          <a:xfrm>
            <a:off x="1801654" y="5005030"/>
            <a:ext cx="28908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Continuous Update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93790" y="5495449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Refine models with ongoing data monitoring</a:t>
            </a:r>
            <a:endParaRPr lang="en-US" sz="17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653" y="2104430"/>
            <a:ext cx="4564975" cy="456497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838230" y="5093375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26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4</a:t>
            </a:r>
            <a:endParaRPr lang="en-US" sz="2650" dirty="0"/>
          </a:p>
        </p:txBody>
      </p:sp>
      <p:sp>
        <p:nvSpPr>
          <p:cNvPr id="19" name="Text 13"/>
          <p:cNvSpPr/>
          <p:nvPr/>
        </p:nvSpPr>
        <p:spPr>
          <a:xfrm>
            <a:off x="793790" y="692455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Future focus is on personalized, real-time, and accurate predictions.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2025-05-27T07:23:28Z</dcterms:created>
  <dcterms:modified xsi:type="dcterms:W3CDTF">2025-05-27T07:23:28Z</dcterms:modified>
</cp:coreProperties>
</file>