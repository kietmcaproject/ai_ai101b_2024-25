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66" r:id="rId2"/>
    <p:sldId id="256" r:id="rId3"/>
    <p:sldId id="257" r:id="rId4"/>
    <p:sldId id="258" r:id="rId5"/>
    <p:sldId id="259" r:id="rId6"/>
    <p:sldId id="260" r:id="rId7"/>
    <p:sldId id="261" r:id="rId8"/>
    <p:sldId id="262" r:id="rId9"/>
    <p:sldId id="263" r:id="rId10"/>
    <p:sldId id="264" r:id="rId11"/>
    <p:sldId id="265" r:id="rId12"/>
  </p:sldIdLst>
  <p:sldSz cx="14630400" cy="8229600"/>
  <p:notesSz cx="8229600" cy="14630400"/>
  <p:embeddedFontLst>
    <p:embeddedFont>
      <p:font typeface="Algerian" panose="04020705040A02060702" pitchFamily="82" charset="0"/>
      <p:regular r:id="rId14"/>
    </p:embeddedFont>
    <p:embeddedFont>
      <p:font typeface="Montserrat" panose="00000500000000000000" pitchFamily="2"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45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16490E-82D0-14C0-8958-92FD1FC1DF7E}"/>
              </a:ext>
            </a:extLst>
          </p:cNvPr>
          <p:cNvPicPr>
            <a:picLocks noChangeAspect="1"/>
          </p:cNvPicPr>
          <p:nvPr/>
        </p:nvPicPr>
        <p:blipFill>
          <a:blip r:embed="rId2"/>
          <a:stretch>
            <a:fillRect/>
          </a:stretch>
        </p:blipFill>
        <p:spPr>
          <a:xfrm>
            <a:off x="1287836" y="467442"/>
            <a:ext cx="12283198" cy="2242304"/>
          </a:xfrm>
          <a:prstGeom prst="rect">
            <a:avLst/>
          </a:prstGeom>
        </p:spPr>
      </p:pic>
      <p:sp>
        <p:nvSpPr>
          <p:cNvPr id="4" name="TextBox 3">
            <a:extLst>
              <a:ext uri="{FF2B5EF4-FFF2-40B4-BE49-F238E27FC236}">
                <a16:creationId xmlns:a16="http://schemas.microsoft.com/office/drawing/2014/main" id="{3313ED0C-3C2F-C42A-F10C-84912D57236B}"/>
              </a:ext>
            </a:extLst>
          </p:cNvPr>
          <p:cNvSpPr txBox="1"/>
          <p:nvPr/>
        </p:nvSpPr>
        <p:spPr>
          <a:xfrm>
            <a:off x="10582508" y="6661075"/>
            <a:ext cx="3523785" cy="1323439"/>
          </a:xfrm>
          <a:prstGeom prst="rect">
            <a:avLst/>
          </a:prstGeom>
          <a:noFill/>
        </p:spPr>
        <p:txBody>
          <a:bodyPr wrap="square" rtlCol="0">
            <a:spAutoFit/>
          </a:bodyPr>
          <a:lstStyle/>
          <a:p>
            <a:r>
              <a:rPr lang="en-IN" sz="2000" b="1" dirty="0">
                <a:solidFill>
                  <a:srgbClr val="C00000"/>
                </a:solidFill>
              </a:rPr>
              <a:t>Project Supervisor :-</a:t>
            </a:r>
          </a:p>
          <a:p>
            <a:r>
              <a:rPr lang="en-IN" sz="2000" b="1" dirty="0">
                <a:solidFill>
                  <a:srgbClr val="C00000"/>
                </a:solidFill>
              </a:rPr>
              <a:t>Mr. Apoorv Jain</a:t>
            </a:r>
          </a:p>
          <a:p>
            <a:r>
              <a:rPr lang="en-IN" sz="2000" b="1" dirty="0">
                <a:solidFill>
                  <a:srgbClr val="C00000"/>
                </a:solidFill>
              </a:rPr>
              <a:t>Assistant </a:t>
            </a:r>
            <a:r>
              <a:rPr lang="en-IN" sz="2000" b="1" dirty="0">
                <a:solidFill>
                  <a:srgbClr val="C00000"/>
                </a:solidFill>
                <a:latin typeface="Times New Roman" panose="02020603050405020304" pitchFamily="18" charset="0"/>
                <a:cs typeface="Times New Roman" panose="02020603050405020304" pitchFamily="18" charset="0"/>
              </a:rPr>
              <a:t>Professor</a:t>
            </a:r>
            <a:r>
              <a:rPr lang="en-IN" sz="2000" b="1" dirty="0">
                <a:solidFill>
                  <a:srgbClr val="C00000"/>
                </a:solidFill>
              </a:rPr>
              <a:t>, KIET Group Of Institutions.</a:t>
            </a:r>
          </a:p>
        </p:txBody>
      </p:sp>
      <p:sp>
        <p:nvSpPr>
          <p:cNvPr id="5" name="TextBox 4">
            <a:extLst>
              <a:ext uri="{FF2B5EF4-FFF2-40B4-BE49-F238E27FC236}">
                <a16:creationId xmlns:a16="http://schemas.microsoft.com/office/drawing/2014/main" id="{57AD8EA4-DD4F-5074-E2DE-BE4422E8868F}"/>
              </a:ext>
            </a:extLst>
          </p:cNvPr>
          <p:cNvSpPr txBox="1"/>
          <p:nvPr/>
        </p:nvSpPr>
        <p:spPr>
          <a:xfrm>
            <a:off x="2670717" y="2816227"/>
            <a:ext cx="9288966" cy="1015663"/>
          </a:xfrm>
          <a:prstGeom prst="rect">
            <a:avLst/>
          </a:prstGeom>
          <a:noFill/>
        </p:spPr>
        <p:txBody>
          <a:bodyPr wrap="square" rtlCol="0">
            <a:spAutoFit/>
          </a:bodyPr>
          <a:lstStyle/>
          <a:p>
            <a:r>
              <a:rPr lang="en-IN" sz="6000" b="1" dirty="0">
                <a:solidFill>
                  <a:srgbClr val="00B050"/>
                </a:solidFill>
                <a:latin typeface="Algerian" panose="04020705040A02060702" pitchFamily="82" charset="0"/>
              </a:rPr>
              <a:t>        </a:t>
            </a:r>
            <a:r>
              <a:rPr lang="en-IN" sz="6000" b="1" dirty="0" err="1">
                <a:solidFill>
                  <a:srgbClr val="00B050"/>
                </a:solidFill>
                <a:latin typeface="Algerian" panose="04020705040A02060702" pitchFamily="82" charset="0"/>
              </a:rPr>
              <a:t>CyberLoop</a:t>
            </a:r>
            <a:endParaRPr lang="en-IN" sz="6000" b="1" dirty="0">
              <a:solidFill>
                <a:srgbClr val="00B050"/>
              </a:solidFill>
              <a:latin typeface="Algerian" panose="04020705040A02060702" pitchFamily="82" charset="0"/>
            </a:endParaRPr>
          </a:p>
        </p:txBody>
      </p:sp>
      <p:sp>
        <p:nvSpPr>
          <p:cNvPr id="6" name="TextBox 5">
            <a:extLst>
              <a:ext uri="{FF2B5EF4-FFF2-40B4-BE49-F238E27FC236}">
                <a16:creationId xmlns:a16="http://schemas.microsoft.com/office/drawing/2014/main" id="{02D077B7-F3A3-DF44-9917-1DE05715CB5B}"/>
              </a:ext>
            </a:extLst>
          </p:cNvPr>
          <p:cNvSpPr txBox="1"/>
          <p:nvPr/>
        </p:nvSpPr>
        <p:spPr>
          <a:xfrm>
            <a:off x="1505415" y="4114800"/>
            <a:ext cx="7493619" cy="2554545"/>
          </a:xfrm>
          <a:prstGeom prst="rect">
            <a:avLst/>
          </a:prstGeom>
          <a:noFill/>
        </p:spPr>
        <p:txBody>
          <a:bodyPr wrap="square" rtlCol="0">
            <a:spAutoFit/>
          </a:bodyPr>
          <a:lstStyle/>
          <a:p>
            <a:r>
              <a:rPr lang="en-IN" sz="3200" b="1" dirty="0">
                <a:solidFill>
                  <a:srgbClr val="002060"/>
                </a:solidFill>
              </a:rPr>
              <a:t>Group Members :-</a:t>
            </a:r>
          </a:p>
          <a:p>
            <a:r>
              <a:rPr lang="en-IN" sz="3200" b="1" dirty="0">
                <a:solidFill>
                  <a:srgbClr val="002060"/>
                </a:solidFill>
              </a:rPr>
              <a:t>DIVYAM RAJ                - 202410116100066</a:t>
            </a:r>
          </a:p>
          <a:p>
            <a:r>
              <a:rPr lang="en-IN" sz="3200" b="1" dirty="0">
                <a:solidFill>
                  <a:srgbClr val="002060"/>
                </a:solidFill>
              </a:rPr>
              <a:t>GAURAV CHAUHAN   - 202410116100073</a:t>
            </a:r>
          </a:p>
          <a:p>
            <a:r>
              <a:rPr lang="en-IN" sz="3200" b="1" dirty="0">
                <a:solidFill>
                  <a:srgbClr val="002060"/>
                </a:solidFill>
              </a:rPr>
              <a:t>GAURAV KUMAR        -202410116100074</a:t>
            </a:r>
          </a:p>
          <a:p>
            <a:r>
              <a:rPr lang="en-IN" sz="3200" b="1" dirty="0">
                <a:solidFill>
                  <a:srgbClr val="002060"/>
                </a:solidFill>
              </a:rPr>
              <a:t>HARSH SOLANKI         -202410116100087</a:t>
            </a:r>
          </a:p>
        </p:txBody>
      </p:sp>
    </p:spTree>
    <p:extLst>
      <p:ext uri="{BB962C8B-B14F-4D97-AF65-F5344CB8AC3E}">
        <p14:creationId xmlns:p14="http://schemas.microsoft.com/office/powerpoint/2010/main" val="1231585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0450" y="584002"/>
            <a:ext cx="7663101" cy="1391841"/>
          </a:xfrm>
          <a:prstGeom prst="rect">
            <a:avLst/>
          </a:prstGeom>
          <a:noFill/>
          <a:ln/>
        </p:spPr>
        <p:txBody>
          <a:bodyPr wrap="square" lIns="0" tIns="0" rIns="0" bIns="0" rtlCol="0" anchor="t"/>
          <a:lstStyle/>
          <a:p>
            <a:pPr marL="0" indent="0" algn="l">
              <a:lnSpc>
                <a:spcPts val="5450"/>
              </a:lnSpc>
              <a:buNone/>
            </a:pPr>
            <a:r>
              <a:rPr lang="en-US" sz="4350" b="1" dirty="0">
                <a:solidFill>
                  <a:srgbClr val="9998FF"/>
                </a:solidFill>
                <a:latin typeface="Barlow Bold" pitchFamily="34" charset="0"/>
                <a:ea typeface="Barlow Bold" pitchFamily="34" charset="-122"/>
                <a:cs typeface="Barlow Bold" pitchFamily="34" charset="-120"/>
              </a:rPr>
              <a:t>Multimodal Sentiment Analysis: Text + Image</a:t>
            </a:r>
            <a:endParaRPr lang="en-US" sz="4350" dirty="0"/>
          </a:p>
        </p:txBody>
      </p:sp>
      <p:sp>
        <p:nvSpPr>
          <p:cNvPr id="4" name="Text 1"/>
          <p:cNvSpPr/>
          <p:nvPr/>
        </p:nvSpPr>
        <p:spPr>
          <a:xfrm>
            <a:off x="740450" y="2293144"/>
            <a:ext cx="7663101" cy="338495"/>
          </a:xfrm>
          <a:prstGeom prst="rect">
            <a:avLst/>
          </a:prstGeom>
          <a:noFill/>
          <a:ln/>
        </p:spPr>
        <p:txBody>
          <a:bodyPr wrap="none" lIns="0" tIns="0" rIns="0" bIns="0" rtlCol="0" anchor="t"/>
          <a:lstStyle/>
          <a:p>
            <a:pPr marL="0" indent="0" algn="l">
              <a:lnSpc>
                <a:spcPts val="2650"/>
              </a:lnSpc>
              <a:buNone/>
            </a:pPr>
            <a:endParaRPr lang="en-US" sz="1650" dirty="0"/>
          </a:p>
        </p:txBody>
      </p:sp>
      <p:sp>
        <p:nvSpPr>
          <p:cNvPr id="5" name="Text 2"/>
          <p:cNvSpPr/>
          <p:nvPr/>
        </p:nvSpPr>
        <p:spPr>
          <a:xfrm>
            <a:off x="740450" y="2869644"/>
            <a:ext cx="7663101" cy="1015484"/>
          </a:xfrm>
          <a:prstGeom prst="rect">
            <a:avLst/>
          </a:prstGeom>
          <a:noFill/>
          <a:ln/>
        </p:spPr>
        <p:txBody>
          <a:bodyPr wrap="square" lIns="0" tIns="0" rIns="0" bIns="0" rtlCol="0" anchor="t"/>
          <a:lstStyle/>
          <a:p>
            <a:pPr marL="0" indent="0" algn="l">
              <a:lnSpc>
                <a:spcPts val="2650"/>
              </a:lnSpc>
              <a:buNone/>
            </a:pPr>
            <a:r>
              <a:rPr lang="en-US" sz="1650" b="1" dirty="0">
                <a:solidFill>
                  <a:srgbClr val="EEEFF5"/>
                </a:solidFill>
                <a:latin typeface="Montserrat" pitchFamily="34" charset="0"/>
                <a:ea typeface="Montserrat" pitchFamily="34" charset="-122"/>
                <a:cs typeface="Montserrat" pitchFamily="34" charset="-120"/>
              </a:rPr>
              <a:t>Multimodal Sentiment Analysis</a:t>
            </a:r>
            <a:r>
              <a:rPr lang="en-US" sz="1650" dirty="0">
                <a:solidFill>
                  <a:srgbClr val="EEEFF5"/>
                </a:solidFill>
                <a:latin typeface="Montserrat" pitchFamily="34" charset="0"/>
                <a:ea typeface="Montserrat" pitchFamily="34" charset="-122"/>
                <a:cs typeface="Montserrat" pitchFamily="34" charset="-120"/>
              </a:rPr>
              <a:t> is about </a:t>
            </a:r>
            <a:r>
              <a:rPr lang="en-US" sz="1650" b="1" dirty="0">
                <a:solidFill>
                  <a:srgbClr val="EEEFF5"/>
                </a:solidFill>
                <a:latin typeface="Montserrat" pitchFamily="34" charset="0"/>
                <a:ea typeface="Montserrat" pitchFamily="34" charset="-122"/>
                <a:cs typeface="Montserrat" pitchFamily="34" charset="-120"/>
              </a:rPr>
              <a:t>understanding people's emotions or opinions</a:t>
            </a:r>
            <a:r>
              <a:rPr lang="en-US" sz="1650" dirty="0">
                <a:solidFill>
                  <a:srgbClr val="EEEFF5"/>
                </a:solidFill>
                <a:latin typeface="Montserrat" pitchFamily="34" charset="0"/>
                <a:ea typeface="Montserrat" pitchFamily="34" charset="-122"/>
                <a:cs typeface="Montserrat" pitchFamily="34" charset="-120"/>
              </a:rPr>
              <a:t> by analyzing </a:t>
            </a:r>
            <a:r>
              <a:rPr lang="en-US" sz="1650" b="1" dirty="0">
                <a:solidFill>
                  <a:srgbClr val="EEEFF5"/>
                </a:solidFill>
                <a:latin typeface="Montserrat" pitchFamily="34" charset="0"/>
                <a:ea typeface="Montserrat" pitchFamily="34" charset="-122"/>
                <a:cs typeface="Montserrat" pitchFamily="34" charset="-120"/>
              </a:rPr>
              <a:t>multiple types of data</a:t>
            </a:r>
            <a:r>
              <a:rPr lang="en-US" sz="1650" dirty="0">
                <a:solidFill>
                  <a:srgbClr val="EEEFF5"/>
                </a:solidFill>
                <a:latin typeface="Montserrat" pitchFamily="34" charset="0"/>
                <a:ea typeface="Montserrat" pitchFamily="34" charset="-122"/>
                <a:cs typeface="Montserrat" pitchFamily="34" charset="-120"/>
              </a:rPr>
              <a:t> — usually </a:t>
            </a:r>
            <a:r>
              <a:rPr lang="en-US" sz="1650" b="1" dirty="0">
                <a:solidFill>
                  <a:srgbClr val="EEEFF5"/>
                </a:solidFill>
                <a:latin typeface="Montserrat" pitchFamily="34" charset="0"/>
                <a:ea typeface="Montserrat" pitchFamily="34" charset="-122"/>
                <a:cs typeface="Montserrat" pitchFamily="34" charset="-120"/>
              </a:rPr>
              <a:t>text and images together</a:t>
            </a:r>
            <a:r>
              <a:rPr lang="en-US" sz="1650" dirty="0">
                <a:solidFill>
                  <a:srgbClr val="EEEFF5"/>
                </a:solidFill>
                <a:latin typeface="Montserrat" pitchFamily="34" charset="0"/>
                <a:ea typeface="Montserrat" pitchFamily="34" charset="-122"/>
                <a:cs typeface="Montserrat" pitchFamily="34" charset="-120"/>
              </a:rPr>
              <a:t>.</a:t>
            </a:r>
            <a:endParaRPr lang="en-US" sz="1650" dirty="0"/>
          </a:p>
        </p:txBody>
      </p:sp>
      <p:sp>
        <p:nvSpPr>
          <p:cNvPr id="6" name="Text 3"/>
          <p:cNvSpPr/>
          <p:nvPr/>
        </p:nvSpPr>
        <p:spPr>
          <a:xfrm>
            <a:off x="740450" y="4123134"/>
            <a:ext cx="7663101" cy="1015484"/>
          </a:xfrm>
          <a:prstGeom prst="rect">
            <a:avLst/>
          </a:prstGeom>
          <a:noFill/>
          <a:ln/>
        </p:spPr>
        <p:txBody>
          <a:bodyPr wrap="square" lIns="0" tIns="0" rIns="0" bIns="0" rtlCol="0" anchor="t"/>
          <a:lstStyle/>
          <a:p>
            <a:pPr marL="0" indent="0" algn="l">
              <a:lnSpc>
                <a:spcPts val="2650"/>
              </a:lnSpc>
              <a:buNone/>
            </a:pPr>
            <a:r>
              <a:rPr lang="en-US" sz="1650" dirty="0">
                <a:solidFill>
                  <a:srgbClr val="EEEFF5"/>
                </a:solidFill>
                <a:latin typeface="Montserrat" pitchFamily="34" charset="0"/>
                <a:ea typeface="Montserrat" pitchFamily="34" charset="-122"/>
                <a:cs typeface="Montserrat" pitchFamily="34" charset="-120"/>
              </a:rPr>
              <a:t>Instead of just looking at </a:t>
            </a:r>
            <a:r>
              <a:rPr lang="en-US" sz="1650" b="1" dirty="0">
                <a:solidFill>
                  <a:srgbClr val="EEEFF5"/>
                </a:solidFill>
                <a:latin typeface="Montserrat" pitchFamily="34" charset="0"/>
                <a:ea typeface="Montserrat" pitchFamily="34" charset="-122"/>
                <a:cs typeface="Montserrat" pitchFamily="34" charset="-120"/>
              </a:rPr>
              <a:t>text</a:t>
            </a:r>
            <a:r>
              <a:rPr lang="en-US" sz="1650" dirty="0">
                <a:solidFill>
                  <a:srgbClr val="EEEFF5"/>
                </a:solidFill>
                <a:latin typeface="Montserrat" pitchFamily="34" charset="0"/>
                <a:ea typeface="Montserrat" pitchFamily="34" charset="-122"/>
                <a:cs typeface="Montserrat" pitchFamily="34" charset="-120"/>
              </a:rPr>
              <a:t> (like a tweet) or just an </a:t>
            </a:r>
            <a:r>
              <a:rPr lang="en-US" sz="1650" b="1" dirty="0">
                <a:solidFill>
                  <a:srgbClr val="EEEFF5"/>
                </a:solidFill>
                <a:latin typeface="Montserrat" pitchFamily="34" charset="0"/>
                <a:ea typeface="Montserrat" pitchFamily="34" charset="-122"/>
                <a:cs typeface="Montserrat" pitchFamily="34" charset="-120"/>
              </a:rPr>
              <a:t>image</a:t>
            </a:r>
            <a:r>
              <a:rPr lang="en-US" sz="1650" dirty="0">
                <a:solidFill>
                  <a:srgbClr val="EEEFF5"/>
                </a:solidFill>
                <a:latin typeface="Montserrat" pitchFamily="34" charset="0"/>
                <a:ea typeface="Montserrat" pitchFamily="34" charset="-122"/>
                <a:cs typeface="Montserrat" pitchFamily="34" charset="-120"/>
              </a:rPr>
              <a:t> (like a meme), this project </a:t>
            </a:r>
            <a:r>
              <a:rPr lang="en-US" sz="1650" b="1" dirty="0">
                <a:solidFill>
                  <a:srgbClr val="EEEFF5"/>
                </a:solidFill>
                <a:latin typeface="Montserrat" pitchFamily="34" charset="0"/>
                <a:ea typeface="Montserrat" pitchFamily="34" charset="-122"/>
                <a:cs typeface="Montserrat" pitchFamily="34" charset="-120"/>
              </a:rPr>
              <a:t>combines both</a:t>
            </a:r>
            <a:r>
              <a:rPr lang="en-US" sz="1650" dirty="0">
                <a:solidFill>
                  <a:srgbClr val="EEEFF5"/>
                </a:solidFill>
                <a:latin typeface="Montserrat" pitchFamily="34" charset="0"/>
                <a:ea typeface="Montserrat" pitchFamily="34" charset="-122"/>
                <a:cs typeface="Montserrat" pitchFamily="34" charset="-120"/>
              </a:rPr>
              <a:t> to understand the </a:t>
            </a:r>
            <a:r>
              <a:rPr lang="en-US" sz="1650" b="1" dirty="0">
                <a:solidFill>
                  <a:srgbClr val="EEEFF5"/>
                </a:solidFill>
                <a:latin typeface="Montserrat" pitchFamily="34" charset="0"/>
                <a:ea typeface="Montserrat" pitchFamily="34" charset="-122"/>
                <a:cs typeface="Montserrat" pitchFamily="34" charset="-120"/>
              </a:rPr>
              <a:t>sentiment</a:t>
            </a:r>
            <a:r>
              <a:rPr lang="en-US" sz="1650" dirty="0">
                <a:solidFill>
                  <a:srgbClr val="EEEFF5"/>
                </a:solidFill>
                <a:latin typeface="Montserrat" pitchFamily="34" charset="0"/>
                <a:ea typeface="Montserrat" pitchFamily="34" charset="-122"/>
                <a:cs typeface="Montserrat" pitchFamily="34" charset="-120"/>
              </a:rPr>
              <a:t> (positive, negative, or neutral).</a:t>
            </a:r>
            <a:endParaRPr lang="en-US" sz="1650" dirty="0"/>
          </a:p>
        </p:txBody>
      </p:sp>
      <p:sp>
        <p:nvSpPr>
          <p:cNvPr id="7" name="Text 4"/>
          <p:cNvSpPr/>
          <p:nvPr/>
        </p:nvSpPr>
        <p:spPr>
          <a:xfrm>
            <a:off x="740450" y="5376624"/>
            <a:ext cx="7663101" cy="338495"/>
          </a:xfrm>
          <a:prstGeom prst="rect">
            <a:avLst/>
          </a:prstGeom>
          <a:noFill/>
          <a:ln/>
        </p:spPr>
        <p:txBody>
          <a:bodyPr wrap="none" lIns="0" tIns="0" rIns="0" bIns="0" rtlCol="0" anchor="t"/>
          <a:lstStyle/>
          <a:p>
            <a:pPr marL="0" indent="0" algn="l">
              <a:lnSpc>
                <a:spcPts val="2650"/>
              </a:lnSpc>
              <a:buNone/>
            </a:pPr>
            <a:endParaRPr lang="en-US" sz="1650" dirty="0"/>
          </a:p>
        </p:txBody>
      </p:sp>
      <p:sp>
        <p:nvSpPr>
          <p:cNvPr id="8" name="Text 5"/>
          <p:cNvSpPr/>
          <p:nvPr/>
        </p:nvSpPr>
        <p:spPr>
          <a:xfrm>
            <a:off x="740450" y="5953125"/>
            <a:ext cx="7663101" cy="1692473"/>
          </a:xfrm>
          <a:prstGeom prst="rect">
            <a:avLst/>
          </a:prstGeom>
          <a:noFill/>
          <a:ln/>
        </p:spPr>
        <p:txBody>
          <a:bodyPr wrap="square" lIns="0" tIns="0" rIns="0" bIns="0" rtlCol="0" anchor="t"/>
          <a:lstStyle/>
          <a:p>
            <a:pPr marL="0" indent="0" algn="l">
              <a:lnSpc>
                <a:spcPts val="2650"/>
              </a:lnSpc>
              <a:buNone/>
            </a:pPr>
            <a:r>
              <a:rPr lang="en-US" sz="1650" dirty="0">
                <a:solidFill>
                  <a:srgbClr val="EEEFF5"/>
                </a:solidFill>
                <a:latin typeface="Montserrat" pitchFamily="34" charset="0"/>
                <a:ea typeface="Montserrat" pitchFamily="34" charset="-122"/>
                <a:cs typeface="Montserrat" pitchFamily="34" charset="-120"/>
              </a:rPr>
              <a:t>This presentation delves into the exciting field of multimodal sentiment analysis, focusing on how combining text and image data can lead to a deeper understanding of human emotions. We'll explore the methodologies, challenges, and compelling results of our recent AI project.</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543645"/>
            <a:ext cx="10037326"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What is Multimodal Sentiment Analysis?</a:t>
            </a:r>
            <a:endParaRPr lang="en-US" sz="4450" dirty="0"/>
          </a:p>
        </p:txBody>
      </p:sp>
      <p:sp>
        <p:nvSpPr>
          <p:cNvPr id="3" name="Text 1"/>
          <p:cNvSpPr/>
          <p:nvPr/>
        </p:nvSpPr>
        <p:spPr>
          <a:xfrm>
            <a:off x="758309" y="2797850"/>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9998FF"/>
                </a:solidFill>
                <a:latin typeface="Barlow Bold" pitchFamily="34" charset="0"/>
                <a:ea typeface="Barlow Bold" pitchFamily="34" charset="-122"/>
                <a:cs typeface="Barlow Bold" pitchFamily="34" charset="-120"/>
              </a:rPr>
              <a:t>Integrating Data</a:t>
            </a:r>
            <a:endParaRPr lang="en-US" sz="2200" dirty="0"/>
          </a:p>
        </p:txBody>
      </p:sp>
      <p:sp>
        <p:nvSpPr>
          <p:cNvPr id="4" name="Text 2"/>
          <p:cNvSpPr/>
          <p:nvPr/>
        </p:nvSpPr>
        <p:spPr>
          <a:xfrm>
            <a:off x="758309" y="3370659"/>
            <a:ext cx="4018359" cy="312039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Multimodal sentiment analysis is an advanced artificial intelligence technique that goes beyond traditional text-based approaches by incorporating visual information. It combines data from both text and images to form a more comprehensive understanding of expressed emotions.</a:t>
            </a:r>
            <a:endParaRPr lang="en-US" sz="1700" dirty="0"/>
          </a:p>
        </p:txBody>
      </p:sp>
      <p:pic>
        <p:nvPicPr>
          <p:cNvPr id="5" name="Image 0" descr="preencoded.png"/>
          <p:cNvPicPr>
            <a:picLocks noChangeAspect="1"/>
          </p:cNvPicPr>
          <p:nvPr/>
        </p:nvPicPr>
        <p:blipFill>
          <a:blip r:embed="rId3"/>
          <a:stretch>
            <a:fillRect/>
          </a:stretch>
        </p:blipFill>
        <p:spPr>
          <a:xfrm>
            <a:off x="5312926" y="2824996"/>
            <a:ext cx="4018359" cy="2749391"/>
          </a:xfrm>
          <a:prstGeom prst="rect">
            <a:avLst/>
          </a:prstGeom>
        </p:spPr>
      </p:pic>
      <p:sp>
        <p:nvSpPr>
          <p:cNvPr id="6" name="Text 3"/>
          <p:cNvSpPr/>
          <p:nvPr/>
        </p:nvSpPr>
        <p:spPr>
          <a:xfrm>
            <a:off x="9867543" y="2797850"/>
            <a:ext cx="2877145" cy="356235"/>
          </a:xfrm>
          <a:prstGeom prst="rect">
            <a:avLst/>
          </a:prstGeom>
          <a:noFill/>
          <a:ln/>
        </p:spPr>
        <p:txBody>
          <a:bodyPr wrap="none" lIns="0" tIns="0" rIns="0" bIns="0" rtlCol="0" anchor="t"/>
          <a:lstStyle/>
          <a:p>
            <a:pPr marL="0" indent="0" algn="l">
              <a:lnSpc>
                <a:spcPts val="2800"/>
              </a:lnSpc>
              <a:buNone/>
            </a:pPr>
            <a:r>
              <a:rPr lang="en-US" sz="2200" b="1" dirty="0">
                <a:solidFill>
                  <a:srgbClr val="9998FF"/>
                </a:solidFill>
                <a:latin typeface="Barlow Bold" pitchFamily="34" charset="0"/>
                <a:ea typeface="Barlow Bold" pitchFamily="34" charset="-122"/>
                <a:cs typeface="Barlow Bold" pitchFamily="34" charset="-120"/>
              </a:rPr>
              <a:t>Holistic Understanding</a:t>
            </a:r>
            <a:endParaRPr lang="en-US" sz="2200" dirty="0"/>
          </a:p>
        </p:txBody>
      </p:sp>
      <p:sp>
        <p:nvSpPr>
          <p:cNvPr id="7" name="Text 4"/>
          <p:cNvSpPr/>
          <p:nvPr/>
        </p:nvSpPr>
        <p:spPr>
          <a:xfrm>
            <a:off x="9867543" y="3370659"/>
            <a:ext cx="4018359" cy="277368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This method analyzes the emotions expressed in both modalities simultaneously. By considering how words complement or contradict the visual cues in an image, the system gains a richer context, leading to a more nuanced and accurate interpretation of sentiment.</a:t>
            </a:r>
            <a:endParaRPr lang="en-US" sz="1700" dirty="0"/>
          </a:p>
        </p:txBody>
      </p:sp>
      <p:pic>
        <p:nvPicPr>
          <p:cNvPr id="9" name="Picture 8">
            <a:extLst>
              <a:ext uri="{FF2B5EF4-FFF2-40B4-BE49-F238E27FC236}">
                <a16:creationId xmlns:a16="http://schemas.microsoft.com/office/drawing/2014/main" id="{4660B240-DE46-6822-7D91-BA65E5B75BAA}"/>
              </a:ext>
            </a:extLst>
          </p:cNvPr>
          <p:cNvPicPr>
            <a:picLocks noChangeAspect="1"/>
          </p:cNvPicPr>
          <p:nvPr/>
        </p:nvPicPr>
        <p:blipFill>
          <a:blip r:embed="rId4"/>
          <a:stretch>
            <a:fillRect/>
          </a:stretch>
        </p:blipFill>
        <p:spPr>
          <a:xfrm>
            <a:off x="12889654" y="6786315"/>
            <a:ext cx="1662687" cy="13527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1204436"/>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Why Multimodal?</a:t>
            </a:r>
            <a:endParaRPr lang="en-US" sz="4450" dirty="0"/>
          </a:p>
        </p:txBody>
      </p:sp>
      <p:sp>
        <p:nvSpPr>
          <p:cNvPr id="3" name="Shape 1"/>
          <p:cNvSpPr/>
          <p:nvPr/>
        </p:nvSpPr>
        <p:spPr>
          <a:xfrm>
            <a:off x="758309" y="2350413"/>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pic>
        <p:nvPicPr>
          <p:cNvPr id="4" name="Image 0" descr="preencoded.png"/>
          <p:cNvPicPr>
            <a:picLocks noChangeAspect="1"/>
          </p:cNvPicPr>
          <p:nvPr/>
        </p:nvPicPr>
        <p:blipFill>
          <a:blip r:embed="rId3"/>
          <a:stretch>
            <a:fillRect/>
          </a:stretch>
        </p:blipFill>
        <p:spPr>
          <a:xfrm>
            <a:off x="830997" y="2380357"/>
            <a:ext cx="342067" cy="427553"/>
          </a:xfrm>
          <a:prstGeom prst="rect">
            <a:avLst/>
          </a:prstGeom>
        </p:spPr>
      </p:pic>
      <p:sp>
        <p:nvSpPr>
          <p:cNvPr id="5" name="Text 2"/>
          <p:cNvSpPr/>
          <p:nvPr/>
        </p:nvSpPr>
        <p:spPr>
          <a:xfrm>
            <a:off x="1462326" y="2424827"/>
            <a:ext cx="3138607"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Text Alone is Insufficient</a:t>
            </a:r>
            <a:endParaRPr lang="en-US" sz="2200" dirty="0"/>
          </a:p>
        </p:txBody>
      </p:sp>
      <p:sp>
        <p:nvSpPr>
          <p:cNvPr id="6" name="Text 3"/>
          <p:cNvSpPr/>
          <p:nvPr/>
        </p:nvSpPr>
        <p:spPr>
          <a:xfrm>
            <a:off x="1462326" y="2910959"/>
            <a:ext cx="5717500" cy="138684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Relying solely on text often yields limited accuracy, typically around 70%. Text struggles with nuance, especially in informal contexts like social media where implied meanings are common.</a:t>
            </a:r>
            <a:endParaRPr lang="en-US" sz="1700" dirty="0"/>
          </a:p>
        </p:txBody>
      </p:sp>
      <p:sp>
        <p:nvSpPr>
          <p:cNvPr id="7" name="Shape 4"/>
          <p:cNvSpPr/>
          <p:nvPr/>
        </p:nvSpPr>
        <p:spPr>
          <a:xfrm>
            <a:off x="7450574" y="2350413"/>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pic>
        <p:nvPicPr>
          <p:cNvPr id="8" name="Image 1" descr="preencoded.png"/>
          <p:cNvPicPr>
            <a:picLocks noChangeAspect="1"/>
          </p:cNvPicPr>
          <p:nvPr/>
        </p:nvPicPr>
        <p:blipFill>
          <a:blip r:embed="rId4"/>
          <a:stretch>
            <a:fillRect/>
          </a:stretch>
        </p:blipFill>
        <p:spPr>
          <a:xfrm>
            <a:off x="7523262" y="2380357"/>
            <a:ext cx="342067" cy="427553"/>
          </a:xfrm>
          <a:prstGeom prst="rect">
            <a:avLst/>
          </a:prstGeom>
        </p:spPr>
      </p:pic>
      <p:sp>
        <p:nvSpPr>
          <p:cNvPr id="9" name="Text 5"/>
          <p:cNvSpPr/>
          <p:nvPr/>
        </p:nvSpPr>
        <p:spPr>
          <a:xfrm>
            <a:off x="8154591" y="2424827"/>
            <a:ext cx="3562945"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Images Provide Crucial Cues</a:t>
            </a:r>
            <a:endParaRPr lang="en-US" sz="2200" dirty="0"/>
          </a:p>
        </p:txBody>
      </p:sp>
      <p:sp>
        <p:nvSpPr>
          <p:cNvPr id="10" name="Text 6"/>
          <p:cNvSpPr/>
          <p:nvPr/>
        </p:nvSpPr>
        <p:spPr>
          <a:xfrm>
            <a:off x="8154591" y="2910959"/>
            <a:ext cx="5717500" cy="173355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Visual elements offer significant emotional cues that text cannot convey. A smiling face, a scenic background, or even specific gestures can dramatically alter the perceived sentiment of accompanying text.</a:t>
            </a:r>
            <a:endParaRPr lang="en-US" sz="1700" dirty="0"/>
          </a:p>
        </p:txBody>
      </p:sp>
      <p:sp>
        <p:nvSpPr>
          <p:cNvPr id="11" name="Shape 7"/>
          <p:cNvSpPr/>
          <p:nvPr/>
        </p:nvSpPr>
        <p:spPr>
          <a:xfrm>
            <a:off x="758309" y="5077778"/>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pic>
        <p:nvPicPr>
          <p:cNvPr id="12" name="Image 2" descr="preencoded.png"/>
          <p:cNvPicPr>
            <a:picLocks noChangeAspect="1"/>
          </p:cNvPicPr>
          <p:nvPr/>
        </p:nvPicPr>
        <p:blipFill>
          <a:blip r:embed="rId5"/>
          <a:stretch>
            <a:fillRect/>
          </a:stretch>
        </p:blipFill>
        <p:spPr>
          <a:xfrm>
            <a:off x="830997" y="5107722"/>
            <a:ext cx="342067" cy="427553"/>
          </a:xfrm>
          <a:prstGeom prst="rect">
            <a:avLst/>
          </a:prstGeom>
        </p:spPr>
      </p:pic>
      <p:sp>
        <p:nvSpPr>
          <p:cNvPr id="13" name="Text 8"/>
          <p:cNvSpPr/>
          <p:nvPr/>
        </p:nvSpPr>
        <p:spPr>
          <a:xfrm>
            <a:off x="1462326" y="515219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Improved Accuracy</a:t>
            </a:r>
            <a:endParaRPr lang="en-US" sz="2200" dirty="0"/>
          </a:p>
        </p:txBody>
      </p:sp>
      <p:sp>
        <p:nvSpPr>
          <p:cNvPr id="14" name="Text 9"/>
          <p:cNvSpPr/>
          <p:nvPr/>
        </p:nvSpPr>
        <p:spPr>
          <a:xfrm>
            <a:off x="1462326" y="5638324"/>
            <a:ext cx="5717500" cy="138684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Multimodal analysis significantly boosts accuracy, showing improvements of 15-20% over text-only models. This is due to the complementary nature of the data, providing a more complete picture.</a:t>
            </a:r>
            <a:endParaRPr lang="en-US" sz="1700" dirty="0"/>
          </a:p>
        </p:txBody>
      </p:sp>
      <p:sp>
        <p:nvSpPr>
          <p:cNvPr id="15" name="Shape 10"/>
          <p:cNvSpPr/>
          <p:nvPr/>
        </p:nvSpPr>
        <p:spPr>
          <a:xfrm>
            <a:off x="7450574" y="5077778"/>
            <a:ext cx="487442" cy="487442"/>
          </a:xfrm>
          <a:prstGeom prst="roundRect">
            <a:avLst>
              <a:gd name="adj" fmla="val 40004"/>
            </a:avLst>
          </a:prstGeom>
          <a:solidFill>
            <a:srgbClr val="282C32"/>
          </a:solidFill>
          <a:ln/>
          <a:effectLst>
            <a:outerShdw blurRad="53340" dist="26670" dir="13500000" algn="bl" rotWithShape="0">
              <a:srgbClr val="FFFFFF">
                <a:alpha val="10000"/>
              </a:srgbClr>
            </a:outerShdw>
          </a:effectLst>
        </p:spPr>
      </p:sp>
      <p:pic>
        <p:nvPicPr>
          <p:cNvPr id="16" name="Image 3" descr="preencoded.png"/>
          <p:cNvPicPr>
            <a:picLocks noChangeAspect="1"/>
          </p:cNvPicPr>
          <p:nvPr/>
        </p:nvPicPr>
        <p:blipFill>
          <a:blip r:embed="rId6"/>
          <a:stretch>
            <a:fillRect/>
          </a:stretch>
        </p:blipFill>
        <p:spPr>
          <a:xfrm>
            <a:off x="7523262" y="5107722"/>
            <a:ext cx="342067" cy="427553"/>
          </a:xfrm>
          <a:prstGeom prst="rect">
            <a:avLst/>
          </a:prstGeom>
        </p:spPr>
      </p:pic>
      <p:sp>
        <p:nvSpPr>
          <p:cNvPr id="17" name="Text 11"/>
          <p:cNvSpPr/>
          <p:nvPr/>
        </p:nvSpPr>
        <p:spPr>
          <a:xfrm>
            <a:off x="8154591" y="515219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Handles Nuance</a:t>
            </a:r>
            <a:endParaRPr lang="en-US" sz="2200" dirty="0"/>
          </a:p>
        </p:txBody>
      </p:sp>
      <p:sp>
        <p:nvSpPr>
          <p:cNvPr id="18" name="Text 12"/>
          <p:cNvSpPr/>
          <p:nvPr/>
        </p:nvSpPr>
        <p:spPr>
          <a:xfrm>
            <a:off x="8154591" y="5638324"/>
            <a:ext cx="5717500" cy="138684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The combined approach excels at recognizing sarcasm, irony, and complex emotional expressions that are often missed by single-modality systems. The visual context often reveals the true intent.</a:t>
            </a:r>
            <a:endParaRPr lang="en-US" sz="1700" dirty="0"/>
          </a:p>
        </p:txBody>
      </p:sp>
      <p:pic>
        <p:nvPicPr>
          <p:cNvPr id="20" name="Picture 19">
            <a:extLst>
              <a:ext uri="{FF2B5EF4-FFF2-40B4-BE49-F238E27FC236}">
                <a16:creationId xmlns:a16="http://schemas.microsoft.com/office/drawing/2014/main" id="{B8923081-9A3D-8FCB-DB90-C9F87BA544C5}"/>
              </a:ext>
            </a:extLst>
          </p:cNvPr>
          <p:cNvPicPr>
            <a:picLocks noChangeAspect="1"/>
          </p:cNvPicPr>
          <p:nvPr/>
        </p:nvPicPr>
        <p:blipFill>
          <a:blip r:embed="rId7"/>
          <a:stretch>
            <a:fillRect/>
          </a:stretch>
        </p:blipFill>
        <p:spPr>
          <a:xfrm>
            <a:off x="12812752" y="7155061"/>
            <a:ext cx="1717288" cy="10272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807006"/>
            <a:ext cx="8463320"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Challenges in Multimodal Analysis</a:t>
            </a:r>
            <a:endParaRPr lang="en-US" sz="4450" dirty="0"/>
          </a:p>
        </p:txBody>
      </p:sp>
      <p:sp>
        <p:nvSpPr>
          <p:cNvPr id="3" name="Shape 1"/>
          <p:cNvSpPr/>
          <p:nvPr/>
        </p:nvSpPr>
        <p:spPr>
          <a:xfrm>
            <a:off x="758309" y="2927866"/>
            <a:ext cx="3034665" cy="216575"/>
          </a:xfrm>
          <a:prstGeom prst="roundRect">
            <a:avLst>
              <a:gd name="adj" fmla="val 90036"/>
            </a:avLst>
          </a:prstGeom>
          <a:solidFill>
            <a:srgbClr val="282C32"/>
          </a:solidFill>
          <a:ln/>
          <a:effectLst>
            <a:outerShdw blurRad="53340" dist="26670" dir="13500000" algn="bl" rotWithShape="0">
              <a:srgbClr val="FFFFFF">
                <a:alpha val="10000"/>
              </a:srgbClr>
            </a:outerShdw>
          </a:effectLst>
        </p:spPr>
      </p:sp>
      <p:sp>
        <p:nvSpPr>
          <p:cNvPr id="4" name="Text 2"/>
          <p:cNvSpPr/>
          <p:nvPr/>
        </p:nvSpPr>
        <p:spPr>
          <a:xfrm>
            <a:off x="758309" y="346936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Data Integration</a:t>
            </a:r>
            <a:endParaRPr lang="en-US" sz="2200" dirty="0"/>
          </a:p>
        </p:txBody>
      </p:sp>
      <p:sp>
        <p:nvSpPr>
          <p:cNvPr id="5" name="Text 3"/>
          <p:cNvSpPr/>
          <p:nvPr/>
        </p:nvSpPr>
        <p:spPr>
          <a:xfrm>
            <a:off x="758309" y="3955494"/>
            <a:ext cx="3034665" cy="346710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A key challenge is effectively combining distinct text and image features into a unified representation. This requires sophisticated techniques to ensure information from both modalities is equally weighted and understood.</a:t>
            </a:r>
            <a:endParaRPr lang="en-US" sz="1700" dirty="0"/>
          </a:p>
        </p:txBody>
      </p:sp>
      <p:sp>
        <p:nvSpPr>
          <p:cNvPr id="6" name="Shape 4"/>
          <p:cNvSpPr/>
          <p:nvPr/>
        </p:nvSpPr>
        <p:spPr>
          <a:xfrm>
            <a:off x="4117896" y="2602944"/>
            <a:ext cx="3034784" cy="216575"/>
          </a:xfrm>
          <a:prstGeom prst="roundRect">
            <a:avLst>
              <a:gd name="adj" fmla="val 90036"/>
            </a:avLst>
          </a:prstGeom>
          <a:solidFill>
            <a:srgbClr val="282C32"/>
          </a:solidFill>
          <a:ln/>
          <a:effectLst>
            <a:outerShdw blurRad="53340" dist="26670" dir="13500000" algn="bl" rotWithShape="0">
              <a:srgbClr val="FFFFFF">
                <a:alpha val="10000"/>
              </a:srgbClr>
            </a:outerShdw>
          </a:effectLst>
        </p:spPr>
      </p:sp>
      <p:sp>
        <p:nvSpPr>
          <p:cNvPr id="7" name="Text 5"/>
          <p:cNvSpPr/>
          <p:nvPr/>
        </p:nvSpPr>
        <p:spPr>
          <a:xfrm>
            <a:off x="4117896" y="3144441"/>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Modality Alignment</a:t>
            </a:r>
            <a:endParaRPr lang="en-US" sz="2200" dirty="0"/>
          </a:p>
        </p:txBody>
      </p:sp>
      <p:sp>
        <p:nvSpPr>
          <p:cNvPr id="8" name="Text 6"/>
          <p:cNvSpPr/>
          <p:nvPr/>
        </p:nvSpPr>
        <p:spPr>
          <a:xfrm>
            <a:off x="4117896" y="3630573"/>
            <a:ext cx="3034784" cy="312039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Connecting related elements across text and images is crucial. For instance, identifying if a specific word in the text refers to an object or person visible in the image is complex but vital for accurate analysis.</a:t>
            </a:r>
            <a:endParaRPr lang="en-US" sz="1700" dirty="0"/>
          </a:p>
        </p:txBody>
      </p:sp>
      <p:sp>
        <p:nvSpPr>
          <p:cNvPr id="9" name="Shape 7"/>
          <p:cNvSpPr/>
          <p:nvPr/>
        </p:nvSpPr>
        <p:spPr>
          <a:xfrm>
            <a:off x="7477601" y="2277904"/>
            <a:ext cx="3034784" cy="216575"/>
          </a:xfrm>
          <a:prstGeom prst="roundRect">
            <a:avLst>
              <a:gd name="adj" fmla="val 90036"/>
            </a:avLst>
          </a:prstGeom>
          <a:solidFill>
            <a:srgbClr val="282C32"/>
          </a:solidFill>
          <a:ln/>
          <a:effectLst>
            <a:outerShdw blurRad="53340" dist="26670" dir="13500000" algn="bl" rotWithShape="0">
              <a:srgbClr val="FFFFFF">
                <a:alpha val="10000"/>
              </a:srgbClr>
            </a:outerShdw>
          </a:effectLst>
        </p:spPr>
      </p:sp>
      <p:sp>
        <p:nvSpPr>
          <p:cNvPr id="10" name="Text 8"/>
          <p:cNvSpPr/>
          <p:nvPr/>
        </p:nvSpPr>
        <p:spPr>
          <a:xfrm>
            <a:off x="7477601" y="2819400"/>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Handling Noise</a:t>
            </a:r>
            <a:endParaRPr lang="en-US" sz="2200" dirty="0"/>
          </a:p>
        </p:txBody>
      </p:sp>
      <p:sp>
        <p:nvSpPr>
          <p:cNvPr id="11" name="Text 9"/>
          <p:cNvSpPr/>
          <p:nvPr/>
        </p:nvSpPr>
        <p:spPr>
          <a:xfrm>
            <a:off x="7477601" y="3305532"/>
            <a:ext cx="3034784" cy="312039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Filtering irrelevant or misleading data from either modality is critical. A busy background in an image or irrelevant hashtags in text can introduce noise that degrades model performance, requiring robust preprocessing.</a:t>
            </a:r>
            <a:endParaRPr lang="en-US" sz="1700" dirty="0"/>
          </a:p>
        </p:txBody>
      </p:sp>
      <p:sp>
        <p:nvSpPr>
          <p:cNvPr id="12" name="Shape 10"/>
          <p:cNvSpPr/>
          <p:nvPr/>
        </p:nvSpPr>
        <p:spPr>
          <a:xfrm>
            <a:off x="10837307" y="1952982"/>
            <a:ext cx="3034784" cy="216575"/>
          </a:xfrm>
          <a:prstGeom prst="roundRect">
            <a:avLst>
              <a:gd name="adj" fmla="val 90036"/>
            </a:avLst>
          </a:prstGeom>
          <a:solidFill>
            <a:srgbClr val="282C32"/>
          </a:solidFill>
          <a:ln/>
          <a:effectLst>
            <a:outerShdw blurRad="53340" dist="26670" dir="13500000" algn="bl" rotWithShape="0">
              <a:srgbClr val="FFFFFF">
                <a:alpha val="10000"/>
              </a:srgbClr>
            </a:outerShdw>
          </a:effectLst>
        </p:spPr>
      </p:sp>
      <p:sp>
        <p:nvSpPr>
          <p:cNvPr id="13" name="Text 11"/>
          <p:cNvSpPr/>
          <p:nvPr/>
        </p:nvSpPr>
        <p:spPr>
          <a:xfrm>
            <a:off x="10837307" y="2494478"/>
            <a:ext cx="3034784" cy="712470"/>
          </a:xfrm>
          <a:prstGeom prst="rect">
            <a:avLst/>
          </a:prstGeom>
          <a:noFill/>
          <a:ln/>
        </p:spPr>
        <p:txBody>
          <a:bodyPr wrap="squar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Computational Complexity</a:t>
            </a:r>
            <a:endParaRPr lang="en-US" sz="2200" dirty="0"/>
          </a:p>
        </p:txBody>
      </p:sp>
      <p:sp>
        <p:nvSpPr>
          <p:cNvPr id="14" name="Text 12"/>
          <p:cNvSpPr/>
          <p:nvPr/>
        </p:nvSpPr>
        <p:spPr>
          <a:xfrm>
            <a:off x="10837307" y="3336846"/>
            <a:ext cx="3034784" cy="312039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Image processing and the subsequent integration with text data demand substantial computational power and resources. Training and deploying such models often require powerful hardware and optimized algorithms.</a:t>
            </a:r>
            <a:endParaRPr lang="en-US" sz="1700" dirty="0"/>
          </a:p>
        </p:txBody>
      </p:sp>
      <p:pic>
        <p:nvPicPr>
          <p:cNvPr id="16" name="Picture 15">
            <a:extLst>
              <a:ext uri="{FF2B5EF4-FFF2-40B4-BE49-F238E27FC236}">
                <a16:creationId xmlns:a16="http://schemas.microsoft.com/office/drawing/2014/main" id="{71A6BAC9-DDCF-6C69-5933-34650BB8CE21}"/>
              </a:ext>
            </a:extLst>
          </p:cNvPr>
          <p:cNvPicPr>
            <a:picLocks noChangeAspect="1"/>
          </p:cNvPicPr>
          <p:nvPr/>
        </p:nvPicPr>
        <p:blipFill>
          <a:blip r:embed="rId3"/>
          <a:stretch>
            <a:fillRect/>
          </a:stretch>
        </p:blipFill>
        <p:spPr>
          <a:xfrm>
            <a:off x="12779298" y="6649923"/>
            <a:ext cx="1694985" cy="14388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58309" y="654844"/>
            <a:ext cx="8449032"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Project Overview: Data Collection</a:t>
            </a:r>
            <a:endParaRPr lang="en-US" sz="4450" dirty="0"/>
          </a:p>
        </p:txBody>
      </p:sp>
      <p:pic>
        <p:nvPicPr>
          <p:cNvPr id="3" name="Image 0" descr="preencoded.png"/>
          <p:cNvPicPr>
            <a:picLocks noChangeAspect="1"/>
          </p:cNvPicPr>
          <p:nvPr/>
        </p:nvPicPr>
        <p:blipFill>
          <a:blip r:embed="rId3"/>
          <a:stretch>
            <a:fillRect/>
          </a:stretch>
        </p:blipFill>
        <p:spPr>
          <a:xfrm>
            <a:off x="758309" y="1800820"/>
            <a:ext cx="4190762" cy="2590086"/>
          </a:xfrm>
          <a:prstGeom prst="rect">
            <a:avLst/>
          </a:prstGeom>
        </p:spPr>
      </p:pic>
      <p:sp>
        <p:nvSpPr>
          <p:cNvPr id="4" name="Text 1"/>
          <p:cNvSpPr/>
          <p:nvPr/>
        </p:nvSpPr>
        <p:spPr>
          <a:xfrm>
            <a:off x="758309" y="466165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Dataset Size</a:t>
            </a:r>
            <a:endParaRPr lang="en-US" sz="2200" dirty="0"/>
          </a:p>
        </p:txBody>
      </p:sp>
      <p:sp>
        <p:nvSpPr>
          <p:cNvPr id="5" name="Text 2"/>
          <p:cNvSpPr/>
          <p:nvPr/>
        </p:nvSpPr>
        <p:spPr>
          <a:xfrm>
            <a:off x="758309" y="5147786"/>
            <a:ext cx="4190762" cy="173355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Our project utilized a custom dataset comprising 5,000 social media posts. Each post included both textual content and an accompanying image, reflecting real-world multimodal data.</a:t>
            </a:r>
            <a:endParaRPr lang="en-US" sz="1700" dirty="0"/>
          </a:p>
        </p:txBody>
      </p:sp>
      <p:pic>
        <p:nvPicPr>
          <p:cNvPr id="6" name="Image 1" descr="preencoded.png"/>
          <p:cNvPicPr>
            <a:picLocks noChangeAspect="1"/>
          </p:cNvPicPr>
          <p:nvPr/>
        </p:nvPicPr>
        <p:blipFill>
          <a:blip r:embed="rId4"/>
          <a:stretch>
            <a:fillRect/>
          </a:stretch>
        </p:blipFill>
        <p:spPr>
          <a:xfrm>
            <a:off x="5219819" y="1800820"/>
            <a:ext cx="4190762" cy="2590086"/>
          </a:xfrm>
          <a:prstGeom prst="rect">
            <a:avLst/>
          </a:prstGeom>
        </p:spPr>
      </p:pic>
      <p:sp>
        <p:nvSpPr>
          <p:cNvPr id="7" name="Text 3"/>
          <p:cNvSpPr/>
          <p:nvPr/>
        </p:nvSpPr>
        <p:spPr>
          <a:xfrm>
            <a:off x="5219819" y="466165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Balanced Classes</a:t>
            </a:r>
            <a:endParaRPr lang="en-US" sz="2200" dirty="0"/>
          </a:p>
        </p:txBody>
      </p:sp>
      <p:sp>
        <p:nvSpPr>
          <p:cNvPr id="8" name="Text 4"/>
          <p:cNvSpPr/>
          <p:nvPr/>
        </p:nvSpPr>
        <p:spPr>
          <a:xfrm>
            <a:off x="5219819" y="5147786"/>
            <a:ext cx="4190762" cy="173355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To ensure robust model training and prevent bias, the dataset was carefully curated to have balanced classes: positive, negative, and neutral sentiments were represented equally.</a:t>
            </a:r>
            <a:endParaRPr lang="en-US" sz="1700" dirty="0"/>
          </a:p>
        </p:txBody>
      </p:sp>
      <p:pic>
        <p:nvPicPr>
          <p:cNvPr id="9" name="Image 2" descr="preencoded.png"/>
          <p:cNvPicPr>
            <a:picLocks noChangeAspect="1"/>
          </p:cNvPicPr>
          <p:nvPr/>
        </p:nvPicPr>
        <p:blipFill>
          <a:blip r:embed="rId5"/>
          <a:stretch>
            <a:fillRect/>
          </a:stretch>
        </p:blipFill>
        <p:spPr>
          <a:xfrm>
            <a:off x="9681329" y="1800820"/>
            <a:ext cx="4190762" cy="2590086"/>
          </a:xfrm>
          <a:prstGeom prst="rect">
            <a:avLst/>
          </a:prstGeom>
        </p:spPr>
      </p:pic>
      <p:sp>
        <p:nvSpPr>
          <p:cNvPr id="10" name="Text 5"/>
          <p:cNvSpPr/>
          <p:nvPr/>
        </p:nvSpPr>
        <p:spPr>
          <a:xfrm>
            <a:off x="9681329" y="466165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Data Split</a:t>
            </a:r>
            <a:endParaRPr lang="en-US" sz="2200" dirty="0"/>
          </a:p>
        </p:txBody>
      </p:sp>
      <p:sp>
        <p:nvSpPr>
          <p:cNvPr id="11" name="Text 6"/>
          <p:cNvSpPr/>
          <p:nvPr/>
        </p:nvSpPr>
        <p:spPr>
          <a:xfrm>
            <a:off x="9681329" y="5147786"/>
            <a:ext cx="4190762" cy="242697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The dataset was divided into a standard 60/20/20 split for training, validation, and testing respectively. This ensures that the model is trained on a large portion of data, fine-tuned on a separate validation set, and evaluated on unseen data.</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532811"/>
            <a:ext cx="9344025"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Project Overview: Feature Extraction</a:t>
            </a:r>
            <a:endParaRPr lang="en-US" sz="4450" dirty="0"/>
          </a:p>
        </p:txBody>
      </p:sp>
      <p:pic>
        <p:nvPicPr>
          <p:cNvPr id="3" name="Image 0" descr="preencoded.png"/>
          <p:cNvPicPr>
            <a:picLocks noChangeAspect="1"/>
          </p:cNvPicPr>
          <p:nvPr/>
        </p:nvPicPr>
        <p:blipFill>
          <a:blip r:embed="rId3"/>
          <a:stretch>
            <a:fillRect/>
          </a:stretch>
        </p:blipFill>
        <p:spPr>
          <a:xfrm>
            <a:off x="758309" y="2678787"/>
            <a:ext cx="541615" cy="541615"/>
          </a:xfrm>
          <a:prstGeom prst="rect">
            <a:avLst/>
          </a:prstGeom>
        </p:spPr>
      </p:pic>
      <p:sp>
        <p:nvSpPr>
          <p:cNvPr id="4" name="Text 1"/>
          <p:cNvSpPr/>
          <p:nvPr/>
        </p:nvSpPr>
        <p:spPr>
          <a:xfrm>
            <a:off x="758309" y="3436977"/>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Text Features: BERT</a:t>
            </a:r>
            <a:endParaRPr lang="en-US" sz="2200" dirty="0"/>
          </a:p>
        </p:txBody>
      </p:sp>
      <p:sp>
        <p:nvSpPr>
          <p:cNvPr id="5" name="Text 2"/>
          <p:cNvSpPr/>
          <p:nvPr/>
        </p:nvSpPr>
        <p:spPr>
          <a:xfrm>
            <a:off x="758309" y="3923109"/>
            <a:ext cx="4190762" cy="277368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For text analysis, we leveraged pre-trained BERT (Bidirectional Encoder Representations from Transformers) embeddings. These provide a rich, contextualized representation of words, capturing semantic meaning and relationships within sentences, outputting a 768-dimensional vector.</a:t>
            </a:r>
            <a:endParaRPr lang="en-US" sz="1700" dirty="0"/>
          </a:p>
        </p:txBody>
      </p:sp>
      <p:pic>
        <p:nvPicPr>
          <p:cNvPr id="6" name="Image 1" descr="preencoded.png"/>
          <p:cNvPicPr>
            <a:picLocks noChangeAspect="1"/>
          </p:cNvPicPr>
          <p:nvPr/>
        </p:nvPicPr>
        <p:blipFill>
          <a:blip r:embed="rId4"/>
          <a:stretch>
            <a:fillRect/>
          </a:stretch>
        </p:blipFill>
        <p:spPr>
          <a:xfrm>
            <a:off x="5219819" y="2678787"/>
            <a:ext cx="541615" cy="541615"/>
          </a:xfrm>
          <a:prstGeom prst="rect">
            <a:avLst/>
          </a:prstGeom>
        </p:spPr>
      </p:pic>
      <p:sp>
        <p:nvSpPr>
          <p:cNvPr id="7" name="Text 3"/>
          <p:cNvSpPr/>
          <p:nvPr/>
        </p:nvSpPr>
        <p:spPr>
          <a:xfrm>
            <a:off x="5219819" y="3436977"/>
            <a:ext cx="3456384"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Image Features: ResNet-50</a:t>
            </a:r>
            <a:endParaRPr lang="en-US" sz="2200" dirty="0"/>
          </a:p>
        </p:txBody>
      </p:sp>
      <p:sp>
        <p:nvSpPr>
          <p:cNvPr id="8" name="Text 4"/>
          <p:cNvSpPr/>
          <p:nvPr/>
        </p:nvSpPr>
        <p:spPr>
          <a:xfrm>
            <a:off x="5219819" y="3923109"/>
            <a:ext cx="4190762" cy="242697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Image features were extracted using a pre-trained ResNet-50 model. ResNet-50 is a deep convolutional neural network known for its strong performance in image recognition tasks, providing high-level visual features in a 2048-dimensional vector.</a:t>
            </a:r>
            <a:endParaRPr lang="en-US" sz="1700" dirty="0"/>
          </a:p>
        </p:txBody>
      </p:sp>
      <p:pic>
        <p:nvPicPr>
          <p:cNvPr id="9" name="Image 2" descr="preencoded.png"/>
          <p:cNvPicPr>
            <a:picLocks noChangeAspect="1"/>
          </p:cNvPicPr>
          <p:nvPr/>
        </p:nvPicPr>
        <p:blipFill>
          <a:blip r:embed="rId5"/>
          <a:stretch>
            <a:fillRect/>
          </a:stretch>
        </p:blipFill>
        <p:spPr>
          <a:xfrm>
            <a:off x="9681329" y="2678787"/>
            <a:ext cx="541615" cy="541615"/>
          </a:xfrm>
          <a:prstGeom prst="rect">
            <a:avLst/>
          </a:prstGeom>
        </p:spPr>
      </p:pic>
      <p:sp>
        <p:nvSpPr>
          <p:cNvPr id="10" name="Text 5"/>
          <p:cNvSpPr/>
          <p:nvPr/>
        </p:nvSpPr>
        <p:spPr>
          <a:xfrm>
            <a:off x="9681329" y="3436977"/>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EEEFF5"/>
                </a:solidFill>
                <a:latin typeface="Barlow Bold" pitchFamily="34" charset="0"/>
                <a:ea typeface="Barlow Bold" pitchFamily="34" charset="-122"/>
                <a:cs typeface="Barlow Bold" pitchFamily="34" charset="-120"/>
              </a:rPr>
              <a:t>Transfer Learning</a:t>
            </a:r>
            <a:endParaRPr lang="en-US" sz="2200" dirty="0"/>
          </a:p>
        </p:txBody>
      </p:sp>
      <p:sp>
        <p:nvSpPr>
          <p:cNvPr id="11" name="Text 6"/>
          <p:cNvSpPr/>
          <p:nvPr/>
        </p:nvSpPr>
        <p:spPr>
          <a:xfrm>
            <a:off x="9681329" y="3923109"/>
            <a:ext cx="4190762" cy="277368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Both BERT and ResNet-50 were used for transfer learning, where their pre-trained weights on massive datasets allowed us to extract powerful features without training complex models from scratch. This significantly reduced training time and improved performance on our specific task.</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749" y="800338"/>
            <a:ext cx="8263533" cy="621863"/>
          </a:xfrm>
          <a:prstGeom prst="rect">
            <a:avLst/>
          </a:prstGeom>
          <a:noFill/>
          <a:ln/>
        </p:spPr>
        <p:txBody>
          <a:bodyPr wrap="none" lIns="0" tIns="0" rIns="0" bIns="0" rtlCol="0" anchor="t"/>
          <a:lstStyle/>
          <a:p>
            <a:pPr marL="0" indent="0" algn="l">
              <a:lnSpc>
                <a:spcPts val="4850"/>
              </a:lnSpc>
              <a:buNone/>
            </a:pPr>
            <a:r>
              <a:rPr lang="en-US" sz="3900" b="1" dirty="0">
                <a:solidFill>
                  <a:srgbClr val="9998FF"/>
                </a:solidFill>
                <a:latin typeface="Barlow Bold" pitchFamily="34" charset="0"/>
                <a:ea typeface="Barlow Bold" pitchFamily="34" charset="-122"/>
                <a:cs typeface="Barlow Bold" pitchFamily="34" charset="-120"/>
              </a:rPr>
              <a:t>Project Overview: Model Architecture</a:t>
            </a:r>
            <a:endParaRPr lang="en-US" sz="3900" dirty="0"/>
          </a:p>
        </p:txBody>
      </p:sp>
      <p:pic>
        <p:nvPicPr>
          <p:cNvPr id="3" name="Image 0" descr="preencoded.png"/>
          <p:cNvPicPr>
            <a:picLocks noChangeAspect="1"/>
          </p:cNvPicPr>
          <p:nvPr/>
        </p:nvPicPr>
        <p:blipFill>
          <a:blip r:embed="rId3"/>
          <a:stretch>
            <a:fillRect/>
          </a:stretch>
        </p:blipFill>
        <p:spPr>
          <a:xfrm>
            <a:off x="661749" y="1800344"/>
            <a:ext cx="945356" cy="1407200"/>
          </a:xfrm>
          <a:prstGeom prst="rect">
            <a:avLst/>
          </a:prstGeom>
        </p:spPr>
      </p:pic>
      <p:sp>
        <p:nvSpPr>
          <p:cNvPr id="4" name="Text 1"/>
          <p:cNvSpPr/>
          <p:nvPr/>
        </p:nvSpPr>
        <p:spPr>
          <a:xfrm>
            <a:off x="1890713" y="1989415"/>
            <a:ext cx="2507218" cy="310872"/>
          </a:xfrm>
          <a:prstGeom prst="rect">
            <a:avLst/>
          </a:prstGeom>
          <a:noFill/>
          <a:ln/>
        </p:spPr>
        <p:txBody>
          <a:bodyPr wrap="none" lIns="0" tIns="0" rIns="0" bIns="0" rtlCol="0" anchor="t"/>
          <a:lstStyle/>
          <a:p>
            <a:pPr marL="0" indent="0" algn="l">
              <a:lnSpc>
                <a:spcPts val="2400"/>
              </a:lnSpc>
              <a:buNone/>
            </a:pPr>
            <a:r>
              <a:rPr lang="en-US" sz="1950" b="1" dirty="0">
                <a:solidFill>
                  <a:srgbClr val="EEEFF5"/>
                </a:solidFill>
                <a:latin typeface="Barlow Bold" pitchFamily="34" charset="0"/>
                <a:ea typeface="Barlow Bold" pitchFamily="34" charset="-122"/>
                <a:cs typeface="Barlow Bold" pitchFamily="34" charset="-120"/>
              </a:rPr>
              <a:t>Feature Concatenation</a:t>
            </a:r>
            <a:endParaRPr lang="en-US" sz="1950" dirty="0"/>
          </a:p>
        </p:txBody>
      </p:sp>
      <p:sp>
        <p:nvSpPr>
          <p:cNvPr id="5" name="Text 2"/>
          <p:cNvSpPr/>
          <p:nvPr/>
        </p:nvSpPr>
        <p:spPr>
          <a:xfrm>
            <a:off x="1890713" y="2413635"/>
            <a:ext cx="12077938" cy="604838"/>
          </a:xfrm>
          <a:prstGeom prst="rect">
            <a:avLst/>
          </a:prstGeom>
          <a:noFill/>
          <a:ln/>
        </p:spPr>
        <p:txBody>
          <a:bodyPr wrap="square" lIns="0" tIns="0" rIns="0" bIns="0" rtlCol="0" anchor="t"/>
          <a:lstStyle/>
          <a:p>
            <a:pPr marL="0" indent="0" algn="l">
              <a:lnSpc>
                <a:spcPts val="2350"/>
              </a:lnSpc>
              <a:buNone/>
            </a:pPr>
            <a:r>
              <a:rPr lang="en-US" sz="1450" dirty="0">
                <a:solidFill>
                  <a:srgbClr val="EEEFF5"/>
                </a:solidFill>
                <a:latin typeface="Montserrat" pitchFamily="34" charset="0"/>
                <a:ea typeface="Montserrat" pitchFamily="34" charset="-122"/>
                <a:cs typeface="Montserrat" pitchFamily="34" charset="-120"/>
              </a:rPr>
              <a:t>The extracted BERT (text) and ResNet-50 (image) features were concatenated. This creates a single, unified vector representing the combined textual and visual information, serving as the input for the subsequent layers.</a:t>
            </a:r>
            <a:endParaRPr lang="en-US" sz="1450" dirty="0"/>
          </a:p>
        </p:txBody>
      </p:sp>
      <p:pic>
        <p:nvPicPr>
          <p:cNvPr id="6" name="Image 1" descr="preencoded.png"/>
          <p:cNvPicPr>
            <a:picLocks noChangeAspect="1"/>
          </p:cNvPicPr>
          <p:nvPr/>
        </p:nvPicPr>
        <p:blipFill>
          <a:blip r:embed="rId4"/>
          <a:stretch>
            <a:fillRect/>
          </a:stretch>
        </p:blipFill>
        <p:spPr>
          <a:xfrm>
            <a:off x="661749" y="3207544"/>
            <a:ext cx="945356" cy="1407200"/>
          </a:xfrm>
          <a:prstGeom prst="rect">
            <a:avLst/>
          </a:prstGeom>
        </p:spPr>
      </p:pic>
      <p:sp>
        <p:nvSpPr>
          <p:cNvPr id="7" name="Text 3"/>
          <p:cNvSpPr/>
          <p:nvPr/>
        </p:nvSpPr>
        <p:spPr>
          <a:xfrm>
            <a:off x="1890713" y="3396615"/>
            <a:ext cx="2551748" cy="310872"/>
          </a:xfrm>
          <a:prstGeom prst="rect">
            <a:avLst/>
          </a:prstGeom>
          <a:noFill/>
          <a:ln/>
        </p:spPr>
        <p:txBody>
          <a:bodyPr wrap="none" lIns="0" tIns="0" rIns="0" bIns="0" rtlCol="0" anchor="t"/>
          <a:lstStyle/>
          <a:p>
            <a:pPr marL="0" indent="0" algn="l">
              <a:lnSpc>
                <a:spcPts val="2400"/>
              </a:lnSpc>
              <a:buNone/>
            </a:pPr>
            <a:r>
              <a:rPr lang="en-US" sz="1950" b="1" dirty="0">
                <a:solidFill>
                  <a:srgbClr val="EEEFF5"/>
                </a:solidFill>
                <a:latin typeface="Barlow Bold" pitchFamily="34" charset="0"/>
                <a:ea typeface="Barlow Bold" pitchFamily="34" charset="-122"/>
                <a:cs typeface="Barlow Bold" pitchFamily="34" charset="-120"/>
              </a:rPr>
              <a:t>Fully Connected Layers</a:t>
            </a:r>
            <a:endParaRPr lang="en-US" sz="1950" dirty="0"/>
          </a:p>
        </p:txBody>
      </p:sp>
      <p:sp>
        <p:nvSpPr>
          <p:cNvPr id="8" name="Text 4"/>
          <p:cNvSpPr/>
          <p:nvPr/>
        </p:nvSpPr>
        <p:spPr>
          <a:xfrm>
            <a:off x="1890713" y="3820835"/>
            <a:ext cx="12077938" cy="604838"/>
          </a:xfrm>
          <a:prstGeom prst="rect">
            <a:avLst/>
          </a:prstGeom>
          <a:noFill/>
          <a:ln/>
        </p:spPr>
        <p:txBody>
          <a:bodyPr wrap="square" lIns="0" tIns="0" rIns="0" bIns="0" rtlCol="0" anchor="t"/>
          <a:lstStyle/>
          <a:p>
            <a:pPr marL="0" indent="0" algn="l">
              <a:lnSpc>
                <a:spcPts val="2350"/>
              </a:lnSpc>
              <a:buNone/>
            </a:pPr>
            <a:r>
              <a:rPr lang="en-US" sz="1450" dirty="0">
                <a:solidFill>
                  <a:srgbClr val="EEEFF5"/>
                </a:solidFill>
                <a:latin typeface="Montserrat" pitchFamily="34" charset="0"/>
                <a:ea typeface="Montserrat" pitchFamily="34" charset="-122"/>
                <a:cs typeface="Montserrat" pitchFamily="34" charset="-120"/>
              </a:rPr>
              <a:t>Following concatenation, the unified features passed through a series of fully connected (dense) layers. These layers are responsible for learning complex patterns and relationships within the combined data to make the final sentiment prediction.</a:t>
            </a:r>
            <a:endParaRPr lang="en-US" sz="1450" dirty="0"/>
          </a:p>
        </p:txBody>
      </p:sp>
      <p:pic>
        <p:nvPicPr>
          <p:cNvPr id="9" name="Image 2" descr="preencoded.png"/>
          <p:cNvPicPr>
            <a:picLocks noChangeAspect="1"/>
          </p:cNvPicPr>
          <p:nvPr/>
        </p:nvPicPr>
        <p:blipFill>
          <a:blip r:embed="rId5"/>
          <a:stretch>
            <a:fillRect/>
          </a:stretch>
        </p:blipFill>
        <p:spPr>
          <a:xfrm>
            <a:off x="661749" y="4614743"/>
            <a:ext cx="945356" cy="1407200"/>
          </a:xfrm>
          <a:prstGeom prst="rect">
            <a:avLst/>
          </a:prstGeom>
        </p:spPr>
      </p:pic>
      <p:sp>
        <p:nvSpPr>
          <p:cNvPr id="10" name="Text 5"/>
          <p:cNvSpPr/>
          <p:nvPr/>
        </p:nvSpPr>
        <p:spPr>
          <a:xfrm>
            <a:off x="1890713" y="4803815"/>
            <a:ext cx="2528888" cy="310872"/>
          </a:xfrm>
          <a:prstGeom prst="rect">
            <a:avLst/>
          </a:prstGeom>
          <a:noFill/>
          <a:ln/>
        </p:spPr>
        <p:txBody>
          <a:bodyPr wrap="none" lIns="0" tIns="0" rIns="0" bIns="0" rtlCol="0" anchor="t"/>
          <a:lstStyle/>
          <a:p>
            <a:pPr marL="0" indent="0" algn="l">
              <a:lnSpc>
                <a:spcPts val="2400"/>
              </a:lnSpc>
              <a:buNone/>
            </a:pPr>
            <a:r>
              <a:rPr lang="en-US" sz="1950" b="1" dirty="0">
                <a:solidFill>
                  <a:srgbClr val="EEEFF5"/>
                </a:solidFill>
                <a:latin typeface="Barlow Bold" pitchFamily="34" charset="0"/>
                <a:ea typeface="Barlow Bold" pitchFamily="34" charset="-122"/>
                <a:cs typeface="Barlow Bold" pitchFamily="34" charset="-120"/>
              </a:rPr>
              <a:t>Dropout Regularization</a:t>
            </a:r>
            <a:endParaRPr lang="en-US" sz="1950" dirty="0"/>
          </a:p>
        </p:txBody>
      </p:sp>
      <p:sp>
        <p:nvSpPr>
          <p:cNvPr id="11" name="Text 6"/>
          <p:cNvSpPr/>
          <p:nvPr/>
        </p:nvSpPr>
        <p:spPr>
          <a:xfrm>
            <a:off x="1890713" y="5228034"/>
            <a:ext cx="12077938" cy="604838"/>
          </a:xfrm>
          <a:prstGeom prst="rect">
            <a:avLst/>
          </a:prstGeom>
          <a:noFill/>
          <a:ln/>
        </p:spPr>
        <p:txBody>
          <a:bodyPr wrap="square" lIns="0" tIns="0" rIns="0" bIns="0" rtlCol="0" anchor="t"/>
          <a:lstStyle/>
          <a:p>
            <a:pPr marL="0" indent="0" algn="l">
              <a:lnSpc>
                <a:spcPts val="2350"/>
              </a:lnSpc>
              <a:buNone/>
            </a:pPr>
            <a:r>
              <a:rPr lang="en-US" sz="1450" dirty="0">
                <a:solidFill>
                  <a:srgbClr val="EEEFF5"/>
                </a:solidFill>
                <a:latin typeface="Montserrat" pitchFamily="34" charset="0"/>
                <a:ea typeface="Montserrat" pitchFamily="34" charset="-122"/>
                <a:cs typeface="Montserrat" pitchFamily="34" charset="-120"/>
              </a:rPr>
              <a:t>To combat overfitting, a dropout regularization layer with a probability (p) of 0.5 was incorporated. This randomly deactivates a fraction of neurons during training, preventing the model from becoming too reliant on specific features.</a:t>
            </a:r>
            <a:endParaRPr lang="en-US" sz="1450" dirty="0"/>
          </a:p>
        </p:txBody>
      </p:sp>
      <p:pic>
        <p:nvPicPr>
          <p:cNvPr id="12" name="Image 3" descr="preencoded.png"/>
          <p:cNvPicPr>
            <a:picLocks noChangeAspect="1"/>
          </p:cNvPicPr>
          <p:nvPr/>
        </p:nvPicPr>
        <p:blipFill>
          <a:blip r:embed="rId6"/>
          <a:stretch>
            <a:fillRect/>
          </a:stretch>
        </p:blipFill>
        <p:spPr>
          <a:xfrm>
            <a:off x="661749" y="6021943"/>
            <a:ext cx="945356" cy="1407200"/>
          </a:xfrm>
          <a:prstGeom prst="rect">
            <a:avLst/>
          </a:prstGeom>
        </p:spPr>
      </p:pic>
      <p:sp>
        <p:nvSpPr>
          <p:cNvPr id="13" name="Text 7"/>
          <p:cNvSpPr/>
          <p:nvPr/>
        </p:nvSpPr>
        <p:spPr>
          <a:xfrm>
            <a:off x="1890713" y="6211014"/>
            <a:ext cx="2487692" cy="310872"/>
          </a:xfrm>
          <a:prstGeom prst="rect">
            <a:avLst/>
          </a:prstGeom>
          <a:noFill/>
          <a:ln/>
        </p:spPr>
        <p:txBody>
          <a:bodyPr wrap="none" lIns="0" tIns="0" rIns="0" bIns="0" rtlCol="0" anchor="t"/>
          <a:lstStyle/>
          <a:p>
            <a:pPr marL="0" indent="0" algn="l">
              <a:lnSpc>
                <a:spcPts val="2400"/>
              </a:lnSpc>
              <a:buNone/>
            </a:pPr>
            <a:r>
              <a:rPr lang="en-US" sz="1950" b="1" dirty="0">
                <a:solidFill>
                  <a:srgbClr val="EEEFF5"/>
                </a:solidFill>
                <a:latin typeface="Barlow Bold" pitchFamily="34" charset="0"/>
                <a:ea typeface="Barlow Bold" pitchFamily="34" charset="-122"/>
                <a:cs typeface="Barlow Bold" pitchFamily="34" charset="-120"/>
              </a:rPr>
              <a:t>Optimization</a:t>
            </a:r>
            <a:endParaRPr lang="en-US" sz="1950" dirty="0"/>
          </a:p>
        </p:txBody>
      </p:sp>
      <p:sp>
        <p:nvSpPr>
          <p:cNvPr id="14" name="Text 8"/>
          <p:cNvSpPr/>
          <p:nvPr/>
        </p:nvSpPr>
        <p:spPr>
          <a:xfrm>
            <a:off x="1890713" y="6635234"/>
            <a:ext cx="12077938" cy="604838"/>
          </a:xfrm>
          <a:prstGeom prst="rect">
            <a:avLst/>
          </a:prstGeom>
          <a:noFill/>
          <a:ln/>
        </p:spPr>
        <p:txBody>
          <a:bodyPr wrap="square" lIns="0" tIns="0" rIns="0" bIns="0" rtlCol="0" anchor="t"/>
          <a:lstStyle/>
          <a:p>
            <a:pPr marL="0" indent="0" algn="l">
              <a:lnSpc>
                <a:spcPts val="2350"/>
              </a:lnSpc>
              <a:buNone/>
            </a:pPr>
            <a:r>
              <a:rPr lang="en-US" sz="1450" dirty="0">
                <a:solidFill>
                  <a:srgbClr val="EEEFF5"/>
                </a:solidFill>
                <a:latin typeface="Montserrat" pitchFamily="34" charset="0"/>
                <a:ea typeface="Montserrat" pitchFamily="34" charset="-122"/>
                <a:cs typeface="Montserrat" pitchFamily="34" charset="-120"/>
              </a:rPr>
              <a:t>The model was optimized using the Adam optimizer, a popular and effective algorithm for stochastic gradient descent. A learning rate of 0.001 was chosen to ensure stable and efficient convergence during training.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5796" y="517208"/>
            <a:ext cx="6494383" cy="616387"/>
          </a:xfrm>
          <a:prstGeom prst="rect">
            <a:avLst/>
          </a:prstGeom>
          <a:noFill/>
          <a:ln/>
        </p:spPr>
        <p:txBody>
          <a:bodyPr wrap="none" lIns="0" tIns="0" rIns="0" bIns="0" rtlCol="0" anchor="t"/>
          <a:lstStyle/>
          <a:p>
            <a:pPr marL="0" indent="0" algn="l">
              <a:lnSpc>
                <a:spcPts val="4850"/>
              </a:lnSpc>
              <a:buNone/>
            </a:pPr>
            <a:r>
              <a:rPr lang="en-US" sz="3850" b="1" dirty="0">
                <a:solidFill>
                  <a:srgbClr val="9998FF"/>
                </a:solidFill>
                <a:latin typeface="Barlow Bold" pitchFamily="34" charset="0"/>
                <a:ea typeface="Barlow Bold" pitchFamily="34" charset="-122"/>
                <a:cs typeface="Barlow Bold" pitchFamily="34" charset="-120"/>
              </a:rPr>
              <a:t>Results: Performance Metrics</a:t>
            </a:r>
            <a:endParaRPr lang="en-US" sz="3850" dirty="0"/>
          </a:p>
        </p:txBody>
      </p:sp>
      <p:sp>
        <p:nvSpPr>
          <p:cNvPr id="3" name="Text 1"/>
          <p:cNvSpPr/>
          <p:nvPr/>
        </p:nvSpPr>
        <p:spPr>
          <a:xfrm>
            <a:off x="655796" y="1601867"/>
            <a:ext cx="6518910" cy="618292"/>
          </a:xfrm>
          <a:prstGeom prst="rect">
            <a:avLst/>
          </a:prstGeom>
          <a:noFill/>
          <a:ln/>
        </p:spPr>
        <p:txBody>
          <a:bodyPr wrap="none" lIns="0" tIns="0" rIns="0" bIns="0" rtlCol="0" anchor="t"/>
          <a:lstStyle/>
          <a:p>
            <a:pPr marL="0" indent="0" algn="ctr">
              <a:lnSpc>
                <a:spcPts val="4850"/>
              </a:lnSpc>
              <a:buNone/>
            </a:pPr>
            <a:r>
              <a:rPr lang="en-US" sz="4850" b="1" dirty="0">
                <a:solidFill>
                  <a:srgbClr val="EEEFF5"/>
                </a:solidFill>
                <a:latin typeface="Barlow Bold" pitchFamily="34" charset="0"/>
                <a:ea typeface="Barlow Bold" pitchFamily="34" charset="-122"/>
                <a:cs typeface="Barlow Bold" pitchFamily="34" charset="-120"/>
              </a:rPr>
              <a:t>88%</a:t>
            </a:r>
            <a:endParaRPr lang="en-US" sz="4850" dirty="0"/>
          </a:p>
        </p:txBody>
      </p:sp>
      <p:sp>
        <p:nvSpPr>
          <p:cNvPr id="4" name="Text 2"/>
          <p:cNvSpPr/>
          <p:nvPr/>
        </p:nvSpPr>
        <p:spPr>
          <a:xfrm>
            <a:off x="2682359" y="2454235"/>
            <a:ext cx="2465665" cy="308134"/>
          </a:xfrm>
          <a:prstGeom prst="rect">
            <a:avLst/>
          </a:prstGeom>
          <a:noFill/>
          <a:ln/>
        </p:spPr>
        <p:txBody>
          <a:bodyPr wrap="none" lIns="0" tIns="0" rIns="0" bIns="0" rtlCol="0" anchor="t"/>
          <a:lstStyle/>
          <a:p>
            <a:pPr marL="0" indent="0" algn="ctr">
              <a:lnSpc>
                <a:spcPts val="2400"/>
              </a:lnSpc>
              <a:buNone/>
            </a:pPr>
            <a:r>
              <a:rPr lang="en-US" sz="1900" b="1" dirty="0">
                <a:solidFill>
                  <a:srgbClr val="EEEFF5"/>
                </a:solidFill>
                <a:latin typeface="Barlow Bold" pitchFamily="34" charset="0"/>
                <a:ea typeface="Barlow Bold" pitchFamily="34" charset="-122"/>
                <a:cs typeface="Barlow Bold" pitchFamily="34" charset="-120"/>
              </a:rPr>
              <a:t>Accuracy</a:t>
            </a:r>
            <a:endParaRPr lang="en-US" sz="1900" dirty="0"/>
          </a:p>
        </p:txBody>
      </p:sp>
      <p:sp>
        <p:nvSpPr>
          <p:cNvPr id="5" name="Text 3"/>
          <p:cNvSpPr/>
          <p:nvPr/>
        </p:nvSpPr>
        <p:spPr>
          <a:xfrm>
            <a:off x="655796" y="2874764"/>
            <a:ext cx="6518910" cy="899398"/>
          </a:xfrm>
          <a:prstGeom prst="rect">
            <a:avLst/>
          </a:prstGeom>
          <a:noFill/>
          <a:ln/>
        </p:spPr>
        <p:txBody>
          <a:bodyPr wrap="square" lIns="0" tIns="0" rIns="0" bIns="0" rtlCol="0" anchor="t"/>
          <a:lstStyle/>
          <a:p>
            <a:pPr marL="0" indent="0" algn="ctr">
              <a:lnSpc>
                <a:spcPts val="2350"/>
              </a:lnSpc>
              <a:buNone/>
            </a:pPr>
            <a:r>
              <a:rPr lang="en-US" sz="1450" dirty="0">
                <a:solidFill>
                  <a:srgbClr val="EEEFF5"/>
                </a:solidFill>
                <a:latin typeface="Montserrat" pitchFamily="34" charset="0"/>
                <a:ea typeface="Montserrat" pitchFamily="34" charset="-122"/>
                <a:cs typeface="Montserrat" pitchFamily="34" charset="-120"/>
              </a:rPr>
              <a:t>Our model achieved an impressive 88% accuracy on the unseen test set, indicating its strong ability to correctly classify sentiment across positive, negative, and neutral categories.</a:t>
            </a:r>
            <a:endParaRPr lang="en-US" sz="1450" dirty="0"/>
          </a:p>
        </p:txBody>
      </p:sp>
      <p:sp>
        <p:nvSpPr>
          <p:cNvPr id="6" name="Text 4"/>
          <p:cNvSpPr/>
          <p:nvPr/>
        </p:nvSpPr>
        <p:spPr>
          <a:xfrm>
            <a:off x="7455694" y="1601867"/>
            <a:ext cx="6518910" cy="618292"/>
          </a:xfrm>
          <a:prstGeom prst="rect">
            <a:avLst/>
          </a:prstGeom>
          <a:noFill/>
          <a:ln/>
        </p:spPr>
        <p:txBody>
          <a:bodyPr wrap="none" lIns="0" tIns="0" rIns="0" bIns="0" rtlCol="0" anchor="t"/>
          <a:lstStyle/>
          <a:p>
            <a:pPr marL="0" indent="0" algn="ctr">
              <a:lnSpc>
                <a:spcPts val="4850"/>
              </a:lnSpc>
              <a:buNone/>
            </a:pPr>
            <a:r>
              <a:rPr lang="en-US" sz="4850" b="1" dirty="0">
                <a:solidFill>
                  <a:srgbClr val="EEEFF5"/>
                </a:solidFill>
                <a:latin typeface="Barlow Bold" pitchFamily="34" charset="0"/>
                <a:ea typeface="Barlow Bold" pitchFamily="34" charset="-122"/>
                <a:cs typeface="Barlow Bold" pitchFamily="34" charset="-120"/>
              </a:rPr>
              <a:t>89%</a:t>
            </a:r>
            <a:endParaRPr lang="en-US" sz="4850" dirty="0"/>
          </a:p>
        </p:txBody>
      </p:sp>
      <p:sp>
        <p:nvSpPr>
          <p:cNvPr id="7" name="Text 5"/>
          <p:cNvSpPr/>
          <p:nvPr/>
        </p:nvSpPr>
        <p:spPr>
          <a:xfrm>
            <a:off x="9482257" y="2454235"/>
            <a:ext cx="2465665" cy="308134"/>
          </a:xfrm>
          <a:prstGeom prst="rect">
            <a:avLst/>
          </a:prstGeom>
          <a:noFill/>
          <a:ln/>
        </p:spPr>
        <p:txBody>
          <a:bodyPr wrap="none" lIns="0" tIns="0" rIns="0" bIns="0" rtlCol="0" anchor="t"/>
          <a:lstStyle/>
          <a:p>
            <a:pPr marL="0" indent="0" algn="ctr">
              <a:lnSpc>
                <a:spcPts val="2400"/>
              </a:lnSpc>
              <a:buNone/>
            </a:pPr>
            <a:r>
              <a:rPr lang="en-US" sz="1900" b="1" dirty="0">
                <a:solidFill>
                  <a:srgbClr val="EEEFF5"/>
                </a:solidFill>
                <a:latin typeface="Barlow Bold" pitchFamily="34" charset="0"/>
                <a:ea typeface="Barlow Bold" pitchFamily="34" charset="-122"/>
                <a:cs typeface="Barlow Bold" pitchFamily="34" charset="-120"/>
              </a:rPr>
              <a:t>Precision</a:t>
            </a:r>
            <a:endParaRPr lang="en-US" sz="1900" dirty="0"/>
          </a:p>
        </p:txBody>
      </p:sp>
      <p:sp>
        <p:nvSpPr>
          <p:cNvPr id="8" name="Text 6"/>
          <p:cNvSpPr/>
          <p:nvPr/>
        </p:nvSpPr>
        <p:spPr>
          <a:xfrm>
            <a:off x="7455694" y="2874764"/>
            <a:ext cx="6518910" cy="899398"/>
          </a:xfrm>
          <a:prstGeom prst="rect">
            <a:avLst/>
          </a:prstGeom>
          <a:noFill/>
          <a:ln/>
        </p:spPr>
        <p:txBody>
          <a:bodyPr wrap="square" lIns="0" tIns="0" rIns="0" bIns="0" rtlCol="0" anchor="t"/>
          <a:lstStyle/>
          <a:p>
            <a:pPr marL="0" indent="0" algn="ctr">
              <a:lnSpc>
                <a:spcPts val="2350"/>
              </a:lnSpc>
              <a:buNone/>
            </a:pPr>
            <a:r>
              <a:rPr lang="en-US" sz="1450" dirty="0">
                <a:solidFill>
                  <a:srgbClr val="EEEFF5"/>
                </a:solidFill>
                <a:latin typeface="Montserrat" pitchFamily="34" charset="0"/>
                <a:ea typeface="Montserrat" pitchFamily="34" charset="-122"/>
                <a:cs typeface="Montserrat" pitchFamily="34" charset="-120"/>
              </a:rPr>
              <a:t>With 89% precision, the model demonstrates a high rate of true positive predictions. This means that when it predicts a certain sentiment, it is very likely to be correct.</a:t>
            </a:r>
            <a:endParaRPr lang="en-US" sz="1450" dirty="0"/>
          </a:p>
        </p:txBody>
      </p:sp>
      <p:sp>
        <p:nvSpPr>
          <p:cNvPr id="9" name="Text 7"/>
          <p:cNvSpPr/>
          <p:nvPr/>
        </p:nvSpPr>
        <p:spPr>
          <a:xfrm>
            <a:off x="655796" y="4429839"/>
            <a:ext cx="6518910" cy="618292"/>
          </a:xfrm>
          <a:prstGeom prst="rect">
            <a:avLst/>
          </a:prstGeom>
          <a:noFill/>
          <a:ln/>
        </p:spPr>
        <p:txBody>
          <a:bodyPr wrap="none" lIns="0" tIns="0" rIns="0" bIns="0" rtlCol="0" anchor="t"/>
          <a:lstStyle/>
          <a:p>
            <a:pPr marL="0" indent="0" algn="ctr">
              <a:lnSpc>
                <a:spcPts val="4850"/>
              </a:lnSpc>
              <a:buNone/>
            </a:pPr>
            <a:r>
              <a:rPr lang="en-US" sz="4850" b="1" dirty="0">
                <a:solidFill>
                  <a:srgbClr val="EEEFF5"/>
                </a:solidFill>
                <a:latin typeface="Barlow Bold" pitchFamily="34" charset="0"/>
                <a:ea typeface="Barlow Bold" pitchFamily="34" charset="-122"/>
                <a:cs typeface="Barlow Bold" pitchFamily="34" charset="-120"/>
              </a:rPr>
              <a:t>87%</a:t>
            </a:r>
            <a:endParaRPr lang="en-US" sz="4850" dirty="0"/>
          </a:p>
        </p:txBody>
      </p:sp>
      <p:sp>
        <p:nvSpPr>
          <p:cNvPr id="10" name="Text 8"/>
          <p:cNvSpPr/>
          <p:nvPr/>
        </p:nvSpPr>
        <p:spPr>
          <a:xfrm>
            <a:off x="2682359" y="5282208"/>
            <a:ext cx="2465665" cy="308134"/>
          </a:xfrm>
          <a:prstGeom prst="rect">
            <a:avLst/>
          </a:prstGeom>
          <a:noFill/>
          <a:ln/>
        </p:spPr>
        <p:txBody>
          <a:bodyPr wrap="none" lIns="0" tIns="0" rIns="0" bIns="0" rtlCol="0" anchor="t"/>
          <a:lstStyle/>
          <a:p>
            <a:pPr marL="0" indent="0" algn="ctr">
              <a:lnSpc>
                <a:spcPts val="2400"/>
              </a:lnSpc>
              <a:buNone/>
            </a:pPr>
            <a:r>
              <a:rPr lang="en-US" sz="1900" b="1" dirty="0">
                <a:solidFill>
                  <a:srgbClr val="EEEFF5"/>
                </a:solidFill>
                <a:latin typeface="Barlow Bold" pitchFamily="34" charset="0"/>
                <a:ea typeface="Barlow Bold" pitchFamily="34" charset="-122"/>
                <a:cs typeface="Barlow Bold" pitchFamily="34" charset="-120"/>
              </a:rPr>
              <a:t>Recall</a:t>
            </a:r>
            <a:endParaRPr lang="en-US" sz="1900" dirty="0"/>
          </a:p>
        </p:txBody>
      </p:sp>
      <p:sp>
        <p:nvSpPr>
          <p:cNvPr id="11" name="Text 9"/>
          <p:cNvSpPr/>
          <p:nvPr/>
        </p:nvSpPr>
        <p:spPr>
          <a:xfrm>
            <a:off x="655796" y="5702737"/>
            <a:ext cx="6518910" cy="899398"/>
          </a:xfrm>
          <a:prstGeom prst="rect">
            <a:avLst/>
          </a:prstGeom>
          <a:noFill/>
          <a:ln/>
        </p:spPr>
        <p:txBody>
          <a:bodyPr wrap="square" lIns="0" tIns="0" rIns="0" bIns="0" rtlCol="0" anchor="t"/>
          <a:lstStyle/>
          <a:p>
            <a:pPr marL="0" indent="0" algn="ctr">
              <a:lnSpc>
                <a:spcPts val="2350"/>
              </a:lnSpc>
              <a:buNone/>
            </a:pPr>
            <a:r>
              <a:rPr lang="en-US" sz="1450" dirty="0">
                <a:solidFill>
                  <a:srgbClr val="EEEFF5"/>
                </a:solidFill>
                <a:latin typeface="Montserrat" pitchFamily="34" charset="0"/>
                <a:ea typeface="Montserrat" pitchFamily="34" charset="-122"/>
                <a:cs typeface="Montserrat" pitchFamily="34" charset="-120"/>
              </a:rPr>
              <a:t>The model's recall of 87% signifies its effectiveness in identifying all relevant instances for each sentiment class. It successfully captured a high proportion of actual positive, negative, and neutral sentiments.</a:t>
            </a:r>
            <a:endParaRPr lang="en-US" sz="1450" dirty="0"/>
          </a:p>
        </p:txBody>
      </p:sp>
      <p:sp>
        <p:nvSpPr>
          <p:cNvPr id="12" name="Text 10"/>
          <p:cNvSpPr/>
          <p:nvPr/>
        </p:nvSpPr>
        <p:spPr>
          <a:xfrm>
            <a:off x="7455694" y="4429839"/>
            <a:ext cx="6518910" cy="618292"/>
          </a:xfrm>
          <a:prstGeom prst="rect">
            <a:avLst/>
          </a:prstGeom>
          <a:noFill/>
          <a:ln/>
        </p:spPr>
        <p:txBody>
          <a:bodyPr wrap="none" lIns="0" tIns="0" rIns="0" bIns="0" rtlCol="0" anchor="t"/>
          <a:lstStyle/>
          <a:p>
            <a:pPr marL="0" indent="0" algn="ctr">
              <a:lnSpc>
                <a:spcPts val="4850"/>
              </a:lnSpc>
              <a:buNone/>
            </a:pPr>
            <a:r>
              <a:rPr lang="en-US" sz="4850" b="1" dirty="0">
                <a:solidFill>
                  <a:srgbClr val="EEEFF5"/>
                </a:solidFill>
                <a:latin typeface="Barlow Bold" pitchFamily="34" charset="0"/>
                <a:ea typeface="Barlow Bold" pitchFamily="34" charset="-122"/>
                <a:cs typeface="Barlow Bold" pitchFamily="34" charset="-120"/>
              </a:rPr>
              <a:t>88%</a:t>
            </a:r>
            <a:endParaRPr lang="en-US" sz="4850" dirty="0"/>
          </a:p>
        </p:txBody>
      </p:sp>
      <p:sp>
        <p:nvSpPr>
          <p:cNvPr id="13" name="Text 11"/>
          <p:cNvSpPr/>
          <p:nvPr/>
        </p:nvSpPr>
        <p:spPr>
          <a:xfrm>
            <a:off x="9482257" y="5282208"/>
            <a:ext cx="2465665" cy="308134"/>
          </a:xfrm>
          <a:prstGeom prst="rect">
            <a:avLst/>
          </a:prstGeom>
          <a:noFill/>
          <a:ln/>
        </p:spPr>
        <p:txBody>
          <a:bodyPr wrap="none" lIns="0" tIns="0" rIns="0" bIns="0" rtlCol="0" anchor="t"/>
          <a:lstStyle/>
          <a:p>
            <a:pPr marL="0" indent="0" algn="ctr">
              <a:lnSpc>
                <a:spcPts val="2400"/>
              </a:lnSpc>
              <a:buNone/>
            </a:pPr>
            <a:r>
              <a:rPr lang="en-US" sz="1900" b="1" dirty="0">
                <a:solidFill>
                  <a:srgbClr val="EEEFF5"/>
                </a:solidFill>
                <a:latin typeface="Barlow Bold" pitchFamily="34" charset="0"/>
                <a:ea typeface="Barlow Bold" pitchFamily="34" charset="-122"/>
                <a:cs typeface="Barlow Bold" pitchFamily="34" charset="-120"/>
              </a:rPr>
              <a:t>F1-score</a:t>
            </a:r>
            <a:endParaRPr lang="en-US" sz="1900" dirty="0"/>
          </a:p>
        </p:txBody>
      </p:sp>
      <p:sp>
        <p:nvSpPr>
          <p:cNvPr id="14" name="Text 12"/>
          <p:cNvSpPr/>
          <p:nvPr/>
        </p:nvSpPr>
        <p:spPr>
          <a:xfrm>
            <a:off x="7455694" y="5702737"/>
            <a:ext cx="6518910" cy="1199198"/>
          </a:xfrm>
          <a:prstGeom prst="rect">
            <a:avLst/>
          </a:prstGeom>
          <a:noFill/>
          <a:ln/>
        </p:spPr>
        <p:txBody>
          <a:bodyPr wrap="square" lIns="0" tIns="0" rIns="0" bIns="0" rtlCol="0" anchor="t"/>
          <a:lstStyle/>
          <a:p>
            <a:pPr marL="0" indent="0" algn="ctr">
              <a:lnSpc>
                <a:spcPts val="2350"/>
              </a:lnSpc>
              <a:buNone/>
            </a:pPr>
            <a:r>
              <a:rPr lang="en-US" sz="1450" dirty="0">
                <a:solidFill>
                  <a:srgbClr val="EEEFF5"/>
                </a:solidFill>
                <a:latin typeface="Montserrat" pitchFamily="34" charset="0"/>
                <a:ea typeface="Montserrat" pitchFamily="34" charset="-122"/>
                <a:cs typeface="Montserrat" pitchFamily="34" charset="-120"/>
              </a:rPr>
              <a:t>The F1-score of 88% represents the harmonic mean of precision and recall, providing a balanced measure of the model's overall performance, especially useful for imbalanced datasets (though ours was balanced).</a:t>
            </a:r>
            <a:endParaRPr lang="en-US" sz="1450" dirty="0"/>
          </a:p>
        </p:txBody>
      </p:sp>
      <p:sp>
        <p:nvSpPr>
          <p:cNvPr id="15" name="Text 13"/>
          <p:cNvSpPr/>
          <p:nvPr/>
        </p:nvSpPr>
        <p:spPr>
          <a:xfrm>
            <a:off x="655796" y="7112675"/>
            <a:ext cx="13318808" cy="599599"/>
          </a:xfrm>
          <a:prstGeom prst="rect">
            <a:avLst/>
          </a:prstGeom>
          <a:noFill/>
          <a:ln/>
        </p:spPr>
        <p:txBody>
          <a:bodyPr wrap="square" lIns="0" tIns="0" rIns="0" bIns="0" rtlCol="0" anchor="t"/>
          <a:lstStyle/>
          <a:p>
            <a:pPr marL="0" indent="0" algn="l">
              <a:lnSpc>
                <a:spcPts val="2350"/>
              </a:lnSpc>
              <a:buNone/>
            </a:pPr>
            <a:r>
              <a:rPr lang="en-US" sz="1450" dirty="0">
                <a:solidFill>
                  <a:srgbClr val="EEEFF5"/>
                </a:solidFill>
                <a:latin typeface="Montserrat" pitchFamily="34" charset="0"/>
                <a:ea typeface="Montserrat" pitchFamily="34" charset="-122"/>
                <a:cs typeface="Montserrat" pitchFamily="34" charset="-120"/>
              </a:rPr>
              <a:t>These robust metrics showcase a significant improvement of 10% over our baseline text-only model, validating the power of multimodal analysis in sentiment detection.</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0209" y="565904"/>
            <a:ext cx="5456753" cy="676989"/>
          </a:xfrm>
          <a:prstGeom prst="rect">
            <a:avLst/>
          </a:prstGeom>
          <a:noFill/>
          <a:ln/>
        </p:spPr>
        <p:txBody>
          <a:bodyPr wrap="none" lIns="0" tIns="0" rIns="0" bIns="0" rtlCol="0" anchor="t"/>
          <a:lstStyle/>
          <a:p>
            <a:pPr marL="0" indent="0" algn="l">
              <a:lnSpc>
                <a:spcPts val="5300"/>
              </a:lnSpc>
              <a:buNone/>
            </a:pPr>
            <a:r>
              <a:rPr lang="en-US" sz="4250" b="1" dirty="0">
                <a:solidFill>
                  <a:srgbClr val="9998FF"/>
                </a:solidFill>
                <a:latin typeface="Barlow Bold" pitchFamily="34" charset="0"/>
                <a:ea typeface="Barlow Bold" pitchFamily="34" charset="-122"/>
                <a:cs typeface="Barlow Bold" pitchFamily="34" charset="-120"/>
              </a:rPr>
              <a:t>Results: Error Analysis</a:t>
            </a:r>
            <a:endParaRPr lang="en-US" sz="4250" dirty="0"/>
          </a:p>
        </p:txBody>
      </p:sp>
      <p:pic>
        <p:nvPicPr>
          <p:cNvPr id="3" name="Image 0" descr="preencoded.png"/>
          <p:cNvPicPr>
            <a:picLocks noChangeAspect="1"/>
          </p:cNvPicPr>
          <p:nvPr/>
        </p:nvPicPr>
        <p:blipFill>
          <a:blip r:embed="rId3"/>
          <a:stretch>
            <a:fillRect/>
          </a:stretch>
        </p:blipFill>
        <p:spPr>
          <a:xfrm>
            <a:off x="720209" y="1782961"/>
            <a:ext cx="4061460" cy="2778800"/>
          </a:xfrm>
          <a:prstGeom prst="rect">
            <a:avLst/>
          </a:prstGeom>
        </p:spPr>
      </p:pic>
      <p:sp>
        <p:nvSpPr>
          <p:cNvPr id="4" name="Text 1"/>
          <p:cNvSpPr/>
          <p:nvPr/>
        </p:nvSpPr>
        <p:spPr>
          <a:xfrm>
            <a:off x="720209" y="4793218"/>
            <a:ext cx="3042999" cy="338376"/>
          </a:xfrm>
          <a:prstGeom prst="rect">
            <a:avLst/>
          </a:prstGeom>
          <a:noFill/>
          <a:ln/>
        </p:spPr>
        <p:txBody>
          <a:bodyPr wrap="none" lIns="0" tIns="0" rIns="0" bIns="0" rtlCol="0" anchor="t"/>
          <a:lstStyle/>
          <a:p>
            <a:pPr marL="0" indent="0" algn="l">
              <a:lnSpc>
                <a:spcPts val="2650"/>
              </a:lnSpc>
              <a:buNone/>
            </a:pPr>
            <a:r>
              <a:rPr lang="en-US" sz="2100" b="1" dirty="0">
                <a:solidFill>
                  <a:srgbClr val="9998FF"/>
                </a:solidFill>
                <a:latin typeface="Barlow Bold" pitchFamily="34" charset="0"/>
                <a:ea typeface="Barlow Bold" pitchFamily="34" charset="-122"/>
                <a:cs typeface="Barlow Bold" pitchFamily="34" charset="-120"/>
              </a:rPr>
              <a:t>Confusion Matrix Insights</a:t>
            </a:r>
            <a:endParaRPr lang="en-US" sz="2100" dirty="0"/>
          </a:p>
        </p:txBody>
      </p:sp>
      <p:sp>
        <p:nvSpPr>
          <p:cNvPr id="5" name="Text 2"/>
          <p:cNvSpPr/>
          <p:nvPr/>
        </p:nvSpPr>
        <p:spPr>
          <a:xfrm>
            <a:off x="720209" y="5337334"/>
            <a:ext cx="4061460" cy="2305288"/>
          </a:xfrm>
          <a:prstGeom prst="rect">
            <a:avLst/>
          </a:prstGeom>
          <a:noFill/>
          <a:ln/>
        </p:spPr>
        <p:txBody>
          <a:bodyPr wrap="square" lIns="0" tIns="0" rIns="0" bIns="0" rtlCol="0" anchor="t"/>
          <a:lstStyle/>
          <a:p>
            <a:pPr marL="0" indent="0" algn="l">
              <a:lnSpc>
                <a:spcPts val="2550"/>
              </a:lnSpc>
              <a:buNone/>
            </a:pPr>
            <a:r>
              <a:rPr lang="en-US" sz="1600" dirty="0">
                <a:solidFill>
                  <a:srgbClr val="EEEFF5"/>
                </a:solidFill>
                <a:latin typeface="Montserrat" pitchFamily="34" charset="0"/>
                <a:ea typeface="Montserrat" pitchFamily="34" charset="-122"/>
                <a:cs typeface="Montserrat" pitchFamily="34" charset="-120"/>
              </a:rPr>
              <a:t>Analysis of the confusion matrix revealed specific areas where the model struggled, particularly with distinguishing between neutral and mildly positive/negative sentiments. This suggests subtle cues are still challenging.</a:t>
            </a:r>
            <a:endParaRPr lang="en-US" sz="1600" dirty="0"/>
          </a:p>
        </p:txBody>
      </p:sp>
      <p:sp>
        <p:nvSpPr>
          <p:cNvPr id="6" name="Text 3"/>
          <p:cNvSpPr/>
          <p:nvPr/>
        </p:nvSpPr>
        <p:spPr>
          <a:xfrm>
            <a:off x="5291257" y="1757243"/>
            <a:ext cx="2936081" cy="338376"/>
          </a:xfrm>
          <a:prstGeom prst="rect">
            <a:avLst/>
          </a:prstGeom>
          <a:noFill/>
          <a:ln/>
        </p:spPr>
        <p:txBody>
          <a:bodyPr wrap="none" lIns="0" tIns="0" rIns="0" bIns="0" rtlCol="0" anchor="t"/>
          <a:lstStyle/>
          <a:p>
            <a:pPr marL="0" indent="0" algn="l">
              <a:lnSpc>
                <a:spcPts val="2650"/>
              </a:lnSpc>
              <a:buNone/>
            </a:pPr>
            <a:r>
              <a:rPr lang="en-US" sz="2100" b="1" dirty="0">
                <a:solidFill>
                  <a:srgbClr val="9998FF"/>
                </a:solidFill>
                <a:latin typeface="Barlow Bold" pitchFamily="34" charset="0"/>
                <a:ea typeface="Barlow Bold" pitchFamily="34" charset="-122"/>
                <a:cs typeface="Barlow Bold" pitchFamily="34" charset="-120"/>
              </a:rPr>
              <a:t>Sarcasm Remains Tricky</a:t>
            </a:r>
            <a:endParaRPr lang="en-US" sz="2100" dirty="0"/>
          </a:p>
        </p:txBody>
      </p:sp>
      <p:sp>
        <p:nvSpPr>
          <p:cNvPr id="7" name="Text 4"/>
          <p:cNvSpPr/>
          <p:nvPr/>
        </p:nvSpPr>
        <p:spPr>
          <a:xfrm>
            <a:off x="5291257" y="2301359"/>
            <a:ext cx="4061460" cy="1975961"/>
          </a:xfrm>
          <a:prstGeom prst="rect">
            <a:avLst/>
          </a:prstGeom>
          <a:noFill/>
          <a:ln/>
        </p:spPr>
        <p:txBody>
          <a:bodyPr wrap="square" lIns="0" tIns="0" rIns="0" bIns="0" rtlCol="0" anchor="t"/>
          <a:lstStyle/>
          <a:p>
            <a:pPr marL="0" indent="0" algn="l">
              <a:lnSpc>
                <a:spcPts val="2550"/>
              </a:lnSpc>
              <a:buNone/>
            </a:pPr>
            <a:r>
              <a:rPr lang="en-US" sz="1600" dirty="0">
                <a:solidFill>
                  <a:srgbClr val="EEEFF5"/>
                </a:solidFill>
                <a:latin typeface="Montserrat" pitchFamily="34" charset="0"/>
                <a:ea typeface="Montserrat" pitchFamily="34" charset="-122"/>
                <a:cs typeface="Montserrat" pitchFamily="34" charset="-120"/>
              </a:rPr>
              <a:t>Despite improvements, sarcasm and irony continue to be difficult for the model to detect consistently. These expressions often rely on subtle textual and visual contradictions that are hard for AI to fully grasp.</a:t>
            </a:r>
            <a:endParaRPr lang="en-US" sz="1600" dirty="0"/>
          </a:p>
        </p:txBody>
      </p:sp>
      <p:sp>
        <p:nvSpPr>
          <p:cNvPr id="8" name="Text 5"/>
          <p:cNvSpPr/>
          <p:nvPr/>
        </p:nvSpPr>
        <p:spPr>
          <a:xfrm>
            <a:off x="5291257" y="4462463"/>
            <a:ext cx="4061460" cy="1646634"/>
          </a:xfrm>
          <a:prstGeom prst="rect">
            <a:avLst/>
          </a:prstGeom>
          <a:noFill/>
          <a:ln/>
        </p:spPr>
        <p:txBody>
          <a:bodyPr wrap="square" lIns="0" tIns="0" rIns="0" bIns="0" rtlCol="0" anchor="t"/>
          <a:lstStyle/>
          <a:p>
            <a:pPr marL="0" indent="0" algn="l">
              <a:lnSpc>
                <a:spcPts val="2550"/>
              </a:lnSpc>
              <a:buNone/>
            </a:pPr>
            <a:r>
              <a:rPr lang="en-US" sz="1600" dirty="0">
                <a:solidFill>
                  <a:srgbClr val="EEEFF5"/>
                </a:solidFill>
                <a:latin typeface="Montserrat" pitchFamily="34" charset="0"/>
                <a:ea typeface="Montserrat" pitchFamily="34" charset="-122"/>
                <a:cs typeface="Montserrat" pitchFamily="34" charset="-120"/>
              </a:rPr>
              <a:t>For example, an image of a person smiling while the text reads "What a fantastic day, truly thrilled to be stuck in traffic!" might be misclassified if the model over-indexes on the smile.</a:t>
            </a:r>
            <a:endParaRPr lang="en-US" sz="1600" dirty="0"/>
          </a:p>
        </p:txBody>
      </p:sp>
      <p:sp>
        <p:nvSpPr>
          <p:cNvPr id="9" name="Text 6"/>
          <p:cNvSpPr/>
          <p:nvPr/>
        </p:nvSpPr>
        <p:spPr>
          <a:xfrm>
            <a:off x="9862304" y="1757243"/>
            <a:ext cx="2707838" cy="338376"/>
          </a:xfrm>
          <a:prstGeom prst="rect">
            <a:avLst/>
          </a:prstGeom>
          <a:noFill/>
          <a:ln/>
        </p:spPr>
        <p:txBody>
          <a:bodyPr wrap="none" lIns="0" tIns="0" rIns="0" bIns="0" rtlCol="0" anchor="t"/>
          <a:lstStyle/>
          <a:p>
            <a:pPr marL="0" indent="0" algn="l">
              <a:lnSpc>
                <a:spcPts val="2650"/>
              </a:lnSpc>
              <a:buNone/>
            </a:pPr>
            <a:r>
              <a:rPr lang="en-US" sz="2100" b="1" dirty="0">
                <a:solidFill>
                  <a:srgbClr val="9998FF"/>
                </a:solidFill>
                <a:latin typeface="Barlow Bold" pitchFamily="34" charset="0"/>
                <a:ea typeface="Barlow Bold" pitchFamily="34" charset="-122"/>
                <a:cs typeface="Barlow Bold" pitchFamily="34" charset="-120"/>
              </a:rPr>
              <a:t>Future Work</a:t>
            </a:r>
            <a:endParaRPr lang="en-US" sz="2100" dirty="0"/>
          </a:p>
        </p:txBody>
      </p:sp>
      <p:sp>
        <p:nvSpPr>
          <p:cNvPr id="10" name="Text 7"/>
          <p:cNvSpPr/>
          <p:nvPr/>
        </p:nvSpPr>
        <p:spPr>
          <a:xfrm>
            <a:off x="9862304" y="2301359"/>
            <a:ext cx="4061460" cy="2305288"/>
          </a:xfrm>
          <a:prstGeom prst="rect">
            <a:avLst/>
          </a:prstGeom>
          <a:noFill/>
          <a:ln/>
        </p:spPr>
        <p:txBody>
          <a:bodyPr wrap="square" lIns="0" tIns="0" rIns="0" bIns="0" rtlCol="0" anchor="t"/>
          <a:lstStyle/>
          <a:p>
            <a:pPr marL="0" indent="0" algn="l">
              <a:lnSpc>
                <a:spcPts val="2550"/>
              </a:lnSpc>
              <a:buNone/>
            </a:pPr>
            <a:r>
              <a:rPr lang="en-US" sz="1600" dirty="0">
                <a:solidFill>
                  <a:srgbClr val="EEEFF5"/>
                </a:solidFill>
                <a:latin typeface="Montserrat" pitchFamily="34" charset="0"/>
                <a:ea typeface="Montserrat" pitchFamily="34" charset="-122"/>
                <a:cs typeface="Montserrat" pitchFamily="34" charset="-120"/>
              </a:rPr>
              <a:t>Future iterations will explore incorporating more contextual data, such as user profiles, historical interactions, and broader topic understanding, to further enhance the model's ability to interpret complex and nuanced expressions.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1567220"/>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Conclusion</a:t>
            </a:r>
            <a:endParaRPr lang="en-US" sz="4450" dirty="0"/>
          </a:p>
        </p:txBody>
      </p:sp>
      <p:sp>
        <p:nvSpPr>
          <p:cNvPr id="4" name="Text 1"/>
          <p:cNvSpPr/>
          <p:nvPr/>
        </p:nvSpPr>
        <p:spPr>
          <a:xfrm>
            <a:off x="6244709" y="2604849"/>
            <a:ext cx="7627382" cy="173355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Our project definitively demonstrates that multimodal sentiment analysis, by integrating both text and image data, provides significantly better results than single-modality approaches. This combined understanding opens new doors to a much more nuanced and accurate interpretation of emotional expressions.</a:t>
            </a:r>
            <a:endParaRPr lang="en-US" sz="1700" dirty="0"/>
          </a:p>
        </p:txBody>
      </p:sp>
      <p:sp>
        <p:nvSpPr>
          <p:cNvPr id="5" name="Text 2"/>
          <p:cNvSpPr/>
          <p:nvPr/>
        </p:nvSpPr>
        <p:spPr>
          <a:xfrm>
            <a:off x="6244709" y="4582120"/>
            <a:ext cx="7627382" cy="208026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The potential applications of this technology are vast. From enhancing brand monitoring by understanding public perception more deeply, to improving customer service by identifying emotional distress in user interactions, and providing more precise social analytics, multimodal sentiment analysis is set to revolutionize how we understand digital communication.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1378</Words>
  <Application>Microsoft Office PowerPoint</Application>
  <PresentationFormat>Custom</PresentationFormat>
  <Paragraphs>94</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Barlow Bold</vt:lpstr>
      <vt:lpstr>Montserrat</vt:lpstr>
      <vt:lpstr>Algerian</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Divyam Raj</cp:lastModifiedBy>
  <cp:revision>2</cp:revision>
  <dcterms:created xsi:type="dcterms:W3CDTF">2025-05-25T11:13:00Z</dcterms:created>
  <dcterms:modified xsi:type="dcterms:W3CDTF">2025-05-25T12:26:43Z</dcterms:modified>
</cp:coreProperties>
</file>