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6280190" y="2337197"/>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Revolutionizing Resume Screening with NLP &amp; Transformers</a:t>
            </a:r>
            <a:endParaRPr lang="en-US" sz="4450" dirty="0"/>
          </a:p>
        </p:txBody>
      </p:sp>
      <p:sp>
        <p:nvSpPr>
          <p:cNvPr id="4" name="Text 1"/>
          <p:cNvSpPr/>
          <p:nvPr/>
        </p:nvSpPr>
        <p:spPr>
          <a:xfrm>
            <a:off x="6280190" y="4803696"/>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8F8F8F"/>
                </a:solidFill>
                <a:latin typeface="Funnel Sans" pitchFamily="34" charset="0"/>
                <a:ea typeface="Funnel Sans" pitchFamily="34" charset="-122"/>
                <a:cs typeface="Funnel Sans" pitchFamily="34" charset="-120"/>
              </a:rPr>
              <a:t>The future of HR is here, leveraging AI for smarter hiring decisions. We automate and accelerate candidate selection with cutting-edge technology.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6260902" y="610314"/>
            <a:ext cx="7594997" cy="1383030"/>
          </a:xfrm>
          <a:prstGeom prst="rect">
            <a:avLst/>
          </a:prstGeom>
          <a:noFill/>
          <a:ln/>
        </p:spPr>
        <p:txBody>
          <a:bodyPr wrap="square" lIns="0" tIns="0" rIns="0" bIns="0" rtlCol="0" anchor="t"/>
          <a:lstStyle/>
          <a:p>
            <a:pPr algn="l" indent="0" marL="0">
              <a:lnSpc>
                <a:spcPts val="5400"/>
              </a:lnSpc>
              <a:buNone/>
            </a:pPr>
            <a:r>
              <a:rPr lang="en-US" sz="4350" dirty="0">
                <a:solidFill>
                  <a:srgbClr val="DDDDDD"/>
                </a:solidFill>
                <a:latin typeface="Mona Sans Semi Bold" pitchFamily="34" charset="0"/>
                <a:ea typeface="Mona Sans Semi Bold" pitchFamily="34" charset="-122"/>
                <a:cs typeface="Mona Sans Semi Bold" pitchFamily="34" charset="-120"/>
              </a:rPr>
              <a:t>What is NLP? (Natural Language Processing)</a:t>
            </a:r>
            <a:endParaRPr lang="en-US" sz="4350" dirty="0"/>
          </a:p>
        </p:txBody>
      </p:sp>
      <p:pic>
        <p:nvPicPr>
          <p:cNvPr id="4" name="Image 1" descr="preencoded.png">    </p:cNvPr>
          <p:cNvPicPr>
            <a:picLocks noChangeAspect="1"/>
          </p:cNvPicPr>
          <p:nvPr/>
        </p:nvPicPr>
        <p:blipFill>
          <a:blip r:embed="rId2"/>
          <a:stretch>
            <a:fillRect/>
          </a:stretch>
        </p:blipFill>
        <p:spPr>
          <a:xfrm>
            <a:off x="6260902" y="2325172"/>
            <a:ext cx="1106448" cy="1327666"/>
          </a:xfrm>
          <a:prstGeom prst="rect">
            <a:avLst/>
          </a:prstGeom>
        </p:spPr>
      </p:pic>
      <p:sp>
        <p:nvSpPr>
          <p:cNvPr id="5" name="Text 1"/>
          <p:cNvSpPr/>
          <p:nvPr/>
        </p:nvSpPr>
        <p:spPr>
          <a:xfrm>
            <a:off x="7699177" y="2546390"/>
            <a:ext cx="2766179" cy="345638"/>
          </a:xfrm>
          <a:prstGeom prst="rect">
            <a:avLst/>
          </a:prstGeom>
          <a:noFill/>
          <a:ln/>
        </p:spPr>
        <p:txBody>
          <a:bodyPr wrap="none" lIns="0" tIns="0" rIns="0" bIns="0" rtlCol="0" anchor="t"/>
          <a:lstStyle/>
          <a:p>
            <a:pPr algn="l" indent="0" marL="0">
              <a:lnSpc>
                <a:spcPts val="2700"/>
              </a:lnSpc>
              <a:buNone/>
            </a:pPr>
            <a:r>
              <a:rPr lang="en-US" sz="2150" dirty="0">
                <a:solidFill>
                  <a:srgbClr val="8F8F8F"/>
                </a:solidFill>
                <a:latin typeface="Mona Sans Semi Bold" pitchFamily="34" charset="0"/>
                <a:ea typeface="Mona Sans Semi Bold" pitchFamily="34" charset="-122"/>
                <a:cs typeface="Mona Sans Semi Bold" pitchFamily="34" charset="-120"/>
              </a:rPr>
              <a:t>Read Language</a:t>
            </a:r>
            <a:endParaRPr lang="en-US" sz="2150" dirty="0"/>
          </a:p>
        </p:txBody>
      </p:sp>
      <p:sp>
        <p:nvSpPr>
          <p:cNvPr id="6" name="Text 2"/>
          <p:cNvSpPr/>
          <p:nvPr/>
        </p:nvSpPr>
        <p:spPr>
          <a:xfrm>
            <a:off x="7699177" y="3024783"/>
            <a:ext cx="6156722" cy="354092"/>
          </a:xfrm>
          <a:prstGeom prst="rect">
            <a:avLst/>
          </a:prstGeom>
          <a:noFill/>
          <a:ln/>
        </p:spPr>
        <p:txBody>
          <a:bodyPr wrap="none" lIns="0" tIns="0" rIns="0" bIns="0" rtlCol="0" anchor="t"/>
          <a:lstStyle/>
          <a:p>
            <a:pPr algn="l" indent="0" marL="0">
              <a:lnSpc>
                <a:spcPts val="2750"/>
              </a:lnSpc>
              <a:buNone/>
            </a:pPr>
            <a:r>
              <a:rPr lang="en-US" sz="1700" dirty="0">
                <a:solidFill>
                  <a:srgbClr val="8F8F8F"/>
                </a:solidFill>
                <a:latin typeface="Funnel Sans" pitchFamily="34" charset="0"/>
                <a:ea typeface="Funnel Sans" pitchFamily="34" charset="-122"/>
                <a:cs typeface="Funnel Sans" pitchFamily="34" charset="-120"/>
              </a:rPr>
              <a:t>Computers learn to "read" human language.</a:t>
            </a:r>
            <a:endParaRPr lang="en-US" sz="1700" dirty="0"/>
          </a:p>
        </p:txBody>
      </p:sp>
      <p:pic>
        <p:nvPicPr>
          <p:cNvPr id="7" name="Image 2" descr="preencoded.png">    </p:cNvPr>
          <p:cNvPicPr>
            <a:picLocks noChangeAspect="1"/>
          </p:cNvPicPr>
          <p:nvPr/>
        </p:nvPicPr>
        <p:blipFill>
          <a:blip r:embed="rId3"/>
          <a:stretch>
            <a:fillRect/>
          </a:stretch>
        </p:blipFill>
        <p:spPr>
          <a:xfrm>
            <a:off x="6260902" y="3652838"/>
            <a:ext cx="1106448" cy="1327666"/>
          </a:xfrm>
          <a:prstGeom prst="rect">
            <a:avLst/>
          </a:prstGeom>
        </p:spPr>
      </p:pic>
      <p:sp>
        <p:nvSpPr>
          <p:cNvPr id="8" name="Text 3"/>
          <p:cNvSpPr/>
          <p:nvPr/>
        </p:nvSpPr>
        <p:spPr>
          <a:xfrm>
            <a:off x="7699177" y="3874056"/>
            <a:ext cx="2807970" cy="345638"/>
          </a:xfrm>
          <a:prstGeom prst="rect">
            <a:avLst/>
          </a:prstGeom>
          <a:noFill/>
          <a:ln/>
        </p:spPr>
        <p:txBody>
          <a:bodyPr wrap="none" lIns="0" tIns="0" rIns="0" bIns="0" rtlCol="0" anchor="t"/>
          <a:lstStyle/>
          <a:p>
            <a:pPr algn="l" indent="0" marL="0">
              <a:lnSpc>
                <a:spcPts val="2700"/>
              </a:lnSpc>
              <a:buNone/>
            </a:pPr>
            <a:r>
              <a:rPr lang="en-US" sz="2150" dirty="0">
                <a:solidFill>
                  <a:srgbClr val="8F8F8F"/>
                </a:solidFill>
                <a:latin typeface="Mona Sans Semi Bold" pitchFamily="34" charset="0"/>
                <a:ea typeface="Mona Sans Semi Bold" pitchFamily="34" charset="-122"/>
                <a:cs typeface="Mona Sans Semi Bold" pitchFamily="34" charset="-120"/>
              </a:rPr>
              <a:t>Understand Meaning</a:t>
            </a:r>
            <a:endParaRPr lang="en-US" sz="2150" dirty="0"/>
          </a:p>
        </p:txBody>
      </p:sp>
      <p:sp>
        <p:nvSpPr>
          <p:cNvPr id="9" name="Text 4"/>
          <p:cNvSpPr/>
          <p:nvPr/>
        </p:nvSpPr>
        <p:spPr>
          <a:xfrm>
            <a:off x="7699177" y="4352449"/>
            <a:ext cx="6156722" cy="354092"/>
          </a:xfrm>
          <a:prstGeom prst="rect">
            <a:avLst/>
          </a:prstGeom>
          <a:noFill/>
          <a:ln/>
        </p:spPr>
        <p:txBody>
          <a:bodyPr wrap="none" lIns="0" tIns="0" rIns="0" bIns="0" rtlCol="0" anchor="t"/>
          <a:lstStyle/>
          <a:p>
            <a:pPr algn="l" indent="0" marL="0">
              <a:lnSpc>
                <a:spcPts val="2750"/>
              </a:lnSpc>
              <a:buNone/>
            </a:pPr>
            <a:r>
              <a:rPr lang="en-US" sz="1700" dirty="0">
                <a:solidFill>
                  <a:srgbClr val="8F8F8F"/>
                </a:solidFill>
                <a:latin typeface="Funnel Sans" pitchFamily="34" charset="0"/>
                <a:ea typeface="Funnel Sans" pitchFamily="34" charset="-122"/>
                <a:cs typeface="Funnel Sans" pitchFamily="34" charset="-120"/>
              </a:rPr>
              <a:t>They grasp context and nuances of text.</a:t>
            </a:r>
            <a:endParaRPr lang="en-US" sz="1700" dirty="0"/>
          </a:p>
        </p:txBody>
      </p:sp>
      <p:pic>
        <p:nvPicPr>
          <p:cNvPr id="10" name="Image 3" descr="preencoded.png">    </p:cNvPr>
          <p:cNvPicPr>
            <a:picLocks noChangeAspect="1"/>
          </p:cNvPicPr>
          <p:nvPr/>
        </p:nvPicPr>
        <p:blipFill>
          <a:blip r:embed="rId4"/>
          <a:stretch>
            <a:fillRect/>
          </a:stretch>
        </p:blipFill>
        <p:spPr>
          <a:xfrm>
            <a:off x="6260902" y="4980503"/>
            <a:ext cx="1106448" cy="1327666"/>
          </a:xfrm>
          <a:prstGeom prst="rect">
            <a:avLst/>
          </a:prstGeom>
        </p:spPr>
      </p:pic>
      <p:sp>
        <p:nvSpPr>
          <p:cNvPr id="11" name="Text 5"/>
          <p:cNvSpPr/>
          <p:nvPr/>
        </p:nvSpPr>
        <p:spPr>
          <a:xfrm>
            <a:off x="7699177" y="5201722"/>
            <a:ext cx="2766179" cy="345638"/>
          </a:xfrm>
          <a:prstGeom prst="rect">
            <a:avLst/>
          </a:prstGeom>
          <a:noFill/>
          <a:ln/>
        </p:spPr>
        <p:txBody>
          <a:bodyPr wrap="none" lIns="0" tIns="0" rIns="0" bIns="0" rtlCol="0" anchor="t"/>
          <a:lstStyle/>
          <a:p>
            <a:pPr algn="l" indent="0" marL="0">
              <a:lnSpc>
                <a:spcPts val="2700"/>
              </a:lnSpc>
              <a:buNone/>
            </a:pPr>
            <a:r>
              <a:rPr lang="en-US" sz="2150" dirty="0">
                <a:solidFill>
                  <a:srgbClr val="8F8F8F"/>
                </a:solidFill>
                <a:latin typeface="Mona Sans Semi Bold" pitchFamily="34" charset="0"/>
                <a:ea typeface="Mona Sans Semi Bold" pitchFamily="34" charset="-122"/>
                <a:cs typeface="Mona Sans Semi Bold" pitchFamily="34" charset="-120"/>
              </a:rPr>
              <a:t>Automate Tasks</a:t>
            </a:r>
            <a:endParaRPr lang="en-US" sz="2150" dirty="0"/>
          </a:p>
        </p:txBody>
      </p:sp>
      <p:sp>
        <p:nvSpPr>
          <p:cNvPr id="12" name="Text 6"/>
          <p:cNvSpPr/>
          <p:nvPr/>
        </p:nvSpPr>
        <p:spPr>
          <a:xfrm>
            <a:off x="7699177" y="5680115"/>
            <a:ext cx="6156722" cy="354092"/>
          </a:xfrm>
          <a:prstGeom prst="rect">
            <a:avLst/>
          </a:prstGeom>
          <a:noFill/>
          <a:ln/>
        </p:spPr>
        <p:txBody>
          <a:bodyPr wrap="none" lIns="0" tIns="0" rIns="0" bIns="0" rtlCol="0" anchor="t"/>
          <a:lstStyle/>
          <a:p>
            <a:pPr algn="l" indent="0" marL="0">
              <a:lnSpc>
                <a:spcPts val="2750"/>
              </a:lnSpc>
              <a:buNone/>
            </a:pPr>
            <a:r>
              <a:rPr lang="en-US" sz="1700" dirty="0">
                <a:solidFill>
                  <a:srgbClr val="8F8F8F"/>
                </a:solidFill>
                <a:latin typeface="Funnel Sans" pitchFamily="34" charset="0"/>
                <a:ea typeface="Funnel Sans" pitchFamily="34" charset="-122"/>
                <a:cs typeface="Funnel Sans" pitchFamily="34" charset="-120"/>
              </a:rPr>
              <a:t>Powers tools like spam filters and chatbots.</a:t>
            </a:r>
            <a:endParaRPr lang="en-US" sz="1700" dirty="0"/>
          </a:p>
        </p:txBody>
      </p:sp>
      <p:sp>
        <p:nvSpPr>
          <p:cNvPr id="13" name="Text 7"/>
          <p:cNvSpPr/>
          <p:nvPr/>
        </p:nvSpPr>
        <p:spPr>
          <a:xfrm>
            <a:off x="6260902" y="6557010"/>
            <a:ext cx="7594997" cy="1062276"/>
          </a:xfrm>
          <a:prstGeom prst="rect">
            <a:avLst/>
          </a:prstGeom>
          <a:noFill/>
          <a:ln/>
        </p:spPr>
        <p:txBody>
          <a:bodyPr wrap="square" lIns="0" tIns="0" rIns="0" bIns="0" rtlCol="0" anchor="t"/>
          <a:lstStyle/>
          <a:p>
            <a:pPr algn="l" indent="0" marL="0">
              <a:lnSpc>
                <a:spcPts val="2750"/>
              </a:lnSpc>
              <a:buNone/>
            </a:pPr>
            <a:r>
              <a:rPr lang="en-US" sz="1700" dirty="0">
                <a:solidFill>
                  <a:srgbClr val="8F8F8F"/>
                </a:solidFill>
                <a:latin typeface="Funnel Sans" pitchFamily="34" charset="0"/>
                <a:ea typeface="Funnel Sans" pitchFamily="34" charset="-122"/>
                <a:cs typeface="Funnel Sans" pitchFamily="34" charset="-120"/>
              </a:rPr>
              <a:t>NLP gives computers the ability to understand human language. It's like teaching a machine to comprehend text, enabling applications from voice assistants to sentiment analysis.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1277" y="543044"/>
            <a:ext cx="9183410" cy="617101"/>
          </a:xfrm>
          <a:prstGeom prst="rect">
            <a:avLst/>
          </a:prstGeom>
          <a:noFill/>
          <a:ln/>
        </p:spPr>
        <p:txBody>
          <a:bodyPr wrap="none" lIns="0" tIns="0" rIns="0" bIns="0" rtlCol="0" anchor="t"/>
          <a:lstStyle/>
          <a:p>
            <a:pPr algn="l" indent="0" marL="0">
              <a:lnSpc>
                <a:spcPts val="4850"/>
              </a:lnSpc>
              <a:buNone/>
            </a:pPr>
            <a:r>
              <a:rPr lang="en-US" sz="3850" dirty="0">
                <a:solidFill>
                  <a:srgbClr val="DDDDDD"/>
                </a:solidFill>
                <a:latin typeface="Mona Sans Semi Bold" pitchFamily="34" charset="0"/>
                <a:ea typeface="Mona Sans Semi Bold" pitchFamily="34" charset="-122"/>
                <a:cs typeface="Mona Sans Semi Bold" pitchFamily="34" charset="-120"/>
              </a:rPr>
              <a:t>Transformers: The NLP Game Changer</a:t>
            </a:r>
            <a:endParaRPr lang="en-US" sz="3850" dirty="0"/>
          </a:p>
        </p:txBody>
      </p:sp>
      <p:pic>
        <p:nvPicPr>
          <p:cNvPr id="3" name="Image 0" descr="preencoded.png">    </p:cNvPr>
          <p:cNvPicPr>
            <a:picLocks noChangeAspect="1"/>
          </p:cNvPicPr>
          <p:nvPr/>
        </p:nvPicPr>
        <p:blipFill>
          <a:blip r:embed="rId1"/>
          <a:stretch>
            <a:fillRect/>
          </a:stretch>
        </p:blipFill>
        <p:spPr>
          <a:xfrm>
            <a:off x="3340894" y="3136225"/>
            <a:ext cx="7948613" cy="7948613"/>
          </a:xfrm>
          <a:prstGeom prst="rect">
            <a:avLst/>
          </a:prstGeom>
        </p:spPr>
      </p:pic>
      <p:pic>
        <p:nvPicPr>
          <p:cNvPr id="4" name="Image 1" descr="preencoded.png">    </p:cNvPr>
          <p:cNvPicPr>
            <a:picLocks noChangeAspect="1"/>
          </p:cNvPicPr>
          <p:nvPr/>
        </p:nvPicPr>
        <p:blipFill>
          <a:blip r:embed="rId2"/>
          <a:stretch>
            <a:fillRect/>
          </a:stretch>
        </p:blipFill>
        <p:spPr>
          <a:xfrm>
            <a:off x="4394656" y="5761494"/>
            <a:ext cx="333256" cy="416600"/>
          </a:xfrm>
          <a:prstGeom prst="rect">
            <a:avLst/>
          </a:prstGeom>
        </p:spPr>
      </p:pic>
      <p:pic>
        <p:nvPicPr>
          <p:cNvPr id="5" name="Image 2" descr="preencoded.png">    </p:cNvPr>
          <p:cNvPicPr>
            <a:picLocks noChangeAspect="1"/>
          </p:cNvPicPr>
          <p:nvPr/>
        </p:nvPicPr>
        <p:blipFill>
          <a:blip r:embed="rId3"/>
          <a:stretch>
            <a:fillRect/>
          </a:stretch>
        </p:blipFill>
        <p:spPr>
          <a:xfrm>
            <a:off x="3340894" y="3136225"/>
            <a:ext cx="7948613" cy="7948613"/>
          </a:xfrm>
          <a:prstGeom prst="rect">
            <a:avLst/>
          </a:prstGeom>
        </p:spPr>
      </p:pic>
      <p:pic>
        <p:nvPicPr>
          <p:cNvPr id="6" name="Image 3" descr="preencoded.png">    </p:cNvPr>
          <p:cNvPicPr>
            <a:picLocks noChangeAspect="1"/>
          </p:cNvPicPr>
          <p:nvPr/>
        </p:nvPicPr>
        <p:blipFill>
          <a:blip r:embed="rId4"/>
          <a:stretch>
            <a:fillRect/>
          </a:stretch>
        </p:blipFill>
        <p:spPr>
          <a:xfrm>
            <a:off x="6007834" y="4148316"/>
            <a:ext cx="333256" cy="416600"/>
          </a:xfrm>
          <a:prstGeom prst="rect">
            <a:avLst/>
          </a:prstGeom>
        </p:spPr>
      </p:pic>
      <p:pic>
        <p:nvPicPr>
          <p:cNvPr id="7" name="Image 4" descr="preencoded.png">    </p:cNvPr>
          <p:cNvPicPr>
            <a:picLocks noChangeAspect="1"/>
          </p:cNvPicPr>
          <p:nvPr/>
        </p:nvPicPr>
        <p:blipFill>
          <a:blip r:embed="rId5"/>
          <a:stretch>
            <a:fillRect/>
          </a:stretch>
        </p:blipFill>
        <p:spPr>
          <a:xfrm>
            <a:off x="3340894" y="3136225"/>
            <a:ext cx="7948613" cy="7948613"/>
          </a:xfrm>
          <a:prstGeom prst="rect">
            <a:avLst/>
          </a:prstGeom>
        </p:spPr>
      </p:pic>
      <p:pic>
        <p:nvPicPr>
          <p:cNvPr id="8" name="Image 5" descr="preencoded.png">    </p:cNvPr>
          <p:cNvPicPr>
            <a:picLocks noChangeAspect="1"/>
          </p:cNvPicPr>
          <p:nvPr/>
        </p:nvPicPr>
        <p:blipFill>
          <a:blip r:embed="rId6"/>
          <a:stretch>
            <a:fillRect/>
          </a:stretch>
        </p:blipFill>
        <p:spPr>
          <a:xfrm>
            <a:off x="8289191" y="4148316"/>
            <a:ext cx="333256" cy="416600"/>
          </a:xfrm>
          <a:prstGeom prst="rect">
            <a:avLst/>
          </a:prstGeom>
        </p:spPr>
      </p:pic>
      <p:pic>
        <p:nvPicPr>
          <p:cNvPr id="9" name="Image 6" descr="preencoded.png">    </p:cNvPr>
          <p:cNvPicPr>
            <a:picLocks noChangeAspect="1"/>
          </p:cNvPicPr>
          <p:nvPr/>
        </p:nvPicPr>
        <p:blipFill>
          <a:blip r:embed="rId7"/>
          <a:stretch>
            <a:fillRect/>
          </a:stretch>
        </p:blipFill>
        <p:spPr>
          <a:xfrm>
            <a:off x="3340894" y="3136225"/>
            <a:ext cx="7948613" cy="7948613"/>
          </a:xfrm>
          <a:prstGeom prst="rect">
            <a:avLst/>
          </a:prstGeom>
        </p:spPr>
      </p:pic>
      <p:pic>
        <p:nvPicPr>
          <p:cNvPr id="10" name="Image 7" descr="preencoded.png">    </p:cNvPr>
          <p:cNvPicPr>
            <a:picLocks noChangeAspect="1"/>
          </p:cNvPicPr>
          <p:nvPr/>
        </p:nvPicPr>
        <p:blipFill>
          <a:blip r:embed="rId8"/>
          <a:stretch>
            <a:fillRect/>
          </a:stretch>
        </p:blipFill>
        <p:spPr>
          <a:xfrm>
            <a:off x="9902369" y="5761494"/>
            <a:ext cx="333256" cy="416600"/>
          </a:xfrm>
          <a:prstGeom prst="rect">
            <a:avLst/>
          </a:prstGeom>
        </p:spPr>
      </p:pic>
      <p:sp>
        <p:nvSpPr>
          <p:cNvPr id="11" name="Text 1"/>
          <p:cNvSpPr/>
          <p:nvPr/>
        </p:nvSpPr>
        <p:spPr>
          <a:xfrm>
            <a:off x="691277" y="7332702"/>
            <a:ext cx="13247846" cy="631984"/>
          </a:xfrm>
          <a:prstGeom prst="rect">
            <a:avLst/>
          </a:prstGeom>
          <a:noFill/>
          <a:ln/>
        </p:spPr>
        <p:txBody>
          <a:bodyPr wrap="square" lIns="0" tIns="0" rIns="0" bIns="0" rtlCol="0" anchor="t"/>
          <a:lstStyle/>
          <a:p>
            <a:pPr algn="l" indent="0" marL="0">
              <a:lnSpc>
                <a:spcPts val="2450"/>
              </a:lnSpc>
              <a:buNone/>
            </a:pPr>
            <a:r>
              <a:rPr lang="en-US" sz="1550" dirty="0">
                <a:solidFill>
                  <a:srgbClr val="8F8F8F"/>
                </a:solidFill>
                <a:latin typeface="Funnel Sans" pitchFamily="34" charset="0"/>
                <a:ea typeface="Funnel Sans" pitchFamily="34" charset="-122"/>
                <a:cs typeface="Funnel Sans" pitchFamily="34" charset="-120"/>
              </a:rPr>
              <a:t>Transformers are advanced AI models that revolutionize NLP. They focus on word relationships, leading to more accurate and nuanced text understanding. This is key to unlocking advanced resume analysis.</a:t>
            </a:r>
            <a:endParaRPr lang="en-US" sz="1550" dirty="0"/>
          </a:p>
        </p:txBody>
      </p:sp>
      <p:sp>
        <p:nvSpPr>
          <p:cNvPr id="12" name="Text 2"/>
          <p:cNvSpPr/>
          <p:nvPr/>
        </p:nvSpPr>
        <p:spPr>
          <a:xfrm>
            <a:off x="1001673" y="3154204"/>
            <a:ext cx="2468880" cy="308610"/>
          </a:xfrm>
          <a:prstGeom prst="rect">
            <a:avLst/>
          </a:prstGeom>
          <a:noFill/>
          <a:ln/>
        </p:spPr>
        <p:txBody>
          <a:bodyPr wrap="none" lIns="0" tIns="0" rIns="0" bIns="0" rtlCol="0" anchor="t"/>
          <a:lstStyle/>
          <a:p>
            <a:pPr algn="ctr" indent="0" marL="0">
              <a:lnSpc>
                <a:spcPts val="2400"/>
              </a:lnSpc>
              <a:buNone/>
            </a:pPr>
            <a:r>
              <a:rPr lang="en-US" sz="1900" dirty="0">
                <a:solidFill>
                  <a:srgbClr val="DDDDDD"/>
                </a:solidFill>
                <a:latin typeface="Mona Sans Semi Bold" pitchFamily="34" charset="0"/>
                <a:ea typeface="Mona Sans Semi Bold" pitchFamily="34" charset="-122"/>
                <a:cs typeface="Mona Sans Semi Bold" pitchFamily="34" charset="-120"/>
              </a:rPr>
              <a:t>Advanced AI</a:t>
            </a:r>
            <a:endParaRPr lang="en-US" sz="1900" dirty="0"/>
          </a:p>
        </p:txBody>
      </p:sp>
      <p:sp>
        <p:nvSpPr>
          <p:cNvPr id="13" name="Text 3"/>
          <p:cNvSpPr/>
          <p:nvPr/>
        </p:nvSpPr>
        <p:spPr>
          <a:xfrm>
            <a:off x="691277" y="3581281"/>
            <a:ext cx="3089791" cy="631984"/>
          </a:xfrm>
          <a:prstGeom prst="rect">
            <a:avLst/>
          </a:prstGeom>
          <a:noFill/>
          <a:ln/>
        </p:spPr>
        <p:txBody>
          <a:bodyPr wrap="square" lIns="0" tIns="0" rIns="0" bIns="0" rtlCol="0" anchor="t"/>
          <a:lstStyle/>
          <a:p>
            <a:pPr algn="ctr" indent="0" marL="0">
              <a:lnSpc>
                <a:spcPts val="2450"/>
              </a:lnSpc>
              <a:buNone/>
            </a:pPr>
            <a:r>
              <a:rPr lang="en-US" sz="1550" dirty="0">
                <a:solidFill>
                  <a:srgbClr val="8F8F8F"/>
                </a:solidFill>
                <a:latin typeface="Funnel Sans" pitchFamily="34" charset="0"/>
                <a:ea typeface="Funnel Sans" pitchFamily="34" charset="-122"/>
                <a:cs typeface="Funnel Sans" pitchFamily="34" charset="-120"/>
              </a:rPr>
              <a:t>Sophisticated models like BERT and GPT.</a:t>
            </a:r>
            <a:endParaRPr lang="en-US" sz="1550" dirty="0"/>
          </a:p>
        </p:txBody>
      </p:sp>
      <p:sp>
        <p:nvSpPr>
          <p:cNvPr id="14" name="Text 4"/>
          <p:cNvSpPr/>
          <p:nvPr/>
        </p:nvSpPr>
        <p:spPr>
          <a:xfrm>
            <a:off x="4077295" y="1555075"/>
            <a:ext cx="3089791" cy="617220"/>
          </a:xfrm>
          <a:prstGeom prst="rect">
            <a:avLst/>
          </a:prstGeom>
          <a:noFill/>
          <a:ln/>
        </p:spPr>
        <p:txBody>
          <a:bodyPr wrap="square" lIns="0" tIns="0" rIns="0" bIns="0" rtlCol="0" anchor="t"/>
          <a:lstStyle/>
          <a:p>
            <a:pPr algn="ctr" indent="0" marL="0">
              <a:lnSpc>
                <a:spcPts val="2400"/>
              </a:lnSpc>
              <a:buNone/>
            </a:pPr>
            <a:r>
              <a:rPr lang="en-US" sz="1900" dirty="0">
                <a:solidFill>
                  <a:srgbClr val="DDDDDD"/>
                </a:solidFill>
                <a:latin typeface="Mona Sans Semi Bold" pitchFamily="34" charset="0"/>
                <a:ea typeface="Mona Sans Semi Bold" pitchFamily="34" charset="-122"/>
                <a:cs typeface="Mona Sans Semi Bold" pitchFamily="34" charset="-120"/>
              </a:rPr>
              <a:t>Contextual Understanding</a:t>
            </a:r>
            <a:endParaRPr lang="en-US" sz="1900" dirty="0"/>
          </a:p>
        </p:txBody>
      </p:sp>
      <p:sp>
        <p:nvSpPr>
          <p:cNvPr id="15" name="Text 5"/>
          <p:cNvSpPr/>
          <p:nvPr/>
        </p:nvSpPr>
        <p:spPr>
          <a:xfrm>
            <a:off x="4077295" y="2290763"/>
            <a:ext cx="3089791" cy="631984"/>
          </a:xfrm>
          <a:prstGeom prst="rect">
            <a:avLst/>
          </a:prstGeom>
          <a:noFill/>
          <a:ln/>
        </p:spPr>
        <p:txBody>
          <a:bodyPr wrap="square" lIns="0" tIns="0" rIns="0" bIns="0" rtlCol="0" anchor="t"/>
          <a:lstStyle/>
          <a:p>
            <a:pPr algn="ctr" indent="0" marL="0">
              <a:lnSpc>
                <a:spcPts val="2450"/>
              </a:lnSpc>
              <a:buNone/>
            </a:pPr>
            <a:r>
              <a:rPr lang="en-US" sz="1550" dirty="0">
                <a:solidFill>
                  <a:srgbClr val="8F8F8F"/>
                </a:solidFill>
                <a:latin typeface="Funnel Sans" pitchFamily="34" charset="0"/>
                <a:ea typeface="Funnel Sans" pitchFamily="34" charset="-122"/>
                <a:cs typeface="Funnel Sans" pitchFamily="34" charset="-120"/>
              </a:rPr>
              <a:t>Understands word relationships in sentences.</a:t>
            </a:r>
            <a:endParaRPr lang="en-US" sz="1550" dirty="0"/>
          </a:p>
        </p:txBody>
      </p:sp>
      <p:sp>
        <p:nvSpPr>
          <p:cNvPr id="16" name="Text 6"/>
          <p:cNvSpPr/>
          <p:nvPr/>
        </p:nvSpPr>
        <p:spPr>
          <a:xfrm>
            <a:off x="7773710" y="1863685"/>
            <a:ext cx="2468880" cy="308610"/>
          </a:xfrm>
          <a:prstGeom prst="rect">
            <a:avLst/>
          </a:prstGeom>
          <a:noFill/>
          <a:ln/>
        </p:spPr>
        <p:txBody>
          <a:bodyPr wrap="none" lIns="0" tIns="0" rIns="0" bIns="0" rtlCol="0" anchor="t"/>
          <a:lstStyle/>
          <a:p>
            <a:pPr algn="ctr" indent="0" marL="0">
              <a:lnSpc>
                <a:spcPts val="2400"/>
              </a:lnSpc>
              <a:buNone/>
            </a:pPr>
            <a:r>
              <a:rPr lang="en-US" sz="1900" dirty="0">
                <a:solidFill>
                  <a:srgbClr val="DDDDDD"/>
                </a:solidFill>
                <a:latin typeface="Mona Sans Semi Bold" pitchFamily="34" charset="0"/>
                <a:ea typeface="Mona Sans Semi Bold" pitchFamily="34" charset="-122"/>
                <a:cs typeface="Mona Sans Semi Bold" pitchFamily="34" charset="-120"/>
              </a:rPr>
              <a:t>Nuanced Analysis</a:t>
            </a:r>
            <a:endParaRPr lang="en-US" sz="1900" dirty="0"/>
          </a:p>
        </p:txBody>
      </p:sp>
      <p:sp>
        <p:nvSpPr>
          <p:cNvPr id="17" name="Text 7"/>
          <p:cNvSpPr/>
          <p:nvPr/>
        </p:nvSpPr>
        <p:spPr>
          <a:xfrm>
            <a:off x="7463314" y="2290763"/>
            <a:ext cx="3089791" cy="631984"/>
          </a:xfrm>
          <a:prstGeom prst="rect">
            <a:avLst/>
          </a:prstGeom>
          <a:noFill/>
          <a:ln/>
        </p:spPr>
        <p:txBody>
          <a:bodyPr wrap="square" lIns="0" tIns="0" rIns="0" bIns="0" rtlCol="0" anchor="t"/>
          <a:lstStyle/>
          <a:p>
            <a:pPr algn="ctr" indent="0" marL="0">
              <a:lnSpc>
                <a:spcPts val="2450"/>
              </a:lnSpc>
              <a:buNone/>
            </a:pPr>
            <a:r>
              <a:rPr lang="en-US" sz="1550" dirty="0">
                <a:solidFill>
                  <a:srgbClr val="8F8F8F"/>
                </a:solidFill>
                <a:latin typeface="Funnel Sans" pitchFamily="34" charset="0"/>
                <a:ea typeface="Funnel Sans" pitchFamily="34" charset="-122"/>
                <a:cs typeface="Funnel Sans" pitchFamily="34" charset="-120"/>
              </a:rPr>
              <a:t>Provides highly accurate text interpretation.</a:t>
            </a:r>
            <a:endParaRPr lang="en-US" sz="1550" dirty="0"/>
          </a:p>
        </p:txBody>
      </p:sp>
      <p:sp>
        <p:nvSpPr>
          <p:cNvPr id="18" name="Text 8"/>
          <p:cNvSpPr/>
          <p:nvPr/>
        </p:nvSpPr>
        <p:spPr>
          <a:xfrm>
            <a:off x="10849332" y="3161586"/>
            <a:ext cx="3089791" cy="617220"/>
          </a:xfrm>
          <a:prstGeom prst="rect">
            <a:avLst/>
          </a:prstGeom>
          <a:noFill/>
          <a:ln/>
        </p:spPr>
        <p:txBody>
          <a:bodyPr wrap="square" lIns="0" tIns="0" rIns="0" bIns="0" rtlCol="0" anchor="t"/>
          <a:lstStyle/>
          <a:p>
            <a:pPr algn="ctr" indent="0" marL="0">
              <a:lnSpc>
                <a:spcPts val="2400"/>
              </a:lnSpc>
              <a:buNone/>
            </a:pPr>
            <a:r>
              <a:rPr lang="en-US" sz="1900" dirty="0">
                <a:solidFill>
                  <a:srgbClr val="DDDDDD"/>
                </a:solidFill>
                <a:latin typeface="Mona Sans Semi Bold" pitchFamily="34" charset="0"/>
                <a:ea typeface="Mona Sans Semi Bold" pitchFamily="34" charset="-122"/>
                <a:cs typeface="Mona Sans Semi Bold" pitchFamily="34" charset="-120"/>
              </a:rPr>
              <a:t>Unlocks Resume Potential</a:t>
            </a:r>
            <a:endParaRPr lang="en-US" sz="1900" dirty="0"/>
          </a:p>
        </p:txBody>
      </p:sp>
      <p:sp>
        <p:nvSpPr>
          <p:cNvPr id="19" name="Text 9"/>
          <p:cNvSpPr/>
          <p:nvPr/>
        </p:nvSpPr>
        <p:spPr>
          <a:xfrm>
            <a:off x="10849332" y="3897273"/>
            <a:ext cx="3089791" cy="315992"/>
          </a:xfrm>
          <a:prstGeom prst="rect">
            <a:avLst/>
          </a:prstGeom>
          <a:noFill/>
          <a:ln/>
        </p:spPr>
        <p:txBody>
          <a:bodyPr wrap="none" lIns="0" tIns="0" rIns="0" bIns="0" rtlCol="0" anchor="t"/>
          <a:lstStyle/>
          <a:p>
            <a:pPr algn="ctr" indent="0" marL="0">
              <a:lnSpc>
                <a:spcPts val="2450"/>
              </a:lnSpc>
              <a:buNone/>
            </a:pPr>
            <a:r>
              <a:rPr lang="en-US" sz="1550" dirty="0">
                <a:solidFill>
                  <a:srgbClr val="8F8F8F"/>
                </a:solidFill>
                <a:latin typeface="Funnel Sans" pitchFamily="34" charset="0"/>
                <a:ea typeface="Funnel Sans" pitchFamily="34" charset="-122"/>
                <a:cs typeface="Funnel Sans" pitchFamily="34" charset="-120"/>
              </a:rPr>
              <a:t>Crucial for deep resume insights.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723543" y="733187"/>
            <a:ext cx="7696914" cy="1292066"/>
          </a:xfrm>
          <a:prstGeom prst="rect">
            <a:avLst/>
          </a:prstGeom>
          <a:noFill/>
          <a:ln/>
        </p:spPr>
        <p:txBody>
          <a:bodyPr wrap="square" lIns="0" tIns="0" rIns="0" bIns="0" rtlCol="0" anchor="t"/>
          <a:lstStyle/>
          <a:p>
            <a:pPr algn="l" indent="0" marL="0">
              <a:lnSpc>
                <a:spcPts val="5050"/>
              </a:lnSpc>
              <a:buNone/>
            </a:pPr>
            <a:r>
              <a:rPr lang="en-US" sz="4050" dirty="0">
                <a:solidFill>
                  <a:srgbClr val="DDDDDD"/>
                </a:solidFill>
                <a:latin typeface="Mona Sans Semi Bold" pitchFamily="34" charset="0"/>
                <a:ea typeface="Mona Sans Semi Bold" pitchFamily="34" charset="-122"/>
                <a:cs typeface="Mona Sans Semi Bold" pitchFamily="34" charset="-120"/>
              </a:rPr>
              <a:t>How NLP &amp; Transformers Screen Resumes</a:t>
            </a:r>
            <a:endParaRPr lang="en-US" sz="4050" dirty="0"/>
          </a:p>
        </p:txBody>
      </p:sp>
      <p:sp>
        <p:nvSpPr>
          <p:cNvPr id="4" name="Shape 1"/>
          <p:cNvSpPr/>
          <p:nvPr/>
        </p:nvSpPr>
        <p:spPr>
          <a:xfrm>
            <a:off x="723543" y="2335292"/>
            <a:ext cx="155019" cy="777478"/>
          </a:xfrm>
          <a:prstGeom prst="roundRect">
            <a:avLst>
              <a:gd name="adj" fmla="val 56010"/>
            </a:avLst>
          </a:prstGeom>
          <a:solidFill>
            <a:srgbClr val="404040"/>
          </a:solidFill>
          <a:ln w="7620">
            <a:solidFill>
              <a:srgbClr val="595959"/>
            </a:solidFill>
            <a:prstDash val="solid"/>
          </a:ln>
        </p:spPr>
      </p:sp>
      <p:sp>
        <p:nvSpPr>
          <p:cNvPr id="5" name="Text 2"/>
          <p:cNvSpPr/>
          <p:nvPr/>
        </p:nvSpPr>
        <p:spPr>
          <a:xfrm>
            <a:off x="1188601" y="2335292"/>
            <a:ext cx="2584013" cy="322898"/>
          </a:xfrm>
          <a:prstGeom prst="rect">
            <a:avLst/>
          </a:prstGeom>
          <a:noFill/>
          <a:ln/>
        </p:spPr>
        <p:txBody>
          <a:bodyPr wrap="none" lIns="0" tIns="0" rIns="0" bIns="0" rtlCol="0" anchor="t"/>
          <a:lstStyle/>
          <a:p>
            <a:pPr algn="l" indent="0" marL="0">
              <a:lnSpc>
                <a:spcPts val="2500"/>
              </a:lnSpc>
              <a:buNone/>
            </a:pPr>
            <a:r>
              <a:rPr lang="en-US" sz="2000" dirty="0">
                <a:solidFill>
                  <a:srgbClr val="8F8F8F"/>
                </a:solidFill>
                <a:latin typeface="Mona Sans Semi Bold" pitchFamily="34" charset="0"/>
                <a:ea typeface="Mona Sans Semi Bold" pitchFamily="34" charset="-122"/>
                <a:cs typeface="Mona Sans Semi Bold" pitchFamily="34" charset="-120"/>
              </a:rPr>
              <a:t>Extract Key Data</a:t>
            </a:r>
            <a:endParaRPr lang="en-US" sz="2000" dirty="0"/>
          </a:p>
        </p:txBody>
      </p:sp>
      <p:sp>
        <p:nvSpPr>
          <p:cNvPr id="6" name="Text 3"/>
          <p:cNvSpPr/>
          <p:nvPr/>
        </p:nvSpPr>
        <p:spPr>
          <a:xfrm>
            <a:off x="1188601" y="2782133"/>
            <a:ext cx="7231856" cy="330637"/>
          </a:xfrm>
          <a:prstGeom prst="rect">
            <a:avLst/>
          </a:prstGeom>
          <a:noFill/>
          <a:ln/>
        </p:spPr>
        <p:txBody>
          <a:bodyPr wrap="none" lIns="0" tIns="0" rIns="0" bIns="0" rtlCol="0" anchor="t"/>
          <a:lstStyle/>
          <a:p>
            <a:pPr algn="l" indent="0" marL="0">
              <a:lnSpc>
                <a:spcPts val="2600"/>
              </a:lnSpc>
              <a:buNone/>
            </a:pPr>
            <a:r>
              <a:rPr lang="en-US" sz="1600" dirty="0">
                <a:solidFill>
                  <a:srgbClr val="8F8F8F"/>
                </a:solidFill>
                <a:latin typeface="Funnel Sans" pitchFamily="34" charset="0"/>
                <a:ea typeface="Funnel Sans" pitchFamily="34" charset="-122"/>
                <a:cs typeface="Funnel Sans" pitchFamily="34" charset="-120"/>
              </a:rPr>
              <a:t>Skills, experience, and education are identified.</a:t>
            </a:r>
            <a:endParaRPr lang="en-US" sz="1600" dirty="0"/>
          </a:p>
        </p:txBody>
      </p:sp>
      <p:sp>
        <p:nvSpPr>
          <p:cNvPr id="7" name="Shape 4"/>
          <p:cNvSpPr/>
          <p:nvPr/>
        </p:nvSpPr>
        <p:spPr>
          <a:xfrm>
            <a:off x="1033582" y="3319463"/>
            <a:ext cx="155019" cy="777478"/>
          </a:xfrm>
          <a:prstGeom prst="roundRect">
            <a:avLst>
              <a:gd name="adj" fmla="val 56010"/>
            </a:avLst>
          </a:prstGeom>
          <a:solidFill>
            <a:srgbClr val="404040"/>
          </a:solidFill>
          <a:ln w="7620">
            <a:solidFill>
              <a:srgbClr val="595959"/>
            </a:solidFill>
            <a:prstDash val="solid"/>
          </a:ln>
        </p:spPr>
      </p:sp>
      <p:sp>
        <p:nvSpPr>
          <p:cNvPr id="8" name="Text 5"/>
          <p:cNvSpPr/>
          <p:nvPr/>
        </p:nvSpPr>
        <p:spPr>
          <a:xfrm>
            <a:off x="1498640" y="3319463"/>
            <a:ext cx="2614970" cy="322898"/>
          </a:xfrm>
          <a:prstGeom prst="rect">
            <a:avLst/>
          </a:prstGeom>
          <a:noFill/>
          <a:ln/>
        </p:spPr>
        <p:txBody>
          <a:bodyPr wrap="none" lIns="0" tIns="0" rIns="0" bIns="0" rtlCol="0" anchor="t"/>
          <a:lstStyle/>
          <a:p>
            <a:pPr algn="l" indent="0" marL="0">
              <a:lnSpc>
                <a:spcPts val="2500"/>
              </a:lnSpc>
              <a:buNone/>
            </a:pPr>
            <a:r>
              <a:rPr lang="en-US" sz="2000" dirty="0">
                <a:solidFill>
                  <a:srgbClr val="8F8F8F"/>
                </a:solidFill>
                <a:latin typeface="Mona Sans Semi Bold" pitchFamily="34" charset="0"/>
                <a:ea typeface="Mona Sans Semi Bold" pitchFamily="34" charset="-122"/>
                <a:cs typeface="Mona Sans Semi Bold" pitchFamily="34" charset="-120"/>
              </a:rPr>
              <a:t>Match Requirements</a:t>
            </a:r>
            <a:endParaRPr lang="en-US" sz="2000" dirty="0"/>
          </a:p>
        </p:txBody>
      </p:sp>
      <p:sp>
        <p:nvSpPr>
          <p:cNvPr id="9" name="Text 6"/>
          <p:cNvSpPr/>
          <p:nvPr/>
        </p:nvSpPr>
        <p:spPr>
          <a:xfrm>
            <a:off x="1498640" y="3766304"/>
            <a:ext cx="6921818" cy="330637"/>
          </a:xfrm>
          <a:prstGeom prst="rect">
            <a:avLst/>
          </a:prstGeom>
          <a:noFill/>
          <a:ln/>
        </p:spPr>
        <p:txBody>
          <a:bodyPr wrap="none" lIns="0" tIns="0" rIns="0" bIns="0" rtlCol="0" anchor="t"/>
          <a:lstStyle/>
          <a:p>
            <a:pPr algn="l" indent="0" marL="0">
              <a:lnSpc>
                <a:spcPts val="2600"/>
              </a:lnSpc>
              <a:buNone/>
            </a:pPr>
            <a:r>
              <a:rPr lang="en-US" sz="1600" dirty="0">
                <a:solidFill>
                  <a:srgbClr val="8F8F8F"/>
                </a:solidFill>
                <a:latin typeface="Funnel Sans" pitchFamily="34" charset="0"/>
                <a:ea typeface="Funnel Sans" pitchFamily="34" charset="-122"/>
                <a:cs typeface="Funnel Sans" pitchFamily="34" charset="-120"/>
              </a:rPr>
              <a:t>Candidates are automatically aligned with job needs.</a:t>
            </a:r>
            <a:endParaRPr lang="en-US" sz="1600" dirty="0"/>
          </a:p>
        </p:txBody>
      </p:sp>
      <p:sp>
        <p:nvSpPr>
          <p:cNvPr id="10" name="Shape 7"/>
          <p:cNvSpPr/>
          <p:nvPr/>
        </p:nvSpPr>
        <p:spPr>
          <a:xfrm>
            <a:off x="1343620" y="4303633"/>
            <a:ext cx="155019" cy="777478"/>
          </a:xfrm>
          <a:prstGeom prst="roundRect">
            <a:avLst>
              <a:gd name="adj" fmla="val 56010"/>
            </a:avLst>
          </a:prstGeom>
          <a:solidFill>
            <a:srgbClr val="404040"/>
          </a:solidFill>
          <a:ln w="7620">
            <a:solidFill>
              <a:srgbClr val="595959"/>
            </a:solidFill>
            <a:prstDash val="solid"/>
          </a:ln>
        </p:spPr>
      </p:sp>
      <p:sp>
        <p:nvSpPr>
          <p:cNvPr id="11" name="Text 8"/>
          <p:cNvSpPr/>
          <p:nvPr/>
        </p:nvSpPr>
        <p:spPr>
          <a:xfrm>
            <a:off x="1808678" y="4303633"/>
            <a:ext cx="2584013" cy="322898"/>
          </a:xfrm>
          <a:prstGeom prst="rect">
            <a:avLst/>
          </a:prstGeom>
          <a:noFill/>
          <a:ln/>
        </p:spPr>
        <p:txBody>
          <a:bodyPr wrap="none" lIns="0" tIns="0" rIns="0" bIns="0" rtlCol="0" anchor="t"/>
          <a:lstStyle/>
          <a:p>
            <a:pPr algn="l" indent="0" marL="0">
              <a:lnSpc>
                <a:spcPts val="2500"/>
              </a:lnSpc>
              <a:buNone/>
            </a:pPr>
            <a:r>
              <a:rPr lang="en-US" sz="2000" dirty="0">
                <a:solidFill>
                  <a:srgbClr val="8F8F8F"/>
                </a:solidFill>
                <a:latin typeface="Mona Sans Semi Bold" pitchFamily="34" charset="0"/>
                <a:ea typeface="Mona Sans Semi Bold" pitchFamily="34" charset="-122"/>
                <a:cs typeface="Mona Sans Semi Bold" pitchFamily="34" charset="-120"/>
              </a:rPr>
              <a:t>Rank Relevancy</a:t>
            </a:r>
            <a:endParaRPr lang="en-US" sz="2000" dirty="0"/>
          </a:p>
        </p:txBody>
      </p:sp>
      <p:sp>
        <p:nvSpPr>
          <p:cNvPr id="12" name="Text 9"/>
          <p:cNvSpPr/>
          <p:nvPr/>
        </p:nvSpPr>
        <p:spPr>
          <a:xfrm>
            <a:off x="1808678" y="4750475"/>
            <a:ext cx="6611779" cy="330637"/>
          </a:xfrm>
          <a:prstGeom prst="rect">
            <a:avLst/>
          </a:prstGeom>
          <a:noFill/>
          <a:ln/>
        </p:spPr>
        <p:txBody>
          <a:bodyPr wrap="none" lIns="0" tIns="0" rIns="0" bIns="0" rtlCol="0" anchor="t"/>
          <a:lstStyle/>
          <a:p>
            <a:pPr algn="l" indent="0" marL="0">
              <a:lnSpc>
                <a:spcPts val="2600"/>
              </a:lnSpc>
              <a:buNone/>
            </a:pPr>
            <a:r>
              <a:rPr lang="en-US" sz="1600" dirty="0">
                <a:solidFill>
                  <a:srgbClr val="8F8F8F"/>
                </a:solidFill>
                <a:latin typeface="Funnel Sans" pitchFamily="34" charset="0"/>
                <a:ea typeface="Funnel Sans" pitchFamily="34" charset="-122"/>
                <a:cs typeface="Funnel Sans" pitchFamily="34" charset="-120"/>
              </a:rPr>
              <a:t>Resumes are ordered by qualification and fit.</a:t>
            </a:r>
            <a:endParaRPr lang="en-US" sz="1600" dirty="0"/>
          </a:p>
        </p:txBody>
      </p:sp>
      <p:sp>
        <p:nvSpPr>
          <p:cNvPr id="13" name="Shape 10"/>
          <p:cNvSpPr/>
          <p:nvPr/>
        </p:nvSpPr>
        <p:spPr>
          <a:xfrm>
            <a:off x="1653778" y="5287804"/>
            <a:ext cx="155019" cy="777478"/>
          </a:xfrm>
          <a:prstGeom prst="roundRect">
            <a:avLst>
              <a:gd name="adj" fmla="val 56010"/>
            </a:avLst>
          </a:prstGeom>
          <a:solidFill>
            <a:srgbClr val="404040"/>
          </a:solidFill>
          <a:ln w="7620">
            <a:solidFill>
              <a:srgbClr val="595959"/>
            </a:solidFill>
            <a:prstDash val="solid"/>
          </a:ln>
        </p:spPr>
      </p:sp>
      <p:sp>
        <p:nvSpPr>
          <p:cNvPr id="14" name="Text 11"/>
          <p:cNvSpPr/>
          <p:nvPr/>
        </p:nvSpPr>
        <p:spPr>
          <a:xfrm>
            <a:off x="2118836" y="5287804"/>
            <a:ext cx="2584013" cy="322898"/>
          </a:xfrm>
          <a:prstGeom prst="rect">
            <a:avLst/>
          </a:prstGeom>
          <a:noFill/>
          <a:ln/>
        </p:spPr>
        <p:txBody>
          <a:bodyPr wrap="none" lIns="0" tIns="0" rIns="0" bIns="0" rtlCol="0" anchor="t"/>
          <a:lstStyle/>
          <a:p>
            <a:pPr algn="l" indent="0" marL="0">
              <a:lnSpc>
                <a:spcPts val="2500"/>
              </a:lnSpc>
              <a:buNone/>
            </a:pPr>
            <a:r>
              <a:rPr lang="en-US" sz="2000" dirty="0">
                <a:solidFill>
                  <a:srgbClr val="8F8F8F"/>
                </a:solidFill>
                <a:latin typeface="Mona Sans Semi Bold" pitchFamily="34" charset="0"/>
                <a:ea typeface="Mona Sans Semi Bold" pitchFamily="34" charset="-122"/>
                <a:cs typeface="Mona Sans Semi Bold" pitchFamily="34" charset="-120"/>
              </a:rPr>
              <a:t>Find Hidden Talent</a:t>
            </a:r>
            <a:endParaRPr lang="en-US" sz="2000" dirty="0"/>
          </a:p>
        </p:txBody>
      </p:sp>
      <p:sp>
        <p:nvSpPr>
          <p:cNvPr id="15" name="Text 12"/>
          <p:cNvSpPr/>
          <p:nvPr/>
        </p:nvSpPr>
        <p:spPr>
          <a:xfrm>
            <a:off x="2118836" y="5734645"/>
            <a:ext cx="6301621" cy="330637"/>
          </a:xfrm>
          <a:prstGeom prst="rect">
            <a:avLst/>
          </a:prstGeom>
          <a:noFill/>
          <a:ln/>
        </p:spPr>
        <p:txBody>
          <a:bodyPr wrap="none" lIns="0" tIns="0" rIns="0" bIns="0" rtlCol="0" anchor="t"/>
          <a:lstStyle/>
          <a:p>
            <a:pPr algn="l" indent="0" marL="0">
              <a:lnSpc>
                <a:spcPts val="2600"/>
              </a:lnSpc>
              <a:buNone/>
            </a:pPr>
            <a:r>
              <a:rPr lang="en-US" sz="1600" dirty="0">
                <a:solidFill>
                  <a:srgbClr val="8F8F8F"/>
                </a:solidFill>
                <a:latin typeface="Funnel Sans" pitchFamily="34" charset="0"/>
                <a:ea typeface="Funnel Sans" pitchFamily="34" charset="-122"/>
                <a:cs typeface="Funnel Sans" pitchFamily="34" charset="-120"/>
              </a:rPr>
              <a:t>Potential and subtle fits are uncovered.</a:t>
            </a:r>
            <a:endParaRPr lang="en-US" sz="1600" dirty="0"/>
          </a:p>
        </p:txBody>
      </p:sp>
      <p:sp>
        <p:nvSpPr>
          <p:cNvPr id="16" name="Text 13"/>
          <p:cNvSpPr/>
          <p:nvPr/>
        </p:nvSpPr>
        <p:spPr>
          <a:xfrm>
            <a:off x="723543" y="6504503"/>
            <a:ext cx="7696914" cy="991910"/>
          </a:xfrm>
          <a:prstGeom prst="rect">
            <a:avLst/>
          </a:prstGeom>
          <a:noFill/>
          <a:ln/>
        </p:spPr>
        <p:txBody>
          <a:bodyPr wrap="square" lIns="0" tIns="0" rIns="0" bIns="0" rtlCol="0" anchor="t"/>
          <a:lstStyle/>
          <a:p>
            <a:pPr algn="l" indent="0" marL="0">
              <a:lnSpc>
                <a:spcPts val="2600"/>
              </a:lnSpc>
              <a:buNone/>
            </a:pPr>
            <a:r>
              <a:rPr lang="en-US" sz="1600" dirty="0">
                <a:solidFill>
                  <a:srgbClr val="8F8F8F"/>
                </a:solidFill>
                <a:latin typeface="Funnel Sans" pitchFamily="34" charset="0"/>
                <a:ea typeface="Funnel Sans" pitchFamily="34" charset="-122"/>
                <a:cs typeface="Funnel Sans" pitchFamily="34" charset="-120"/>
              </a:rPr>
              <a:t>NLP and Transformers extract vital information like skills and education. They then match candidates to job requirements, ranking resumes for relevancy. This helps identify hidden talents, especially useful for large applicant pools.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5952292" y="574358"/>
            <a:ext cx="6725483" cy="416123"/>
          </a:xfrm>
          <a:prstGeom prst="rect">
            <a:avLst/>
          </a:prstGeom>
          <a:noFill/>
          <a:ln/>
        </p:spPr>
        <p:txBody>
          <a:bodyPr wrap="none" lIns="0" tIns="0" rIns="0" bIns="0" rtlCol="0" anchor="t"/>
          <a:lstStyle/>
          <a:p>
            <a:pPr algn="l" indent="0" marL="0">
              <a:lnSpc>
                <a:spcPts val="3250"/>
              </a:lnSpc>
              <a:buNone/>
            </a:pPr>
            <a:r>
              <a:rPr lang="en-US" sz="2600" dirty="0">
                <a:solidFill>
                  <a:srgbClr val="DDDDDD"/>
                </a:solidFill>
                <a:latin typeface="Mona Sans Semi Bold" pitchFamily="34" charset="0"/>
                <a:ea typeface="Mona Sans Semi Bold" pitchFamily="34" charset="-122"/>
                <a:cs typeface="Mona Sans Semi Bold" pitchFamily="34" charset="-120"/>
              </a:rPr>
              <a:t>Benefits of AI-Powered Resume Screening</a:t>
            </a:r>
            <a:endParaRPr lang="en-US" sz="2600" dirty="0"/>
          </a:p>
        </p:txBody>
      </p:sp>
      <p:sp>
        <p:nvSpPr>
          <p:cNvPr id="4" name="Text 1"/>
          <p:cNvSpPr/>
          <p:nvPr/>
        </p:nvSpPr>
        <p:spPr>
          <a:xfrm>
            <a:off x="5952292" y="1256705"/>
            <a:ext cx="8212217" cy="439341"/>
          </a:xfrm>
          <a:prstGeom prst="rect">
            <a:avLst/>
          </a:prstGeom>
          <a:noFill/>
          <a:ln/>
        </p:spPr>
        <p:txBody>
          <a:bodyPr wrap="none" lIns="0" tIns="0" rIns="0" bIns="0" rtlCol="0" anchor="t"/>
          <a:lstStyle/>
          <a:p>
            <a:pPr algn="ctr" indent="0" marL="0">
              <a:lnSpc>
                <a:spcPts val="3450"/>
              </a:lnSpc>
              <a:buNone/>
            </a:pPr>
            <a:r>
              <a:rPr lang="en-US" sz="3450" dirty="0">
                <a:solidFill>
                  <a:srgbClr val="8F8F8F"/>
                </a:solidFill>
                <a:latin typeface="Mona Sans Semi Bold" pitchFamily="34" charset="0"/>
                <a:ea typeface="Mona Sans Semi Bold" pitchFamily="34" charset="-122"/>
                <a:cs typeface="Mona Sans Semi Bold" pitchFamily="34" charset="-120"/>
              </a:rPr>
              <a:t>50%</a:t>
            </a:r>
            <a:endParaRPr lang="en-US" sz="3450" dirty="0"/>
          </a:p>
        </p:txBody>
      </p:sp>
      <p:sp>
        <p:nvSpPr>
          <p:cNvPr id="5" name="Text 2"/>
          <p:cNvSpPr/>
          <p:nvPr/>
        </p:nvSpPr>
        <p:spPr>
          <a:xfrm>
            <a:off x="9226272" y="1862376"/>
            <a:ext cx="1664256" cy="208002"/>
          </a:xfrm>
          <a:prstGeom prst="rect">
            <a:avLst/>
          </a:prstGeom>
          <a:noFill/>
          <a:ln/>
        </p:spPr>
        <p:txBody>
          <a:bodyPr wrap="none" lIns="0" tIns="0" rIns="0" bIns="0" rtlCol="0" anchor="t"/>
          <a:lstStyle/>
          <a:p>
            <a:pPr algn="ctr"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Time Saved</a:t>
            </a:r>
            <a:endParaRPr lang="en-US" sz="1300" dirty="0"/>
          </a:p>
        </p:txBody>
      </p:sp>
      <p:sp>
        <p:nvSpPr>
          <p:cNvPr id="6" name="Text 3"/>
          <p:cNvSpPr/>
          <p:nvPr/>
        </p:nvSpPr>
        <p:spPr>
          <a:xfrm>
            <a:off x="5952292" y="2150150"/>
            <a:ext cx="8212217" cy="212884"/>
          </a:xfrm>
          <a:prstGeom prst="rect">
            <a:avLst/>
          </a:prstGeom>
          <a:noFill/>
          <a:ln/>
        </p:spPr>
        <p:txBody>
          <a:bodyPr wrap="none" lIns="0" tIns="0" rIns="0" bIns="0" rtlCol="0" anchor="t"/>
          <a:lstStyle/>
          <a:p>
            <a:pPr algn="ctr" indent="0" marL="0">
              <a:lnSpc>
                <a:spcPts val="1650"/>
              </a:lnSpc>
              <a:buNone/>
            </a:pPr>
            <a:r>
              <a:rPr lang="en-US" sz="1000" dirty="0">
                <a:solidFill>
                  <a:srgbClr val="8F8F8F"/>
                </a:solidFill>
                <a:latin typeface="Funnel Sans" pitchFamily="34" charset="0"/>
                <a:ea typeface="Funnel Sans" pitchFamily="34" charset="-122"/>
                <a:cs typeface="Funnel Sans" pitchFamily="34" charset="-120"/>
              </a:rPr>
              <a:t>Automate tedious screening tasks.</a:t>
            </a:r>
            <a:endParaRPr lang="en-US" sz="1000" dirty="0"/>
          </a:p>
        </p:txBody>
      </p:sp>
      <p:sp>
        <p:nvSpPr>
          <p:cNvPr id="7" name="Text 4"/>
          <p:cNvSpPr/>
          <p:nvPr/>
        </p:nvSpPr>
        <p:spPr>
          <a:xfrm>
            <a:off x="5952292" y="2828925"/>
            <a:ext cx="8212217" cy="439341"/>
          </a:xfrm>
          <a:prstGeom prst="rect">
            <a:avLst/>
          </a:prstGeom>
          <a:noFill/>
          <a:ln/>
        </p:spPr>
        <p:txBody>
          <a:bodyPr wrap="none" lIns="0" tIns="0" rIns="0" bIns="0" rtlCol="0" anchor="t"/>
          <a:lstStyle/>
          <a:p>
            <a:pPr algn="ctr" indent="0" marL="0">
              <a:lnSpc>
                <a:spcPts val="3450"/>
              </a:lnSpc>
              <a:buNone/>
            </a:pPr>
            <a:r>
              <a:rPr lang="en-US" sz="3450" dirty="0">
                <a:solidFill>
                  <a:srgbClr val="8F8F8F"/>
                </a:solidFill>
                <a:latin typeface="Mona Sans Semi Bold" pitchFamily="34" charset="0"/>
                <a:ea typeface="Mona Sans Semi Bold" pitchFamily="34" charset="-122"/>
                <a:cs typeface="Mona Sans Semi Bold" pitchFamily="34" charset="-120"/>
              </a:rPr>
              <a:t>100%</a:t>
            </a:r>
            <a:endParaRPr lang="en-US" sz="3450" dirty="0"/>
          </a:p>
        </p:txBody>
      </p:sp>
      <p:sp>
        <p:nvSpPr>
          <p:cNvPr id="8" name="Text 5"/>
          <p:cNvSpPr/>
          <p:nvPr/>
        </p:nvSpPr>
        <p:spPr>
          <a:xfrm>
            <a:off x="9226272" y="3434596"/>
            <a:ext cx="1664256" cy="208002"/>
          </a:xfrm>
          <a:prstGeom prst="rect">
            <a:avLst/>
          </a:prstGeom>
          <a:noFill/>
          <a:ln/>
        </p:spPr>
        <p:txBody>
          <a:bodyPr wrap="none" lIns="0" tIns="0" rIns="0" bIns="0" rtlCol="0" anchor="t"/>
          <a:lstStyle/>
          <a:p>
            <a:pPr algn="ctr"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Bias Reduced</a:t>
            </a:r>
            <a:endParaRPr lang="en-US" sz="1300" dirty="0"/>
          </a:p>
        </p:txBody>
      </p:sp>
      <p:sp>
        <p:nvSpPr>
          <p:cNvPr id="9" name="Text 6"/>
          <p:cNvSpPr/>
          <p:nvPr/>
        </p:nvSpPr>
        <p:spPr>
          <a:xfrm>
            <a:off x="5952292" y="3722370"/>
            <a:ext cx="8212217" cy="212884"/>
          </a:xfrm>
          <a:prstGeom prst="rect">
            <a:avLst/>
          </a:prstGeom>
          <a:noFill/>
          <a:ln/>
        </p:spPr>
        <p:txBody>
          <a:bodyPr wrap="none" lIns="0" tIns="0" rIns="0" bIns="0" rtlCol="0" anchor="t"/>
          <a:lstStyle/>
          <a:p>
            <a:pPr algn="ctr" indent="0" marL="0">
              <a:lnSpc>
                <a:spcPts val="1650"/>
              </a:lnSpc>
              <a:buNone/>
            </a:pPr>
            <a:r>
              <a:rPr lang="en-US" sz="1000" dirty="0">
                <a:solidFill>
                  <a:srgbClr val="8F8F8F"/>
                </a:solidFill>
                <a:latin typeface="Funnel Sans" pitchFamily="34" charset="0"/>
                <a:ea typeface="Funnel Sans" pitchFamily="34" charset="-122"/>
                <a:cs typeface="Funnel Sans" pitchFamily="34" charset="-120"/>
              </a:rPr>
              <a:t>Objective, data-driven decisions ensure fairness.</a:t>
            </a:r>
            <a:endParaRPr lang="en-US" sz="1000" dirty="0"/>
          </a:p>
        </p:txBody>
      </p:sp>
      <p:sp>
        <p:nvSpPr>
          <p:cNvPr id="10" name="Text 7"/>
          <p:cNvSpPr/>
          <p:nvPr/>
        </p:nvSpPr>
        <p:spPr>
          <a:xfrm>
            <a:off x="5952292" y="4401145"/>
            <a:ext cx="8212217" cy="439341"/>
          </a:xfrm>
          <a:prstGeom prst="rect">
            <a:avLst/>
          </a:prstGeom>
          <a:noFill/>
          <a:ln/>
        </p:spPr>
        <p:txBody>
          <a:bodyPr wrap="none" lIns="0" tIns="0" rIns="0" bIns="0" rtlCol="0" anchor="t"/>
          <a:lstStyle/>
          <a:p>
            <a:pPr algn="ctr" indent="0" marL="0">
              <a:lnSpc>
                <a:spcPts val="3450"/>
              </a:lnSpc>
              <a:buNone/>
            </a:pPr>
            <a:r>
              <a:rPr lang="en-US" sz="3450" dirty="0">
                <a:solidFill>
                  <a:srgbClr val="8F8F8F"/>
                </a:solidFill>
                <a:latin typeface="Mona Sans Semi Bold" pitchFamily="34" charset="0"/>
                <a:ea typeface="Mona Sans Semi Bold" pitchFamily="34" charset="-122"/>
                <a:cs typeface="Mona Sans Semi Bold" pitchFamily="34" charset="-120"/>
              </a:rPr>
              <a:t>High</a:t>
            </a:r>
            <a:endParaRPr lang="en-US" sz="3450" dirty="0"/>
          </a:p>
        </p:txBody>
      </p:sp>
      <p:sp>
        <p:nvSpPr>
          <p:cNvPr id="11" name="Text 8"/>
          <p:cNvSpPr/>
          <p:nvPr/>
        </p:nvSpPr>
        <p:spPr>
          <a:xfrm>
            <a:off x="9226272" y="5006816"/>
            <a:ext cx="1664256" cy="208002"/>
          </a:xfrm>
          <a:prstGeom prst="rect">
            <a:avLst/>
          </a:prstGeom>
          <a:noFill/>
          <a:ln/>
        </p:spPr>
        <p:txBody>
          <a:bodyPr wrap="none" lIns="0" tIns="0" rIns="0" bIns="0" rtlCol="0" anchor="t"/>
          <a:lstStyle/>
          <a:p>
            <a:pPr algn="ctr"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Accuracy</a:t>
            </a:r>
            <a:endParaRPr lang="en-US" sz="1300" dirty="0"/>
          </a:p>
        </p:txBody>
      </p:sp>
      <p:sp>
        <p:nvSpPr>
          <p:cNvPr id="12" name="Text 9"/>
          <p:cNvSpPr/>
          <p:nvPr/>
        </p:nvSpPr>
        <p:spPr>
          <a:xfrm>
            <a:off x="5952292" y="5294590"/>
            <a:ext cx="8212217" cy="212884"/>
          </a:xfrm>
          <a:prstGeom prst="rect">
            <a:avLst/>
          </a:prstGeom>
          <a:noFill/>
          <a:ln/>
        </p:spPr>
        <p:txBody>
          <a:bodyPr wrap="none" lIns="0" tIns="0" rIns="0" bIns="0" rtlCol="0" anchor="t"/>
          <a:lstStyle/>
          <a:p>
            <a:pPr algn="ctr" indent="0" marL="0">
              <a:lnSpc>
                <a:spcPts val="1650"/>
              </a:lnSpc>
              <a:buNone/>
            </a:pPr>
            <a:r>
              <a:rPr lang="en-US" sz="1000" dirty="0">
                <a:solidFill>
                  <a:srgbClr val="8F8F8F"/>
                </a:solidFill>
                <a:latin typeface="Funnel Sans" pitchFamily="34" charset="0"/>
                <a:ea typeface="Funnel Sans" pitchFamily="34" charset="-122"/>
                <a:cs typeface="Funnel Sans" pitchFamily="34" charset="-120"/>
              </a:rPr>
              <a:t>Find the best candidates faster.</a:t>
            </a:r>
            <a:endParaRPr lang="en-US" sz="1000" dirty="0"/>
          </a:p>
        </p:txBody>
      </p:sp>
      <p:sp>
        <p:nvSpPr>
          <p:cNvPr id="13" name="Text 10"/>
          <p:cNvSpPr/>
          <p:nvPr/>
        </p:nvSpPr>
        <p:spPr>
          <a:xfrm>
            <a:off x="5952292" y="5973366"/>
            <a:ext cx="8212217" cy="439341"/>
          </a:xfrm>
          <a:prstGeom prst="rect">
            <a:avLst/>
          </a:prstGeom>
          <a:noFill/>
          <a:ln/>
        </p:spPr>
        <p:txBody>
          <a:bodyPr wrap="none" lIns="0" tIns="0" rIns="0" bIns="0" rtlCol="0" anchor="t"/>
          <a:lstStyle/>
          <a:p>
            <a:pPr algn="ctr" indent="0" marL="0">
              <a:lnSpc>
                <a:spcPts val="3450"/>
              </a:lnSpc>
              <a:buNone/>
            </a:pPr>
            <a:r>
              <a:rPr lang="en-US" sz="3450" dirty="0">
                <a:solidFill>
                  <a:srgbClr val="8F8F8F"/>
                </a:solidFill>
                <a:latin typeface="Mona Sans Semi Bold" pitchFamily="34" charset="0"/>
                <a:ea typeface="Mona Sans Semi Bold" pitchFamily="34" charset="-122"/>
                <a:cs typeface="Mona Sans Semi Bold" pitchFamily="34" charset="-120"/>
              </a:rPr>
              <a:t>Enhanced</a:t>
            </a:r>
            <a:endParaRPr lang="en-US" sz="3450" dirty="0"/>
          </a:p>
        </p:txBody>
      </p:sp>
      <p:sp>
        <p:nvSpPr>
          <p:cNvPr id="14" name="Text 11"/>
          <p:cNvSpPr/>
          <p:nvPr/>
        </p:nvSpPr>
        <p:spPr>
          <a:xfrm>
            <a:off x="9226272" y="6579037"/>
            <a:ext cx="1664256" cy="208002"/>
          </a:xfrm>
          <a:prstGeom prst="rect">
            <a:avLst/>
          </a:prstGeom>
          <a:noFill/>
          <a:ln/>
        </p:spPr>
        <p:txBody>
          <a:bodyPr wrap="none" lIns="0" tIns="0" rIns="0" bIns="0" rtlCol="0" anchor="t"/>
          <a:lstStyle/>
          <a:p>
            <a:pPr algn="ctr" indent="0" marL="0">
              <a:lnSpc>
                <a:spcPts val="1600"/>
              </a:lnSpc>
              <a:buNone/>
            </a:pPr>
            <a:r>
              <a:rPr lang="en-US" sz="1300" dirty="0">
                <a:solidFill>
                  <a:srgbClr val="8F8F8F"/>
                </a:solidFill>
                <a:latin typeface="Mona Sans Semi Bold" pitchFamily="34" charset="0"/>
                <a:ea typeface="Mona Sans Semi Bold" pitchFamily="34" charset="-122"/>
                <a:cs typeface="Mona Sans Semi Bold" pitchFamily="34" charset="-120"/>
              </a:rPr>
              <a:t>Efficiency</a:t>
            </a:r>
            <a:endParaRPr lang="en-US" sz="1300" dirty="0"/>
          </a:p>
        </p:txBody>
      </p:sp>
      <p:sp>
        <p:nvSpPr>
          <p:cNvPr id="15" name="Text 12"/>
          <p:cNvSpPr/>
          <p:nvPr/>
        </p:nvSpPr>
        <p:spPr>
          <a:xfrm>
            <a:off x="5952292" y="6866811"/>
            <a:ext cx="8212217" cy="212884"/>
          </a:xfrm>
          <a:prstGeom prst="rect">
            <a:avLst/>
          </a:prstGeom>
          <a:noFill/>
          <a:ln/>
        </p:spPr>
        <p:txBody>
          <a:bodyPr wrap="none" lIns="0" tIns="0" rIns="0" bIns="0" rtlCol="0" anchor="t"/>
          <a:lstStyle/>
          <a:p>
            <a:pPr algn="ctr" indent="0" marL="0">
              <a:lnSpc>
                <a:spcPts val="1650"/>
              </a:lnSpc>
              <a:buNone/>
            </a:pPr>
            <a:r>
              <a:rPr lang="en-US" sz="1000" dirty="0">
                <a:solidFill>
                  <a:srgbClr val="8F8F8F"/>
                </a:solidFill>
                <a:latin typeface="Funnel Sans" pitchFamily="34" charset="0"/>
                <a:ea typeface="Funnel Sans" pitchFamily="34" charset="-122"/>
                <a:cs typeface="Funnel Sans" pitchFamily="34" charset="-120"/>
              </a:rPr>
              <a:t>Streamline your entire hiring process.</a:t>
            </a:r>
            <a:endParaRPr lang="en-US" sz="1000" dirty="0"/>
          </a:p>
        </p:txBody>
      </p:sp>
      <p:sp>
        <p:nvSpPr>
          <p:cNvPr id="16" name="Text 13"/>
          <p:cNvSpPr/>
          <p:nvPr/>
        </p:nvSpPr>
        <p:spPr>
          <a:xfrm>
            <a:off x="5952292" y="7229475"/>
            <a:ext cx="8212217" cy="425768"/>
          </a:xfrm>
          <a:prstGeom prst="rect">
            <a:avLst/>
          </a:prstGeom>
          <a:noFill/>
          <a:ln/>
        </p:spPr>
        <p:txBody>
          <a:bodyPr wrap="square" lIns="0" tIns="0" rIns="0" bIns="0" rtlCol="0" anchor="t"/>
          <a:lstStyle/>
          <a:p>
            <a:pPr algn="l" indent="0" marL="0">
              <a:lnSpc>
                <a:spcPts val="1650"/>
              </a:lnSpc>
              <a:buNone/>
            </a:pPr>
            <a:r>
              <a:rPr lang="en-US" sz="1000" dirty="0">
                <a:solidFill>
                  <a:srgbClr val="8F8F8F"/>
                </a:solidFill>
                <a:latin typeface="Funnel Sans" pitchFamily="34" charset="0"/>
                <a:ea typeface="Funnel Sans" pitchFamily="34" charset="-122"/>
                <a:cs typeface="Funnel Sans" pitchFamily="34" charset="-120"/>
              </a:rPr>
              <a:t>AI-powered screening saves significant time by automating tasks. It reduces bias for objective decisions, improving accuracy in finding top talent. This enhances overall hiring efficiency.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658297" y="793433"/>
            <a:ext cx="4893826" cy="587693"/>
          </a:xfrm>
          <a:prstGeom prst="rect">
            <a:avLst/>
          </a:prstGeom>
          <a:noFill/>
          <a:ln/>
        </p:spPr>
        <p:txBody>
          <a:bodyPr wrap="none" lIns="0" tIns="0" rIns="0" bIns="0" rtlCol="0" anchor="t"/>
          <a:lstStyle/>
          <a:p>
            <a:pPr algn="l" indent="0" marL="0">
              <a:lnSpc>
                <a:spcPts val="4600"/>
              </a:lnSpc>
              <a:buNone/>
            </a:pPr>
            <a:r>
              <a:rPr lang="en-US" sz="3700" dirty="0">
                <a:solidFill>
                  <a:srgbClr val="DDDDDD"/>
                </a:solidFill>
                <a:latin typeface="Mona Sans Semi Bold" pitchFamily="34" charset="0"/>
                <a:ea typeface="Mona Sans Semi Bold" pitchFamily="34" charset="-122"/>
                <a:cs typeface="Mona Sans Semi Bold" pitchFamily="34" charset="-120"/>
              </a:rPr>
              <a:t>Real-World Examples</a:t>
            </a:r>
            <a:endParaRPr lang="en-US" sz="3700" dirty="0"/>
          </a:p>
        </p:txBody>
      </p:sp>
      <p:sp>
        <p:nvSpPr>
          <p:cNvPr id="4" name="Shape 1"/>
          <p:cNvSpPr/>
          <p:nvPr/>
        </p:nvSpPr>
        <p:spPr>
          <a:xfrm>
            <a:off x="658297" y="1663184"/>
            <a:ext cx="7827407" cy="1098828"/>
          </a:xfrm>
          <a:prstGeom prst="roundRect">
            <a:avLst>
              <a:gd name="adj" fmla="val 7189"/>
            </a:avLst>
          </a:prstGeom>
          <a:solidFill>
            <a:srgbClr val="404040"/>
          </a:solidFill>
          <a:ln w="7620">
            <a:solidFill>
              <a:srgbClr val="595959"/>
            </a:solidFill>
            <a:prstDash val="solid"/>
          </a:ln>
        </p:spPr>
      </p:sp>
      <p:sp>
        <p:nvSpPr>
          <p:cNvPr id="5" name="Text 2"/>
          <p:cNvSpPr/>
          <p:nvPr/>
        </p:nvSpPr>
        <p:spPr>
          <a:xfrm>
            <a:off x="853916" y="1858804"/>
            <a:ext cx="2351008" cy="293846"/>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Google</a:t>
            </a:r>
            <a:endParaRPr lang="en-US" sz="1850" dirty="0"/>
          </a:p>
        </p:txBody>
      </p:sp>
      <p:sp>
        <p:nvSpPr>
          <p:cNvPr id="6" name="Text 3"/>
          <p:cNvSpPr/>
          <p:nvPr/>
        </p:nvSpPr>
        <p:spPr>
          <a:xfrm>
            <a:off x="853916" y="2265402"/>
            <a:ext cx="7436168" cy="300990"/>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Uses AI for initial resume screening, saving recruiter hours and streamlining hiring.</a:t>
            </a:r>
            <a:endParaRPr lang="en-US" sz="1450" dirty="0"/>
          </a:p>
        </p:txBody>
      </p:sp>
      <p:sp>
        <p:nvSpPr>
          <p:cNvPr id="7" name="Shape 4"/>
          <p:cNvSpPr/>
          <p:nvPr/>
        </p:nvSpPr>
        <p:spPr>
          <a:xfrm>
            <a:off x="658297" y="2950012"/>
            <a:ext cx="7827407" cy="1098828"/>
          </a:xfrm>
          <a:prstGeom prst="roundRect">
            <a:avLst>
              <a:gd name="adj" fmla="val 7189"/>
            </a:avLst>
          </a:prstGeom>
          <a:solidFill>
            <a:srgbClr val="404040"/>
          </a:solidFill>
          <a:ln w="7620">
            <a:solidFill>
              <a:srgbClr val="595959"/>
            </a:solidFill>
            <a:prstDash val="solid"/>
          </a:ln>
        </p:spPr>
      </p:sp>
      <p:sp>
        <p:nvSpPr>
          <p:cNvPr id="8" name="Text 5"/>
          <p:cNvSpPr/>
          <p:nvPr/>
        </p:nvSpPr>
        <p:spPr>
          <a:xfrm>
            <a:off x="853916" y="3145631"/>
            <a:ext cx="2351008" cy="293846"/>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LinkedIn</a:t>
            </a:r>
            <a:endParaRPr lang="en-US" sz="1850" dirty="0"/>
          </a:p>
        </p:txBody>
      </p:sp>
      <p:sp>
        <p:nvSpPr>
          <p:cNvPr id="9" name="Text 6"/>
          <p:cNvSpPr/>
          <p:nvPr/>
        </p:nvSpPr>
        <p:spPr>
          <a:xfrm>
            <a:off x="853916" y="3552230"/>
            <a:ext cx="7436168" cy="300990"/>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Leverages AI for powerful talent matching suggestions, connecting candidates to roles.</a:t>
            </a:r>
            <a:endParaRPr lang="en-US" sz="1450" dirty="0"/>
          </a:p>
        </p:txBody>
      </p:sp>
      <p:sp>
        <p:nvSpPr>
          <p:cNvPr id="10" name="Shape 7"/>
          <p:cNvSpPr/>
          <p:nvPr/>
        </p:nvSpPr>
        <p:spPr>
          <a:xfrm>
            <a:off x="658297" y="4236839"/>
            <a:ext cx="7827407" cy="1098828"/>
          </a:xfrm>
          <a:prstGeom prst="roundRect">
            <a:avLst>
              <a:gd name="adj" fmla="val 7189"/>
            </a:avLst>
          </a:prstGeom>
          <a:solidFill>
            <a:srgbClr val="404040"/>
          </a:solidFill>
          <a:ln w="7620">
            <a:solidFill>
              <a:srgbClr val="595959"/>
            </a:solidFill>
            <a:prstDash val="solid"/>
          </a:ln>
        </p:spPr>
      </p:sp>
      <p:sp>
        <p:nvSpPr>
          <p:cNvPr id="11" name="Text 8"/>
          <p:cNvSpPr/>
          <p:nvPr/>
        </p:nvSpPr>
        <p:spPr>
          <a:xfrm>
            <a:off x="853916" y="4432459"/>
            <a:ext cx="2351008" cy="293846"/>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iCIMS</a:t>
            </a:r>
            <a:endParaRPr lang="en-US" sz="1850" dirty="0"/>
          </a:p>
        </p:txBody>
      </p:sp>
      <p:sp>
        <p:nvSpPr>
          <p:cNvPr id="12" name="Text 9"/>
          <p:cNvSpPr/>
          <p:nvPr/>
        </p:nvSpPr>
        <p:spPr>
          <a:xfrm>
            <a:off x="853916" y="4839057"/>
            <a:ext cx="7436168" cy="300990"/>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Automates the candidate matching process for improved recruitment workflows.</a:t>
            </a:r>
            <a:endParaRPr lang="en-US" sz="1450" dirty="0"/>
          </a:p>
        </p:txBody>
      </p:sp>
      <p:sp>
        <p:nvSpPr>
          <p:cNvPr id="13" name="Shape 10"/>
          <p:cNvSpPr/>
          <p:nvPr/>
        </p:nvSpPr>
        <p:spPr>
          <a:xfrm>
            <a:off x="658297" y="5523667"/>
            <a:ext cx="7827407" cy="1098828"/>
          </a:xfrm>
          <a:prstGeom prst="roundRect">
            <a:avLst>
              <a:gd name="adj" fmla="val 7189"/>
            </a:avLst>
          </a:prstGeom>
          <a:solidFill>
            <a:srgbClr val="404040"/>
          </a:solidFill>
          <a:ln w="7620">
            <a:solidFill>
              <a:srgbClr val="595959"/>
            </a:solidFill>
            <a:prstDash val="solid"/>
          </a:ln>
        </p:spPr>
      </p:sp>
      <p:sp>
        <p:nvSpPr>
          <p:cNvPr id="14" name="Text 11"/>
          <p:cNvSpPr/>
          <p:nvPr/>
        </p:nvSpPr>
        <p:spPr>
          <a:xfrm>
            <a:off x="853916" y="5719286"/>
            <a:ext cx="2351008" cy="293846"/>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Taleo (Oracle)</a:t>
            </a:r>
            <a:endParaRPr lang="en-US" sz="1850" dirty="0"/>
          </a:p>
        </p:txBody>
      </p:sp>
      <p:sp>
        <p:nvSpPr>
          <p:cNvPr id="15" name="Text 12"/>
          <p:cNvSpPr/>
          <p:nvPr/>
        </p:nvSpPr>
        <p:spPr>
          <a:xfrm>
            <a:off x="853916" y="6125885"/>
            <a:ext cx="7436168" cy="300990"/>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Oracle's cloud-based talent management platform uses AI for various HR functions.</a:t>
            </a:r>
            <a:endParaRPr lang="en-US" sz="1450" dirty="0"/>
          </a:p>
        </p:txBody>
      </p:sp>
      <p:sp>
        <p:nvSpPr>
          <p:cNvPr id="16" name="Text 13"/>
          <p:cNvSpPr/>
          <p:nvPr/>
        </p:nvSpPr>
        <p:spPr>
          <a:xfrm>
            <a:off x="658297" y="6834068"/>
            <a:ext cx="7827407" cy="601980"/>
          </a:xfrm>
          <a:prstGeom prst="rect">
            <a:avLst/>
          </a:prstGeom>
          <a:noFill/>
          <a:ln/>
        </p:spPr>
        <p:txBody>
          <a:bodyPr wrap="square" lIns="0" tIns="0" rIns="0" bIns="0" rtlCol="0" anchor="t"/>
          <a:lstStyle/>
          <a:p>
            <a:pPr algn="l" indent="0" marL="0">
              <a:lnSpc>
                <a:spcPts val="2350"/>
              </a:lnSpc>
              <a:buNone/>
            </a:pPr>
            <a:r>
              <a:rPr lang="en-US" sz="1450" dirty="0">
                <a:solidFill>
                  <a:srgbClr val="8F8F8F"/>
                </a:solidFill>
                <a:latin typeface="Funnel Sans" pitchFamily="34" charset="0"/>
                <a:ea typeface="Funnel Sans" pitchFamily="34" charset="-122"/>
                <a:cs typeface="Funnel Sans" pitchFamily="34" charset="-120"/>
              </a:rPr>
              <a:t>Leading companies like Google and LinkedIn utilize NLP for resume screening. iCIMS and Taleo also automate candidate matching, demonstrating widespread adoption of AI in HR.</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6280190" y="1224558"/>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The Future of Hiring is Intelligent</a:t>
            </a:r>
            <a:endParaRPr lang="en-US" sz="4450" dirty="0"/>
          </a:p>
        </p:txBody>
      </p:sp>
      <p:sp>
        <p:nvSpPr>
          <p:cNvPr id="4" name="Shape 1"/>
          <p:cNvSpPr/>
          <p:nvPr/>
        </p:nvSpPr>
        <p:spPr>
          <a:xfrm>
            <a:off x="6280190" y="2982277"/>
            <a:ext cx="510302" cy="510302"/>
          </a:xfrm>
          <a:prstGeom prst="roundRect">
            <a:avLst>
              <a:gd name="adj" fmla="val 18669"/>
            </a:avLst>
          </a:prstGeom>
          <a:solidFill>
            <a:srgbClr val="404040"/>
          </a:solidFill>
          <a:ln w="7620">
            <a:solidFill>
              <a:srgbClr val="595959"/>
            </a:solidFill>
            <a:prstDash val="solid"/>
          </a:ln>
        </p:spPr>
      </p:sp>
      <p:pic>
        <p:nvPicPr>
          <p:cNvPr id="5" name="Image 1" descr="preencoded.png">    </p:cNvPr>
          <p:cNvPicPr>
            <a:picLocks noChangeAspect="1"/>
          </p:cNvPicPr>
          <p:nvPr/>
        </p:nvPicPr>
        <p:blipFill>
          <a:blip r:embed="rId2"/>
          <a:stretch>
            <a:fillRect/>
          </a:stretch>
        </p:blipFill>
        <p:spPr>
          <a:xfrm>
            <a:off x="6365260" y="3024783"/>
            <a:ext cx="340162" cy="425291"/>
          </a:xfrm>
          <a:prstGeom prst="rect">
            <a:avLst/>
          </a:prstGeom>
        </p:spPr>
      </p:pic>
      <p:sp>
        <p:nvSpPr>
          <p:cNvPr id="6" name="Text 2"/>
          <p:cNvSpPr/>
          <p:nvPr/>
        </p:nvSpPr>
        <p:spPr>
          <a:xfrm>
            <a:off x="7017306" y="306014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Transform HR</a:t>
            </a:r>
            <a:endParaRPr lang="en-US" sz="2200" dirty="0"/>
          </a:p>
        </p:txBody>
      </p:sp>
      <p:sp>
        <p:nvSpPr>
          <p:cNvPr id="7" name="Text 3"/>
          <p:cNvSpPr/>
          <p:nvPr/>
        </p:nvSpPr>
        <p:spPr>
          <a:xfrm>
            <a:off x="7017306" y="3550563"/>
            <a:ext cx="2899410" cy="725805"/>
          </a:xfrm>
          <a:prstGeom prst="rect">
            <a:avLst/>
          </a:prstGeom>
          <a:noFill/>
          <a:ln/>
        </p:spPr>
        <p:txBody>
          <a:bodyPr wrap="square" lIns="0" tIns="0" rIns="0" bIns="0" rtlCol="0" anchor="t"/>
          <a:lstStyle/>
          <a:p>
            <a:pPr algn="l" indent="0" marL="0">
              <a:lnSpc>
                <a:spcPts val="2850"/>
              </a:lnSpc>
              <a:buNone/>
            </a:pPr>
            <a:r>
              <a:rPr lang="en-US" sz="1750" dirty="0">
                <a:solidFill>
                  <a:srgbClr val="8F8F8F"/>
                </a:solidFill>
                <a:latin typeface="Funnel Sans" pitchFamily="34" charset="0"/>
                <a:ea typeface="Funnel Sans" pitchFamily="34" charset="-122"/>
                <a:cs typeface="Funnel Sans" pitchFamily="34" charset="-120"/>
              </a:rPr>
              <a:t>NLP and Transformers are reshaping recruiting.</a:t>
            </a:r>
            <a:endParaRPr lang="en-US" sz="1750" dirty="0"/>
          </a:p>
        </p:txBody>
      </p:sp>
      <p:sp>
        <p:nvSpPr>
          <p:cNvPr id="8" name="Shape 4"/>
          <p:cNvSpPr/>
          <p:nvPr/>
        </p:nvSpPr>
        <p:spPr>
          <a:xfrm>
            <a:off x="10200203" y="2982277"/>
            <a:ext cx="510302" cy="510302"/>
          </a:xfrm>
          <a:prstGeom prst="roundRect">
            <a:avLst>
              <a:gd name="adj" fmla="val 18669"/>
            </a:avLst>
          </a:prstGeom>
          <a:solidFill>
            <a:srgbClr val="404040"/>
          </a:solidFill>
          <a:ln w="7620">
            <a:solidFill>
              <a:srgbClr val="595959"/>
            </a:solidFill>
            <a:prstDash val="solid"/>
          </a:ln>
        </p:spPr>
      </p:sp>
      <p:pic>
        <p:nvPicPr>
          <p:cNvPr id="9" name="Image 2" descr="preencoded.png">    </p:cNvPr>
          <p:cNvPicPr>
            <a:picLocks noChangeAspect="1"/>
          </p:cNvPicPr>
          <p:nvPr/>
        </p:nvPicPr>
        <p:blipFill>
          <a:blip r:embed="rId3"/>
          <a:stretch>
            <a:fillRect/>
          </a:stretch>
        </p:blipFill>
        <p:spPr>
          <a:xfrm>
            <a:off x="10285274" y="3024783"/>
            <a:ext cx="340162" cy="425291"/>
          </a:xfrm>
          <a:prstGeom prst="rect">
            <a:avLst/>
          </a:prstGeom>
        </p:spPr>
      </p:pic>
      <p:sp>
        <p:nvSpPr>
          <p:cNvPr id="10" name="Text 5"/>
          <p:cNvSpPr/>
          <p:nvPr/>
        </p:nvSpPr>
        <p:spPr>
          <a:xfrm>
            <a:off x="10937319" y="306014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Embrace AI</a:t>
            </a:r>
            <a:endParaRPr lang="en-US" sz="2200" dirty="0"/>
          </a:p>
        </p:txBody>
      </p:sp>
      <p:sp>
        <p:nvSpPr>
          <p:cNvPr id="11" name="Text 6"/>
          <p:cNvSpPr/>
          <p:nvPr/>
        </p:nvSpPr>
        <p:spPr>
          <a:xfrm>
            <a:off x="10937319" y="3550563"/>
            <a:ext cx="2899410" cy="725805"/>
          </a:xfrm>
          <a:prstGeom prst="rect">
            <a:avLst/>
          </a:prstGeom>
          <a:noFill/>
          <a:ln/>
        </p:spPr>
        <p:txBody>
          <a:bodyPr wrap="square" lIns="0" tIns="0" rIns="0" bIns="0" rtlCol="0" anchor="t"/>
          <a:lstStyle/>
          <a:p>
            <a:pPr algn="l" indent="0" marL="0">
              <a:lnSpc>
                <a:spcPts val="2850"/>
              </a:lnSpc>
              <a:buNone/>
            </a:pPr>
            <a:r>
              <a:rPr lang="en-US" sz="1750" dirty="0">
                <a:solidFill>
                  <a:srgbClr val="8F8F8F"/>
                </a:solidFill>
                <a:latin typeface="Funnel Sans" pitchFamily="34" charset="0"/>
                <a:ea typeface="Funnel Sans" pitchFamily="34" charset="-122"/>
                <a:cs typeface="Funnel Sans" pitchFamily="34" charset="-120"/>
              </a:rPr>
              <a:t>Find top talent with intelligent efficiency.</a:t>
            </a:r>
            <a:endParaRPr lang="en-US" sz="1750" dirty="0"/>
          </a:p>
        </p:txBody>
      </p:sp>
      <p:sp>
        <p:nvSpPr>
          <p:cNvPr id="12" name="Shape 7"/>
          <p:cNvSpPr/>
          <p:nvPr/>
        </p:nvSpPr>
        <p:spPr>
          <a:xfrm>
            <a:off x="6280190" y="4729996"/>
            <a:ext cx="510302" cy="510302"/>
          </a:xfrm>
          <a:prstGeom prst="roundRect">
            <a:avLst>
              <a:gd name="adj" fmla="val 18669"/>
            </a:avLst>
          </a:prstGeom>
          <a:solidFill>
            <a:srgbClr val="404040"/>
          </a:solidFill>
          <a:ln w="7620">
            <a:solidFill>
              <a:srgbClr val="595959"/>
            </a:solidFill>
            <a:prstDash val="solid"/>
          </a:ln>
        </p:spPr>
      </p:sp>
      <p:pic>
        <p:nvPicPr>
          <p:cNvPr id="13" name="Image 3" descr="preencoded.png">    </p:cNvPr>
          <p:cNvPicPr>
            <a:picLocks noChangeAspect="1"/>
          </p:cNvPicPr>
          <p:nvPr/>
        </p:nvPicPr>
        <p:blipFill>
          <a:blip r:embed="rId4"/>
          <a:stretch>
            <a:fillRect/>
          </a:stretch>
        </p:blipFill>
        <p:spPr>
          <a:xfrm>
            <a:off x="6365260" y="4772501"/>
            <a:ext cx="340162" cy="425291"/>
          </a:xfrm>
          <a:prstGeom prst="rect">
            <a:avLst/>
          </a:prstGeom>
        </p:spPr>
      </p:pic>
      <p:sp>
        <p:nvSpPr>
          <p:cNvPr id="14" name="Text 8"/>
          <p:cNvSpPr/>
          <p:nvPr/>
        </p:nvSpPr>
        <p:spPr>
          <a:xfrm>
            <a:off x="7017306" y="480786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Get Ahead</a:t>
            </a:r>
            <a:endParaRPr lang="en-US" sz="2200" dirty="0"/>
          </a:p>
        </p:txBody>
      </p:sp>
      <p:sp>
        <p:nvSpPr>
          <p:cNvPr id="15" name="Text 9"/>
          <p:cNvSpPr/>
          <p:nvPr/>
        </p:nvSpPr>
        <p:spPr>
          <a:xfrm>
            <a:off x="7017306" y="5298281"/>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8F8F8F"/>
                </a:solidFill>
                <a:latin typeface="Funnel Sans" pitchFamily="34" charset="0"/>
                <a:ea typeface="Funnel Sans" pitchFamily="34" charset="-122"/>
                <a:cs typeface="Funnel Sans" pitchFamily="34" charset="-120"/>
              </a:rPr>
              <a:t>Start leveraging NLP for resume screening now.</a:t>
            </a:r>
            <a:endParaRPr lang="en-US" sz="1750" dirty="0"/>
          </a:p>
        </p:txBody>
      </p:sp>
      <p:sp>
        <p:nvSpPr>
          <p:cNvPr id="16" name="Text 10"/>
          <p:cNvSpPr/>
          <p:nvPr/>
        </p:nvSpPr>
        <p:spPr>
          <a:xfrm>
            <a:off x="6280190" y="5916335"/>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8F8F8F"/>
                </a:solidFill>
                <a:latin typeface="Funnel Sans" pitchFamily="34" charset="0"/>
                <a:ea typeface="Funnel Sans" pitchFamily="34" charset="-122"/>
                <a:cs typeface="Funnel Sans" pitchFamily="34" charset="-120"/>
              </a:rPr>
              <a:t>NLP and Transformers are set to transform HR. Embrace AI to find top talent efficiently and get ahead. The future includes integration with video interviews and personality assessments for comprehensive hiring.</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2025-05-25T05:17:14Z</dcterms:created>
  <dcterms:modified xsi:type="dcterms:W3CDTF">2025-05-25T05:17:14Z</dcterms:modified>
</cp:coreProperties>
</file>