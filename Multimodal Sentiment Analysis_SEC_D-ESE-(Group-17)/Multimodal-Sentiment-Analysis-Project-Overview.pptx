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4" r:id="rId2"/>
    <p:sldId id="256" r:id="rId3"/>
    <p:sldId id="257" r:id="rId4"/>
    <p:sldId id="258" r:id="rId5"/>
    <p:sldId id="259" r:id="rId6"/>
    <p:sldId id="260" r:id="rId7"/>
    <p:sldId id="261" r:id="rId8"/>
    <p:sldId id="265" r:id="rId9"/>
    <p:sldId id="266" r:id="rId10"/>
    <p:sldId id="262" r:id="rId11"/>
  </p:sldIdLst>
  <p:sldSz cx="14630400" cy="8229600"/>
  <p:notesSz cx="8229600" cy="14630400"/>
  <p:embeddedFontLst>
    <p:embeddedFont>
      <p:font typeface="Roboto" panose="02000000000000000000" pitchFamily="2" charset="0"/>
      <p:regular r:id="rId13"/>
    </p:embeddedFont>
    <p:embeddedFont>
      <p:font typeface="Saira Medium"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188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54620-22E6-EC9D-5C49-B9C259A3A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B77A8-C353-53FC-40BE-26B12E130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07D8A-D775-71C1-0307-15AC55AAD8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D1CA3C-48D9-E24D-DEB8-E8E3026CBF1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888020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F9E52-E43E-04C0-24E1-34A243D3BA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F1327-4587-3443-AF9E-9DE719832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E34A9-BE90-B6DE-0B7B-4E40A86D6F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B936C-7613-58BF-1421-D01A62F1D94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07245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33B-C1CB-1754-9CFB-86BF8AE30DE4}"/>
              </a:ext>
            </a:extLst>
          </p:cNvPr>
          <p:cNvSpPr>
            <a:spLocks noGrp="1"/>
          </p:cNvSpPr>
          <p:nvPr>
            <p:ph type="ctrTitle"/>
          </p:nvPr>
        </p:nvSpPr>
        <p:spPr>
          <a:xfrm>
            <a:off x="1828800" y="1346836"/>
            <a:ext cx="10972800" cy="2865120"/>
          </a:xfrm>
        </p:spPr>
        <p:txBody>
          <a:bodyPr anchor="b"/>
          <a:lstStyle>
            <a:lvl1pPr algn="ctr">
              <a:defRPr sz="7200"/>
            </a:lvl1pPr>
          </a:lstStyle>
          <a:p>
            <a:r>
              <a:rPr lang="en-GB"/>
              <a:t>Click to edit Master title style</a:t>
            </a:r>
            <a:endParaRPr lang="en-US"/>
          </a:p>
        </p:txBody>
      </p:sp>
      <p:sp>
        <p:nvSpPr>
          <p:cNvPr id="3" name="Subtitle 2">
            <a:extLst>
              <a:ext uri="{FF2B5EF4-FFF2-40B4-BE49-F238E27FC236}">
                <a16:creationId xmlns:a16="http://schemas.microsoft.com/office/drawing/2014/main" id="{277F7485-6AB7-ED91-AD1E-F6AF83215045}"/>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112DE61-1E8E-21E6-91F5-9ACFEE0A5AF2}"/>
              </a:ext>
            </a:extLst>
          </p:cNvPr>
          <p:cNvSpPr>
            <a:spLocks noGrp="1"/>
          </p:cNvSpPr>
          <p:nvPr>
            <p:ph type="dt" sz="half" idx="10"/>
          </p:nvPr>
        </p:nvSpPr>
        <p:spPr/>
        <p:txBody>
          <a:bodyPr/>
          <a:lstStyle/>
          <a:p>
            <a:fld id="{CCD0576A-07DB-3B46-AC99-97A70AE23956}" type="datetimeFigureOut">
              <a:rPr lang="en-US" smtClean="0"/>
              <a:t>5/27/2025</a:t>
            </a:fld>
            <a:endParaRPr lang="en-US"/>
          </a:p>
        </p:txBody>
      </p:sp>
      <p:sp>
        <p:nvSpPr>
          <p:cNvPr id="5" name="Footer Placeholder 4">
            <a:extLst>
              <a:ext uri="{FF2B5EF4-FFF2-40B4-BE49-F238E27FC236}">
                <a16:creationId xmlns:a16="http://schemas.microsoft.com/office/drawing/2014/main" id="{3BB0C74B-DB87-D74C-25EF-E2DFA9BBC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4EB34-C25C-43DD-1A50-13C7E6692AB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095055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C05F-6C10-AAB8-B9A1-704086EB8325}"/>
              </a:ext>
            </a:extLst>
          </p:cNvPr>
          <p:cNvSpPr>
            <a:spLocks noGrp="1"/>
          </p:cNvSpPr>
          <p:nvPr>
            <p:ph type="ctrTitle"/>
          </p:nvPr>
        </p:nvSpPr>
        <p:spPr>
          <a:xfrm>
            <a:off x="1828800" y="2487168"/>
            <a:ext cx="10972800" cy="2149069"/>
          </a:xfrm>
        </p:spPr>
        <p:txBody>
          <a:bodyPr>
            <a:normAutofit fontScale="90000"/>
          </a:bodyPr>
          <a:lstStyle/>
          <a:p>
            <a:r>
              <a:rPr lang="en-US" sz="5280" b="1" dirty="0">
                <a:latin typeface="Times New Roman" panose="02020603050405020304" pitchFamily="18" charset="0"/>
                <a:cs typeface="Times New Roman" panose="02020603050405020304" pitchFamily="18" charset="0"/>
              </a:rPr>
              <a:t>Introduction To AI </a:t>
            </a:r>
            <a:br>
              <a:rPr lang="en-IN" sz="2880" b="1" dirty="0">
                <a:latin typeface="Times New Roman" panose="02020603050405020304" pitchFamily="18" charset="0"/>
                <a:cs typeface="Times New Roman" panose="02020603050405020304" pitchFamily="18" charset="0"/>
              </a:rPr>
            </a:br>
            <a:r>
              <a:rPr lang="en-IN" sz="4200" b="1" dirty="0">
                <a:latin typeface="Times New Roman" panose="02020603050405020304" pitchFamily="18" charset="0"/>
                <a:cs typeface="Times New Roman" panose="02020603050405020304" pitchFamily="18" charset="0"/>
              </a:rPr>
              <a:t>Even Semester</a:t>
            </a:r>
            <a:br>
              <a:rPr lang="en-IN" sz="4200" b="1" dirty="0">
                <a:latin typeface="Times New Roman" panose="02020603050405020304" pitchFamily="18" charset="0"/>
                <a:cs typeface="Times New Roman" panose="02020603050405020304" pitchFamily="18" charset="0"/>
              </a:rPr>
            </a:br>
            <a:r>
              <a:rPr lang="en-IN" sz="4200" b="1" dirty="0">
                <a:latin typeface="Times New Roman" panose="02020603050405020304" pitchFamily="18" charset="0"/>
                <a:cs typeface="Times New Roman" panose="02020603050405020304" pitchFamily="18" charset="0"/>
              </a:rPr>
              <a:t>Session 2025-26</a:t>
            </a:r>
            <a:endParaRPr lang="en-US" sz="4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C24FBC-2E61-AD49-3BD0-DA7AA89F9A81}"/>
              </a:ext>
            </a:extLst>
          </p:cNvPr>
          <p:cNvSpPr>
            <a:spLocks noGrp="1"/>
          </p:cNvSpPr>
          <p:nvPr>
            <p:ph type="subTitle" idx="1"/>
          </p:nvPr>
        </p:nvSpPr>
        <p:spPr>
          <a:xfrm>
            <a:off x="1828800" y="4893032"/>
            <a:ext cx="10972800" cy="1206901"/>
          </a:xfrm>
        </p:spPr>
        <p:txBody>
          <a:bodyPr>
            <a:normAutofit fontScale="92500"/>
          </a:bodyPr>
          <a:lstStyle/>
          <a:p>
            <a:r>
              <a:rPr lang="en-US" b="1" dirty="0">
                <a:latin typeface="Times New Roman" panose="02020603050405020304" pitchFamily="18" charset="0"/>
                <a:cs typeface="Times New Roman" panose="02020603050405020304" pitchFamily="18" charset="0"/>
              </a:rPr>
              <a:t>Multimodal Sentiment Analysis</a:t>
            </a:r>
          </a:p>
          <a:p>
            <a:r>
              <a:rPr lang="en-US" b="1" dirty="0">
                <a:latin typeface="Times New Roman" panose="02020603050405020304" pitchFamily="18" charset="0"/>
                <a:cs typeface="Times New Roman" panose="02020603050405020304" pitchFamily="18" charset="0"/>
              </a:rPr>
              <a:t>Tushar Chandra Pant , Tushar Mishra , Shresth Yadav , Utkarsh </a:t>
            </a:r>
            <a:r>
              <a:rPr lang="en-US" b="1" dirty="0" err="1">
                <a:latin typeface="Times New Roman" panose="02020603050405020304" pitchFamily="18" charset="0"/>
                <a:cs typeface="Times New Roman" panose="02020603050405020304" pitchFamily="18" charset="0"/>
              </a:rPr>
              <a:t>Sanre</a:t>
            </a:r>
            <a:r>
              <a:rPr lang="en-US" b="1" dirty="0">
                <a:latin typeface="Times New Roman" panose="02020603050405020304" pitchFamily="18" charset="0"/>
                <a:cs typeface="Times New Roman" panose="02020603050405020304" pitchFamily="18" charset="0"/>
              </a:rPr>
              <a:t> </a:t>
            </a:r>
          </a:p>
          <a:p>
            <a:endParaRPr lang="en-US" b="1"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C7EFE38A-2987-AEC9-33EC-1BC6CB5C10DA}"/>
              </a:ext>
            </a:extLst>
          </p:cNvPr>
          <p:cNvSpPr txBox="1">
            <a:spLocks/>
          </p:cNvSpPr>
          <p:nvPr/>
        </p:nvSpPr>
        <p:spPr>
          <a:xfrm>
            <a:off x="1828800" y="5739117"/>
            <a:ext cx="10972800" cy="915238"/>
          </a:xfrm>
          <a:prstGeom prst="rect">
            <a:avLst/>
          </a:prstGeom>
        </p:spPr>
        <p:txBody>
          <a:bodyPr vert="horz" lIns="109728" tIns="54864" rIns="109728" bIns="54864"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80" dirty="0"/>
          </a:p>
        </p:txBody>
      </p:sp>
      <p:sp>
        <p:nvSpPr>
          <p:cNvPr id="5" name="Subtitle 2">
            <a:extLst>
              <a:ext uri="{FF2B5EF4-FFF2-40B4-BE49-F238E27FC236}">
                <a16:creationId xmlns:a16="http://schemas.microsoft.com/office/drawing/2014/main" id="{43043289-20F1-1B73-C850-CE92562B546B}"/>
              </a:ext>
            </a:extLst>
          </p:cNvPr>
          <p:cNvSpPr txBox="1">
            <a:spLocks/>
          </p:cNvSpPr>
          <p:nvPr/>
        </p:nvSpPr>
        <p:spPr>
          <a:xfrm>
            <a:off x="9379975" y="6760846"/>
            <a:ext cx="5250426" cy="1468754"/>
          </a:xfrm>
          <a:prstGeom prst="rect">
            <a:avLst/>
          </a:prstGeom>
        </p:spPr>
        <p:txBody>
          <a:bodyPr vert="horz" lIns="109728" tIns="54864" rIns="109728" bIns="54864"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sz="2880" b="1" u="sng" dirty="0">
                <a:latin typeface="Times New Roman" panose="02020603050405020304" pitchFamily="18" charset="0"/>
                <a:cs typeface="Times New Roman" panose="02020603050405020304" pitchFamily="18" charset="0"/>
              </a:rPr>
              <a:t>Project Supervisor:</a:t>
            </a:r>
          </a:p>
          <a:p>
            <a:pPr algn="just"/>
            <a:r>
              <a:rPr lang="en-IN" sz="2880" dirty="0">
                <a:solidFill>
                  <a:srgbClr val="FF0000"/>
                </a:solidFill>
                <a:latin typeface="Times New Roman" panose="02020603050405020304" pitchFamily="18" charset="0"/>
                <a:cs typeface="Times New Roman" panose="02020603050405020304" pitchFamily="18" charset="0"/>
              </a:rPr>
              <a:t>Supervisor Name: Mr. Apoorv Jain </a:t>
            </a:r>
          </a:p>
          <a:p>
            <a:pPr algn="just"/>
            <a:r>
              <a:rPr lang="en-IN" sz="2880" dirty="0">
                <a:solidFill>
                  <a:srgbClr val="FF0000"/>
                </a:solidFill>
                <a:latin typeface="Times New Roman" panose="02020603050405020304" pitchFamily="18" charset="0"/>
                <a:cs typeface="Times New Roman" panose="02020603050405020304" pitchFamily="18" charset="0"/>
              </a:rPr>
              <a:t>Designation: Assistant Professor</a:t>
            </a:r>
          </a:p>
          <a:p>
            <a:pPr algn="just"/>
            <a:endParaRPr lang="en-IN" sz="2880" b="1" u="sng"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9A50B94-DBEB-9815-4684-223EC27F9F0D}"/>
              </a:ext>
            </a:extLst>
          </p:cNvPr>
          <p:cNvPicPr>
            <a:picLocks noChangeAspect="1"/>
          </p:cNvPicPr>
          <p:nvPr/>
        </p:nvPicPr>
        <p:blipFill>
          <a:blip r:embed="rId2"/>
          <a:stretch>
            <a:fillRect/>
          </a:stretch>
        </p:blipFill>
        <p:spPr>
          <a:xfrm>
            <a:off x="0" y="3012"/>
            <a:ext cx="14630400" cy="1661388"/>
          </a:xfrm>
          <a:prstGeom prst="rect">
            <a:avLst/>
          </a:prstGeom>
        </p:spPr>
      </p:pic>
    </p:spTree>
    <p:extLst>
      <p:ext uri="{BB962C8B-B14F-4D97-AF65-F5344CB8AC3E}">
        <p14:creationId xmlns:p14="http://schemas.microsoft.com/office/powerpoint/2010/main" val="149316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7530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Multimodal Sentiment Analysis Project Overview</a:t>
            </a:r>
            <a:endParaRPr lang="en-US" sz="4450" dirty="0"/>
          </a:p>
        </p:txBody>
      </p:sp>
      <p:sp>
        <p:nvSpPr>
          <p:cNvPr id="4" name="Text 1"/>
          <p:cNvSpPr/>
          <p:nvPr/>
        </p:nvSpPr>
        <p:spPr>
          <a:xfrm>
            <a:off x="793790" y="3233023"/>
            <a:ext cx="7556421" cy="217741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This project report presents a multimodal sentiment analysis system integrating facial expression recognition and text sentiment analysis. The system uses Convolutional Neural Networks (CNN) to classify emotions from images and TextBlob for analyzing text polarity. By combining these modalities, it aims to improve the accuracy and robustness of sentiment detection.</a:t>
            </a:r>
            <a:endParaRPr lang="en-US" sz="1750" dirty="0"/>
          </a:p>
        </p:txBody>
      </p:sp>
      <p:sp>
        <p:nvSpPr>
          <p:cNvPr id="5" name="Text 2"/>
          <p:cNvSpPr/>
          <p:nvPr/>
        </p:nvSpPr>
        <p:spPr>
          <a:xfrm>
            <a:off x="793790" y="5665589"/>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Developed by Tushar Chandra Pant, Tushar Mishra, Utkarsh Sanre, and Shresth Yadav under the supervision of Mr. Apoorv Jain, this work contributes to affective computing and human-computer interaction.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989171"/>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Introduction and Problem Statement</a:t>
            </a:r>
            <a:endParaRPr lang="en-US" sz="4450" dirty="0"/>
          </a:p>
        </p:txBody>
      </p:sp>
      <p:sp>
        <p:nvSpPr>
          <p:cNvPr id="4" name="Shape 1"/>
          <p:cNvSpPr/>
          <p:nvPr/>
        </p:nvSpPr>
        <p:spPr>
          <a:xfrm>
            <a:off x="6280190" y="2746891"/>
            <a:ext cx="510302" cy="510302"/>
          </a:xfrm>
          <a:prstGeom prst="roundRect">
            <a:avLst>
              <a:gd name="adj" fmla="val 40005"/>
            </a:avLst>
          </a:prstGeom>
          <a:solidFill>
            <a:srgbClr val="030303"/>
          </a:solidFill>
          <a:ln w="22860">
            <a:solidFill>
              <a:srgbClr val="FC8337"/>
            </a:solidFill>
            <a:prstDash val="solid"/>
          </a:ln>
        </p:spPr>
      </p:sp>
      <p:sp>
        <p:nvSpPr>
          <p:cNvPr id="5" name="Text 2"/>
          <p:cNvSpPr/>
          <p:nvPr/>
        </p:nvSpPr>
        <p:spPr>
          <a:xfrm>
            <a:off x="7017306" y="282475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Overview</a:t>
            </a:r>
            <a:endParaRPr lang="en-US" sz="2200" dirty="0"/>
          </a:p>
        </p:txBody>
      </p:sp>
      <p:sp>
        <p:nvSpPr>
          <p:cNvPr id="6" name="Text 3"/>
          <p:cNvSpPr/>
          <p:nvPr/>
        </p:nvSpPr>
        <p:spPr>
          <a:xfrm>
            <a:off x="7017306" y="3315176"/>
            <a:ext cx="2899410"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Combines visual and textual data to capture human emotions more comprehensively than single-modality methods.</a:t>
            </a:r>
            <a:endParaRPr lang="en-US" sz="1750" dirty="0"/>
          </a:p>
        </p:txBody>
      </p:sp>
      <p:sp>
        <p:nvSpPr>
          <p:cNvPr id="7" name="Shape 4"/>
          <p:cNvSpPr/>
          <p:nvPr/>
        </p:nvSpPr>
        <p:spPr>
          <a:xfrm>
            <a:off x="10200203" y="2746891"/>
            <a:ext cx="510302" cy="510302"/>
          </a:xfrm>
          <a:prstGeom prst="roundRect">
            <a:avLst>
              <a:gd name="adj" fmla="val 40005"/>
            </a:avLst>
          </a:prstGeom>
          <a:solidFill>
            <a:srgbClr val="030303"/>
          </a:solidFill>
          <a:ln w="22860">
            <a:solidFill>
              <a:srgbClr val="FC8337"/>
            </a:solidFill>
            <a:prstDash val="solid"/>
          </a:ln>
        </p:spPr>
      </p:sp>
      <p:sp>
        <p:nvSpPr>
          <p:cNvPr id="8" name="Text 5"/>
          <p:cNvSpPr/>
          <p:nvPr/>
        </p:nvSpPr>
        <p:spPr>
          <a:xfrm>
            <a:off x="10937319" y="282475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Challenges</a:t>
            </a:r>
            <a:endParaRPr lang="en-US" sz="2200" dirty="0"/>
          </a:p>
        </p:txBody>
      </p:sp>
      <p:sp>
        <p:nvSpPr>
          <p:cNvPr id="9" name="Text 6"/>
          <p:cNvSpPr/>
          <p:nvPr/>
        </p:nvSpPr>
        <p:spPr>
          <a:xfrm>
            <a:off x="10937319" y="3315176"/>
            <a:ext cx="2899410"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Single-modality models miss nonverbal cues or contextual information, leading to misclassification.</a:t>
            </a:r>
            <a:endParaRPr lang="en-US" sz="1750" dirty="0"/>
          </a:p>
        </p:txBody>
      </p:sp>
      <p:sp>
        <p:nvSpPr>
          <p:cNvPr id="10" name="Shape 7"/>
          <p:cNvSpPr/>
          <p:nvPr/>
        </p:nvSpPr>
        <p:spPr>
          <a:xfrm>
            <a:off x="6280190" y="5583317"/>
            <a:ext cx="510302" cy="510302"/>
          </a:xfrm>
          <a:prstGeom prst="roundRect">
            <a:avLst>
              <a:gd name="adj" fmla="val 40005"/>
            </a:avLst>
          </a:prstGeom>
          <a:solidFill>
            <a:srgbClr val="030303"/>
          </a:solidFill>
          <a:ln w="22860">
            <a:solidFill>
              <a:srgbClr val="FC8337"/>
            </a:solidFill>
            <a:prstDash val="solid"/>
          </a:ln>
        </p:spPr>
      </p:sp>
      <p:sp>
        <p:nvSpPr>
          <p:cNvPr id="11" name="Text 8"/>
          <p:cNvSpPr/>
          <p:nvPr/>
        </p:nvSpPr>
        <p:spPr>
          <a:xfrm>
            <a:off x="7017306" y="566118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Objective</a:t>
            </a:r>
            <a:endParaRPr lang="en-US" sz="2200" dirty="0"/>
          </a:p>
        </p:txBody>
      </p:sp>
      <p:sp>
        <p:nvSpPr>
          <p:cNvPr id="12" name="Text 9"/>
          <p:cNvSpPr/>
          <p:nvPr/>
        </p:nvSpPr>
        <p:spPr>
          <a:xfrm>
            <a:off x="7017306" y="6151602"/>
            <a:ext cx="6819305"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Design a Python-based framework integrating CNN for facial emotion recognition and TextBlob for text sentiment, fusing both for final sentiment classification.</a:t>
            </a:r>
            <a:endParaRPr lang="en-US" sz="1750" dirty="0"/>
          </a:p>
        </p:txBody>
      </p:sp>
      <p:sp>
        <p:nvSpPr>
          <p:cNvPr id="13" name="Rectangle 12">
            <a:extLst>
              <a:ext uri="{FF2B5EF4-FFF2-40B4-BE49-F238E27FC236}">
                <a16:creationId xmlns:a16="http://schemas.microsoft.com/office/drawing/2014/main" id="{0D321D27-AB48-2F98-1D12-9CE0DCF57FFB}"/>
              </a:ext>
            </a:extLst>
          </p:cNvPr>
          <p:cNvSpPr/>
          <p:nvPr/>
        </p:nvSpPr>
        <p:spPr>
          <a:xfrm>
            <a:off x="12879659" y="7616283"/>
            <a:ext cx="1750741" cy="53525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876663"/>
            <a:ext cx="9346644"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Literature Review and Technologies</a:t>
            </a:r>
            <a:endParaRPr lang="en-US" sz="4450" dirty="0"/>
          </a:p>
        </p:txBody>
      </p:sp>
      <p:sp>
        <p:nvSpPr>
          <p:cNvPr id="3" name="Text 1"/>
          <p:cNvSpPr/>
          <p:nvPr/>
        </p:nvSpPr>
        <p:spPr>
          <a:xfrm>
            <a:off x="793790" y="31524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Recent Advances</a:t>
            </a:r>
            <a:endParaRPr lang="en-US" sz="2200" dirty="0"/>
          </a:p>
        </p:txBody>
      </p:sp>
      <p:sp>
        <p:nvSpPr>
          <p:cNvPr id="4" name="Text 2"/>
          <p:cNvSpPr/>
          <p:nvPr/>
        </p:nvSpPr>
        <p:spPr>
          <a:xfrm>
            <a:off x="793790" y="3733562"/>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Deep learning models like CNNs and transformers enable joint modeling of images and text, improving sentiment prediction.</a:t>
            </a:r>
            <a:endParaRPr lang="en-US" sz="1750" dirty="0"/>
          </a:p>
        </p:txBody>
      </p:sp>
      <p:sp>
        <p:nvSpPr>
          <p:cNvPr id="5" name="Text 3"/>
          <p:cNvSpPr/>
          <p:nvPr/>
        </p:nvSpPr>
        <p:spPr>
          <a:xfrm>
            <a:off x="793790" y="502634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Fusion techniques: early, late, hybrid</a:t>
            </a:r>
            <a:endParaRPr lang="en-US" sz="1750" dirty="0"/>
          </a:p>
        </p:txBody>
      </p:sp>
      <p:sp>
        <p:nvSpPr>
          <p:cNvPr id="6" name="Text 4"/>
          <p:cNvSpPr/>
          <p:nvPr/>
        </p:nvSpPr>
        <p:spPr>
          <a:xfrm>
            <a:off x="793790" y="546854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Use of pretrained models (VGG, BERT)</a:t>
            </a:r>
            <a:endParaRPr lang="en-US" sz="1750" dirty="0"/>
          </a:p>
        </p:txBody>
      </p:sp>
      <p:sp>
        <p:nvSpPr>
          <p:cNvPr id="7" name="Text 5"/>
          <p:cNvSpPr/>
          <p:nvPr/>
        </p:nvSpPr>
        <p:spPr>
          <a:xfrm>
            <a:off x="793790" y="591073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Challenges: modality alignment, noisy data</a:t>
            </a:r>
            <a:endParaRPr lang="en-US" sz="1750" dirty="0"/>
          </a:p>
        </p:txBody>
      </p:sp>
      <p:sp>
        <p:nvSpPr>
          <p:cNvPr id="8" name="Text 6"/>
          <p:cNvSpPr/>
          <p:nvPr/>
        </p:nvSpPr>
        <p:spPr>
          <a:xfrm>
            <a:off x="7599521" y="31524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Saira Medium" pitchFamily="34" charset="0"/>
                <a:ea typeface="Saira Medium" pitchFamily="34" charset="-122"/>
                <a:cs typeface="Saira Medium" pitchFamily="34" charset="-120"/>
              </a:rPr>
              <a:t>Technologies Used</a:t>
            </a:r>
            <a:endParaRPr lang="en-US" sz="2200" dirty="0"/>
          </a:p>
        </p:txBody>
      </p:sp>
      <p:sp>
        <p:nvSpPr>
          <p:cNvPr id="9" name="Text 7"/>
          <p:cNvSpPr/>
          <p:nvPr/>
        </p:nvSpPr>
        <p:spPr>
          <a:xfrm>
            <a:off x="7599521" y="3733562"/>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Frameworks and tools include TensorFlow, PyTorch, Pillow, TextBlob, and visualization libraries.</a:t>
            </a:r>
            <a:endParaRPr lang="en-US" sz="1750" dirty="0"/>
          </a:p>
        </p:txBody>
      </p:sp>
      <p:sp>
        <p:nvSpPr>
          <p:cNvPr id="10" name="Text 8"/>
          <p:cNvSpPr/>
          <p:nvPr/>
        </p:nvSpPr>
        <p:spPr>
          <a:xfrm>
            <a:off x="7599521" y="466344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Image preprocessing with PIL/OpenCV</a:t>
            </a:r>
            <a:endParaRPr lang="en-US" sz="1750" dirty="0"/>
          </a:p>
        </p:txBody>
      </p:sp>
      <p:sp>
        <p:nvSpPr>
          <p:cNvPr id="11" name="Text 9"/>
          <p:cNvSpPr/>
          <p:nvPr/>
        </p:nvSpPr>
        <p:spPr>
          <a:xfrm>
            <a:off x="7599521" y="510563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Text analysis with TextBlob and transformers</a:t>
            </a:r>
            <a:endParaRPr lang="en-US" sz="1750" dirty="0"/>
          </a:p>
        </p:txBody>
      </p:sp>
      <p:sp>
        <p:nvSpPr>
          <p:cNvPr id="12" name="Text 10"/>
          <p:cNvSpPr/>
          <p:nvPr/>
        </p:nvSpPr>
        <p:spPr>
          <a:xfrm>
            <a:off x="7599521" y="554783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Data handling with NumPy and pandas</a:t>
            </a:r>
            <a:endParaRPr lang="en-US" sz="1750" dirty="0"/>
          </a:p>
        </p:txBody>
      </p:sp>
      <p:sp>
        <p:nvSpPr>
          <p:cNvPr id="13" name="Rectangle 12">
            <a:extLst>
              <a:ext uri="{FF2B5EF4-FFF2-40B4-BE49-F238E27FC236}">
                <a16:creationId xmlns:a16="http://schemas.microsoft.com/office/drawing/2014/main" id="{32026BAD-87E6-5ACF-45D7-7CB340248DE3}"/>
              </a:ext>
            </a:extLst>
          </p:cNvPr>
          <p:cNvSpPr/>
          <p:nvPr/>
        </p:nvSpPr>
        <p:spPr>
          <a:xfrm>
            <a:off x="12645483" y="7683190"/>
            <a:ext cx="1906858" cy="5464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517380" y="2023110"/>
            <a:ext cx="4739640" cy="4183380"/>
          </a:xfrm>
          <a:prstGeom prst="rect">
            <a:avLst/>
          </a:prstGeom>
        </p:spPr>
      </p:pic>
      <p:sp>
        <p:nvSpPr>
          <p:cNvPr id="4" name="Text 0"/>
          <p:cNvSpPr/>
          <p:nvPr/>
        </p:nvSpPr>
        <p:spPr>
          <a:xfrm>
            <a:off x="683062" y="790337"/>
            <a:ext cx="7242929" cy="609838"/>
          </a:xfrm>
          <a:prstGeom prst="rect">
            <a:avLst/>
          </a:prstGeom>
          <a:noFill/>
          <a:ln/>
        </p:spPr>
        <p:txBody>
          <a:bodyPr wrap="none" lIns="0" tIns="0" rIns="0" bIns="0" rtlCol="0" anchor="t"/>
          <a:lstStyle/>
          <a:p>
            <a:pPr marL="0" indent="0" algn="l">
              <a:lnSpc>
                <a:spcPts val="4800"/>
              </a:lnSpc>
              <a:buNone/>
            </a:pPr>
            <a:r>
              <a:rPr lang="en-US" sz="3800" dirty="0">
                <a:solidFill>
                  <a:srgbClr val="FFFFFF"/>
                </a:solidFill>
                <a:latin typeface="Saira Medium" pitchFamily="34" charset="0"/>
                <a:ea typeface="Saira Medium" pitchFamily="34" charset="-122"/>
                <a:cs typeface="Saira Medium" pitchFamily="34" charset="-120"/>
              </a:rPr>
              <a:t>System Design and Architecture</a:t>
            </a:r>
            <a:endParaRPr lang="en-US" sz="3800" dirty="0"/>
          </a:p>
        </p:txBody>
      </p:sp>
      <p:pic>
        <p:nvPicPr>
          <p:cNvPr id="5" name="Image 2" descr="preencoded.png"/>
          <p:cNvPicPr>
            <a:picLocks noChangeAspect="1"/>
          </p:cNvPicPr>
          <p:nvPr/>
        </p:nvPicPr>
        <p:blipFill>
          <a:blip r:embed="rId5"/>
          <a:stretch>
            <a:fillRect/>
          </a:stretch>
        </p:blipFill>
        <p:spPr>
          <a:xfrm>
            <a:off x="683062" y="1692831"/>
            <a:ext cx="975717" cy="1436608"/>
          </a:xfrm>
          <a:prstGeom prst="rect">
            <a:avLst/>
          </a:prstGeom>
        </p:spPr>
      </p:pic>
      <p:sp>
        <p:nvSpPr>
          <p:cNvPr id="6" name="Text 1"/>
          <p:cNvSpPr/>
          <p:nvPr/>
        </p:nvSpPr>
        <p:spPr>
          <a:xfrm>
            <a:off x="1951434" y="1887974"/>
            <a:ext cx="3320415" cy="304919"/>
          </a:xfrm>
          <a:prstGeom prst="rect">
            <a:avLst/>
          </a:prstGeom>
          <a:noFill/>
          <a:ln/>
        </p:spPr>
        <p:txBody>
          <a:bodyPr wrap="none" lIns="0" tIns="0" rIns="0" bIns="0" rtlCol="0" anchor="t"/>
          <a:lstStyle/>
          <a:p>
            <a:pPr marL="0" indent="0" algn="l">
              <a:lnSpc>
                <a:spcPts val="2400"/>
              </a:lnSpc>
              <a:buNone/>
            </a:pPr>
            <a:r>
              <a:rPr lang="en-US" sz="1900" dirty="0">
                <a:solidFill>
                  <a:srgbClr val="E5E0DF"/>
                </a:solidFill>
                <a:latin typeface="Saira Medium" pitchFamily="34" charset="0"/>
                <a:ea typeface="Saira Medium" pitchFamily="34" charset="-122"/>
                <a:cs typeface="Saira Medium" pitchFamily="34" charset="-120"/>
              </a:rPr>
              <a:t>Data Collection &amp; Preparation</a:t>
            </a:r>
            <a:endParaRPr lang="en-US" sz="1900" dirty="0"/>
          </a:p>
        </p:txBody>
      </p:sp>
      <p:sp>
        <p:nvSpPr>
          <p:cNvPr id="7" name="Text 2"/>
          <p:cNvSpPr/>
          <p:nvPr/>
        </p:nvSpPr>
        <p:spPr>
          <a:xfrm>
            <a:off x="1951434" y="2309932"/>
            <a:ext cx="6509504" cy="624364"/>
          </a:xfrm>
          <a:prstGeom prst="rect">
            <a:avLst/>
          </a:prstGeom>
          <a:noFill/>
          <a:ln/>
        </p:spPr>
        <p:txBody>
          <a:bodyPr wrap="square" lIns="0" tIns="0" rIns="0" bIns="0" rtlCol="0" anchor="t"/>
          <a:lstStyle/>
          <a:p>
            <a:pPr marL="0" indent="0" algn="l">
              <a:lnSpc>
                <a:spcPts val="2450"/>
              </a:lnSpc>
              <a:buNone/>
            </a:pPr>
            <a:r>
              <a:rPr lang="en-US" sz="1500" dirty="0">
                <a:solidFill>
                  <a:srgbClr val="E5E0DF"/>
                </a:solidFill>
                <a:latin typeface="Roboto" pitchFamily="34" charset="0"/>
                <a:ea typeface="Roboto" pitchFamily="34" charset="-122"/>
                <a:cs typeface="Roboto" pitchFamily="34" charset="-120"/>
              </a:rPr>
              <a:t>Aggregates labeled image-text pairs, ensuring balanced training, validation, and test splits.</a:t>
            </a:r>
            <a:endParaRPr lang="en-US" sz="1500" dirty="0"/>
          </a:p>
        </p:txBody>
      </p:sp>
      <p:pic>
        <p:nvPicPr>
          <p:cNvPr id="8" name="Image 3" descr="preencoded.png"/>
          <p:cNvPicPr>
            <a:picLocks noChangeAspect="1"/>
          </p:cNvPicPr>
          <p:nvPr/>
        </p:nvPicPr>
        <p:blipFill>
          <a:blip r:embed="rId6"/>
          <a:stretch>
            <a:fillRect/>
          </a:stretch>
        </p:blipFill>
        <p:spPr>
          <a:xfrm>
            <a:off x="683062" y="3129439"/>
            <a:ext cx="975717" cy="1436608"/>
          </a:xfrm>
          <a:prstGeom prst="rect">
            <a:avLst/>
          </a:prstGeom>
        </p:spPr>
      </p:pic>
      <p:sp>
        <p:nvSpPr>
          <p:cNvPr id="9" name="Text 3"/>
          <p:cNvSpPr/>
          <p:nvPr/>
        </p:nvSpPr>
        <p:spPr>
          <a:xfrm>
            <a:off x="1951434" y="3324582"/>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E5E0DF"/>
                </a:solidFill>
                <a:latin typeface="Saira Medium" pitchFamily="34" charset="0"/>
                <a:ea typeface="Saira Medium" pitchFamily="34" charset="-122"/>
                <a:cs typeface="Saira Medium" pitchFamily="34" charset="-120"/>
              </a:rPr>
              <a:t>Preprocessing</a:t>
            </a:r>
            <a:endParaRPr lang="en-US" sz="1900" dirty="0"/>
          </a:p>
        </p:txBody>
      </p:sp>
      <p:sp>
        <p:nvSpPr>
          <p:cNvPr id="10" name="Text 4"/>
          <p:cNvSpPr/>
          <p:nvPr/>
        </p:nvSpPr>
        <p:spPr>
          <a:xfrm>
            <a:off x="1951434" y="3746540"/>
            <a:ext cx="6509504" cy="624364"/>
          </a:xfrm>
          <a:prstGeom prst="rect">
            <a:avLst/>
          </a:prstGeom>
          <a:noFill/>
          <a:ln/>
        </p:spPr>
        <p:txBody>
          <a:bodyPr wrap="square" lIns="0" tIns="0" rIns="0" bIns="0" rtlCol="0" anchor="t"/>
          <a:lstStyle/>
          <a:p>
            <a:pPr marL="0" indent="0" algn="l">
              <a:lnSpc>
                <a:spcPts val="2450"/>
              </a:lnSpc>
              <a:buNone/>
            </a:pPr>
            <a:r>
              <a:rPr lang="en-US" sz="1500" dirty="0">
                <a:solidFill>
                  <a:srgbClr val="E5E0DF"/>
                </a:solidFill>
                <a:latin typeface="Roboto" pitchFamily="34" charset="0"/>
                <a:ea typeface="Roboto" pitchFamily="34" charset="-122"/>
                <a:cs typeface="Roboto" pitchFamily="34" charset="-120"/>
              </a:rPr>
              <a:t>Normalizes images and tokenizes text, aligning multimodal inputs for model consumption.</a:t>
            </a:r>
            <a:endParaRPr lang="en-US" sz="1500" dirty="0"/>
          </a:p>
        </p:txBody>
      </p:sp>
      <p:pic>
        <p:nvPicPr>
          <p:cNvPr id="11" name="Image 4" descr="preencoded.png"/>
          <p:cNvPicPr>
            <a:picLocks noChangeAspect="1"/>
          </p:cNvPicPr>
          <p:nvPr/>
        </p:nvPicPr>
        <p:blipFill>
          <a:blip r:embed="rId7"/>
          <a:stretch>
            <a:fillRect/>
          </a:stretch>
        </p:blipFill>
        <p:spPr>
          <a:xfrm>
            <a:off x="683062" y="4566047"/>
            <a:ext cx="975717" cy="1436608"/>
          </a:xfrm>
          <a:prstGeom prst="rect">
            <a:avLst/>
          </a:prstGeom>
        </p:spPr>
      </p:pic>
      <p:sp>
        <p:nvSpPr>
          <p:cNvPr id="12" name="Text 5"/>
          <p:cNvSpPr/>
          <p:nvPr/>
        </p:nvSpPr>
        <p:spPr>
          <a:xfrm>
            <a:off x="1951434" y="4761190"/>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E5E0DF"/>
                </a:solidFill>
                <a:latin typeface="Saira Medium" pitchFamily="34" charset="0"/>
                <a:ea typeface="Saira Medium" pitchFamily="34" charset="-122"/>
                <a:cs typeface="Saira Medium" pitchFamily="34" charset="-120"/>
              </a:rPr>
              <a:t>Model Architecture</a:t>
            </a:r>
            <a:endParaRPr lang="en-US" sz="1900" dirty="0"/>
          </a:p>
        </p:txBody>
      </p:sp>
      <p:sp>
        <p:nvSpPr>
          <p:cNvPr id="13" name="Text 6"/>
          <p:cNvSpPr/>
          <p:nvPr/>
        </p:nvSpPr>
        <p:spPr>
          <a:xfrm>
            <a:off x="1951434" y="5183148"/>
            <a:ext cx="6509504" cy="624364"/>
          </a:xfrm>
          <a:prstGeom prst="rect">
            <a:avLst/>
          </a:prstGeom>
          <a:noFill/>
          <a:ln/>
        </p:spPr>
        <p:txBody>
          <a:bodyPr wrap="square" lIns="0" tIns="0" rIns="0" bIns="0" rtlCol="0" anchor="t"/>
          <a:lstStyle/>
          <a:p>
            <a:pPr marL="0" indent="0" algn="l">
              <a:lnSpc>
                <a:spcPts val="2450"/>
              </a:lnSpc>
              <a:buNone/>
            </a:pPr>
            <a:r>
              <a:rPr lang="en-US" sz="1500" dirty="0">
                <a:solidFill>
                  <a:srgbClr val="E5E0DF"/>
                </a:solidFill>
                <a:latin typeface="Roboto" pitchFamily="34" charset="0"/>
                <a:ea typeface="Roboto" pitchFamily="34" charset="-122"/>
                <a:cs typeface="Roboto" pitchFamily="34" charset="-120"/>
              </a:rPr>
              <a:t>Combines CNN-based image encoder and transformer-based text encoder with fusion layers for sentiment classification.</a:t>
            </a:r>
            <a:endParaRPr lang="en-US" sz="1500" dirty="0"/>
          </a:p>
        </p:txBody>
      </p:sp>
      <p:pic>
        <p:nvPicPr>
          <p:cNvPr id="14" name="Image 5" descr="preencoded.png"/>
          <p:cNvPicPr>
            <a:picLocks noChangeAspect="1"/>
          </p:cNvPicPr>
          <p:nvPr/>
        </p:nvPicPr>
        <p:blipFill>
          <a:blip r:embed="rId8"/>
          <a:stretch>
            <a:fillRect/>
          </a:stretch>
        </p:blipFill>
        <p:spPr>
          <a:xfrm>
            <a:off x="683062" y="6002655"/>
            <a:ext cx="975717" cy="1436608"/>
          </a:xfrm>
          <a:prstGeom prst="rect">
            <a:avLst/>
          </a:prstGeom>
        </p:spPr>
      </p:pic>
      <p:sp>
        <p:nvSpPr>
          <p:cNvPr id="15" name="Text 7"/>
          <p:cNvSpPr/>
          <p:nvPr/>
        </p:nvSpPr>
        <p:spPr>
          <a:xfrm>
            <a:off x="1951434" y="6197798"/>
            <a:ext cx="2439472" cy="304919"/>
          </a:xfrm>
          <a:prstGeom prst="rect">
            <a:avLst/>
          </a:prstGeom>
          <a:noFill/>
          <a:ln/>
        </p:spPr>
        <p:txBody>
          <a:bodyPr wrap="none" lIns="0" tIns="0" rIns="0" bIns="0" rtlCol="0" anchor="t"/>
          <a:lstStyle/>
          <a:p>
            <a:pPr marL="0" indent="0" algn="l">
              <a:lnSpc>
                <a:spcPts val="2400"/>
              </a:lnSpc>
              <a:buNone/>
            </a:pPr>
            <a:r>
              <a:rPr lang="en-US" sz="1900" dirty="0">
                <a:solidFill>
                  <a:srgbClr val="E5E0DF"/>
                </a:solidFill>
                <a:latin typeface="Saira Medium" pitchFamily="34" charset="0"/>
                <a:ea typeface="Saira Medium" pitchFamily="34" charset="-122"/>
                <a:cs typeface="Saira Medium" pitchFamily="34" charset="-120"/>
              </a:rPr>
              <a:t>Training &amp; Evaluation</a:t>
            </a:r>
            <a:endParaRPr lang="en-US" sz="1900" dirty="0"/>
          </a:p>
        </p:txBody>
      </p:sp>
      <p:sp>
        <p:nvSpPr>
          <p:cNvPr id="16" name="Text 8"/>
          <p:cNvSpPr/>
          <p:nvPr/>
        </p:nvSpPr>
        <p:spPr>
          <a:xfrm>
            <a:off x="1951434" y="6619756"/>
            <a:ext cx="6509504" cy="624364"/>
          </a:xfrm>
          <a:prstGeom prst="rect">
            <a:avLst/>
          </a:prstGeom>
          <a:noFill/>
          <a:ln/>
        </p:spPr>
        <p:txBody>
          <a:bodyPr wrap="square" lIns="0" tIns="0" rIns="0" bIns="0" rtlCol="0" anchor="t"/>
          <a:lstStyle/>
          <a:p>
            <a:pPr marL="0" indent="0" algn="l">
              <a:lnSpc>
                <a:spcPts val="2450"/>
              </a:lnSpc>
              <a:buNone/>
            </a:pPr>
            <a:r>
              <a:rPr lang="en-US" sz="1500" dirty="0">
                <a:solidFill>
                  <a:srgbClr val="E5E0DF"/>
                </a:solidFill>
                <a:latin typeface="Roboto" pitchFamily="34" charset="0"/>
                <a:ea typeface="Roboto" pitchFamily="34" charset="-122"/>
                <a:cs typeface="Roboto" pitchFamily="34" charset="-120"/>
              </a:rPr>
              <a:t>Uses cross-entropy loss, Adam optimizer, and early stopping; evaluates with accuracy, confusion matrix, and visualizations.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0418" y="385286"/>
            <a:ext cx="6545104" cy="437793"/>
          </a:xfrm>
          <a:prstGeom prst="rect">
            <a:avLst/>
          </a:prstGeom>
          <a:noFill/>
          <a:ln/>
        </p:spPr>
        <p:txBody>
          <a:bodyPr wrap="none" lIns="0" tIns="0" rIns="0" bIns="0" rtlCol="0" anchor="t"/>
          <a:lstStyle/>
          <a:p>
            <a:pPr marL="0" indent="0" algn="l">
              <a:lnSpc>
                <a:spcPts val="3400"/>
              </a:lnSpc>
              <a:buNone/>
            </a:pPr>
            <a:r>
              <a:rPr lang="en-US" sz="2750" dirty="0">
                <a:solidFill>
                  <a:srgbClr val="FFFFFF"/>
                </a:solidFill>
                <a:latin typeface="Saira Medium" pitchFamily="34" charset="0"/>
                <a:ea typeface="Saira Medium" pitchFamily="34" charset="-122"/>
                <a:cs typeface="Saira Medium" pitchFamily="34" charset="-120"/>
              </a:rPr>
              <a:t>Implementation and Model Performance</a:t>
            </a:r>
            <a:endParaRPr lang="en-US" sz="2750" dirty="0"/>
          </a:p>
        </p:txBody>
      </p:sp>
      <p:pic>
        <p:nvPicPr>
          <p:cNvPr id="3" name="Image 0" descr="preencoded.png"/>
          <p:cNvPicPr>
            <a:picLocks noChangeAspect="1"/>
          </p:cNvPicPr>
          <p:nvPr/>
        </p:nvPicPr>
        <p:blipFill>
          <a:blip r:embed="rId3"/>
          <a:stretch>
            <a:fillRect/>
          </a:stretch>
        </p:blipFill>
        <p:spPr>
          <a:xfrm>
            <a:off x="490418" y="1103233"/>
            <a:ext cx="4655820" cy="3566160"/>
          </a:xfrm>
          <a:prstGeom prst="rect">
            <a:avLst/>
          </a:prstGeom>
        </p:spPr>
      </p:pic>
      <p:sp>
        <p:nvSpPr>
          <p:cNvPr id="4" name="Text 1"/>
          <p:cNvSpPr/>
          <p:nvPr/>
        </p:nvSpPr>
        <p:spPr>
          <a:xfrm>
            <a:off x="490418" y="4967049"/>
            <a:ext cx="1751648" cy="218837"/>
          </a:xfrm>
          <a:prstGeom prst="rect">
            <a:avLst/>
          </a:prstGeom>
          <a:noFill/>
          <a:ln/>
        </p:spPr>
        <p:txBody>
          <a:bodyPr wrap="none" lIns="0" tIns="0" rIns="0" bIns="0" rtlCol="0" anchor="t"/>
          <a:lstStyle/>
          <a:p>
            <a:pPr marL="0" indent="0" algn="l">
              <a:lnSpc>
                <a:spcPts val="1700"/>
              </a:lnSpc>
              <a:buNone/>
            </a:pPr>
            <a:r>
              <a:rPr lang="en-US" sz="1350" dirty="0">
                <a:solidFill>
                  <a:srgbClr val="FFFFFF"/>
                </a:solidFill>
                <a:latin typeface="Saira Medium" pitchFamily="34" charset="0"/>
                <a:ea typeface="Saira Medium" pitchFamily="34" charset="-122"/>
                <a:cs typeface="Saira Medium" pitchFamily="34" charset="-120"/>
              </a:rPr>
              <a:t>Dataset Preparation</a:t>
            </a:r>
            <a:endParaRPr lang="en-US" sz="1350" dirty="0"/>
          </a:p>
        </p:txBody>
      </p:sp>
      <p:sp>
        <p:nvSpPr>
          <p:cNvPr id="5" name="Text 2"/>
          <p:cNvSpPr/>
          <p:nvPr/>
        </p:nvSpPr>
        <p:spPr>
          <a:xfrm>
            <a:off x="490418" y="5325904"/>
            <a:ext cx="6653927" cy="224195"/>
          </a:xfrm>
          <a:prstGeom prst="rect">
            <a:avLst/>
          </a:prstGeom>
          <a:noFill/>
          <a:ln/>
        </p:spPr>
        <p:txBody>
          <a:bodyPr wrap="none" lIns="0" tIns="0" rIns="0" bIns="0" rtlCol="0" anchor="t"/>
          <a:lstStyle/>
          <a:p>
            <a:pPr marL="0" indent="0" algn="l">
              <a:lnSpc>
                <a:spcPts val="1750"/>
              </a:lnSpc>
              <a:buNone/>
            </a:pPr>
            <a:r>
              <a:rPr lang="en-US" sz="1100" dirty="0">
                <a:solidFill>
                  <a:srgbClr val="E5E0DF"/>
                </a:solidFill>
                <a:latin typeface="Roboto" pitchFamily="34" charset="0"/>
                <a:ea typeface="Roboto" pitchFamily="34" charset="-122"/>
                <a:cs typeface="Roboto" pitchFamily="34" charset="-120"/>
              </a:rPr>
              <a:t>Organized facial images into four emotion categories: happy, sad, neutral, surprised.</a:t>
            </a:r>
            <a:endParaRPr lang="en-US" sz="1100" dirty="0"/>
          </a:p>
        </p:txBody>
      </p:sp>
      <p:sp>
        <p:nvSpPr>
          <p:cNvPr id="6" name="Text 3"/>
          <p:cNvSpPr/>
          <p:nvPr/>
        </p:nvSpPr>
        <p:spPr>
          <a:xfrm>
            <a:off x="490418" y="5676186"/>
            <a:ext cx="6653927" cy="224195"/>
          </a:xfrm>
          <a:prstGeom prst="rect">
            <a:avLst/>
          </a:prstGeom>
          <a:noFill/>
          <a:ln/>
        </p:spPr>
        <p:txBody>
          <a:bodyPr wrap="none" lIns="0" tIns="0" rIns="0" bIns="0" rtlCol="0" anchor="t"/>
          <a:lstStyle/>
          <a:p>
            <a:pPr marL="0" indent="0" algn="l">
              <a:lnSpc>
                <a:spcPts val="1750"/>
              </a:lnSpc>
              <a:buNone/>
            </a:pPr>
            <a:r>
              <a:rPr lang="en-US" sz="1100" dirty="0">
                <a:solidFill>
                  <a:srgbClr val="E5E0DF"/>
                </a:solidFill>
                <a:latin typeface="Roboto" pitchFamily="34" charset="0"/>
                <a:ea typeface="Roboto" pitchFamily="34" charset="-122"/>
                <a:cs typeface="Roboto" pitchFamily="34" charset="-120"/>
              </a:rPr>
              <a:t>Images resized to 64×64 pixels and normalized for CNN input.</a:t>
            </a:r>
            <a:endParaRPr lang="en-US" sz="1100" dirty="0"/>
          </a:p>
        </p:txBody>
      </p:sp>
      <p:sp>
        <p:nvSpPr>
          <p:cNvPr id="7" name="Text 4"/>
          <p:cNvSpPr/>
          <p:nvPr/>
        </p:nvSpPr>
        <p:spPr>
          <a:xfrm>
            <a:off x="7493675" y="4967049"/>
            <a:ext cx="1751648" cy="218837"/>
          </a:xfrm>
          <a:prstGeom prst="rect">
            <a:avLst/>
          </a:prstGeom>
          <a:noFill/>
          <a:ln/>
        </p:spPr>
        <p:txBody>
          <a:bodyPr wrap="none" lIns="0" tIns="0" rIns="0" bIns="0" rtlCol="0" anchor="t"/>
          <a:lstStyle/>
          <a:p>
            <a:pPr marL="0" indent="0" algn="l">
              <a:lnSpc>
                <a:spcPts val="1700"/>
              </a:lnSpc>
              <a:buNone/>
            </a:pPr>
            <a:r>
              <a:rPr lang="en-US" sz="1350" dirty="0">
                <a:solidFill>
                  <a:srgbClr val="FFFFFF"/>
                </a:solidFill>
                <a:latin typeface="Saira Medium" pitchFamily="34" charset="0"/>
                <a:ea typeface="Saira Medium" pitchFamily="34" charset="-122"/>
                <a:cs typeface="Saira Medium" pitchFamily="34" charset="-120"/>
              </a:rPr>
              <a:t>Training Results</a:t>
            </a:r>
            <a:endParaRPr lang="en-US" sz="1350" dirty="0"/>
          </a:p>
        </p:txBody>
      </p:sp>
      <p:pic>
        <p:nvPicPr>
          <p:cNvPr id="8" name="Image 1" descr="preencoded.png"/>
          <p:cNvPicPr>
            <a:picLocks noChangeAspect="1"/>
          </p:cNvPicPr>
          <p:nvPr/>
        </p:nvPicPr>
        <p:blipFill>
          <a:blip r:embed="rId4"/>
          <a:stretch>
            <a:fillRect/>
          </a:stretch>
        </p:blipFill>
        <p:spPr>
          <a:xfrm>
            <a:off x="7315200" y="1286113"/>
            <a:ext cx="5638800" cy="3383280"/>
          </a:xfrm>
          <a:prstGeom prst="rect">
            <a:avLst/>
          </a:prstGeom>
        </p:spPr>
      </p:pic>
      <p:sp>
        <p:nvSpPr>
          <p:cNvPr id="9" name="Text 5"/>
          <p:cNvSpPr/>
          <p:nvPr/>
        </p:nvSpPr>
        <p:spPr>
          <a:xfrm>
            <a:off x="7493675" y="8884444"/>
            <a:ext cx="6653927" cy="224195"/>
          </a:xfrm>
          <a:prstGeom prst="rect">
            <a:avLst/>
          </a:prstGeom>
          <a:noFill/>
          <a:ln/>
        </p:spPr>
        <p:txBody>
          <a:bodyPr wrap="none" lIns="0" tIns="0" rIns="0" bIns="0" rtlCol="0" anchor="t"/>
          <a:lstStyle/>
          <a:p>
            <a:pPr marL="0" indent="0" algn="l">
              <a:lnSpc>
                <a:spcPts val="1750"/>
              </a:lnSpc>
              <a:buNone/>
            </a:pPr>
            <a:r>
              <a:rPr lang="en-US" sz="1100" dirty="0">
                <a:solidFill>
                  <a:srgbClr val="E5E0DF"/>
                </a:solidFill>
                <a:latin typeface="Roboto" pitchFamily="34" charset="0"/>
                <a:ea typeface="Roboto" pitchFamily="34" charset="-122"/>
                <a:cs typeface="Roboto" pitchFamily="34" charset="-120"/>
              </a:rPr>
              <a:t>Model trained over 15 epochs showed steady accuracy improvement and effective convergence.</a:t>
            </a:r>
            <a:endParaRPr lang="en-US" sz="1100" dirty="0"/>
          </a:p>
        </p:txBody>
      </p:sp>
      <p:sp>
        <p:nvSpPr>
          <p:cNvPr id="10" name="Rectangle 9">
            <a:extLst>
              <a:ext uri="{FF2B5EF4-FFF2-40B4-BE49-F238E27FC236}">
                <a16:creationId xmlns:a16="http://schemas.microsoft.com/office/drawing/2014/main" id="{CCF57CB1-A6CF-978C-710B-32087471D1EA}"/>
              </a:ext>
            </a:extLst>
          </p:cNvPr>
          <p:cNvSpPr/>
          <p:nvPr/>
        </p:nvSpPr>
        <p:spPr>
          <a:xfrm>
            <a:off x="12478215" y="7471317"/>
            <a:ext cx="2152185" cy="66907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83607" y="2282071"/>
            <a:ext cx="4919186" cy="3665339"/>
          </a:xfrm>
          <a:prstGeom prst="rect">
            <a:avLst/>
          </a:prstGeom>
        </p:spPr>
      </p:pic>
      <p:sp>
        <p:nvSpPr>
          <p:cNvPr id="4" name="Text 0"/>
          <p:cNvSpPr/>
          <p:nvPr/>
        </p:nvSpPr>
        <p:spPr>
          <a:xfrm>
            <a:off x="6280190" y="68544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Evaluation and Multimodal Fusion</a:t>
            </a:r>
            <a:endParaRPr lang="en-US" sz="4450" dirty="0"/>
          </a:p>
        </p:txBody>
      </p:sp>
      <p:sp>
        <p:nvSpPr>
          <p:cNvPr id="5" name="Shape 1"/>
          <p:cNvSpPr/>
          <p:nvPr/>
        </p:nvSpPr>
        <p:spPr>
          <a:xfrm>
            <a:off x="6280190" y="2443163"/>
            <a:ext cx="3664863" cy="3158609"/>
          </a:xfrm>
          <a:prstGeom prst="roundRect">
            <a:avLst>
              <a:gd name="adj" fmla="val 6463"/>
            </a:avLst>
          </a:prstGeom>
          <a:solidFill>
            <a:srgbClr val="030303"/>
          </a:solidFill>
          <a:ln w="22860">
            <a:solidFill>
              <a:srgbClr val="FC8337"/>
            </a:solidFill>
            <a:prstDash val="solid"/>
          </a:ln>
        </p:spPr>
      </p:sp>
      <p:sp>
        <p:nvSpPr>
          <p:cNvPr id="6" name="Text 2"/>
          <p:cNvSpPr/>
          <p:nvPr/>
        </p:nvSpPr>
        <p:spPr>
          <a:xfrm>
            <a:off x="6529864" y="2692837"/>
            <a:ext cx="3165515" cy="708660"/>
          </a:xfrm>
          <a:prstGeom prst="rect">
            <a:avLst/>
          </a:prstGeom>
          <a:noFill/>
          <a:ln/>
        </p:spPr>
        <p:txBody>
          <a:bodyPr wrap="squar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Confusion Matrix Insights</a:t>
            </a:r>
            <a:endParaRPr lang="en-US" sz="2200" dirty="0"/>
          </a:p>
        </p:txBody>
      </p:sp>
      <p:sp>
        <p:nvSpPr>
          <p:cNvPr id="7" name="Text 3"/>
          <p:cNvSpPr/>
          <p:nvPr/>
        </p:nvSpPr>
        <p:spPr>
          <a:xfrm>
            <a:off x="6529864" y="3537585"/>
            <a:ext cx="3165515"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Strong classification for happy emotions; some confusion between sad and neutral; surprised category is most challenging.</a:t>
            </a:r>
            <a:endParaRPr lang="en-US" sz="1750" dirty="0"/>
          </a:p>
        </p:txBody>
      </p:sp>
      <p:sp>
        <p:nvSpPr>
          <p:cNvPr id="8" name="Shape 4"/>
          <p:cNvSpPr/>
          <p:nvPr/>
        </p:nvSpPr>
        <p:spPr>
          <a:xfrm>
            <a:off x="10171867" y="2443163"/>
            <a:ext cx="3664863" cy="3158609"/>
          </a:xfrm>
          <a:prstGeom prst="roundRect">
            <a:avLst>
              <a:gd name="adj" fmla="val 6463"/>
            </a:avLst>
          </a:prstGeom>
          <a:solidFill>
            <a:srgbClr val="030303"/>
          </a:solidFill>
          <a:ln w="22860">
            <a:solidFill>
              <a:srgbClr val="FC8337"/>
            </a:solidFill>
            <a:prstDash val="solid"/>
          </a:ln>
        </p:spPr>
      </p:sp>
      <p:sp>
        <p:nvSpPr>
          <p:cNvPr id="9" name="Text 5"/>
          <p:cNvSpPr/>
          <p:nvPr/>
        </p:nvSpPr>
        <p:spPr>
          <a:xfrm>
            <a:off x="10421541" y="2692837"/>
            <a:ext cx="3165515" cy="708660"/>
          </a:xfrm>
          <a:prstGeom prst="rect">
            <a:avLst/>
          </a:prstGeom>
          <a:noFill/>
          <a:ln/>
        </p:spPr>
        <p:txBody>
          <a:bodyPr wrap="squar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Text Sentiment Analysis</a:t>
            </a:r>
            <a:endParaRPr lang="en-US" sz="2200" dirty="0"/>
          </a:p>
        </p:txBody>
      </p:sp>
      <p:sp>
        <p:nvSpPr>
          <p:cNvPr id="10" name="Text 6"/>
          <p:cNvSpPr/>
          <p:nvPr/>
        </p:nvSpPr>
        <p:spPr>
          <a:xfrm>
            <a:off x="10421541" y="3537585"/>
            <a:ext cx="3165515"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TextBlob polarity scoring effectively classifies positive, negative, and neutral sentiments but struggles with complex nuances.</a:t>
            </a:r>
            <a:endParaRPr lang="en-US" sz="1750" dirty="0"/>
          </a:p>
        </p:txBody>
      </p:sp>
      <p:sp>
        <p:nvSpPr>
          <p:cNvPr id="11" name="Shape 7"/>
          <p:cNvSpPr/>
          <p:nvPr/>
        </p:nvSpPr>
        <p:spPr>
          <a:xfrm>
            <a:off x="6280190" y="5828586"/>
            <a:ext cx="7556421" cy="1715572"/>
          </a:xfrm>
          <a:prstGeom prst="roundRect">
            <a:avLst>
              <a:gd name="adj" fmla="val 11900"/>
            </a:avLst>
          </a:prstGeom>
          <a:solidFill>
            <a:srgbClr val="030303"/>
          </a:solidFill>
          <a:ln w="22860">
            <a:solidFill>
              <a:srgbClr val="FC8337"/>
            </a:solidFill>
            <a:prstDash val="solid"/>
          </a:ln>
        </p:spPr>
      </p:sp>
      <p:sp>
        <p:nvSpPr>
          <p:cNvPr id="12" name="Text 8"/>
          <p:cNvSpPr/>
          <p:nvPr/>
        </p:nvSpPr>
        <p:spPr>
          <a:xfrm>
            <a:off x="6529864" y="607826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Multimodal Fusion</a:t>
            </a:r>
            <a:endParaRPr lang="en-US" sz="2200" dirty="0"/>
          </a:p>
        </p:txBody>
      </p:sp>
      <p:sp>
        <p:nvSpPr>
          <p:cNvPr id="13" name="Text 9"/>
          <p:cNvSpPr/>
          <p:nvPr/>
        </p:nvSpPr>
        <p:spPr>
          <a:xfrm>
            <a:off x="6529864" y="6568678"/>
            <a:ext cx="7057073"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Combines image and text sentiments; agrees on final sentiment or labels as "Mixed" when conflicting, enhancing robustness.</a:t>
            </a:r>
            <a:endParaRPr lang="en-US" sz="1750" dirty="0"/>
          </a:p>
        </p:txBody>
      </p:sp>
      <p:sp>
        <p:nvSpPr>
          <p:cNvPr id="14" name="Rectangle 13">
            <a:extLst>
              <a:ext uri="{FF2B5EF4-FFF2-40B4-BE49-F238E27FC236}">
                <a16:creationId xmlns:a16="http://schemas.microsoft.com/office/drawing/2014/main" id="{3AA7B9F3-CE1A-12E0-A828-80A875D4D2D6}"/>
              </a:ext>
            </a:extLst>
          </p:cNvPr>
          <p:cNvSpPr/>
          <p:nvPr/>
        </p:nvSpPr>
        <p:spPr>
          <a:xfrm>
            <a:off x="12745844" y="7649737"/>
            <a:ext cx="1750741" cy="47950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C3E5C-6FB3-FB9B-A098-A556E1303556}"/>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60E6174C-319F-ED65-AC96-7D7EA75D5128}"/>
              </a:ext>
            </a:extLst>
          </p:cNvPr>
          <p:cNvSpPr/>
          <p:nvPr/>
        </p:nvSpPr>
        <p:spPr>
          <a:xfrm>
            <a:off x="7470815" y="5533668"/>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2" name="Text 9">
            <a:extLst>
              <a:ext uri="{FF2B5EF4-FFF2-40B4-BE49-F238E27FC236}">
                <a16:creationId xmlns:a16="http://schemas.microsoft.com/office/drawing/2014/main" id="{B6973A20-2AC8-820B-1514-CF1A7E065772}"/>
              </a:ext>
            </a:extLst>
          </p:cNvPr>
          <p:cNvSpPr/>
          <p:nvPr/>
        </p:nvSpPr>
        <p:spPr>
          <a:xfrm>
            <a:off x="7300674" y="5887998"/>
            <a:ext cx="6365796" cy="1088708"/>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18" name="Picture 17">
            <a:extLst>
              <a:ext uri="{FF2B5EF4-FFF2-40B4-BE49-F238E27FC236}">
                <a16:creationId xmlns:a16="http://schemas.microsoft.com/office/drawing/2014/main" id="{09805AB3-D802-489F-226B-620765D9566D}"/>
              </a:ext>
            </a:extLst>
          </p:cNvPr>
          <p:cNvPicPr>
            <a:picLocks noChangeAspect="1"/>
          </p:cNvPicPr>
          <p:nvPr/>
        </p:nvPicPr>
        <p:blipFill>
          <a:blip r:embed="rId3"/>
          <a:stretch>
            <a:fillRect/>
          </a:stretch>
        </p:blipFill>
        <p:spPr>
          <a:xfrm>
            <a:off x="7470814" y="1242949"/>
            <a:ext cx="6925409" cy="4823314"/>
          </a:xfrm>
          <a:prstGeom prst="rect">
            <a:avLst/>
          </a:prstGeom>
        </p:spPr>
      </p:pic>
      <p:pic>
        <p:nvPicPr>
          <p:cNvPr id="21" name="Picture 20">
            <a:extLst>
              <a:ext uri="{FF2B5EF4-FFF2-40B4-BE49-F238E27FC236}">
                <a16:creationId xmlns:a16="http://schemas.microsoft.com/office/drawing/2014/main" id="{15E8F703-E180-C050-8445-4FD39A81510B}"/>
              </a:ext>
            </a:extLst>
          </p:cNvPr>
          <p:cNvPicPr>
            <a:picLocks noChangeAspect="1"/>
          </p:cNvPicPr>
          <p:nvPr/>
        </p:nvPicPr>
        <p:blipFill>
          <a:blip r:embed="rId4"/>
          <a:stretch>
            <a:fillRect/>
          </a:stretch>
        </p:blipFill>
        <p:spPr>
          <a:xfrm>
            <a:off x="234177" y="1242950"/>
            <a:ext cx="6579218" cy="4823314"/>
          </a:xfrm>
          <a:prstGeom prst="rect">
            <a:avLst/>
          </a:prstGeom>
        </p:spPr>
      </p:pic>
      <p:sp>
        <p:nvSpPr>
          <p:cNvPr id="23" name="TextBox 22">
            <a:extLst>
              <a:ext uri="{FF2B5EF4-FFF2-40B4-BE49-F238E27FC236}">
                <a16:creationId xmlns:a16="http://schemas.microsoft.com/office/drawing/2014/main" id="{F7206346-8257-D428-FE35-C6622DBFA478}"/>
              </a:ext>
            </a:extLst>
          </p:cNvPr>
          <p:cNvSpPr txBox="1"/>
          <p:nvPr/>
        </p:nvSpPr>
        <p:spPr>
          <a:xfrm>
            <a:off x="2642839" y="129407"/>
            <a:ext cx="7315200" cy="769441"/>
          </a:xfrm>
          <a:prstGeom prst="rect">
            <a:avLst/>
          </a:prstGeom>
          <a:noFill/>
        </p:spPr>
        <p:txBody>
          <a:bodyPr wrap="square">
            <a:spAutoFit/>
          </a:bodyPr>
          <a:lstStyle/>
          <a:p>
            <a:pPr marL="0" indent="0" algn="l">
              <a:lnSpc>
                <a:spcPts val="5550"/>
              </a:lnSpc>
              <a:buNone/>
            </a:pPr>
            <a:r>
              <a:rPr lang="en-US" sz="3600" dirty="0">
                <a:solidFill>
                  <a:srgbClr val="FFFFFF"/>
                </a:solidFill>
                <a:latin typeface="Saira Medium" pitchFamily="34" charset="0"/>
                <a:ea typeface="Saira Medium" pitchFamily="34" charset="-122"/>
                <a:cs typeface="Saira Medium" pitchFamily="34" charset="-120"/>
              </a:rPr>
              <a:t>Output of Sentiment analysis:</a:t>
            </a:r>
            <a:endParaRPr lang="en-US" sz="3600" dirty="0"/>
          </a:p>
        </p:txBody>
      </p:sp>
      <p:sp>
        <p:nvSpPr>
          <p:cNvPr id="2" name="Rectangle 1">
            <a:extLst>
              <a:ext uri="{FF2B5EF4-FFF2-40B4-BE49-F238E27FC236}">
                <a16:creationId xmlns:a16="http://schemas.microsoft.com/office/drawing/2014/main" id="{DDE8EB38-2082-B4F5-8A40-079C1FAC6E38}"/>
              </a:ext>
            </a:extLst>
          </p:cNvPr>
          <p:cNvSpPr/>
          <p:nvPr/>
        </p:nvSpPr>
        <p:spPr>
          <a:xfrm>
            <a:off x="12779298" y="7582829"/>
            <a:ext cx="1761892" cy="51295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9955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95F9E-8841-B854-112A-369A613BA049}"/>
            </a:ext>
          </a:extLst>
        </p:cNvPr>
        <p:cNvGrpSpPr/>
        <p:nvPr/>
      </p:nvGrpSpPr>
      <p:grpSpPr>
        <a:xfrm>
          <a:off x="0" y="0"/>
          <a:ext cx="0" cy="0"/>
          <a:chOff x="0" y="0"/>
          <a:chExt cx="0" cy="0"/>
        </a:xfrm>
      </p:grpSpPr>
      <p:sp>
        <p:nvSpPr>
          <p:cNvPr id="11" name="Text 8">
            <a:extLst>
              <a:ext uri="{FF2B5EF4-FFF2-40B4-BE49-F238E27FC236}">
                <a16:creationId xmlns:a16="http://schemas.microsoft.com/office/drawing/2014/main" id="{BE6146CC-BF41-A2E7-E6D8-63AB4952F8B5}"/>
              </a:ext>
            </a:extLst>
          </p:cNvPr>
          <p:cNvSpPr/>
          <p:nvPr/>
        </p:nvSpPr>
        <p:spPr>
          <a:xfrm>
            <a:off x="7470815" y="5533668"/>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2" name="Text 9">
            <a:extLst>
              <a:ext uri="{FF2B5EF4-FFF2-40B4-BE49-F238E27FC236}">
                <a16:creationId xmlns:a16="http://schemas.microsoft.com/office/drawing/2014/main" id="{6A39754E-890F-4352-1FA9-EF8F80D85CF7}"/>
              </a:ext>
            </a:extLst>
          </p:cNvPr>
          <p:cNvSpPr/>
          <p:nvPr/>
        </p:nvSpPr>
        <p:spPr>
          <a:xfrm>
            <a:off x="7300674" y="5887998"/>
            <a:ext cx="6365796" cy="1088708"/>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5" name="Picture 4">
            <a:extLst>
              <a:ext uri="{FF2B5EF4-FFF2-40B4-BE49-F238E27FC236}">
                <a16:creationId xmlns:a16="http://schemas.microsoft.com/office/drawing/2014/main" id="{DFFD2491-36C5-AF1D-7C63-9C0443D9D011}"/>
              </a:ext>
            </a:extLst>
          </p:cNvPr>
          <p:cNvPicPr>
            <a:picLocks noChangeAspect="1"/>
          </p:cNvPicPr>
          <p:nvPr/>
        </p:nvPicPr>
        <p:blipFill>
          <a:blip r:embed="rId3"/>
          <a:stretch>
            <a:fillRect/>
          </a:stretch>
        </p:blipFill>
        <p:spPr>
          <a:xfrm>
            <a:off x="259759" y="1594082"/>
            <a:ext cx="7691062" cy="4439270"/>
          </a:xfrm>
          <a:prstGeom prst="rect">
            <a:avLst/>
          </a:prstGeom>
        </p:spPr>
      </p:pic>
      <p:sp>
        <p:nvSpPr>
          <p:cNvPr id="2" name="Rectangle 1">
            <a:extLst>
              <a:ext uri="{FF2B5EF4-FFF2-40B4-BE49-F238E27FC236}">
                <a16:creationId xmlns:a16="http://schemas.microsoft.com/office/drawing/2014/main" id="{D472AAC4-480B-764A-BB8E-9926AAB0D5D1}"/>
              </a:ext>
            </a:extLst>
          </p:cNvPr>
          <p:cNvSpPr/>
          <p:nvPr/>
        </p:nvSpPr>
        <p:spPr>
          <a:xfrm>
            <a:off x="12455912" y="7304049"/>
            <a:ext cx="2096429" cy="80288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8025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8987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Conclusion and Future Directions</a:t>
            </a:r>
            <a:endParaRPr lang="en-US" sz="4450" dirty="0"/>
          </a:p>
        </p:txBody>
      </p:sp>
      <p:sp>
        <p:nvSpPr>
          <p:cNvPr id="4" name="Shape 1"/>
          <p:cNvSpPr/>
          <p:nvPr/>
        </p:nvSpPr>
        <p:spPr>
          <a:xfrm>
            <a:off x="6280190" y="2647593"/>
            <a:ext cx="170021" cy="1216223"/>
          </a:xfrm>
          <a:prstGeom prst="roundRect">
            <a:avLst>
              <a:gd name="adj" fmla="val 120071"/>
            </a:avLst>
          </a:prstGeom>
          <a:solidFill>
            <a:srgbClr val="030303"/>
          </a:solidFill>
          <a:ln w="22860">
            <a:solidFill>
              <a:srgbClr val="FC8337"/>
            </a:solidFill>
            <a:prstDash val="solid"/>
          </a:ln>
        </p:spPr>
      </p:sp>
      <p:sp>
        <p:nvSpPr>
          <p:cNvPr id="5" name="Text 2"/>
          <p:cNvSpPr/>
          <p:nvPr/>
        </p:nvSpPr>
        <p:spPr>
          <a:xfrm>
            <a:off x="6790373" y="26475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Achievements</a:t>
            </a:r>
            <a:endParaRPr lang="en-US" sz="2200" dirty="0"/>
          </a:p>
        </p:txBody>
      </p:sp>
      <p:sp>
        <p:nvSpPr>
          <p:cNvPr id="6" name="Text 3"/>
          <p:cNvSpPr/>
          <p:nvPr/>
        </p:nvSpPr>
        <p:spPr>
          <a:xfrm>
            <a:off x="6790373" y="3138011"/>
            <a:ext cx="7046238"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Developed a modular multimodal sentiment system with CNN and TextBlob, achieving high accuracy and interpretability.</a:t>
            </a:r>
            <a:endParaRPr lang="en-US" sz="1750" dirty="0"/>
          </a:p>
        </p:txBody>
      </p:sp>
      <p:sp>
        <p:nvSpPr>
          <p:cNvPr id="7" name="Shape 4"/>
          <p:cNvSpPr/>
          <p:nvPr/>
        </p:nvSpPr>
        <p:spPr>
          <a:xfrm>
            <a:off x="6620351" y="4090630"/>
            <a:ext cx="170021" cy="1216223"/>
          </a:xfrm>
          <a:prstGeom prst="roundRect">
            <a:avLst>
              <a:gd name="adj" fmla="val 120071"/>
            </a:avLst>
          </a:prstGeom>
          <a:solidFill>
            <a:srgbClr val="030303"/>
          </a:solidFill>
          <a:ln w="22860">
            <a:solidFill>
              <a:srgbClr val="FC8337"/>
            </a:solidFill>
            <a:prstDash val="solid"/>
          </a:ln>
        </p:spPr>
      </p:sp>
      <p:sp>
        <p:nvSpPr>
          <p:cNvPr id="8" name="Text 5"/>
          <p:cNvSpPr/>
          <p:nvPr/>
        </p:nvSpPr>
        <p:spPr>
          <a:xfrm>
            <a:off x="7130534" y="409063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Limitations</a:t>
            </a:r>
            <a:endParaRPr lang="en-US" sz="2200" dirty="0"/>
          </a:p>
        </p:txBody>
      </p:sp>
      <p:sp>
        <p:nvSpPr>
          <p:cNvPr id="9" name="Text 6"/>
          <p:cNvSpPr/>
          <p:nvPr/>
        </p:nvSpPr>
        <p:spPr>
          <a:xfrm>
            <a:off x="7130534" y="4581049"/>
            <a:ext cx="6706076" cy="725805"/>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Restricted to four emotions, simplistic text analysis, dataset bias, and offline processing limit real-world applicability.</a:t>
            </a:r>
            <a:endParaRPr lang="en-US" sz="1750" dirty="0"/>
          </a:p>
        </p:txBody>
      </p:sp>
      <p:sp>
        <p:nvSpPr>
          <p:cNvPr id="10" name="Shape 7"/>
          <p:cNvSpPr/>
          <p:nvPr/>
        </p:nvSpPr>
        <p:spPr>
          <a:xfrm>
            <a:off x="6960632" y="5533668"/>
            <a:ext cx="170021" cy="1579126"/>
          </a:xfrm>
          <a:prstGeom prst="roundRect">
            <a:avLst>
              <a:gd name="adj" fmla="val 120071"/>
            </a:avLst>
          </a:prstGeom>
          <a:solidFill>
            <a:srgbClr val="030303"/>
          </a:solidFill>
          <a:ln w="22860">
            <a:solidFill>
              <a:srgbClr val="FC8337"/>
            </a:solidFill>
            <a:prstDash val="solid"/>
          </a:ln>
        </p:spPr>
      </p:sp>
      <p:sp>
        <p:nvSpPr>
          <p:cNvPr id="11" name="Text 8"/>
          <p:cNvSpPr/>
          <p:nvPr/>
        </p:nvSpPr>
        <p:spPr>
          <a:xfrm>
            <a:off x="7470815" y="55336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Future Work</a:t>
            </a:r>
            <a:endParaRPr lang="en-US" sz="2200" dirty="0"/>
          </a:p>
        </p:txBody>
      </p:sp>
      <p:sp>
        <p:nvSpPr>
          <p:cNvPr id="12" name="Text 9"/>
          <p:cNvSpPr/>
          <p:nvPr/>
        </p:nvSpPr>
        <p:spPr>
          <a:xfrm>
            <a:off x="7470815" y="6024086"/>
            <a:ext cx="636579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Expand emotion categories, integrate advanced NLP models, use pretrained CNNs, implement attention-based fusion, and develop real-time applications.</a:t>
            </a:r>
            <a:endParaRPr lang="en-US" sz="1750" dirty="0"/>
          </a:p>
        </p:txBody>
      </p:sp>
      <p:sp>
        <p:nvSpPr>
          <p:cNvPr id="13" name="Rectangle 12">
            <a:extLst>
              <a:ext uri="{FF2B5EF4-FFF2-40B4-BE49-F238E27FC236}">
                <a16:creationId xmlns:a16="http://schemas.microsoft.com/office/drawing/2014/main" id="{340450D5-1019-5D5B-C09A-5A435A9F2112}"/>
              </a:ext>
            </a:extLst>
          </p:cNvPr>
          <p:cNvSpPr/>
          <p:nvPr/>
        </p:nvSpPr>
        <p:spPr>
          <a:xfrm>
            <a:off x="12779298" y="7560527"/>
            <a:ext cx="1851102" cy="56871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485</TotalTime>
  <Words>553</Words>
  <Application>Microsoft Office PowerPoint</Application>
  <PresentationFormat>Custom</PresentationFormat>
  <Paragraphs>66</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Times New Roman</vt:lpstr>
      <vt:lpstr>Arial</vt:lpstr>
      <vt:lpstr>Roboto</vt:lpstr>
      <vt:lpstr>Saira Medium</vt:lpstr>
      <vt:lpstr>Office Theme</vt:lpstr>
      <vt:lpstr>Introduction To AI  Even Semester Session 2025-26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Tushar Pant</cp:lastModifiedBy>
  <cp:revision>3</cp:revision>
  <dcterms:created xsi:type="dcterms:W3CDTF">2025-05-26T22:43:24Z</dcterms:created>
  <dcterms:modified xsi:type="dcterms:W3CDTF">2025-05-27T08:36:42Z</dcterms:modified>
</cp:coreProperties>
</file>