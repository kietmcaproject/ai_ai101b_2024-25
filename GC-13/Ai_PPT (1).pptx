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40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793790" y="24420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14515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AI-Powered E-Commerce Recommendation System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49028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209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Revolutionizing online shopping with personalized experiences, driving user engagement, boosting sales, and solving cold-start challenges.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34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398" y="554950"/>
            <a:ext cx="6666071" cy="630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The E-Commerce Challenge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06398" y="1488281"/>
            <a:ext cx="7731204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recommendations limit sales and user satisfaction. New users and products lack data, leading to a "cold-start" problem.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6398" y="2361128"/>
            <a:ext cx="7731204" cy="1178123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5829" y="2570559"/>
            <a:ext cx="2683669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Low Conversion Rates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15829" y="3006923"/>
            <a:ext cx="731234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2-3% conversion from generic recommendations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6398" y="3741063"/>
            <a:ext cx="7731204" cy="1178123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5829" y="3950494"/>
            <a:ext cx="2522934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Cold-Start Problem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15829" y="4386858"/>
            <a:ext cx="731234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users/products lack interaction data for personalization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06398" y="5120997"/>
            <a:ext cx="7731204" cy="1178123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5829" y="5330428"/>
            <a:ext cx="2595205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Information Overload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915829" y="5766792"/>
            <a:ext cx="731234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struggle to find relevant products among vast selections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06398" y="6500932"/>
            <a:ext cx="7731204" cy="1178123"/>
          </a:xfrm>
          <a:prstGeom prst="roundRect">
            <a:avLst>
              <a:gd name="adj" fmla="val 7195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5829" y="6710363"/>
            <a:ext cx="3037761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Significant Revenue Loss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15829" y="7146727"/>
            <a:ext cx="731234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$1.7 trillion lost annually due to poor recommendations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1605" y="583644"/>
            <a:ext cx="7773591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Our Solution: A Hybrid AI Approach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171605" y="2100739"/>
            <a:ext cx="7773591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combine advanced AI techniques to create a personalized, dynamic recommendation system.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605" y="2947154"/>
            <a:ext cx="978813" cy="11746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44026" y="3142893"/>
            <a:ext cx="2663547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Hybrid AI Combination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444026" y="3566041"/>
            <a:ext cx="650117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Blends collaborative filtering, content-based, NLP, and clustering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605" y="4121825"/>
            <a:ext cx="978813" cy="11746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44026" y="4317563"/>
            <a:ext cx="244721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Text Analysis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7444026" y="4740712"/>
            <a:ext cx="650117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for descriptions, Sentence Embeddings for semantics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605" y="5296495"/>
            <a:ext cx="978813" cy="11746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44026" y="5492234"/>
            <a:ext cx="244721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User Segmentation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7444026" y="5915382"/>
            <a:ext cx="650117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clustering groups users by behavior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605" y="6471166"/>
            <a:ext cx="978813" cy="11746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44026" y="6666905"/>
            <a:ext cx="2447211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Enhanced Outcomes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7444026" y="7090053"/>
            <a:ext cx="650117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suggestions, improved engagement, boosted sales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3767" y="620673"/>
            <a:ext cx="4655820" cy="548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Collaborative Filtering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3767" y="1519476"/>
            <a:ext cx="13402866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Harnessing user-item interactions to recommend items based on similar user preferences or item popularity.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67" y="1997273"/>
            <a:ext cx="4384477" cy="2709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3767" y="4707017"/>
            <a:ext cx="13402866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3767" y="5079683"/>
            <a:ext cx="2192179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Interaction Matrix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13767" y="5529024"/>
            <a:ext cx="3029783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user-item interaction data to build recommendations.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79081" y="5079683"/>
            <a:ext cx="2953345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Memory-Based Approaches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079081" y="5529024"/>
            <a:ext cx="3029783" cy="84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Employs user-based and item-based methods for recommendations.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44395" y="5079683"/>
            <a:ext cx="2647831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Model-Based Techniques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44395" y="5529024"/>
            <a:ext cx="3029783" cy="56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techniques like Matrix Factorization (SVD, ALS).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009709" y="5079683"/>
            <a:ext cx="2192179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Addressing Bias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009709" y="5529024"/>
            <a:ext cx="3029783" cy="84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Actively handles popularity bias and recommendations for long-tail items.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13767" y="6791325"/>
            <a:ext cx="2831544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Recommendation Example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3767" y="7328297"/>
            <a:ext cx="13402866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User A and User B like X, Y, and User A likes Z, Z is recommended to User B.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212" y="615315"/>
            <a:ext cx="636389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Content-Based Filtering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7212" y="1647111"/>
            <a:ext cx="7582376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Recommends items similar to those a user has liked in the past, based on product attributes.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67212" y="2611993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913" y="2653844"/>
            <a:ext cx="334566" cy="4182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2183" y="2688669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Attribute Analysis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992183" y="3170992"/>
            <a:ext cx="6857405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Examines product descriptions, features, categories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67212" y="3974068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913" y="4015919"/>
            <a:ext cx="334566" cy="4182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2183" y="4050744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TF-IDF Weighting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6992183" y="4533067"/>
            <a:ext cx="6857405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importance of key terms in descriptions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6267212" y="5336143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913" y="5377994"/>
            <a:ext cx="334566" cy="41826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2183" y="5412819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Cosine Similarity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6992183" y="5895142"/>
            <a:ext cx="6857405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how similar products are based on content</a:t>
            </a:r>
            <a:endParaRPr lang="en-US" sz="1750" dirty="0"/>
          </a:p>
        </p:txBody>
      </p:sp>
      <p:sp>
        <p:nvSpPr>
          <p:cNvPr id="17" name="Shape 11"/>
          <p:cNvSpPr/>
          <p:nvPr/>
        </p:nvSpPr>
        <p:spPr>
          <a:xfrm>
            <a:off x="6267212" y="6698218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913" y="6740069"/>
            <a:ext cx="334566" cy="41826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92183" y="6774894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Cold-Start Solution</a:t>
            </a:r>
            <a:endParaRPr lang="en-US" sz="2150" dirty="0"/>
          </a:p>
        </p:txBody>
      </p:sp>
      <p:sp>
        <p:nvSpPr>
          <p:cNvPr id="20" name="Text 13"/>
          <p:cNvSpPr/>
          <p:nvPr/>
        </p:nvSpPr>
        <p:spPr>
          <a:xfrm>
            <a:off x="6992183" y="7257217"/>
            <a:ext cx="6857405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for new products without user interaction data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52" y="567452"/>
            <a:ext cx="7704296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NLP and Sentence Embeddings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852" y="2161342"/>
            <a:ext cx="7704296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product descriptions into rich vector representations, capturing nuanced semantic meaning for better similarity matching.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51190" y="3050858"/>
            <a:ext cx="22860" cy="4611172"/>
          </a:xfrm>
          <a:prstGeom prst="roundRect">
            <a:avLst>
              <a:gd name="adj" fmla="val 377904"/>
            </a:avLst>
          </a:prstGeom>
          <a:solidFill>
            <a:srgbClr val="F8ECD3"/>
          </a:solidFill>
          <a:ln/>
        </p:spPr>
      </p:sp>
      <p:sp>
        <p:nvSpPr>
          <p:cNvPr id="6" name="Shape 3"/>
          <p:cNvSpPr/>
          <p:nvPr/>
        </p:nvSpPr>
        <p:spPr>
          <a:xfrm>
            <a:off x="1159728" y="3270766"/>
            <a:ext cx="616982" cy="22860"/>
          </a:xfrm>
          <a:prstGeom prst="roundRect">
            <a:avLst>
              <a:gd name="adj" fmla="val 377904"/>
            </a:avLst>
          </a:prstGeom>
          <a:solidFill>
            <a:srgbClr val="F8ECD3"/>
          </a:solidFill>
          <a:ln/>
        </p:spPr>
      </p:sp>
      <p:sp>
        <p:nvSpPr>
          <p:cNvPr id="7" name="Shape 4"/>
          <p:cNvSpPr/>
          <p:nvPr/>
        </p:nvSpPr>
        <p:spPr>
          <a:xfrm>
            <a:off x="719792" y="3050858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85" y="3089374"/>
            <a:ext cx="308491" cy="3856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79652" y="3121462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Pre-trained Models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979652" y="3566041"/>
            <a:ext cx="64444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advanced NLP models like BERT, RoBERTa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59728" y="4526399"/>
            <a:ext cx="616982" cy="22860"/>
          </a:xfrm>
          <a:prstGeom prst="roundRect">
            <a:avLst>
              <a:gd name="adj" fmla="val 377904"/>
            </a:avLst>
          </a:prstGeom>
          <a:solidFill>
            <a:srgbClr val="F8ECD3"/>
          </a:solidFill>
          <a:ln/>
        </p:spPr>
      </p:sp>
      <p:sp>
        <p:nvSpPr>
          <p:cNvPr id="12" name="Shape 8"/>
          <p:cNvSpPr/>
          <p:nvPr/>
        </p:nvSpPr>
        <p:spPr>
          <a:xfrm>
            <a:off x="719792" y="4306491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85" y="4345007"/>
            <a:ext cx="308491" cy="3856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79652" y="4377095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Semantic Meaning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979652" y="4821674"/>
            <a:ext cx="64444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deep meaning of product descriptions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1159728" y="5782032"/>
            <a:ext cx="616982" cy="22860"/>
          </a:xfrm>
          <a:prstGeom prst="roundRect">
            <a:avLst>
              <a:gd name="adj" fmla="val 377904"/>
            </a:avLst>
          </a:prstGeom>
          <a:solidFill>
            <a:srgbClr val="F8ECD3"/>
          </a:solidFill>
          <a:ln/>
        </p:spPr>
      </p:sp>
      <p:sp>
        <p:nvSpPr>
          <p:cNvPr id="17" name="Shape 12"/>
          <p:cNvSpPr/>
          <p:nvPr/>
        </p:nvSpPr>
        <p:spPr>
          <a:xfrm>
            <a:off x="719792" y="5562124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85" y="5600640"/>
            <a:ext cx="308491" cy="3856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79652" y="5632728"/>
            <a:ext cx="2931795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Vector Representations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979652" y="6077307"/>
            <a:ext cx="64444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high-dimensional vector embeddings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1159728" y="7037665"/>
            <a:ext cx="616982" cy="22860"/>
          </a:xfrm>
          <a:prstGeom prst="roundRect">
            <a:avLst>
              <a:gd name="adj" fmla="val 377904"/>
            </a:avLst>
          </a:prstGeom>
          <a:solidFill>
            <a:srgbClr val="F8ECD3"/>
          </a:solidFill>
          <a:ln/>
        </p:spPr>
      </p:sp>
      <p:sp>
        <p:nvSpPr>
          <p:cNvPr id="22" name="Shape 16"/>
          <p:cNvSpPr/>
          <p:nvPr/>
        </p:nvSpPr>
        <p:spPr>
          <a:xfrm>
            <a:off x="719792" y="6817757"/>
            <a:ext cx="462796" cy="462796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85" y="6856274"/>
            <a:ext cx="308491" cy="3856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79652" y="6888361"/>
            <a:ext cx="2571036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Improved Accuracy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1979652" y="7332940"/>
            <a:ext cx="6444496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Enhances identification of semantically similar products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2023"/>
            <a:ext cx="9381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Clustering and User Segmentation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44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Groups users with similar behaviors and preferences using K-Means, enabling highly targeted recommendations.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197418" y="33519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User Grouping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842385"/>
            <a:ext cx="42388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algorithm for user clustering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62" y="3974425"/>
            <a:ext cx="318968" cy="3986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7628" y="3170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Preference-Based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7628" y="3660934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Segments users by behavior/preferences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13" y="3974425"/>
            <a:ext cx="318968" cy="39862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628" y="5623084"/>
            <a:ext cx="28513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Tailored Suggestions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597628" y="6113502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aligned with segment needs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5636776"/>
            <a:ext cx="318968" cy="39862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122646" y="5623084"/>
            <a:ext cx="29100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Boosted Conversions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113502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Increases relevance and conversion rates</a:t>
            </a:r>
            <a:endParaRPr lang="en-US" sz="1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722483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362" y="5636776"/>
            <a:ext cx="318968" cy="3986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0895" y="496729"/>
            <a:ext cx="4284464" cy="43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Performance and Results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0895" y="1145381"/>
            <a:ext cx="8162211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delivers significant improvements across key e-commerce metrics, demonstrating strong ROI.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0895" y="1597581"/>
            <a:ext cx="8162211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35%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695343" y="2235637"/>
            <a:ext cx="1753195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CTR Increase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0895" y="2538889"/>
            <a:ext cx="8162211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Click-through rate boost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0895" y="3254097"/>
            <a:ext cx="8162211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20%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695343" y="3892153"/>
            <a:ext cx="1753195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Conversion Lift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0895" y="4195405"/>
            <a:ext cx="8162211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in conversion rate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0895" y="4910614"/>
            <a:ext cx="8162211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15%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695343" y="5548670"/>
            <a:ext cx="1753195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AOV Growth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0895" y="5851922"/>
            <a:ext cx="8162211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in average order value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0895" y="6567130"/>
            <a:ext cx="8162211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10%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695343" y="7205186"/>
            <a:ext cx="1753195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Bounce Rate Down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0895" y="7508438"/>
            <a:ext cx="8162211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website bounce rate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927" y="618053"/>
            <a:ext cx="7570946" cy="140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Addressing Cold-Start Problem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72927" y="2359581"/>
            <a:ext cx="7570946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hybrid approach effectively provides relevant recommendations even for new users and products with limited data.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72927" y="3331488"/>
            <a:ext cx="168473" cy="845582"/>
          </a:xfrm>
          <a:prstGeom prst="roundRect">
            <a:avLst>
              <a:gd name="adj" fmla="val 56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78466" y="3331488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Content-Based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778466" y="3817501"/>
            <a:ext cx="7065407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product attributes for new items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609993" y="4401741"/>
            <a:ext cx="168473" cy="845582"/>
          </a:xfrm>
          <a:prstGeom prst="roundRect">
            <a:avLst>
              <a:gd name="adj" fmla="val 56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5532" y="4401741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Hybrid Strategy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15532" y="4887754"/>
            <a:ext cx="672834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collaborative and content-based methods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947059" y="5471993"/>
            <a:ext cx="168473" cy="845582"/>
          </a:xfrm>
          <a:prstGeom prst="roundRect">
            <a:avLst>
              <a:gd name="adj" fmla="val 56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598" y="5471993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New User Profiling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52598" y="5958007"/>
            <a:ext cx="639127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Infers preferences from initial interactions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284244" y="6542246"/>
            <a:ext cx="168473" cy="845582"/>
          </a:xfrm>
          <a:prstGeom prst="roundRect">
            <a:avLst>
              <a:gd name="adj" fmla="val 56029"/>
            </a:avLst>
          </a:prstGeom>
          <a:solidFill>
            <a:srgbClr val="FFFFFF"/>
          </a:solidFill>
          <a:ln w="7620">
            <a:solidFill>
              <a:srgbClr val="F8EC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89783" y="6542246"/>
            <a:ext cx="285083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Progressive Learning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89783" y="7028259"/>
            <a:ext cx="605409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refines suggestions over time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5512356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Future Directions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8044" y="1625918"/>
            <a:ext cx="7600712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continuously evolving our system to incorporate cutting-edge AI and deliver even more immersive personalized experiences.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044" y="2579489"/>
            <a:ext cx="551140" cy="5511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58044" y="3351014"/>
            <a:ext cx="2349818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Real-time Tracking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6258044" y="4172188"/>
            <a:ext cx="2349818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Incorporating live user behavior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372" y="2579489"/>
            <a:ext cx="551140" cy="5511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83372" y="3351014"/>
            <a:ext cx="2349937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Reinforcement Learning</a:t>
            </a:r>
            <a:endParaRPr lang="en-US" sz="2150" dirty="0"/>
          </a:p>
        </p:txBody>
      </p:sp>
      <p:sp>
        <p:nvSpPr>
          <p:cNvPr id="10" name="Text 5"/>
          <p:cNvSpPr/>
          <p:nvPr/>
        </p:nvSpPr>
        <p:spPr>
          <a:xfrm>
            <a:off x="8883372" y="4172188"/>
            <a:ext cx="2349937" cy="105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recommendations dynamically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8819" y="2579489"/>
            <a:ext cx="551140" cy="5511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08819" y="3351014"/>
            <a:ext cx="2349818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Sentiment Analysis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11508819" y="4172188"/>
            <a:ext cx="2349818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NLP for emotional context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8044" y="5671423"/>
            <a:ext cx="551140" cy="5511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58044" y="6442948"/>
            <a:ext cx="234981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Multi-modal</a:t>
            </a:r>
            <a:endParaRPr lang="en-US" sz="2150" dirty="0"/>
          </a:p>
        </p:txBody>
      </p:sp>
      <p:sp>
        <p:nvSpPr>
          <p:cNvPr id="16" name="Text 9"/>
          <p:cNvSpPr/>
          <p:nvPr/>
        </p:nvSpPr>
        <p:spPr>
          <a:xfrm>
            <a:off x="6258044" y="6919674"/>
            <a:ext cx="2349818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image and video content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2926"/>
                </a:solidFill>
                <a:latin typeface="Bricolage Grotesque Semi Bold" pitchFamily="34" charset="0"/>
                <a:ea typeface="Bricolage Grotesque Semi Bold" pitchFamily="34" charset="-122"/>
                <a:cs typeface="Bricolage Grotesque Semi Bold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appreciate your time and attention today. We look forward to discussing how our AI-powered recommendation system can transform your e-commerce platform.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2025-05-26T23:41:01Z</dcterms:created>
  <dcterms:modified xsi:type="dcterms:W3CDTF">2025-05-26T23:41:01Z</dcterms:modified>
</cp:coreProperties>
</file>