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  <p:sldId id="270" r:id="rId9"/>
    <p:sldId id="267" r:id="rId10"/>
    <p:sldId id="269" r:id="rId11"/>
    <p:sldId id="272" r:id="rId12"/>
    <p:sldId id="268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9"/>
  </p:normalViewPr>
  <p:slideViewPr>
    <p:cSldViewPr snapToGrid="0">
      <p:cViewPr varScale="1">
        <p:scale>
          <a:sx n="74" d="100"/>
          <a:sy n="74" d="100"/>
        </p:scale>
        <p:origin x="101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3A374-E257-BA40-8027-2F76366D0775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A341E-1834-1A45-B594-3CD153D39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0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18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BE56-EE12-A068-7411-268FC106A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20719-7949-65F4-8567-807B82470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93F43-CD27-67E6-F270-891B76509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49705-963A-05A0-9B13-88F583F8A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149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90C58-30EB-33E3-EF44-3DB9F34A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FC2EB-83B8-88ED-F0B3-6821DDF22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F76099-BC16-C0D6-F315-4BC62070E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9CDA9-0E55-9774-8481-CF12B566A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482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A155-0859-F2CC-A345-55D6207F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E583F-BEFD-6DD1-ECB9-E0C145763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35B20-B7B1-88E1-6E6D-2D7C97C6D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FA1F5-D943-7DBD-EAF6-79A2FF602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012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FD23A-7A24-D5F0-0516-A1D64FFE4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63BC1-5DFE-8FA4-1413-E33597F89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82184-4F7D-6F2F-263C-C6681DEAA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CBB31-9976-2511-D035-7DEBF35FA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271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D652A-BA82-B828-30CD-4F38C292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A1B93-0E48-0FD5-048F-3DC3C2E09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96148-975E-DEEF-31C9-F814A4910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74BBB-D07F-F4E0-C81B-DC6F15209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658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48868-8601-A126-DD99-3C45FB5E3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58855-53C8-AF17-DE6D-D64F2EDC3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2B9EB-1B48-B015-C2E0-E364A4BCA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1B322-7615-DBB6-8AAB-840902D1A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649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F830B-382D-4FD6-434E-0BBDCF5E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96566-B6F3-EC01-B4A3-3FB85FCCD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399BA-F3EB-A22D-A4FF-0C2EFD0CF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36BCB-BBD4-7CE0-64D2-8A144E826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930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6792D-C446-A432-47BF-358D3377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64D56-752E-AAB8-FA6C-6D6DCD316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E22E6-5FEC-279A-D1E5-BD37553BA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DA503-B28B-DAF6-06B1-25C3B157A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790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7E67-3BFC-BDEF-8A87-69915E028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C607F-B2C3-67D4-ECF1-8B50363CF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65FB2-1C9D-4050-EC01-3E3199597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Font Styles: Times New Roman + Font Size: 25</a:t>
            </a:r>
            <a:endParaRPr lang="en-IN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BA3AD-C1FB-EA75-B7B4-E8A6244F1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9DA09-95EA-445C-8C87-C274365D506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000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05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74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83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35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5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8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4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68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5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904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39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3081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52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16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0576A-07DB-3B46-AC99-97A70AE2395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79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C05F-6C10-AAB8-B9A1-704086EB8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6573" y="1871041"/>
            <a:ext cx="9144000" cy="17908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Project-II (AI101B)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Semester</a:t>
            </a:r>
            <a:b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2024-25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24FBC-2E61-AD49-3BD0-DA7AA89F9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883" y="4145973"/>
            <a:ext cx="9393381" cy="1639317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CREDIT CARD FRAUD DETECTION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Devansh Batta 242610116100058</a:t>
            </a:r>
          </a:p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Anurag Singh Kushwaha 242610116100039</a:t>
            </a:r>
          </a:p>
          <a:p>
            <a:pPr algn="ctr"/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Chitransha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Bhatt 24261011610054</a:t>
            </a:r>
          </a:p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Bhavna Rajput 242610116100049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EFE38A-2987-AEC9-33EC-1BC6CB5C10DA}"/>
              </a:ext>
            </a:extLst>
          </p:cNvPr>
          <p:cNvSpPr txBox="1">
            <a:spLocks/>
          </p:cNvSpPr>
          <p:nvPr/>
        </p:nvSpPr>
        <p:spPr>
          <a:xfrm>
            <a:off x="1524000" y="4782598"/>
            <a:ext cx="9144000" cy="762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3043289-20F1-1B73-C850-CE92562B546B}"/>
              </a:ext>
            </a:extLst>
          </p:cNvPr>
          <p:cNvSpPr txBox="1">
            <a:spLocks/>
          </p:cNvSpPr>
          <p:nvPr/>
        </p:nvSpPr>
        <p:spPr>
          <a:xfrm>
            <a:off x="9472467" y="5631528"/>
            <a:ext cx="3035300" cy="12239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pPr algn="just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Apoorv Jain </a:t>
            </a:r>
          </a:p>
          <a:p>
            <a:pPr algn="just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just"/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A50B94-DBEB-9815-4684-223EC27F9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0"/>
            <a:ext cx="12192000" cy="138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61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72F0-7EB3-A394-ABD6-7A41EF3C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1182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Content</a:t>
            </a: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D30AE4-1C9D-4F26-8884-C30D15E18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15736"/>
            <a:ext cx="10326639" cy="5205845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(1 slide)</a:t>
            </a:r>
          </a:p>
          <a:p>
            <a:pPr lvl="0"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Literature Review (1 slides)</a:t>
            </a:r>
          </a:p>
          <a:p>
            <a:pPr lvl="0"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 of the Project (1 slide)</a:t>
            </a:r>
          </a:p>
          <a:p>
            <a:pPr lvl="0"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Technology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Hardware Requirements (Development Environment, Server requirement (if required), Client requirement (if required).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Software Requirements (Language and Platforms like Frameworks, VS code, Android Studio and </a:t>
            </a:r>
            <a:r>
              <a:rPr lang="en-IN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Jupyter</a:t>
            </a: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notebook etc. )</a:t>
            </a:r>
            <a:b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Modules (2 slides)</a:t>
            </a:r>
          </a:p>
          <a:p>
            <a:pPr lvl="0"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Workflow (1 slide)</a:t>
            </a:r>
          </a:p>
          <a:p>
            <a:pPr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Reports (For Example: Project : Student Monitoring System, so reports like: Student Marks, Subjects, companies visit, and student appears in placement etc.)</a:t>
            </a:r>
          </a:p>
          <a:p>
            <a:pPr lvl="0"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References (1 slide)</a:t>
            </a:r>
          </a:p>
        </p:txBody>
      </p:sp>
    </p:spTree>
    <p:extLst>
      <p:ext uri="{BB962C8B-B14F-4D97-AF65-F5344CB8AC3E}">
        <p14:creationId xmlns:p14="http://schemas.microsoft.com/office/powerpoint/2010/main" val="411715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102F-978C-3EAF-61E2-60C25A98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5F62-65DD-AD75-A67D-7D11353D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116695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60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  <a:endParaRPr lang="en-IN" sz="60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B5CC89-A1C6-9458-046B-3A2596EFF1FB}"/>
              </a:ext>
            </a:extLst>
          </p:cNvPr>
          <p:cNvSpPr txBox="1"/>
          <p:nvPr/>
        </p:nvSpPr>
        <p:spPr>
          <a:xfrm>
            <a:off x="168851" y="1604503"/>
            <a:ext cx="94635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Credit Card Fraud Detection involves identifying unauthorized or fraudulent transactions using machine learning.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Fraud detection is crucial due to the massive number of daily financial transactions.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The key challenge is the extreme class imbalance between fraudulent and non-fraudulent cases.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In this project, we used Logistic Regression and Random Forest models to identify fraudulent activities with proper evaluation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11562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A0FE-3324-1AC2-EBAA-076DFFF43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7DF6-5F84-CA0C-90EA-F70F26C4C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74"/>
            <a:ext cx="12192000" cy="1177348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6000" b="1" kern="1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Literature Review</a:t>
            </a:r>
            <a:endParaRPr lang="en-IN" sz="48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77BDE-3222-C6A7-2DEF-53633D7E8B80}"/>
              </a:ext>
            </a:extLst>
          </p:cNvPr>
          <p:cNvSpPr txBox="1"/>
          <p:nvPr/>
        </p:nvSpPr>
        <p:spPr>
          <a:xfrm>
            <a:off x="355890" y="1724258"/>
            <a:ext cx="1000384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Fraud detection research has evolved from rule-based systems to machine learning-based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Various classification models like Logistic Regression, Decision Trees, and Random Forest have shown promising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Handling class imbalance (e.g., </a:t>
            </a:r>
            <a:r>
              <a:rPr lang="en-US" sz="2000" dirty="0" err="1"/>
              <a:t>upsampling</a:t>
            </a:r>
            <a:r>
              <a:rPr lang="en-US" sz="2000" dirty="0"/>
              <a:t>, SMOTE) is critical.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Evaluation metrics such as AUC, F1-score, and precision-recall are prioritized over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Real-time fraud detection systems aim to balance detection rate and performance speed.</a:t>
            </a:r>
          </a:p>
        </p:txBody>
      </p:sp>
    </p:spTree>
    <p:extLst>
      <p:ext uri="{BB962C8B-B14F-4D97-AF65-F5344CB8AC3E}">
        <p14:creationId xmlns:p14="http://schemas.microsoft.com/office/powerpoint/2010/main" val="807820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6EBDE-A511-E80F-D5E9-0604A420E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01A3-3948-4147-3AEF-34640B41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782"/>
            <a:ext cx="12192000" cy="94557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IN" sz="5400" b="1" kern="1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 of the Project</a:t>
            </a:r>
            <a:endParaRPr lang="en-IN" sz="5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B918E7-4B51-FB10-DE2C-D67C2B191AC1}"/>
              </a:ext>
            </a:extLst>
          </p:cNvPr>
          <p:cNvSpPr txBox="1"/>
          <p:nvPr/>
        </p:nvSpPr>
        <p:spPr>
          <a:xfrm>
            <a:off x="1259897" y="2011648"/>
            <a:ext cx="1056495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detect fraudulent credit card transactions using machine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handle class imbalance using </a:t>
            </a:r>
            <a:r>
              <a:rPr lang="en-US" sz="2400" dirty="0" err="1"/>
              <a:t>upsampling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compare Logistic Regression and Random Forest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evaluate performance using AUC, F1-score, precision, and recall.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visualize confusion matrices and ROC curves.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optimize model performance in a time-efficient manner.</a:t>
            </a:r>
          </a:p>
        </p:txBody>
      </p:sp>
    </p:spTree>
    <p:extLst>
      <p:ext uri="{BB962C8B-B14F-4D97-AF65-F5344CB8AC3E}">
        <p14:creationId xmlns:p14="http://schemas.microsoft.com/office/powerpoint/2010/main" val="144246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9AADA-7FF4-FCD4-6A4B-012DAB5D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7254-B274-C592-536F-4025C1DC3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74"/>
            <a:ext cx="12192000" cy="1083830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IN" sz="4400" b="1" kern="1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Technology (Hardware</a:t>
            </a:r>
            <a:r>
              <a:rPr lang="en-IN" sz="4400" b="1" kern="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&amp; Software Req.</a:t>
            </a:r>
            <a:r>
              <a:rPr lang="en-IN" sz="4400" b="1" kern="1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IN" sz="4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136A9-3197-D0CD-27E4-9101456F4ADA}"/>
              </a:ext>
            </a:extLst>
          </p:cNvPr>
          <p:cNvSpPr txBox="1"/>
          <p:nvPr/>
        </p:nvSpPr>
        <p:spPr>
          <a:xfrm>
            <a:off x="906605" y="1835002"/>
            <a:ext cx="735416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Hardware Requirements: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Processor: Intel Core i3 or higher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RAM: 4GB or more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Storage: 10GB free disk 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400" b="1" dirty="0"/>
              <a:t>Software Requirements: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Language: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IDEs: </a:t>
            </a:r>
            <a:r>
              <a:rPr lang="en-IN" sz="2000" dirty="0" err="1"/>
              <a:t>Jupyter</a:t>
            </a:r>
            <a:r>
              <a:rPr lang="en-IN" sz="2000" dirty="0"/>
              <a:t> Notebook, VS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Libraries: pandas, NumPy, scikit-learn, seaborn, matplotlib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Tools: Anaconda, Google </a:t>
            </a:r>
            <a:r>
              <a:rPr lang="en-IN" sz="2000" dirty="0" err="1"/>
              <a:t>Colab</a:t>
            </a:r>
            <a:r>
              <a:rPr lang="en-IN" sz="2000" dirty="0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2664996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F15C5-633A-19D9-26D0-5F9DB477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80E5-FC90-50B2-5F63-C651AC02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1083105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5400" b="1" kern="1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Modules</a:t>
            </a:r>
            <a:endParaRPr lang="en-IN" sz="5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3280EB2E-88CF-BBFD-78C7-650350632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627" y="1376865"/>
            <a:ext cx="904009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dataset safely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data with  info(), head(), and class distribution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 class balance (fraud vs non-fraud)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&amp; Scaling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Splieatures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labels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StandardScaler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Normalization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Splitting &amp; Balancing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Train-test split with stratification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Upsample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minority class to 30% of the majority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78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61D3E-F416-9D02-C47C-70528E575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26983-FF21-E174-BC9A-3C8452C1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74"/>
            <a:ext cx="12192000" cy="1177348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5400" b="1" kern="1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Modules (Contd.)</a:t>
            </a:r>
            <a:endParaRPr lang="en-IN" sz="5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2CAC31-333C-D44D-9D86-BD06D4547FA1}"/>
              </a:ext>
            </a:extLst>
          </p:cNvPr>
          <p:cNvSpPr txBox="1"/>
          <p:nvPr/>
        </p:nvSpPr>
        <p:spPr>
          <a:xfrm>
            <a:off x="714202" y="1843950"/>
            <a:ext cx="887660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 startAt="4"/>
            </a:pPr>
            <a:r>
              <a:rPr lang="en-IN" sz="2000" b="1" dirty="0" err="1"/>
              <a:t>Modeling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Logistic Regression using </a:t>
            </a:r>
            <a:r>
              <a:rPr lang="en-IN" sz="2000" dirty="0" err="1"/>
              <a:t>liblinear</a:t>
            </a:r>
            <a:r>
              <a:rPr lang="en-IN" sz="2000" dirty="0"/>
              <a:t> solver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Random Forest (</a:t>
            </a:r>
            <a:r>
              <a:rPr lang="en-IN" sz="2000" dirty="0" err="1"/>
              <a:t>n_estimators</a:t>
            </a:r>
            <a:r>
              <a:rPr lang="en-IN" sz="2000" dirty="0"/>
              <a:t>=50, </a:t>
            </a:r>
            <a:r>
              <a:rPr lang="en-IN" sz="2000" dirty="0" err="1"/>
              <a:t>max_depth</a:t>
            </a:r>
            <a:r>
              <a:rPr lang="en-IN" sz="2000" dirty="0"/>
              <a:t>=12, </a:t>
            </a:r>
            <a:r>
              <a:rPr lang="en-IN" sz="2000" dirty="0" err="1"/>
              <a:t>max_features</a:t>
            </a:r>
            <a:r>
              <a:rPr lang="en-IN" sz="2000" dirty="0"/>
              <a:t>='sqrt’)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+mj-lt"/>
              <a:buAutoNum type="arabicPeriod" startAt="4"/>
            </a:pPr>
            <a:r>
              <a:rPr lang="en-IN" sz="2000" b="1" dirty="0"/>
              <a:t>Evaluation &amp; Visualization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Confusion matrix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Classification report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ROC curve and AUC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Final metric comparison table (precision, recall, F1-score, AUC)</a:t>
            </a:r>
          </a:p>
        </p:txBody>
      </p:sp>
    </p:spTree>
    <p:extLst>
      <p:ext uri="{BB962C8B-B14F-4D97-AF65-F5344CB8AC3E}">
        <p14:creationId xmlns:p14="http://schemas.microsoft.com/office/powerpoint/2010/main" val="3091055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34DB-25C5-ADD3-CDFA-B1B0852B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CC37-D043-130F-E4E6-184C71A56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123969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5400" b="1" kern="1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Workflow/Gantt Chart</a:t>
            </a:r>
            <a:endParaRPr lang="en-IN" sz="5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944AD52-C6DB-3B63-47B0-FC2E087AF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4B60C3-FF4B-B71C-042B-57FAF7948FCD}"/>
              </a:ext>
            </a:extLst>
          </p:cNvPr>
          <p:cNvSpPr txBox="1"/>
          <p:nvPr/>
        </p:nvSpPr>
        <p:spPr>
          <a:xfrm>
            <a:off x="1096241" y="1665192"/>
            <a:ext cx="693593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dirty="0"/>
              <a:t>Load and explore the dataset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Preprocess and scale the data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Handle class imbalance via </a:t>
            </a:r>
            <a:r>
              <a:rPr lang="en-IN" sz="2000" dirty="0" err="1"/>
              <a:t>upsampling</a:t>
            </a:r>
            <a:endParaRPr lang="en-IN" sz="2000" dirty="0"/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Train Logistic Regression and Random Forest models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Evaluate both models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Visualize confusion matrices and ROC curves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Compare metrics and draw conclusions</a:t>
            </a:r>
          </a:p>
        </p:txBody>
      </p:sp>
    </p:spTree>
    <p:extLst>
      <p:ext uri="{BB962C8B-B14F-4D97-AF65-F5344CB8AC3E}">
        <p14:creationId xmlns:p14="http://schemas.microsoft.com/office/powerpoint/2010/main" val="3917661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E456B-10C1-3CA8-CD0A-6D1E5E0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D13F-5FC6-2321-088E-1FD93899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74"/>
            <a:ext cx="12192000" cy="1208520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5400" b="1" kern="1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Reports</a:t>
            </a:r>
            <a:endParaRPr lang="en-IN" sz="5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D573C4A7-237F-9ED2-3051-7F15C54BB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82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2EEA9A-5BB8-B664-84D9-B36A7A477038}"/>
              </a:ext>
            </a:extLst>
          </p:cNvPr>
          <p:cNvSpPr txBox="1"/>
          <p:nvPr/>
        </p:nvSpPr>
        <p:spPr>
          <a:xfrm>
            <a:off x="709179" y="1777714"/>
            <a:ext cx="722947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Dataset class distribution (before and after </a:t>
            </a:r>
            <a:r>
              <a:rPr lang="en-US" sz="2000" dirty="0" err="1"/>
              <a:t>upsampling</a:t>
            </a:r>
            <a:r>
              <a:rPr lang="en-U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Confusion matrices for both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ROC curves and AUC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Model training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Final comparison table of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Insights from trade-offs between precision and recall</a:t>
            </a:r>
          </a:p>
        </p:txBody>
      </p:sp>
    </p:spTree>
    <p:extLst>
      <p:ext uri="{BB962C8B-B14F-4D97-AF65-F5344CB8AC3E}">
        <p14:creationId xmlns:p14="http://schemas.microsoft.com/office/powerpoint/2010/main" val="1329742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FE74118D-1031-E4CE-D856-3BFBE52B1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5" y="29466"/>
            <a:ext cx="4286249" cy="33995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A2D3F0-6D3B-558B-48FD-61FBF2641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989" y="29467"/>
            <a:ext cx="4390158" cy="34148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33B05B-2685-5D9D-9BC5-FC4186558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989" y="3657600"/>
            <a:ext cx="4274343" cy="31910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15E31D-AB89-B93D-4331-9908726EE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34" y="3637495"/>
            <a:ext cx="4274343" cy="31910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8045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35E0D-1D75-E91F-E75B-C4DDF801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98D0A-C035-F4F3-2047-44489595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1270866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5400" b="1" kern="1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References</a:t>
            </a:r>
            <a:endParaRPr lang="en-IN" sz="5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57B438-352F-B044-8D31-55F240C685F9}"/>
              </a:ext>
            </a:extLst>
          </p:cNvPr>
          <p:cNvSpPr txBox="1"/>
          <p:nvPr/>
        </p:nvSpPr>
        <p:spPr>
          <a:xfrm>
            <a:off x="449407" y="2063464"/>
            <a:ext cx="687618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dirty="0"/>
              <a:t>Scikit-learn documentation: </a:t>
            </a:r>
            <a:r>
              <a:rPr lang="en-IN" sz="2000" dirty="0">
                <a:hlinkClick r:id="rId3"/>
              </a:rPr>
              <a:t>https://scikit-learn.org/</a:t>
            </a:r>
            <a:endParaRPr lang="en-IN" sz="2000" dirty="0"/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Python Data Science Handbook by Jake VanderPlas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Kaggle: Credit Card Fraud Detection Dataset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Towards Data Science articles on fraud detection techniques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Machine Learning Mastery by Jason Brownlee</a:t>
            </a:r>
          </a:p>
        </p:txBody>
      </p:sp>
    </p:spTree>
    <p:extLst>
      <p:ext uri="{BB962C8B-B14F-4D97-AF65-F5344CB8AC3E}">
        <p14:creationId xmlns:p14="http://schemas.microsoft.com/office/powerpoint/2010/main" val="3709787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4BC78-0C08-F7B6-BDE6-8BAD31B70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1280" y="2521527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IN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175496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191</TotalTime>
  <Words>745</Words>
  <Application>Microsoft Office PowerPoint</Application>
  <PresentationFormat>Widescreen</PresentationFormat>
  <Paragraphs>143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Symbol</vt:lpstr>
      <vt:lpstr>Times New Roman</vt:lpstr>
      <vt:lpstr>Trebuchet MS</vt:lpstr>
      <vt:lpstr>Wingdings</vt:lpstr>
      <vt:lpstr>Wingdings 3</vt:lpstr>
      <vt:lpstr>Facet</vt:lpstr>
      <vt:lpstr>Mini Project-II (AI101B) Even Semester Session 2024-25</vt:lpstr>
      <vt:lpstr>Content</vt:lpstr>
      <vt:lpstr>Introduction</vt:lpstr>
      <vt:lpstr>Literature Review</vt:lpstr>
      <vt:lpstr>Objective of the Project</vt:lpstr>
      <vt:lpstr>Technology (Hardware &amp; Software Req.)</vt:lpstr>
      <vt:lpstr>Modules</vt:lpstr>
      <vt:lpstr>Modules (Contd.)</vt:lpstr>
      <vt:lpstr>Workflow/Gantt Chart</vt:lpstr>
      <vt:lpstr>Reports</vt:lpstr>
      <vt:lpstr>PowerPoint Presentation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Apoorv Jain</dc:creator>
  <cp:lastModifiedBy>Anurag Singh Kushwaha</cp:lastModifiedBy>
  <cp:revision>10</cp:revision>
  <dcterms:created xsi:type="dcterms:W3CDTF">2024-09-12T08:34:15Z</dcterms:created>
  <dcterms:modified xsi:type="dcterms:W3CDTF">2025-05-25T08:08:01Z</dcterms:modified>
</cp:coreProperties>
</file>