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Fira Sans" panose="020B0503050000020004" pitchFamily="34" charset="0"/>
      <p:regular r:id="rId13"/>
      <p:bold r:id="rId14"/>
      <p:italic r:id="rId15"/>
      <p:boldItalic r:id="rId16"/>
    </p:embeddedFont>
    <p:embeddedFont>
      <p:font typeface="Quattrocento" panose="02020502030000000404" pitchFamily="18"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3908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50BAE006-6671-B8AD-25F9-0F80DEF39D63}"/>
              </a:ext>
            </a:extLst>
          </p:cNvPr>
          <p:cNvGrpSpPr/>
          <p:nvPr/>
        </p:nvGrpSpPr>
        <p:grpSpPr>
          <a:xfrm>
            <a:off x="0" y="12572"/>
            <a:ext cx="14630400" cy="1975485"/>
            <a:chOff x="0" y="3047"/>
            <a:chExt cx="12192000" cy="1975485"/>
          </a:xfrm>
        </p:grpSpPr>
        <p:sp>
          <p:nvSpPr>
            <p:cNvPr id="3" name="object 4">
              <a:extLst>
                <a:ext uri="{FF2B5EF4-FFF2-40B4-BE49-F238E27FC236}">
                  <a16:creationId xmlns:a16="http://schemas.microsoft.com/office/drawing/2014/main" id="{B0384E7B-1401-9D52-A0A5-C8C43098A1AD}"/>
                </a:ext>
              </a:extLst>
            </p:cNvPr>
            <p:cNvSpPr/>
            <p:nvPr/>
          </p:nvSpPr>
          <p:spPr>
            <a:xfrm>
              <a:off x="10585704" y="609599"/>
              <a:ext cx="1603375" cy="1369060"/>
            </a:xfrm>
            <a:custGeom>
              <a:avLst/>
              <a:gdLst/>
              <a:ahLst/>
              <a:cxnLst/>
              <a:rect l="l" t="t" r="r" b="b"/>
              <a:pathLst>
                <a:path w="1603375" h="1369060">
                  <a:moveTo>
                    <a:pt x="1603248" y="0"/>
                  </a:moveTo>
                  <a:lnTo>
                    <a:pt x="0" y="0"/>
                  </a:lnTo>
                  <a:lnTo>
                    <a:pt x="0" y="1368552"/>
                  </a:lnTo>
                  <a:lnTo>
                    <a:pt x="1603248" y="1368552"/>
                  </a:lnTo>
                  <a:lnTo>
                    <a:pt x="1603248" y="0"/>
                  </a:lnTo>
                  <a:close/>
                </a:path>
              </a:pathLst>
            </a:custGeom>
            <a:solidFill>
              <a:srgbClr val="EF9315"/>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 name="object 5">
              <a:extLst>
                <a:ext uri="{FF2B5EF4-FFF2-40B4-BE49-F238E27FC236}">
                  <a16:creationId xmlns:a16="http://schemas.microsoft.com/office/drawing/2014/main" id="{4E073346-3CF8-7515-F44E-75D3A84D29A1}"/>
                </a:ext>
              </a:extLst>
            </p:cNvPr>
            <p:cNvPicPr/>
            <p:nvPr/>
          </p:nvPicPr>
          <p:blipFill>
            <a:blip r:embed="rId2" cstate="print"/>
            <a:stretch>
              <a:fillRect/>
            </a:stretch>
          </p:blipFill>
          <p:spPr>
            <a:xfrm>
              <a:off x="0" y="3047"/>
              <a:ext cx="12192000" cy="1383791"/>
            </a:xfrm>
            <a:prstGeom prst="rect">
              <a:avLst/>
            </a:prstGeom>
          </p:spPr>
        </p:pic>
      </p:grpSp>
      <p:sp>
        <p:nvSpPr>
          <p:cNvPr id="6" name="TextBox 5">
            <a:extLst>
              <a:ext uri="{FF2B5EF4-FFF2-40B4-BE49-F238E27FC236}">
                <a16:creationId xmlns:a16="http://schemas.microsoft.com/office/drawing/2014/main" id="{3A51F816-6AD3-7BC9-7391-786C2A273D85}"/>
              </a:ext>
            </a:extLst>
          </p:cNvPr>
          <p:cNvSpPr txBox="1"/>
          <p:nvPr/>
        </p:nvSpPr>
        <p:spPr>
          <a:xfrm>
            <a:off x="3635298" y="3526691"/>
            <a:ext cx="7315200" cy="1548116"/>
          </a:xfrm>
          <a:prstGeom prst="rect">
            <a:avLst/>
          </a:prstGeom>
          <a:noFill/>
        </p:spPr>
        <p:txBody>
          <a:bodyPr wrap="square">
            <a:spAutoFit/>
          </a:bodyPr>
          <a:lstStyle/>
          <a:p>
            <a:pPr marL="0" indent="0" algn="ctr">
              <a:lnSpc>
                <a:spcPts val="2850"/>
              </a:lnSpc>
              <a:buNone/>
            </a:pPr>
            <a:r>
              <a:rPr lang="en-US" sz="2400" dirty="0">
                <a:solidFill>
                  <a:srgbClr val="E0D6DE"/>
                </a:solidFill>
                <a:latin typeface="Fira Sans" pitchFamily="34" charset="0"/>
              </a:rPr>
              <a:t>Project Name  : </a:t>
            </a:r>
            <a:r>
              <a:rPr lang="en-US" sz="2400" u="sng" dirty="0">
                <a:solidFill>
                  <a:srgbClr val="E0D6DE"/>
                </a:solidFill>
                <a:latin typeface="Fira Sans" pitchFamily="34" charset="0"/>
              </a:rPr>
              <a:t>Emotion Recognition  from Text                  using BERT</a:t>
            </a:r>
          </a:p>
          <a:p>
            <a:pPr marL="0" indent="0" algn="ctr">
              <a:lnSpc>
                <a:spcPts val="2850"/>
              </a:lnSpc>
              <a:buNone/>
            </a:pPr>
            <a:endParaRPr lang="en-US" sz="2400" dirty="0">
              <a:solidFill>
                <a:srgbClr val="E0D6DE"/>
              </a:solidFill>
              <a:latin typeface="Fira Sans" pitchFamily="34" charset="0"/>
            </a:endParaRPr>
          </a:p>
          <a:p>
            <a:pPr marL="0" indent="0" algn="ctr">
              <a:lnSpc>
                <a:spcPts val="2850"/>
              </a:lnSpc>
              <a:buNone/>
            </a:pPr>
            <a:r>
              <a:rPr lang="en-US" sz="1800" dirty="0">
                <a:solidFill>
                  <a:srgbClr val="E0D6DE"/>
                </a:solidFill>
                <a:latin typeface="Fira Sans" pitchFamily="34" charset="0"/>
              </a:rPr>
              <a:t>Subject :  Artificial Intelligence(AI101B)  </a:t>
            </a:r>
          </a:p>
        </p:txBody>
      </p:sp>
      <p:sp>
        <p:nvSpPr>
          <p:cNvPr id="10" name="TextBox 9">
            <a:extLst>
              <a:ext uri="{FF2B5EF4-FFF2-40B4-BE49-F238E27FC236}">
                <a16:creationId xmlns:a16="http://schemas.microsoft.com/office/drawing/2014/main" id="{025C571A-E04A-7C1C-1A96-3563433E6D0F}"/>
              </a:ext>
            </a:extLst>
          </p:cNvPr>
          <p:cNvSpPr txBox="1"/>
          <p:nvPr/>
        </p:nvSpPr>
        <p:spPr>
          <a:xfrm>
            <a:off x="1304693" y="5872385"/>
            <a:ext cx="7315200" cy="1175963"/>
          </a:xfrm>
          <a:prstGeom prst="rect">
            <a:avLst/>
          </a:prstGeom>
          <a:noFill/>
        </p:spPr>
        <p:txBody>
          <a:bodyPr wrap="square">
            <a:spAutoFit/>
          </a:bodyPr>
          <a:lstStyle/>
          <a:p>
            <a:pPr marL="0" indent="0" algn="l">
              <a:lnSpc>
                <a:spcPts val="2850"/>
              </a:lnSpc>
              <a:buNone/>
            </a:pPr>
            <a:r>
              <a:rPr lang="en-US" dirty="0">
                <a:solidFill>
                  <a:srgbClr val="E0D6DE"/>
                </a:solidFill>
                <a:latin typeface="Fira Sans" pitchFamily="34" charset="0"/>
                <a:ea typeface="Fira Sans" pitchFamily="34" charset="-122"/>
                <a:cs typeface="Fira Sans" pitchFamily="34" charset="-120"/>
              </a:rPr>
              <a:t>By:-Sakshi Khandelwal</a:t>
            </a:r>
            <a:endParaRPr lang="en-US" sz="1800" dirty="0">
              <a:solidFill>
                <a:srgbClr val="E0D6DE"/>
              </a:solidFill>
              <a:latin typeface="Fira Sans" pitchFamily="34" charset="0"/>
              <a:ea typeface="Fira Sans" pitchFamily="34" charset="-122"/>
              <a:cs typeface="Fira Sans" pitchFamily="34" charset="-120"/>
            </a:endParaRPr>
          </a:p>
          <a:p>
            <a:pPr marL="0" indent="0" algn="l">
              <a:lnSpc>
                <a:spcPts val="2850"/>
              </a:lnSpc>
              <a:buNone/>
            </a:pPr>
            <a:r>
              <a:rPr lang="en-US" sz="1800" dirty="0">
                <a:solidFill>
                  <a:srgbClr val="E0D6DE"/>
                </a:solidFill>
                <a:latin typeface="Fira Sans" pitchFamily="34" charset="0"/>
                <a:ea typeface="Fira Sans" pitchFamily="34" charset="-122"/>
                <a:cs typeface="Fira Sans" pitchFamily="34" charset="-120"/>
              </a:rPr>
              <a:t>Priyanshu Asthana</a:t>
            </a:r>
          </a:p>
          <a:p>
            <a:pPr marL="0" indent="0" algn="l">
              <a:lnSpc>
                <a:spcPts val="2850"/>
              </a:lnSpc>
              <a:buNone/>
            </a:pPr>
            <a:r>
              <a:rPr lang="en-US" dirty="0">
                <a:solidFill>
                  <a:srgbClr val="E0D6DE"/>
                </a:solidFill>
                <a:latin typeface="Fira Sans" pitchFamily="34" charset="0"/>
              </a:rPr>
              <a:t>Sanya Dwivedi</a:t>
            </a:r>
            <a:endParaRPr lang="en-US" sz="1800" dirty="0"/>
          </a:p>
        </p:txBody>
      </p:sp>
      <p:pic>
        <p:nvPicPr>
          <p:cNvPr id="13" name="Picture 12">
            <a:extLst>
              <a:ext uri="{FF2B5EF4-FFF2-40B4-BE49-F238E27FC236}">
                <a16:creationId xmlns:a16="http://schemas.microsoft.com/office/drawing/2014/main" id="{DB4C74B8-4D5C-0E35-AF5A-F7D482FA33E2}"/>
              </a:ext>
            </a:extLst>
          </p:cNvPr>
          <p:cNvPicPr>
            <a:picLocks noChangeAspect="1"/>
          </p:cNvPicPr>
          <p:nvPr/>
        </p:nvPicPr>
        <p:blipFill>
          <a:blip r:embed="rId3"/>
          <a:stretch>
            <a:fillRect/>
          </a:stretch>
        </p:blipFill>
        <p:spPr>
          <a:xfrm>
            <a:off x="12702845" y="6620333"/>
            <a:ext cx="1924050" cy="1596695"/>
          </a:xfrm>
          <a:prstGeom prst="rect">
            <a:avLst/>
          </a:prstGeom>
        </p:spPr>
      </p:pic>
      <p:sp>
        <p:nvSpPr>
          <p:cNvPr id="7" name="TextBox 6">
            <a:extLst>
              <a:ext uri="{FF2B5EF4-FFF2-40B4-BE49-F238E27FC236}">
                <a16:creationId xmlns:a16="http://schemas.microsoft.com/office/drawing/2014/main" id="{7C572935-0715-C1FB-25A6-5163E384C31F}"/>
              </a:ext>
            </a:extLst>
          </p:cNvPr>
          <p:cNvSpPr txBox="1"/>
          <p:nvPr/>
        </p:nvSpPr>
        <p:spPr>
          <a:xfrm>
            <a:off x="6490010" y="5872385"/>
            <a:ext cx="7315200" cy="824393"/>
          </a:xfrm>
          <a:prstGeom prst="rect">
            <a:avLst/>
          </a:prstGeom>
          <a:noFill/>
        </p:spPr>
        <p:txBody>
          <a:bodyPr wrap="square">
            <a:spAutoFit/>
          </a:bodyPr>
          <a:lstStyle/>
          <a:p>
            <a:pPr marL="0" indent="0" algn="ctr">
              <a:lnSpc>
                <a:spcPts val="2850"/>
              </a:lnSpc>
              <a:buNone/>
            </a:pPr>
            <a:r>
              <a:rPr lang="en-US" sz="2000" dirty="0">
                <a:solidFill>
                  <a:schemeClr val="bg1"/>
                </a:solidFill>
              </a:rPr>
              <a:t>Project Supervisor:   </a:t>
            </a:r>
          </a:p>
          <a:p>
            <a:pPr marL="0" indent="0" algn="ctr">
              <a:lnSpc>
                <a:spcPts val="2850"/>
              </a:lnSpc>
              <a:buNone/>
            </a:pPr>
            <a:r>
              <a:rPr lang="en-US" sz="2000" dirty="0" err="1">
                <a:solidFill>
                  <a:schemeClr val="bg1"/>
                </a:solidFill>
              </a:rPr>
              <a:t>Mr</a:t>
            </a:r>
            <a:r>
              <a:rPr lang="en-US" sz="2000" dirty="0">
                <a:solidFill>
                  <a:schemeClr val="bg1"/>
                </a:solidFill>
              </a:rPr>
              <a:t> Apoorv Jain</a:t>
            </a:r>
          </a:p>
        </p:txBody>
      </p:sp>
    </p:spTree>
    <p:extLst>
      <p:ext uri="{BB962C8B-B14F-4D97-AF65-F5344CB8AC3E}">
        <p14:creationId xmlns:p14="http://schemas.microsoft.com/office/powerpoint/2010/main" val="900923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837486"/>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Emotion Recognition from Text with BERT</a:t>
            </a:r>
            <a:endParaRPr lang="en-US" sz="4400" dirty="0"/>
          </a:p>
        </p:txBody>
      </p:sp>
      <p:sp>
        <p:nvSpPr>
          <p:cNvPr id="4" name="Text 1"/>
          <p:cNvSpPr/>
          <p:nvPr/>
        </p:nvSpPr>
        <p:spPr>
          <a:xfrm>
            <a:off x="837724" y="2604492"/>
            <a:ext cx="7468553"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Welcome to this presentation on Emotion Recognition from Text using BERT. We will explore how transformer models, particularly BERT, revolutionize sentiment analysis by understanding deep contextual meanings in text. This session covers the fundamentals, model architecture, evaluation methods, challenges, and future directions.</a:t>
            </a:r>
            <a:endParaRPr lang="en-US" sz="1850" dirty="0"/>
          </a:p>
        </p:txBody>
      </p:sp>
      <p:sp>
        <p:nvSpPr>
          <p:cNvPr id="5" name="Text 2"/>
          <p:cNvSpPr/>
          <p:nvPr/>
        </p:nvSpPr>
        <p:spPr>
          <a:xfrm>
            <a:off x="837724" y="5171837"/>
            <a:ext cx="7468553" cy="1532096"/>
          </a:xfrm>
          <a:prstGeom prst="rect">
            <a:avLst/>
          </a:prstGeom>
          <a:noFill/>
          <a:ln/>
        </p:spPr>
        <p:txBody>
          <a:bodyPr wrap="square" lIns="0" tIns="0" rIns="0" bIns="0" rtlCol="0" anchor="t"/>
          <a:lstStyle/>
          <a:p>
            <a:pPr marL="0" indent="0" algn="l">
              <a:lnSpc>
                <a:spcPts val="3000"/>
              </a:lnSpc>
              <a:buNone/>
            </a:pPr>
            <a:endParaRPr lang="en-US" sz="1850" dirty="0"/>
          </a:p>
        </p:txBody>
      </p:sp>
      <p:sp>
        <p:nvSpPr>
          <p:cNvPr id="7" name="Text 4"/>
          <p:cNvSpPr/>
          <p:nvPr/>
        </p:nvSpPr>
        <p:spPr>
          <a:xfrm>
            <a:off x="970240" y="7133630"/>
            <a:ext cx="117753" cy="97512"/>
          </a:xfrm>
          <a:prstGeom prst="rect">
            <a:avLst/>
          </a:prstGeom>
          <a:noFill/>
          <a:ln/>
        </p:spPr>
        <p:txBody>
          <a:bodyPr wrap="none" lIns="0" tIns="0" rIns="0" bIns="0" rtlCol="0" anchor="t"/>
          <a:lstStyle/>
          <a:p>
            <a:pPr marL="0" indent="0" algn="ctr">
              <a:lnSpc>
                <a:spcPts val="750"/>
              </a:lnSpc>
              <a:buNone/>
            </a:pPr>
            <a:r>
              <a:rPr lang="en-US" sz="750" dirty="0">
                <a:solidFill>
                  <a:srgbClr val="4D4D51"/>
                </a:solidFill>
                <a:latin typeface="Quattrocento Medium" pitchFamily="34" charset="0"/>
                <a:ea typeface="Quattrocento Medium" pitchFamily="34" charset="-122"/>
                <a:cs typeface="Quattrocento Medium" pitchFamily="34" charset="-120"/>
              </a:rPr>
              <a:t>SK</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4618" y="699968"/>
            <a:ext cx="7634764" cy="1268254"/>
          </a:xfrm>
          <a:prstGeom prst="rect">
            <a:avLst/>
          </a:prstGeom>
          <a:noFill/>
          <a:ln/>
        </p:spPr>
        <p:txBody>
          <a:bodyPr wrap="square" lIns="0" tIns="0" rIns="0" bIns="0" rtlCol="0" anchor="t"/>
          <a:lstStyle/>
          <a:p>
            <a:pPr marL="0" indent="0" algn="l">
              <a:lnSpc>
                <a:spcPts val="4950"/>
              </a:lnSpc>
              <a:buNone/>
            </a:pPr>
            <a:r>
              <a:rPr lang="en-US" sz="3950" dirty="0">
                <a:solidFill>
                  <a:srgbClr val="FFD9BE"/>
                </a:solidFill>
                <a:latin typeface="Quattrocento" pitchFamily="34" charset="0"/>
                <a:ea typeface="Quattrocento" pitchFamily="34" charset="-122"/>
                <a:cs typeface="Quattrocento" pitchFamily="34" charset="-120"/>
              </a:rPr>
              <a:t>Introduction to Emotion Recognition</a:t>
            </a:r>
            <a:endParaRPr lang="en-US" sz="3950" dirty="0"/>
          </a:p>
        </p:txBody>
      </p:sp>
      <p:sp>
        <p:nvSpPr>
          <p:cNvPr id="4" name="Shape 1"/>
          <p:cNvSpPr/>
          <p:nvPr/>
        </p:nvSpPr>
        <p:spPr>
          <a:xfrm>
            <a:off x="754618" y="2291596"/>
            <a:ext cx="485061" cy="485061"/>
          </a:xfrm>
          <a:prstGeom prst="roundRect">
            <a:avLst>
              <a:gd name="adj" fmla="val 6668"/>
            </a:avLst>
          </a:prstGeom>
          <a:solidFill>
            <a:srgbClr val="315251"/>
          </a:solidFill>
          <a:ln/>
        </p:spPr>
      </p:sp>
      <p:sp>
        <p:nvSpPr>
          <p:cNvPr id="5" name="Text 2"/>
          <p:cNvSpPr/>
          <p:nvPr/>
        </p:nvSpPr>
        <p:spPr>
          <a:xfrm>
            <a:off x="1455182" y="2365653"/>
            <a:ext cx="2982158" cy="633889"/>
          </a:xfrm>
          <a:prstGeom prst="rect">
            <a:avLst/>
          </a:prstGeom>
          <a:noFill/>
          <a:ln/>
        </p:spPr>
        <p:txBody>
          <a:bodyPr wrap="squar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Understanding Emotion Recognition</a:t>
            </a:r>
            <a:endParaRPr lang="en-US" sz="1950" dirty="0"/>
          </a:p>
        </p:txBody>
      </p:sp>
      <p:sp>
        <p:nvSpPr>
          <p:cNvPr id="6" name="Text 3"/>
          <p:cNvSpPr/>
          <p:nvPr/>
        </p:nvSpPr>
        <p:spPr>
          <a:xfrm>
            <a:off x="1455182" y="3128843"/>
            <a:ext cx="2982158" cy="2414468"/>
          </a:xfrm>
          <a:prstGeom prst="rect">
            <a:avLst/>
          </a:prstGeom>
          <a:noFill/>
          <a:ln/>
        </p:spPr>
        <p:txBody>
          <a:bodyPr wrap="square" lIns="0" tIns="0" rIns="0" bIns="0" rtlCol="0" anchor="t"/>
          <a:lstStyle/>
          <a:p>
            <a:pPr marL="0" indent="0" algn="l">
              <a:lnSpc>
                <a:spcPts val="2700"/>
              </a:lnSpc>
              <a:buNone/>
            </a:pPr>
            <a:r>
              <a:rPr lang="en-US" sz="1650" dirty="0">
                <a:solidFill>
                  <a:srgbClr val="F9EEE7"/>
                </a:solidFill>
                <a:latin typeface="Quattrocento" pitchFamily="34" charset="0"/>
                <a:ea typeface="Quattrocento" pitchFamily="34" charset="-122"/>
                <a:cs typeface="Quattrocento" pitchFamily="34" charset="-120"/>
              </a:rPr>
              <a:t>Emotion recognition is analyzing text to identify the underlying sentiment or emotional state conveyed. It plays a vital role in interpreting human communication digitally.</a:t>
            </a:r>
            <a:endParaRPr lang="en-US" sz="1650" dirty="0"/>
          </a:p>
        </p:txBody>
      </p:sp>
      <p:sp>
        <p:nvSpPr>
          <p:cNvPr id="7" name="Shape 4"/>
          <p:cNvSpPr/>
          <p:nvPr/>
        </p:nvSpPr>
        <p:spPr>
          <a:xfrm>
            <a:off x="4706779" y="2291596"/>
            <a:ext cx="485061" cy="485061"/>
          </a:xfrm>
          <a:prstGeom prst="roundRect">
            <a:avLst>
              <a:gd name="adj" fmla="val 6668"/>
            </a:avLst>
          </a:prstGeom>
          <a:solidFill>
            <a:srgbClr val="315251"/>
          </a:solidFill>
          <a:ln/>
        </p:spPr>
      </p:sp>
      <p:sp>
        <p:nvSpPr>
          <p:cNvPr id="8" name="Text 5"/>
          <p:cNvSpPr/>
          <p:nvPr/>
        </p:nvSpPr>
        <p:spPr>
          <a:xfrm>
            <a:off x="5407343" y="2365653"/>
            <a:ext cx="2536508" cy="316944"/>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Practical Applications</a:t>
            </a:r>
            <a:endParaRPr lang="en-US" sz="1950" dirty="0"/>
          </a:p>
        </p:txBody>
      </p:sp>
      <p:sp>
        <p:nvSpPr>
          <p:cNvPr id="9" name="Text 6"/>
          <p:cNvSpPr/>
          <p:nvPr/>
        </p:nvSpPr>
        <p:spPr>
          <a:xfrm>
            <a:off x="5407343" y="2811899"/>
            <a:ext cx="2982158" cy="2069544"/>
          </a:xfrm>
          <a:prstGeom prst="rect">
            <a:avLst/>
          </a:prstGeom>
          <a:noFill/>
          <a:ln/>
        </p:spPr>
        <p:txBody>
          <a:bodyPr wrap="square" lIns="0" tIns="0" rIns="0" bIns="0" rtlCol="0" anchor="t"/>
          <a:lstStyle/>
          <a:p>
            <a:pPr marL="0" indent="0" algn="l">
              <a:lnSpc>
                <a:spcPts val="2700"/>
              </a:lnSpc>
              <a:buNone/>
            </a:pPr>
            <a:r>
              <a:rPr lang="en-US" sz="1650" dirty="0">
                <a:solidFill>
                  <a:srgbClr val="F9EEE7"/>
                </a:solidFill>
                <a:latin typeface="Quattrocento" pitchFamily="34" charset="0"/>
                <a:ea typeface="Quattrocento" pitchFamily="34" charset="-122"/>
                <a:cs typeface="Quattrocento" pitchFamily="34" charset="-120"/>
              </a:rPr>
              <a:t>This technology is widely used in customer service automation, market sentiment analysis, and social media trend tracking to decode user feelings efficiently.</a:t>
            </a:r>
            <a:endParaRPr lang="en-US" sz="1650" dirty="0"/>
          </a:p>
        </p:txBody>
      </p:sp>
      <p:sp>
        <p:nvSpPr>
          <p:cNvPr id="10" name="Shape 7"/>
          <p:cNvSpPr/>
          <p:nvPr/>
        </p:nvSpPr>
        <p:spPr>
          <a:xfrm>
            <a:off x="754618" y="5974437"/>
            <a:ext cx="485061" cy="485061"/>
          </a:xfrm>
          <a:prstGeom prst="roundRect">
            <a:avLst>
              <a:gd name="adj" fmla="val 6668"/>
            </a:avLst>
          </a:prstGeom>
          <a:solidFill>
            <a:srgbClr val="315251"/>
          </a:solidFill>
          <a:ln/>
        </p:spPr>
      </p:sp>
      <p:sp>
        <p:nvSpPr>
          <p:cNvPr id="11" name="Text 8"/>
          <p:cNvSpPr/>
          <p:nvPr/>
        </p:nvSpPr>
        <p:spPr>
          <a:xfrm>
            <a:off x="1455182" y="6048494"/>
            <a:ext cx="3980736" cy="316944"/>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Traditional vs. Modern Approaches</a:t>
            </a:r>
            <a:endParaRPr lang="en-US" sz="1950" dirty="0"/>
          </a:p>
        </p:txBody>
      </p:sp>
      <p:sp>
        <p:nvSpPr>
          <p:cNvPr id="12" name="Text 9"/>
          <p:cNvSpPr/>
          <p:nvPr/>
        </p:nvSpPr>
        <p:spPr>
          <a:xfrm>
            <a:off x="1455182" y="6494740"/>
            <a:ext cx="6934200" cy="1034772"/>
          </a:xfrm>
          <a:prstGeom prst="rect">
            <a:avLst/>
          </a:prstGeom>
          <a:noFill/>
          <a:ln/>
        </p:spPr>
        <p:txBody>
          <a:bodyPr wrap="square" lIns="0" tIns="0" rIns="0" bIns="0" rtlCol="0" anchor="t"/>
          <a:lstStyle/>
          <a:p>
            <a:pPr marL="0" indent="0" algn="l">
              <a:lnSpc>
                <a:spcPts val="2700"/>
              </a:lnSpc>
              <a:buNone/>
            </a:pPr>
            <a:r>
              <a:rPr lang="en-US" sz="1650" dirty="0">
                <a:solidFill>
                  <a:srgbClr val="F9EEE7"/>
                </a:solidFill>
                <a:latin typeface="Quattrocento" pitchFamily="34" charset="0"/>
                <a:ea typeface="Quattrocento" pitchFamily="34" charset="-122"/>
                <a:cs typeface="Quattrocento" pitchFamily="34" charset="-120"/>
              </a:rPr>
              <a:t>While traditional sentiment methods used rule-based or simple classifiers, modern deep learning methods, especially transformers like BERT, provide superior contextual understanding.</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911191"/>
            <a:ext cx="8553926"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Background: Understanding BERT</a:t>
            </a:r>
            <a:endParaRPr lang="en-US" sz="4400" dirty="0"/>
          </a:p>
        </p:txBody>
      </p:sp>
      <p:sp>
        <p:nvSpPr>
          <p:cNvPr id="3" name="Text 1"/>
          <p:cNvSpPr/>
          <p:nvPr/>
        </p:nvSpPr>
        <p:spPr>
          <a:xfrm>
            <a:off x="837724" y="321349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What is BERT?</a:t>
            </a:r>
            <a:endParaRPr lang="en-US" sz="2200" dirty="0"/>
          </a:p>
        </p:txBody>
      </p:sp>
      <p:sp>
        <p:nvSpPr>
          <p:cNvPr id="4" name="Text 2"/>
          <p:cNvSpPr/>
          <p:nvPr/>
        </p:nvSpPr>
        <p:spPr>
          <a:xfrm>
            <a:off x="837724" y="3804761"/>
            <a:ext cx="3928586"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BERT stands for Bidirectional Encoder Representations from Transformers. It captures context from both left and right in text sequences, enabling deep semantic understanding.</a:t>
            </a:r>
            <a:endParaRPr lang="en-US" sz="1850" dirty="0"/>
          </a:p>
        </p:txBody>
      </p:sp>
      <p:sp>
        <p:nvSpPr>
          <p:cNvPr id="5" name="Text 3"/>
          <p:cNvSpPr/>
          <p:nvPr/>
        </p:nvSpPr>
        <p:spPr>
          <a:xfrm>
            <a:off x="5357813" y="3213497"/>
            <a:ext cx="3234333"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Transformer Architecture</a:t>
            </a:r>
            <a:endParaRPr lang="en-US" sz="2200" dirty="0"/>
          </a:p>
        </p:txBody>
      </p:sp>
      <p:sp>
        <p:nvSpPr>
          <p:cNvPr id="6" name="Text 4"/>
          <p:cNvSpPr/>
          <p:nvPr/>
        </p:nvSpPr>
        <p:spPr>
          <a:xfrm>
            <a:off x="5357813" y="3804761"/>
            <a:ext cx="3928586"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Built on attention mechanisms, transformers enable parallel processing of input sequences, empowering models to learn relationships between words independent of their position.</a:t>
            </a:r>
            <a:endParaRPr lang="en-US" sz="1850" dirty="0"/>
          </a:p>
        </p:txBody>
      </p:sp>
      <p:sp>
        <p:nvSpPr>
          <p:cNvPr id="7" name="Text 5"/>
          <p:cNvSpPr/>
          <p:nvPr/>
        </p:nvSpPr>
        <p:spPr>
          <a:xfrm>
            <a:off x="9877901" y="3213497"/>
            <a:ext cx="3645575"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Pre-training and Fine-tuning</a:t>
            </a:r>
            <a:endParaRPr lang="en-US" sz="2200" dirty="0"/>
          </a:p>
        </p:txBody>
      </p:sp>
      <p:sp>
        <p:nvSpPr>
          <p:cNvPr id="8" name="Text 6"/>
          <p:cNvSpPr/>
          <p:nvPr/>
        </p:nvSpPr>
        <p:spPr>
          <a:xfrm>
            <a:off x="9877901" y="3804761"/>
            <a:ext cx="3928586"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BERT is pre-trained on large corpora with masked language modeling and next-sentence prediction tasks, then fine-tuned on specific NLP tasks like emotion recognition for high accuracy.</a:t>
            </a:r>
            <a:endParaRPr lang="en-US" sz="1850" dirty="0"/>
          </a:p>
        </p:txBody>
      </p:sp>
      <p:pic>
        <p:nvPicPr>
          <p:cNvPr id="9" name="Picture 8">
            <a:extLst>
              <a:ext uri="{FF2B5EF4-FFF2-40B4-BE49-F238E27FC236}">
                <a16:creationId xmlns:a16="http://schemas.microsoft.com/office/drawing/2014/main" id="{9F71B103-B0D7-A90E-3049-BB0293331E70}"/>
              </a:ext>
            </a:extLst>
          </p:cNvPr>
          <p:cNvPicPr>
            <a:picLocks noChangeAspect="1"/>
          </p:cNvPicPr>
          <p:nvPr/>
        </p:nvPicPr>
        <p:blipFill>
          <a:blip r:embed="rId3"/>
          <a:stretch>
            <a:fillRect/>
          </a:stretch>
        </p:blipFill>
        <p:spPr>
          <a:xfrm>
            <a:off x="12866522" y="6526502"/>
            <a:ext cx="1596695" cy="15966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24032" y="647700"/>
            <a:ext cx="5862876" cy="692467"/>
          </a:xfrm>
          <a:prstGeom prst="rect">
            <a:avLst/>
          </a:prstGeom>
          <a:noFill/>
          <a:ln/>
        </p:spPr>
        <p:txBody>
          <a:bodyPr wrap="none" lIns="0" tIns="0" rIns="0" bIns="0" rtlCol="0" anchor="t"/>
          <a:lstStyle/>
          <a:p>
            <a:pPr marL="0" indent="0" algn="l">
              <a:lnSpc>
                <a:spcPts val="5450"/>
              </a:lnSpc>
              <a:buNone/>
            </a:pPr>
            <a:r>
              <a:rPr lang="en-US" sz="4350" dirty="0">
                <a:solidFill>
                  <a:srgbClr val="FFD9BE"/>
                </a:solidFill>
                <a:latin typeface="Quattrocento" pitchFamily="34" charset="0"/>
                <a:ea typeface="Quattrocento" pitchFamily="34" charset="-122"/>
                <a:cs typeface="Quattrocento" pitchFamily="34" charset="-120"/>
              </a:rPr>
              <a:t>Data and Preprocessing</a:t>
            </a:r>
            <a:endParaRPr lang="en-US" sz="4350" dirty="0"/>
          </a:p>
        </p:txBody>
      </p:sp>
      <p:sp>
        <p:nvSpPr>
          <p:cNvPr id="4" name="Shape 1"/>
          <p:cNvSpPr/>
          <p:nvPr/>
        </p:nvSpPr>
        <p:spPr>
          <a:xfrm>
            <a:off x="824032" y="1693307"/>
            <a:ext cx="3630335" cy="3564731"/>
          </a:xfrm>
          <a:prstGeom prst="roundRect">
            <a:avLst>
              <a:gd name="adj" fmla="val 991"/>
            </a:avLst>
          </a:prstGeom>
          <a:solidFill>
            <a:srgbClr val="315251"/>
          </a:solidFill>
          <a:ln/>
        </p:spPr>
      </p:sp>
      <p:sp>
        <p:nvSpPr>
          <p:cNvPr id="5" name="Text 2"/>
          <p:cNvSpPr/>
          <p:nvPr/>
        </p:nvSpPr>
        <p:spPr>
          <a:xfrm>
            <a:off x="1059418" y="1928693"/>
            <a:ext cx="2769989" cy="346234"/>
          </a:xfrm>
          <a:prstGeom prst="rect">
            <a:avLst/>
          </a:prstGeom>
          <a:noFill/>
          <a:ln/>
        </p:spPr>
        <p:txBody>
          <a:bodyPr wrap="none" lIns="0" tIns="0" rIns="0" bIns="0" rtlCol="0" anchor="t"/>
          <a:lstStyle/>
          <a:p>
            <a:pPr marL="0" indent="0" algn="l">
              <a:lnSpc>
                <a:spcPts val="2700"/>
              </a:lnSpc>
              <a:buNone/>
            </a:pPr>
            <a:r>
              <a:rPr lang="en-US" sz="2150" dirty="0">
                <a:solidFill>
                  <a:srgbClr val="F9EEE7"/>
                </a:solidFill>
                <a:latin typeface="Quattrocento" pitchFamily="34" charset="0"/>
                <a:ea typeface="Quattrocento" pitchFamily="34" charset="-122"/>
                <a:cs typeface="Quattrocento" pitchFamily="34" charset="-120"/>
              </a:rPr>
              <a:t>Dataset Selection</a:t>
            </a:r>
            <a:endParaRPr lang="en-US" sz="2150" dirty="0"/>
          </a:p>
        </p:txBody>
      </p:sp>
      <p:sp>
        <p:nvSpPr>
          <p:cNvPr id="6" name="Text 3"/>
          <p:cNvSpPr/>
          <p:nvPr/>
        </p:nvSpPr>
        <p:spPr>
          <a:xfrm>
            <a:off x="1059418" y="2416135"/>
            <a:ext cx="3159562" cy="2260283"/>
          </a:xfrm>
          <a:prstGeom prst="rect">
            <a:avLst/>
          </a:prstGeom>
          <a:noFill/>
          <a:ln/>
        </p:spPr>
        <p:txBody>
          <a:bodyPr wrap="square" lIns="0" tIns="0" rIns="0" bIns="0" rtlCol="0" anchor="t"/>
          <a:lstStyle/>
          <a:p>
            <a:pPr marL="0" indent="0" algn="l">
              <a:lnSpc>
                <a:spcPts val="2950"/>
              </a:lnSpc>
              <a:buNone/>
            </a:pPr>
            <a:r>
              <a:rPr lang="en-US" sz="1850" dirty="0">
                <a:solidFill>
                  <a:srgbClr val="F9EEE7"/>
                </a:solidFill>
                <a:latin typeface="Quattrocento" pitchFamily="34" charset="0"/>
                <a:ea typeface="Quattrocento" pitchFamily="34" charset="-122"/>
                <a:cs typeface="Quattrocento" pitchFamily="34" charset="-120"/>
              </a:rPr>
              <a:t>Popular datasets for emotion recognition include GoEmotions and SemEval, offering a wide array of labeled emotional text for training robust models.</a:t>
            </a:r>
            <a:endParaRPr lang="en-US" sz="1850" dirty="0"/>
          </a:p>
        </p:txBody>
      </p:sp>
      <p:sp>
        <p:nvSpPr>
          <p:cNvPr id="7" name="Shape 4"/>
          <p:cNvSpPr/>
          <p:nvPr/>
        </p:nvSpPr>
        <p:spPr>
          <a:xfrm>
            <a:off x="4689753" y="1693307"/>
            <a:ext cx="3630335" cy="3564731"/>
          </a:xfrm>
          <a:prstGeom prst="roundRect">
            <a:avLst>
              <a:gd name="adj" fmla="val 991"/>
            </a:avLst>
          </a:prstGeom>
          <a:solidFill>
            <a:srgbClr val="315251"/>
          </a:solidFill>
          <a:ln/>
        </p:spPr>
      </p:sp>
      <p:sp>
        <p:nvSpPr>
          <p:cNvPr id="8" name="Text 5"/>
          <p:cNvSpPr/>
          <p:nvPr/>
        </p:nvSpPr>
        <p:spPr>
          <a:xfrm>
            <a:off x="4925139" y="1928693"/>
            <a:ext cx="3159562" cy="692467"/>
          </a:xfrm>
          <a:prstGeom prst="rect">
            <a:avLst/>
          </a:prstGeom>
          <a:noFill/>
          <a:ln/>
        </p:spPr>
        <p:txBody>
          <a:bodyPr wrap="square" lIns="0" tIns="0" rIns="0" bIns="0" rtlCol="0" anchor="t"/>
          <a:lstStyle/>
          <a:p>
            <a:pPr marL="0" indent="0" algn="l">
              <a:lnSpc>
                <a:spcPts val="2700"/>
              </a:lnSpc>
              <a:buNone/>
            </a:pPr>
            <a:r>
              <a:rPr lang="en-US" sz="2150" dirty="0">
                <a:solidFill>
                  <a:srgbClr val="F9EEE7"/>
                </a:solidFill>
                <a:latin typeface="Quattrocento" pitchFamily="34" charset="0"/>
                <a:ea typeface="Quattrocento" pitchFamily="34" charset="-122"/>
                <a:cs typeface="Quattrocento" pitchFamily="34" charset="-120"/>
              </a:rPr>
              <a:t>Data Cleaning &amp; Tokenization</a:t>
            </a:r>
            <a:endParaRPr lang="en-US" sz="2150" dirty="0"/>
          </a:p>
        </p:txBody>
      </p:sp>
      <p:sp>
        <p:nvSpPr>
          <p:cNvPr id="9" name="Text 6"/>
          <p:cNvSpPr/>
          <p:nvPr/>
        </p:nvSpPr>
        <p:spPr>
          <a:xfrm>
            <a:off x="4925139" y="2762369"/>
            <a:ext cx="3159562" cy="2260283"/>
          </a:xfrm>
          <a:prstGeom prst="rect">
            <a:avLst/>
          </a:prstGeom>
          <a:noFill/>
          <a:ln/>
        </p:spPr>
        <p:txBody>
          <a:bodyPr wrap="square" lIns="0" tIns="0" rIns="0" bIns="0" rtlCol="0" anchor="t"/>
          <a:lstStyle/>
          <a:p>
            <a:pPr marL="0" indent="0" algn="l">
              <a:lnSpc>
                <a:spcPts val="2950"/>
              </a:lnSpc>
              <a:buNone/>
            </a:pPr>
            <a:r>
              <a:rPr lang="en-US" sz="1850" dirty="0">
                <a:solidFill>
                  <a:srgbClr val="F9EEE7"/>
                </a:solidFill>
                <a:latin typeface="Quattrocento" pitchFamily="34" charset="0"/>
                <a:ea typeface="Quattrocento" pitchFamily="34" charset="-122"/>
                <a:cs typeface="Quattrocento" pitchFamily="34" charset="-120"/>
              </a:rPr>
              <a:t>Cleaning removes noise and special characters while tokenization converts text into tokens understood by BERT using WordPiece or SentencePiece methods.</a:t>
            </a:r>
            <a:endParaRPr lang="en-US" sz="1850" dirty="0"/>
          </a:p>
        </p:txBody>
      </p:sp>
      <p:sp>
        <p:nvSpPr>
          <p:cNvPr id="10" name="Shape 7"/>
          <p:cNvSpPr/>
          <p:nvPr/>
        </p:nvSpPr>
        <p:spPr>
          <a:xfrm>
            <a:off x="824032" y="5493425"/>
            <a:ext cx="7495937" cy="2088356"/>
          </a:xfrm>
          <a:prstGeom prst="roundRect">
            <a:avLst>
              <a:gd name="adj" fmla="val 1691"/>
            </a:avLst>
          </a:prstGeom>
          <a:solidFill>
            <a:srgbClr val="315251"/>
          </a:solidFill>
          <a:ln/>
        </p:spPr>
      </p:sp>
      <p:sp>
        <p:nvSpPr>
          <p:cNvPr id="11" name="Text 8"/>
          <p:cNvSpPr/>
          <p:nvPr/>
        </p:nvSpPr>
        <p:spPr>
          <a:xfrm>
            <a:off x="1059418" y="5728811"/>
            <a:ext cx="3237428" cy="346234"/>
          </a:xfrm>
          <a:prstGeom prst="rect">
            <a:avLst/>
          </a:prstGeom>
          <a:noFill/>
          <a:ln/>
        </p:spPr>
        <p:txBody>
          <a:bodyPr wrap="none" lIns="0" tIns="0" rIns="0" bIns="0" rtlCol="0" anchor="t"/>
          <a:lstStyle/>
          <a:p>
            <a:pPr marL="0" indent="0" algn="l">
              <a:lnSpc>
                <a:spcPts val="2700"/>
              </a:lnSpc>
              <a:buNone/>
            </a:pPr>
            <a:r>
              <a:rPr lang="en-US" sz="2150" dirty="0">
                <a:solidFill>
                  <a:srgbClr val="F9EEE7"/>
                </a:solidFill>
                <a:latin typeface="Quattrocento" pitchFamily="34" charset="0"/>
                <a:ea typeface="Quattrocento" pitchFamily="34" charset="-122"/>
                <a:cs typeface="Quattrocento" pitchFamily="34" charset="-120"/>
              </a:rPr>
              <a:t>Data Preparation for BERT</a:t>
            </a:r>
            <a:endParaRPr lang="en-US" sz="2150" dirty="0"/>
          </a:p>
        </p:txBody>
      </p:sp>
      <p:sp>
        <p:nvSpPr>
          <p:cNvPr id="12" name="Text 9"/>
          <p:cNvSpPr/>
          <p:nvPr/>
        </p:nvSpPr>
        <p:spPr>
          <a:xfrm>
            <a:off x="1059418" y="6216253"/>
            <a:ext cx="7025164" cy="1130141"/>
          </a:xfrm>
          <a:prstGeom prst="rect">
            <a:avLst/>
          </a:prstGeom>
          <a:noFill/>
          <a:ln/>
        </p:spPr>
        <p:txBody>
          <a:bodyPr wrap="square" lIns="0" tIns="0" rIns="0" bIns="0" rtlCol="0" anchor="t"/>
          <a:lstStyle/>
          <a:p>
            <a:pPr marL="0" indent="0" algn="l">
              <a:lnSpc>
                <a:spcPts val="2950"/>
              </a:lnSpc>
              <a:buNone/>
            </a:pPr>
            <a:r>
              <a:rPr lang="en-US" sz="1850" dirty="0">
                <a:solidFill>
                  <a:srgbClr val="F9EEE7"/>
                </a:solidFill>
                <a:latin typeface="Quattrocento" pitchFamily="34" charset="0"/>
                <a:ea typeface="Quattrocento" pitchFamily="34" charset="-122"/>
                <a:cs typeface="Quattrocento" pitchFamily="34" charset="-120"/>
              </a:rPr>
              <a:t>Text is transformed into input IDs, attention masks, and token type IDs, ensuring BERT correctly processes sequential relationships and contextual importance.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124783"/>
            <a:ext cx="9228653"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Model Architecture and Fine-Tuning</a:t>
            </a:r>
            <a:endParaRPr lang="en-US" sz="4400" dirty="0"/>
          </a:p>
        </p:txBody>
      </p:sp>
      <p:sp>
        <p:nvSpPr>
          <p:cNvPr id="3" name="Text 1"/>
          <p:cNvSpPr/>
          <p:nvPr/>
        </p:nvSpPr>
        <p:spPr>
          <a:xfrm>
            <a:off x="1872972" y="2307550"/>
            <a:ext cx="2816185" cy="351949"/>
          </a:xfrm>
          <a:prstGeom prst="rect">
            <a:avLst/>
          </a:prstGeom>
          <a:noFill/>
          <a:ln/>
        </p:spPr>
        <p:txBody>
          <a:bodyPr wrap="none" lIns="0" tIns="0" rIns="0" bIns="0" rtlCol="0" anchor="t"/>
          <a:lstStyle/>
          <a:p>
            <a:pPr marL="0" indent="0" algn="r">
              <a:lnSpc>
                <a:spcPts val="2750"/>
              </a:lnSpc>
              <a:buNone/>
            </a:pPr>
            <a:r>
              <a:rPr lang="en-US" sz="2200" dirty="0">
                <a:solidFill>
                  <a:srgbClr val="F9EEE7"/>
                </a:solidFill>
                <a:latin typeface="Quattrocento" pitchFamily="34" charset="0"/>
                <a:ea typeface="Quattrocento" pitchFamily="34" charset="-122"/>
                <a:cs typeface="Quattrocento" pitchFamily="34" charset="-120"/>
              </a:rPr>
              <a:t>Choosing Model Size</a:t>
            </a:r>
            <a:endParaRPr lang="en-US" sz="2200" dirty="0"/>
          </a:p>
        </p:txBody>
      </p:sp>
      <p:sp>
        <p:nvSpPr>
          <p:cNvPr id="4" name="Text 2"/>
          <p:cNvSpPr/>
          <p:nvPr/>
        </p:nvSpPr>
        <p:spPr>
          <a:xfrm>
            <a:off x="837724" y="2803088"/>
            <a:ext cx="3851434" cy="1915120"/>
          </a:xfrm>
          <a:prstGeom prst="rect">
            <a:avLst/>
          </a:prstGeom>
          <a:noFill/>
          <a:ln/>
        </p:spPr>
        <p:txBody>
          <a:bodyPr wrap="square" lIns="0" tIns="0" rIns="0" bIns="0" rtlCol="0" anchor="t"/>
          <a:lstStyle/>
          <a:p>
            <a:pPr marL="0" indent="0" algn="r">
              <a:lnSpc>
                <a:spcPts val="3000"/>
              </a:lnSpc>
              <a:buNone/>
            </a:pPr>
            <a:r>
              <a:rPr lang="en-US" sz="1850" dirty="0">
                <a:solidFill>
                  <a:srgbClr val="F9EEE7"/>
                </a:solidFill>
                <a:latin typeface="Quattrocento" pitchFamily="34" charset="0"/>
                <a:ea typeface="Quattrocento" pitchFamily="34" charset="-122"/>
                <a:cs typeface="Quattrocento" pitchFamily="34" charset="-120"/>
              </a:rPr>
              <a:t>BERT-base offers a good balance of accuracy and efficiency, while BERT-large achieves higher performance at the cost of more computational resources.</a:t>
            </a:r>
            <a:endParaRPr lang="en-US" sz="1850" dirty="0"/>
          </a:p>
        </p:txBody>
      </p:sp>
      <p:pic>
        <p:nvPicPr>
          <p:cNvPr id="5" name="Image 0" descr="preencoded.png"/>
          <p:cNvPicPr>
            <a:picLocks noChangeAspect="1"/>
          </p:cNvPicPr>
          <p:nvPr/>
        </p:nvPicPr>
        <p:blipFill>
          <a:blip r:embed="rId3"/>
          <a:stretch>
            <a:fillRect/>
          </a:stretch>
        </p:blipFill>
        <p:spPr>
          <a:xfrm>
            <a:off x="5048131" y="2439114"/>
            <a:ext cx="4534138" cy="4534138"/>
          </a:xfrm>
          <a:prstGeom prst="rect">
            <a:avLst/>
          </a:prstGeom>
        </p:spPr>
      </p:pic>
      <p:sp>
        <p:nvSpPr>
          <p:cNvPr id="6" name="Text 3"/>
          <p:cNvSpPr/>
          <p:nvPr/>
        </p:nvSpPr>
        <p:spPr>
          <a:xfrm>
            <a:off x="6223516" y="3183969"/>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F9EEE7"/>
                </a:solidFill>
                <a:latin typeface="Quattrocento" pitchFamily="34" charset="0"/>
                <a:ea typeface="Quattrocento" pitchFamily="34" charset="-122"/>
                <a:cs typeface="Quattrocento" pitchFamily="34" charset="-120"/>
              </a:rPr>
              <a:t>1</a:t>
            </a:r>
            <a:endParaRPr lang="en-US" sz="2800" dirty="0"/>
          </a:p>
        </p:txBody>
      </p:sp>
      <p:sp>
        <p:nvSpPr>
          <p:cNvPr id="7" name="Text 4"/>
          <p:cNvSpPr/>
          <p:nvPr/>
        </p:nvSpPr>
        <p:spPr>
          <a:xfrm>
            <a:off x="9941243" y="2499003"/>
            <a:ext cx="3421261" cy="351949"/>
          </a:xfrm>
          <a:prstGeom prst="rect">
            <a:avLst/>
          </a:prstGeom>
          <a:noFill/>
          <a:ln/>
        </p:spPr>
        <p:txBody>
          <a:bodyPr wrap="none" lIns="0" tIns="0" rIns="0" bIns="0" rtlCol="0" anchor="t"/>
          <a:lstStyle/>
          <a:p>
            <a:pPr marL="0" indent="0" algn="l">
              <a:lnSpc>
                <a:spcPts val="2750"/>
              </a:lnSpc>
              <a:buNone/>
            </a:pPr>
            <a:r>
              <a:rPr lang="en-US" sz="2200" dirty="0">
                <a:solidFill>
                  <a:srgbClr val="F9EEE7"/>
                </a:solidFill>
                <a:latin typeface="Quattrocento" pitchFamily="34" charset="0"/>
                <a:ea typeface="Quattrocento" pitchFamily="34" charset="-122"/>
                <a:cs typeface="Quattrocento" pitchFamily="34" charset="-120"/>
              </a:rPr>
              <a:t>Adding Classification Layer</a:t>
            </a:r>
            <a:endParaRPr lang="en-US" sz="2200" dirty="0"/>
          </a:p>
        </p:txBody>
      </p:sp>
      <p:sp>
        <p:nvSpPr>
          <p:cNvPr id="8" name="Text 5"/>
          <p:cNvSpPr/>
          <p:nvPr/>
        </p:nvSpPr>
        <p:spPr>
          <a:xfrm>
            <a:off x="9941243" y="2994541"/>
            <a:ext cx="3851434" cy="1532096"/>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A dense layer atop BERT outputs classifies text into emotional categories, enabling targeted sentiment detection.</a:t>
            </a:r>
            <a:endParaRPr lang="en-US" sz="1850" dirty="0"/>
          </a:p>
        </p:txBody>
      </p:sp>
      <p:pic>
        <p:nvPicPr>
          <p:cNvPr id="9" name="Image 1" descr="preencoded.png"/>
          <p:cNvPicPr>
            <a:picLocks noChangeAspect="1"/>
          </p:cNvPicPr>
          <p:nvPr/>
        </p:nvPicPr>
        <p:blipFill>
          <a:blip r:embed="rId4"/>
          <a:stretch>
            <a:fillRect/>
          </a:stretch>
        </p:blipFill>
        <p:spPr>
          <a:xfrm>
            <a:off x="5048131" y="2439114"/>
            <a:ext cx="4534138" cy="4534138"/>
          </a:xfrm>
          <a:prstGeom prst="rect">
            <a:avLst/>
          </a:prstGeom>
        </p:spPr>
      </p:pic>
      <p:sp>
        <p:nvSpPr>
          <p:cNvPr id="10" name="Text 6"/>
          <p:cNvSpPr/>
          <p:nvPr/>
        </p:nvSpPr>
        <p:spPr>
          <a:xfrm>
            <a:off x="8434388" y="3569732"/>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F9EEE7"/>
                </a:solidFill>
                <a:latin typeface="Quattrocento" pitchFamily="34" charset="0"/>
                <a:ea typeface="Quattrocento" pitchFamily="34" charset="-122"/>
                <a:cs typeface="Quattrocento" pitchFamily="34" charset="-120"/>
              </a:rPr>
              <a:t>2</a:t>
            </a:r>
            <a:endParaRPr lang="en-US" sz="2800" dirty="0"/>
          </a:p>
        </p:txBody>
      </p:sp>
      <p:sp>
        <p:nvSpPr>
          <p:cNvPr id="11" name="Text 7"/>
          <p:cNvSpPr/>
          <p:nvPr/>
        </p:nvSpPr>
        <p:spPr>
          <a:xfrm>
            <a:off x="9941243" y="5077182"/>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EEE7"/>
                </a:solidFill>
                <a:latin typeface="Quattrocento" pitchFamily="34" charset="0"/>
                <a:ea typeface="Quattrocento" pitchFamily="34" charset="-122"/>
                <a:cs typeface="Quattrocento" pitchFamily="34" charset="-120"/>
              </a:rPr>
              <a:t>Fine-Tuning Strategy</a:t>
            </a:r>
            <a:endParaRPr lang="en-US" sz="2200" dirty="0"/>
          </a:p>
        </p:txBody>
      </p:sp>
      <p:sp>
        <p:nvSpPr>
          <p:cNvPr id="12" name="Text 8"/>
          <p:cNvSpPr/>
          <p:nvPr/>
        </p:nvSpPr>
        <p:spPr>
          <a:xfrm>
            <a:off x="9941243" y="5572720"/>
            <a:ext cx="3851434" cy="1532096"/>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Optimizing learning rates, batch sizes, and epochs during fine-tuning improves model adaptability to emotion recognition tasks.</a:t>
            </a:r>
            <a:endParaRPr lang="en-US" sz="1850" dirty="0"/>
          </a:p>
        </p:txBody>
      </p:sp>
      <p:pic>
        <p:nvPicPr>
          <p:cNvPr id="13" name="Image 2" descr="preencoded.png"/>
          <p:cNvPicPr>
            <a:picLocks noChangeAspect="1"/>
          </p:cNvPicPr>
          <p:nvPr/>
        </p:nvPicPr>
        <p:blipFill>
          <a:blip r:embed="rId5"/>
          <a:stretch>
            <a:fillRect/>
          </a:stretch>
        </p:blipFill>
        <p:spPr>
          <a:xfrm>
            <a:off x="5048131" y="2439114"/>
            <a:ext cx="4534138" cy="4534138"/>
          </a:xfrm>
          <a:prstGeom prst="rect">
            <a:avLst/>
          </a:prstGeom>
        </p:spPr>
      </p:pic>
      <p:sp>
        <p:nvSpPr>
          <p:cNvPr id="14" name="Text 9"/>
          <p:cNvSpPr/>
          <p:nvPr/>
        </p:nvSpPr>
        <p:spPr>
          <a:xfrm>
            <a:off x="8048625" y="5780603"/>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F9EEE7"/>
                </a:solidFill>
                <a:latin typeface="Quattrocento" pitchFamily="34" charset="0"/>
                <a:ea typeface="Quattrocento" pitchFamily="34" charset="-122"/>
                <a:cs typeface="Quattrocento" pitchFamily="34" charset="-120"/>
              </a:rPr>
              <a:t>3</a:t>
            </a:r>
            <a:endParaRPr lang="en-US" sz="2800" dirty="0"/>
          </a:p>
        </p:txBody>
      </p:sp>
      <p:sp>
        <p:nvSpPr>
          <p:cNvPr id="15" name="Text 10"/>
          <p:cNvSpPr/>
          <p:nvPr/>
        </p:nvSpPr>
        <p:spPr>
          <a:xfrm>
            <a:off x="1459825" y="5077182"/>
            <a:ext cx="3229332" cy="351949"/>
          </a:xfrm>
          <a:prstGeom prst="rect">
            <a:avLst/>
          </a:prstGeom>
          <a:noFill/>
          <a:ln/>
        </p:spPr>
        <p:txBody>
          <a:bodyPr wrap="none" lIns="0" tIns="0" rIns="0" bIns="0" rtlCol="0" anchor="t"/>
          <a:lstStyle/>
          <a:p>
            <a:pPr marL="0" indent="0" algn="r">
              <a:lnSpc>
                <a:spcPts val="2750"/>
              </a:lnSpc>
              <a:buNone/>
            </a:pPr>
            <a:r>
              <a:rPr lang="en-US" sz="2200" dirty="0">
                <a:solidFill>
                  <a:srgbClr val="F9EEE7"/>
                </a:solidFill>
                <a:latin typeface="Quattrocento" pitchFamily="34" charset="0"/>
                <a:ea typeface="Quattrocento" pitchFamily="34" charset="-122"/>
                <a:cs typeface="Quattrocento" pitchFamily="34" charset="-120"/>
              </a:rPr>
              <a:t>Implementation Example</a:t>
            </a:r>
            <a:endParaRPr lang="en-US" sz="2200" dirty="0"/>
          </a:p>
        </p:txBody>
      </p:sp>
      <p:sp>
        <p:nvSpPr>
          <p:cNvPr id="16" name="Text 11"/>
          <p:cNvSpPr/>
          <p:nvPr/>
        </p:nvSpPr>
        <p:spPr>
          <a:xfrm>
            <a:off x="837724" y="5572720"/>
            <a:ext cx="3851434" cy="1532096"/>
          </a:xfrm>
          <a:prstGeom prst="rect">
            <a:avLst/>
          </a:prstGeom>
          <a:noFill/>
          <a:ln/>
        </p:spPr>
        <p:txBody>
          <a:bodyPr wrap="square" lIns="0" tIns="0" rIns="0" bIns="0" rtlCol="0" anchor="t"/>
          <a:lstStyle/>
          <a:p>
            <a:pPr marL="0" indent="0" algn="r">
              <a:lnSpc>
                <a:spcPts val="3000"/>
              </a:lnSpc>
              <a:buNone/>
            </a:pPr>
            <a:r>
              <a:rPr lang="en-US" sz="1850" dirty="0">
                <a:solidFill>
                  <a:srgbClr val="F9EEE7"/>
                </a:solidFill>
                <a:latin typeface="Quattrocento" pitchFamily="34" charset="0"/>
                <a:ea typeface="Quattrocento" pitchFamily="34" charset="-122"/>
                <a:cs typeface="Quattrocento" pitchFamily="34" charset="-120"/>
              </a:rPr>
              <a:t>Using Hugging Face’s Transformers library streamlines fine-tuning with modular code and pre-trained BERT models.</a:t>
            </a:r>
            <a:endParaRPr lang="en-US" sz="1850" dirty="0"/>
          </a:p>
        </p:txBody>
      </p:sp>
      <p:pic>
        <p:nvPicPr>
          <p:cNvPr id="17" name="Image 3" descr="preencoded.png"/>
          <p:cNvPicPr>
            <a:picLocks noChangeAspect="1"/>
          </p:cNvPicPr>
          <p:nvPr/>
        </p:nvPicPr>
        <p:blipFill>
          <a:blip r:embed="rId6"/>
          <a:stretch>
            <a:fillRect/>
          </a:stretch>
        </p:blipFill>
        <p:spPr>
          <a:xfrm>
            <a:off x="5048131" y="2439114"/>
            <a:ext cx="4534138" cy="4534138"/>
          </a:xfrm>
          <a:prstGeom prst="rect">
            <a:avLst/>
          </a:prstGeom>
        </p:spPr>
      </p:pic>
      <p:sp>
        <p:nvSpPr>
          <p:cNvPr id="18" name="Text 12"/>
          <p:cNvSpPr/>
          <p:nvPr/>
        </p:nvSpPr>
        <p:spPr>
          <a:xfrm>
            <a:off x="5837753" y="5394841"/>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F9EEE7"/>
                </a:solidFill>
                <a:latin typeface="Quattrocento" pitchFamily="34" charset="0"/>
                <a:ea typeface="Quattrocento" pitchFamily="34" charset="-122"/>
                <a:cs typeface="Quattrocento" pitchFamily="34" charset="-120"/>
              </a:rPr>
              <a:t>4</a:t>
            </a:r>
            <a:endParaRPr lang="en-US" sz="2800" dirty="0"/>
          </a:p>
        </p:txBody>
      </p:sp>
      <p:pic>
        <p:nvPicPr>
          <p:cNvPr id="19" name="Picture 18">
            <a:extLst>
              <a:ext uri="{FF2B5EF4-FFF2-40B4-BE49-F238E27FC236}">
                <a16:creationId xmlns:a16="http://schemas.microsoft.com/office/drawing/2014/main" id="{F1A576A7-93D4-A433-E95D-E436E0AE543F}"/>
              </a:ext>
            </a:extLst>
          </p:cNvPr>
          <p:cNvPicPr>
            <a:picLocks noChangeAspect="1"/>
          </p:cNvPicPr>
          <p:nvPr/>
        </p:nvPicPr>
        <p:blipFill>
          <a:blip r:embed="rId7"/>
          <a:stretch>
            <a:fillRect/>
          </a:stretch>
        </p:blipFill>
        <p:spPr>
          <a:xfrm>
            <a:off x="12847992" y="7248405"/>
            <a:ext cx="1680666" cy="10382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6765" y="797123"/>
            <a:ext cx="5289590" cy="661154"/>
          </a:xfrm>
          <a:prstGeom prst="rect">
            <a:avLst/>
          </a:prstGeom>
          <a:noFill/>
          <a:ln/>
        </p:spPr>
        <p:txBody>
          <a:bodyPr wrap="none" lIns="0" tIns="0" rIns="0" bIns="0" rtlCol="0" anchor="t"/>
          <a:lstStyle/>
          <a:p>
            <a:pPr marL="0" indent="0" algn="l">
              <a:lnSpc>
                <a:spcPts val="5200"/>
              </a:lnSpc>
              <a:buNone/>
            </a:pPr>
            <a:r>
              <a:rPr lang="en-US" sz="4150" dirty="0">
                <a:solidFill>
                  <a:srgbClr val="FFD9BE"/>
                </a:solidFill>
                <a:latin typeface="Quattrocento" pitchFamily="34" charset="0"/>
                <a:ea typeface="Quattrocento" pitchFamily="34" charset="-122"/>
                <a:cs typeface="Quattrocento" pitchFamily="34" charset="-120"/>
              </a:rPr>
              <a:t>Evaluation Metrics</a:t>
            </a:r>
            <a:endParaRPr lang="en-US" sz="4150" dirty="0"/>
          </a:p>
        </p:txBody>
      </p:sp>
      <p:sp>
        <p:nvSpPr>
          <p:cNvPr id="4" name="Shape 1"/>
          <p:cNvSpPr/>
          <p:nvPr/>
        </p:nvSpPr>
        <p:spPr>
          <a:xfrm>
            <a:off x="786765" y="1795463"/>
            <a:ext cx="168593" cy="1184434"/>
          </a:xfrm>
          <a:prstGeom prst="roundRect">
            <a:avLst>
              <a:gd name="adj" fmla="val 20002"/>
            </a:avLst>
          </a:prstGeom>
          <a:solidFill>
            <a:srgbClr val="315251"/>
          </a:solidFill>
          <a:ln/>
        </p:spPr>
      </p:sp>
      <p:sp>
        <p:nvSpPr>
          <p:cNvPr id="5" name="Text 2"/>
          <p:cNvSpPr/>
          <p:nvPr/>
        </p:nvSpPr>
        <p:spPr>
          <a:xfrm>
            <a:off x="1292542" y="1795463"/>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F9EEE7"/>
                </a:solidFill>
                <a:latin typeface="Quattrocento" pitchFamily="34" charset="0"/>
                <a:ea typeface="Quattrocento" pitchFamily="34" charset="-122"/>
                <a:cs typeface="Quattrocento" pitchFamily="34" charset="-120"/>
              </a:rPr>
              <a:t>Standard Metrics</a:t>
            </a:r>
            <a:endParaRPr lang="en-US" sz="2050" dirty="0"/>
          </a:p>
        </p:txBody>
      </p:sp>
      <p:sp>
        <p:nvSpPr>
          <p:cNvPr id="6" name="Text 3"/>
          <p:cNvSpPr/>
          <p:nvPr/>
        </p:nvSpPr>
        <p:spPr>
          <a:xfrm>
            <a:off x="1292542" y="2260759"/>
            <a:ext cx="7064693" cy="719138"/>
          </a:xfrm>
          <a:prstGeom prst="rect">
            <a:avLst/>
          </a:prstGeom>
          <a:noFill/>
          <a:ln/>
        </p:spPr>
        <p:txBody>
          <a:bodyPr wrap="square" lIns="0" tIns="0" rIns="0" bIns="0" rtlCol="0" anchor="t"/>
          <a:lstStyle/>
          <a:p>
            <a:pPr marL="0" indent="0" algn="l">
              <a:lnSpc>
                <a:spcPts val="2800"/>
              </a:lnSpc>
              <a:buNone/>
            </a:pPr>
            <a:r>
              <a:rPr lang="en-US" sz="1750" dirty="0">
                <a:solidFill>
                  <a:srgbClr val="F9EEE7"/>
                </a:solidFill>
                <a:latin typeface="Quattrocento" pitchFamily="34" charset="0"/>
                <a:ea typeface="Quattrocento" pitchFamily="34" charset="-122"/>
                <a:cs typeface="Quattrocento" pitchFamily="34" charset="-120"/>
              </a:rPr>
              <a:t>Accuracy, precision, recall, and F1-score evaluate classification effectiveness comprehensively across different emotion classes.</a:t>
            </a:r>
            <a:endParaRPr lang="en-US" sz="1750" dirty="0"/>
          </a:p>
        </p:txBody>
      </p:sp>
      <p:sp>
        <p:nvSpPr>
          <p:cNvPr id="7" name="Shape 4"/>
          <p:cNvSpPr/>
          <p:nvPr/>
        </p:nvSpPr>
        <p:spPr>
          <a:xfrm>
            <a:off x="1123950" y="3204686"/>
            <a:ext cx="168593" cy="1184434"/>
          </a:xfrm>
          <a:prstGeom prst="roundRect">
            <a:avLst>
              <a:gd name="adj" fmla="val 20002"/>
            </a:avLst>
          </a:prstGeom>
          <a:solidFill>
            <a:srgbClr val="315251"/>
          </a:solidFill>
          <a:ln/>
        </p:spPr>
      </p:sp>
      <p:sp>
        <p:nvSpPr>
          <p:cNvPr id="8" name="Text 5"/>
          <p:cNvSpPr/>
          <p:nvPr/>
        </p:nvSpPr>
        <p:spPr>
          <a:xfrm>
            <a:off x="1629728" y="3204686"/>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F9EEE7"/>
                </a:solidFill>
                <a:latin typeface="Quattrocento" pitchFamily="34" charset="0"/>
                <a:ea typeface="Quattrocento" pitchFamily="34" charset="-122"/>
                <a:cs typeface="Quattrocento" pitchFamily="34" charset="-120"/>
              </a:rPr>
              <a:t>Confusion Matrix</a:t>
            </a:r>
            <a:endParaRPr lang="en-US" sz="2050" dirty="0"/>
          </a:p>
        </p:txBody>
      </p:sp>
      <p:sp>
        <p:nvSpPr>
          <p:cNvPr id="9" name="Text 6"/>
          <p:cNvSpPr/>
          <p:nvPr/>
        </p:nvSpPr>
        <p:spPr>
          <a:xfrm>
            <a:off x="1629728" y="3669982"/>
            <a:ext cx="6727507" cy="719138"/>
          </a:xfrm>
          <a:prstGeom prst="rect">
            <a:avLst/>
          </a:prstGeom>
          <a:noFill/>
          <a:ln/>
        </p:spPr>
        <p:txBody>
          <a:bodyPr wrap="square" lIns="0" tIns="0" rIns="0" bIns="0" rtlCol="0" anchor="t"/>
          <a:lstStyle/>
          <a:p>
            <a:pPr marL="0" indent="0" algn="l">
              <a:lnSpc>
                <a:spcPts val="2800"/>
              </a:lnSpc>
              <a:buNone/>
            </a:pPr>
            <a:r>
              <a:rPr lang="en-US" sz="1750" dirty="0">
                <a:solidFill>
                  <a:srgbClr val="F9EEE7"/>
                </a:solidFill>
                <a:latin typeface="Quattrocento" pitchFamily="34" charset="0"/>
                <a:ea typeface="Quattrocento" pitchFamily="34" charset="-122"/>
                <a:cs typeface="Quattrocento" pitchFamily="34" charset="-120"/>
              </a:rPr>
              <a:t>Visualizing true vs. predicted labels identifies patterns in misclassifications, guiding model improvements.</a:t>
            </a:r>
            <a:endParaRPr lang="en-US" sz="1750" dirty="0"/>
          </a:p>
        </p:txBody>
      </p:sp>
      <p:sp>
        <p:nvSpPr>
          <p:cNvPr id="10" name="Shape 7"/>
          <p:cNvSpPr/>
          <p:nvPr/>
        </p:nvSpPr>
        <p:spPr>
          <a:xfrm>
            <a:off x="1461135" y="4613910"/>
            <a:ext cx="168593" cy="1184434"/>
          </a:xfrm>
          <a:prstGeom prst="roundRect">
            <a:avLst>
              <a:gd name="adj" fmla="val 20002"/>
            </a:avLst>
          </a:prstGeom>
          <a:solidFill>
            <a:srgbClr val="315251"/>
          </a:solidFill>
          <a:ln/>
        </p:spPr>
      </p:sp>
      <p:sp>
        <p:nvSpPr>
          <p:cNvPr id="11" name="Text 8"/>
          <p:cNvSpPr/>
          <p:nvPr/>
        </p:nvSpPr>
        <p:spPr>
          <a:xfrm>
            <a:off x="1966912" y="4613910"/>
            <a:ext cx="3418761" cy="330517"/>
          </a:xfrm>
          <a:prstGeom prst="rect">
            <a:avLst/>
          </a:prstGeom>
          <a:noFill/>
          <a:ln/>
        </p:spPr>
        <p:txBody>
          <a:bodyPr wrap="none" lIns="0" tIns="0" rIns="0" bIns="0" rtlCol="0" anchor="t"/>
          <a:lstStyle/>
          <a:p>
            <a:pPr marL="0" indent="0" algn="l">
              <a:lnSpc>
                <a:spcPts val="2600"/>
              </a:lnSpc>
              <a:buNone/>
            </a:pPr>
            <a:r>
              <a:rPr lang="en-US" sz="2050" dirty="0">
                <a:solidFill>
                  <a:srgbClr val="F9EEE7"/>
                </a:solidFill>
                <a:latin typeface="Quattrocento" pitchFamily="34" charset="0"/>
                <a:ea typeface="Quattrocento" pitchFamily="34" charset="-122"/>
                <a:cs typeface="Quattrocento" pitchFamily="34" charset="-120"/>
              </a:rPr>
              <a:t>Addressing Imbalanced Data</a:t>
            </a:r>
            <a:endParaRPr lang="en-US" sz="2050" dirty="0"/>
          </a:p>
        </p:txBody>
      </p:sp>
      <p:sp>
        <p:nvSpPr>
          <p:cNvPr id="12" name="Text 9"/>
          <p:cNvSpPr/>
          <p:nvPr/>
        </p:nvSpPr>
        <p:spPr>
          <a:xfrm>
            <a:off x="1966912" y="5079206"/>
            <a:ext cx="6390323" cy="719138"/>
          </a:xfrm>
          <a:prstGeom prst="rect">
            <a:avLst/>
          </a:prstGeom>
          <a:noFill/>
          <a:ln/>
        </p:spPr>
        <p:txBody>
          <a:bodyPr wrap="square" lIns="0" tIns="0" rIns="0" bIns="0" rtlCol="0" anchor="t"/>
          <a:lstStyle/>
          <a:p>
            <a:pPr marL="0" indent="0" algn="l">
              <a:lnSpc>
                <a:spcPts val="2800"/>
              </a:lnSpc>
              <a:buNone/>
            </a:pPr>
            <a:r>
              <a:rPr lang="en-US" sz="1750" dirty="0">
                <a:solidFill>
                  <a:srgbClr val="F9EEE7"/>
                </a:solidFill>
                <a:latin typeface="Quattrocento" pitchFamily="34" charset="0"/>
                <a:ea typeface="Quattrocento" pitchFamily="34" charset="-122"/>
                <a:cs typeface="Quattrocento" pitchFamily="34" charset="-120"/>
              </a:rPr>
              <a:t>Strategies like resampling and weighted metrics help counteract class imbalance prevalent in emotion datasets.</a:t>
            </a:r>
            <a:endParaRPr lang="en-US" sz="1750" dirty="0"/>
          </a:p>
        </p:txBody>
      </p:sp>
      <p:sp>
        <p:nvSpPr>
          <p:cNvPr id="13" name="Shape 10"/>
          <p:cNvSpPr/>
          <p:nvPr/>
        </p:nvSpPr>
        <p:spPr>
          <a:xfrm>
            <a:off x="1798320" y="6023134"/>
            <a:ext cx="168593" cy="1184434"/>
          </a:xfrm>
          <a:prstGeom prst="roundRect">
            <a:avLst>
              <a:gd name="adj" fmla="val 20002"/>
            </a:avLst>
          </a:prstGeom>
          <a:solidFill>
            <a:srgbClr val="315251"/>
          </a:solidFill>
          <a:ln/>
        </p:spPr>
      </p:sp>
      <p:sp>
        <p:nvSpPr>
          <p:cNvPr id="14" name="Text 11"/>
          <p:cNvSpPr/>
          <p:nvPr/>
        </p:nvSpPr>
        <p:spPr>
          <a:xfrm>
            <a:off x="2304098" y="6023134"/>
            <a:ext cx="2644735" cy="330517"/>
          </a:xfrm>
          <a:prstGeom prst="rect">
            <a:avLst/>
          </a:prstGeom>
          <a:noFill/>
          <a:ln/>
        </p:spPr>
        <p:txBody>
          <a:bodyPr wrap="none" lIns="0" tIns="0" rIns="0" bIns="0" rtlCol="0" anchor="t"/>
          <a:lstStyle/>
          <a:p>
            <a:pPr marL="0" indent="0" algn="l">
              <a:lnSpc>
                <a:spcPts val="2600"/>
              </a:lnSpc>
              <a:buNone/>
            </a:pPr>
            <a:r>
              <a:rPr lang="en-US" sz="2050" dirty="0">
                <a:solidFill>
                  <a:srgbClr val="F9EEE7"/>
                </a:solidFill>
                <a:latin typeface="Quattrocento" pitchFamily="34" charset="0"/>
                <a:ea typeface="Quattrocento" pitchFamily="34" charset="-122"/>
                <a:cs typeface="Quattrocento" pitchFamily="34" charset="-120"/>
              </a:rPr>
              <a:t>Cross-Validation</a:t>
            </a:r>
            <a:endParaRPr lang="en-US" sz="2050" dirty="0"/>
          </a:p>
        </p:txBody>
      </p:sp>
      <p:sp>
        <p:nvSpPr>
          <p:cNvPr id="15" name="Text 12"/>
          <p:cNvSpPr/>
          <p:nvPr/>
        </p:nvSpPr>
        <p:spPr>
          <a:xfrm>
            <a:off x="2304098" y="6488430"/>
            <a:ext cx="6053137" cy="719138"/>
          </a:xfrm>
          <a:prstGeom prst="rect">
            <a:avLst/>
          </a:prstGeom>
          <a:noFill/>
          <a:ln/>
        </p:spPr>
        <p:txBody>
          <a:bodyPr wrap="square" lIns="0" tIns="0" rIns="0" bIns="0" rtlCol="0" anchor="t"/>
          <a:lstStyle/>
          <a:p>
            <a:pPr marL="0" indent="0" algn="l">
              <a:lnSpc>
                <a:spcPts val="2800"/>
              </a:lnSpc>
              <a:buNone/>
            </a:pPr>
            <a:r>
              <a:rPr lang="en-US" sz="1750" dirty="0">
                <a:solidFill>
                  <a:srgbClr val="F9EEE7"/>
                </a:solidFill>
                <a:latin typeface="Quattrocento" pitchFamily="34" charset="0"/>
                <a:ea typeface="Quattrocento" pitchFamily="34" charset="-122"/>
                <a:cs typeface="Quattrocento" pitchFamily="34" charset="-120"/>
              </a:rPr>
              <a:t>Robust evaluation through k-fold cross-validation reduces overfitting and ensures generalizability.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73521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Results and Analysis</a:t>
            </a:r>
            <a:endParaRPr lang="en-US" sz="4400" dirty="0"/>
          </a:p>
        </p:txBody>
      </p:sp>
      <p:sp>
        <p:nvSpPr>
          <p:cNvPr id="3" name="Text 1"/>
          <p:cNvSpPr/>
          <p:nvPr/>
        </p:nvSpPr>
        <p:spPr>
          <a:xfrm>
            <a:off x="837724" y="3037522"/>
            <a:ext cx="2800826" cy="703898"/>
          </a:xfrm>
          <a:prstGeom prst="rect">
            <a:avLst/>
          </a:prstGeom>
          <a:noFill/>
          <a:ln/>
        </p:spPr>
        <p:txBody>
          <a:bodyPr wrap="squar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Performance Comparison</a:t>
            </a:r>
            <a:endParaRPr lang="en-US" sz="2200" dirty="0"/>
          </a:p>
        </p:txBody>
      </p:sp>
      <p:sp>
        <p:nvSpPr>
          <p:cNvPr id="4" name="Text 2"/>
          <p:cNvSpPr/>
          <p:nvPr/>
        </p:nvSpPr>
        <p:spPr>
          <a:xfrm>
            <a:off x="837724" y="3980736"/>
            <a:ext cx="2800826"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BERT significantly outperforms traditional classifiers like SVM and Naive Bayes in capturing nuanced emotional context.</a:t>
            </a:r>
            <a:endParaRPr lang="en-US" sz="1850" dirty="0"/>
          </a:p>
        </p:txBody>
      </p:sp>
      <p:sp>
        <p:nvSpPr>
          <p:cNvPr id="5" name="Text 3"/>
          <p:cNvSpPr/>
          <p:nvPr/>
        </p:nvSpPr>
        <p:spPr>
          <a:xfrm>
            <a:off x="4230053" y="3037522"/>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Error Analysis</a:t>
            </a:r>
            <a:endParaRPr lang="en-US" sz="2200" dirty="0"/>
          </a:p>
        </p:txBody>
      </p:sp>
      <p:sp>
        <p:nvSpPr>
          <p:cNvPr id="6" name="Text 4"/>
          <p:cNvSpPr/>
          <p:nvPr/>
        </p:nvSpPr>
        <p:spPr>
          <a:xfrm>
            <a:off x="4230053" y="3628787"/>
            <a:ext cx="2800826" cy="2298144"/>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Mistakes commonly occur with ambiguous or sarcastic text, emphasizing the need for improved contextual understanding.</a:t>
            </a:r>
            <a:endParaRPr lang="en-US" sz="1850" dirty="0"/>
          </a:p>
        </p:txBody>
      </p:sp>
      <p:sp>
        <p:nvSpPr>
          <p:cNvPr id="7" name="Text 5"/>
          <p:cNvSpPr/>
          <p:nvPr/>
        </p:nvSpPr>
        <p:spPr>
          <a:xfrm>
            <a:off x="7622381" y="3037522"/>
            <a:ext cx="2800826" cy="703898"/>
          </a:xfrm>
          <a:prstGeom prst="rect">
            <a:avLst/>
          </a:prstGeom>
          <a:noFill/>
          <a:ln/>
        </p:spPr>
        <p:txBody>
          <a:bodyPr wrap="squar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Attention Visualization</a:t>
            </a:r>
            <a:endParaRPr lang="en-US" sz="2200" dirty="0"/>
          </a:p>
        </p:txBody>
      </p:sp>
      <p:sp>
        <p:nvSpPr>
          <p:cNvPr id="8" name="Text 6"/>
          <p:cNvSpPr/>
          <p:nvPr/>
        </p:nvSpPr>
        <p:spPr>
          <a:xfrm>
            <a:off x="7622381" y="3980736"/>
            <a:ext cx="2800826" cy="1532096"/>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Analyzing which words BERT attends to reveals deep linguistic patterns informing its predictions.</a:t>
            </a:r>
            <a:endParaRPr lang="en-US" sz="1850" dirty="0"/>
          </a:p>
        </p:txBody>
      </p:sp>
      <p:sp>
        <p:nvSpPr>
          <p:cNvPr id="9" name="Text 7"/>
          <p:cNvSpPr/>
          <p:nvPr/>
        </p:nvSpPr>
        <p:spPr>
          <a:xfrm>
            <a:off x="11014710" y="3037522"/>
            <a:ext cx="2800826"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Case Studies</a:t>
            </a:r>
            <a:endParaRPr lang="en-US" sz="2200" dirty="0"/>
          </a:p>
        </p:txBody>
      </p:sp>
      <p:sp>
        <p:nvSpPr>
          <p:cNvPr id="10" name="Text 8"/>
          <p:cNvSpPr/>
          <p:nvPr/>
        </p:nvSpPr>
        <p:spPr>
          <a:xfrm>
            <a:off x="11014710" y="3628787"/>
            <a:ext cx="2800826" cy="1915120"/>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Examples showcase successful classifications and highlight areas for further model refinement.</a:t>
            </a:r>
            <a:endParaRPr lang="en-US" sz="1850" dirty="0"/>
          </a:p>
        </p:txBody>
      </p:sp>
      <p:pic>
        <p:nvPicPr>
          <p:cNvPr id="11" name="Picture 10">
            <a:extLst>
              <a:ext uri="{FF2B5EF4-FFF2-40B4-BE49-F238E27FC236}">
                <a16:creationId xmlns:a16="http://schemas.microsoft.com/office/drawing/2014/main" id="{0E6BD8E4-1D71-4349-E8BD-34CD7A7FF917}"/>
              </a:ext>
            </a:extLst>
          </p:cNvPr>
          <p:cNvPicPr>
            <a:picLocks noChangeAspect="1"/>
          </p:cNvPicPr>
          <p:nvPr/>
        </p:nvPicPr>
        <p:blipFill>
          <a:blip r:embed="rId3"/>
          <a:stretch>
            <a:fillRect/>
          </a:stretch>
        </p:blipFill>
        <p:spPr>
          <a:xfrm>
            <a:off x="12866522" y="6526502"/>
            <a:ext cx="1596695" cy="15966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0209" y="666512"/>
            <a:ext cx="7244715" cy="605195"/>
          </a:xfrm>
          <a:prstGeom prst="rect">
            <a:avLst/>
          </a:prstGeom>
          <a:noFill/>
          <a:ln/>
        </p:spPr>
        <p:txBody>
          <a:bodyPr wrap="none" lIns="0" tIns="0" rIns="0" bIns="0" rtlCol="0" anchor="t"/>
          <a:lstStyle/>
          <a:p>
            <a:pPr marL="0" indent="0" algn="l">
              <a:lnSpc>
                <a:spcPts val="4750"/>
              </a:lnSpc>
              <a:buNone/>
            </a:pPr>
            <a:r>
              <a:rPr lang="en-US" sz="3800" dirty="0">
                <a:solidFill>
                  <a:srgbClr val="FFD9BE"/>
                </a:solidFill>
                <a:latin typeface="Quattrocento" pitchFamily="34" charset="0"/>
                <a:ea typeface="Quattrocento" pitchFamily="34" charset="-122"/>
                <a:cs typeface="Quattrocento" pitchFamily="34" charset="-120"/>
              </a:rPr>
              <a:t>Challenges and Future Directions</a:t>
            </a:r>
            <a:endParaRPr lang="en-US" sz="3800" dirty="0"/>
          </a:p>
        </p:txBody>
      </p:sp>
      <p:pic>
        <p:nvPicPr>
          <p:cNvPr id="4" name="Image 1" descr="preencoded.png"/>
          <p:cNvPicPr>
            <a:picLocks noChangeAspect="1"/>
          </p:cNvPicPr>
          <p:nvPr/>
        </p:nvPicPr>
        <p:blipFill>
          <a:blip r:embed="rId4"/>
          <a:stretch>
            <a:fillRect/>
          </a:stretch>
        </p:blipFill>
        <p:spPr>
          <a:xfrm>
            <a:off x="720209" y="1580317"/>
            <a:ext cx="1028819" cy="1495663"/>
          </a:xfrm>
          <a:prstGeom prst="rect">
            <a:avLst/>
          </a:prstGeom>
        </p:spPr>
      </p:pic>
      <p:sp>
        <p:nvSpPr>
          <p:cNvPr id="5" name="Text 1"/>
          <p:cNvSpPr/>
          <p:nvPr/>
        </p:nvSpPr>
        <p:spPr>
          <a:xfrm>
            <a:off x="2057638" y="1786057"/>
            <a:ext cx="3160276" cy="302538"/>
          </a:xfrm>
          <a:prstGeom prst="rect">
            <a:avLst/>
          </a:prstGeom>
          <a:noFill/>
          <a:ln/>
        </p:spPr>
        <p:txBody>
          <a:bodyPr wrap="none" lIns="0" tIns="0" rIns="0" bIns="0" rtlCol="0" anchor="t"/>
          <a:lstStyle/>
          <a:p>
            <a:pPr marL="0" indent="0" algn="l">
              <a:lnSpc>
                <a:spcPts val="2350"/>
              </a:lnSpc>
              <a:buNone/>
            </a:pPr>
            <a:r>
              <a:rPr lang="en-US" sz="1900" dirty="0">
                <a:solidFill>
                  <a:srgbClr val="F9EEE7"/>
                </a:solidFill>
                <a:latin typeface="Quattrocento" pitchFamily="34" charset="0"/>
                <a:ea typeface="Quattrocento" pitchFamily="34" charset="-122"/>
                <a:cs typeface="Quattrocento" pitchFamily="34" charset="-120"/>
              </a:rPr>
              <a:t>Sarcasm and Irony Detection</a:t>
            </a:r>
            <a:endParaRPr lang="en-US" sz="1900" dirty="0"/>
          </a:p>
        </p:txBody>
      </p:sp>
      <p:sp>
        <p:nvSpPr>
          <p:cNvPr id="6" name="Text 2"/>
          <p:cNvSpPr/>
          <p:nvPr/>
        </p:nvSpPr>
        <p:spPr>
          <a:xfrm>
            <a:off x="2057638" y="2212062"/>
            <a:ext cx="6366153" cy="658178"/>
          </a:xfrm>
          <a:prstGeom prst="rect">
            <a:avLst/>
          </a:prstGeom>
          <a:noFill/>
          <a:ln/>
        </p:spPr>
        <p:txBody>
          <a:bodyPr wrap="square" lIns="0" tIns="0" rIns="0" bIns="0" rtlCol="0" anchor="t"/>
          <a:lstStyle/>
          <a:p>
            <a:pPr marL="0" indent="0" algn="l">
              <a:lnSpc>
                <a:spcPts val="2550"/>
              </a:lnSpc>
              <a:buNone/>
            </a:pPr>
            <a:r>
              <a:rPr lang="en-US" sz="1600" dirty="0">
                <a:solidFill>
                  <a:srgbClr val="F9EEE7"/>
                </a:solidFill>
                <a:latin typeface="Quattrocento" pitchFamily="34" charset="0"/>
                <a:ea typeface="Quattrocento" pitchFamily="34" charset="-122"/>
                <a:cs typeface="Quattrocento" pitchFamily="34" charset="-120"/>
              </a:rPr>
              <a:t>Identifying subtle sarcasm in text remains a major complexity for emotion recognition models.</a:t>
            </a:r>
            <a:endParaRPr lang="en-US" sz="1600" dirty="0"/>
          </a:p>
        </p:txBody>
      </p:sp>
      <p:pic>
        <p:nvPicPr>
          <p:cNvPr id="7" name="Image 2" descr="preencoded.png"/>
          <p:cNvPicPr>
            <a:picLocks noChangeAspect="1"/>
          </p:cNvPicPr>
          <p:nvPr/>
        </p:nvPicPr>
        <p:blipFill>
          <a:blip r:embed="rId5"/>
          <a:stretch>
            <a:fillRect/>
          </a:stretch>
        </p:blipFill>
        <p:spPr>
          <a:xfrm>
            <a:off x="720209" y="3075980"/>
            <a:ext cx="1028819" cy="1495663"/>
          </a:xfrm>
          <a:prstGeom prst="rect">
            <a:avLst/>
          </a:prstGeom>
        </p:spPr>
      </p:pic>
      <p:sp>
        <p:nvSpPr>
          <p:cNvPr id="8" name="Text 3"/>
          <p:cNvSpPr/>
          <p:nvPr/>
        </p:nvSpPr>
        <p:spPr>
          <a:xfrm>
            <a:off x="2057638" y="3281720"/>
            <a:ext cx="2554248" cy="302538"/>
          </a:xfrm>
          <a:prstGeom prst="rect">
            <a:avLst/>
          </a:prstGeom>
          <a:noFill/>
          <a:ln/>
        </p:spPr>
        <p:txBody>
          <a:bodyPr wrap="none" lIns="0" tIns="0" rIns="0" bIns="0" rtlCol="0" anchor="t"/>
          <a:lstStyle/>
          <a:p>
            <a:pPr marL="0" indent="0" algn="l">
              <a:lnSpc>
                <a:spcPts val="2350"/>
              </a:lnSpc>
              <a:buNone/>
            </a:pPr>
            <a:r>
              <a:rPr lang="en-US" sz="1900" dirty="0">
                <a:solidFill>
                  <a:srgbClr val="F9EEE7"/>
                </a:solidFill>
                <a:latin typeface="Quattrocento" pitchFamily="34" charset="0"/>
                <a:ea typeface="Quattrocento" pitchFamily="34" charset="-122"/>
                <a:cs typeface="Quattrocento" pitchFamily="34" charset="-120"/>
              </a:rPr>
              <a:t>Multilingual Adaptation</a:t>
            </a:r>
            <a:endParaRPr lang="en-US" sz="1900" dirty="0"/>
          </a:p>
        </p:txBody>
      </p:sp>
      <p:sp>
        <p:nvSpPr>
          <p:cNvPr id="9" name="Text 4"/>
          <p:cNvSpPr/>
          <p:nvPr/>
        </p:nvSpPr>
        <p:spPr>
          <a:xfrm>
            <a:off x="2057638" y="3707725"/>
            <a:ext cx="6366153" cy="658178"/>
          </a:xfrm>
          <a:prstGeom prst="rect">
            <a:avLst/>
          </a:prstGeom>
          <a:noFill/>
          <a:ln/>
        </p:spPr>
        <p:txBody>
          <a:bodyPr wrap="square" lIns="0" tIns="0" rIns="0" bIns="0" rtlCol="0" anchor="t"/>
          <a:lstStyle/>
          <a:p>
            <a:pPr marL="0" indent="0" algn="l">
              <a:lnSpc>
                <a:spcPts val="2550"/>
              </a:lnSpc>
              <a:buNone/>
            </a:pPr>
            <a:r>
              <a:rPr lang="en-US" sz="1600" dirty="0">
                <a:solidFill>
                  <a:srgbClr val="F9EEE7"/>
                </a:solidFill>
                <a:latin typeface="Quattrocento" pitchFamily="34" charset="0"/>
                <a:ea typeface="Quattrocento" pitchFamily="34" charset="-122"/>
                <a:cs typeface="Quattrocento" pitchFamily="34" charset="-120"/>
              </a:rPr>
              <a:t>Extending BERT-based models to handle diverse languages broadens applicability globally.</a:t>
            </a:r>
            <a:endParaRPr lang="en-US" sz="1600" dirty="0"/>
          </a:p>
        </p:txBody>
      </p:sp>
      <p:pic>
        <p:nvPicPr>
          <p:cNvPr id="10" name="Image 3" descr="preencoded.png"/>
          <p:cNvPicPr>
            <a:picLocks noChangeAspect="1"/>
          </p:cNvPicPr>
          <p:nvPr/>
        </p:nvPicPr>
        <p:blipFill>
          <a:blip r:embed="rId6"/>
          <a:stretch>
            <a:fillRect/>
          </a:stretch>
        </p:blipFill>
        <p:spPr>
          <a:xfrm>
            <a:off x="720209" y="4571643"/>
            <a:ext cx="1028819" cy="1495663"/>
          </a:xfrm>
          <a:prstGeom prst="rect">
            <a:avLst/>
          </a:prstGeom>
        </p:spPr>
      </p:pic>
      <p:sp>
        <p:nvSpPr>
          <p:cNvPr id="11" name="Text 5"/>
          <p:cNvSpPr/>
          <p:nvPr/>
        </p:nvSpPr>
        <p:spPr>
          <a:xfrm>
            <a:off x="2057638" y="4777383"/>
            <a:ext cx="4041458" cy="302538"/>
          </a:xfrm>
          <a:prstGeom prst="rect">
            <a:avLst/>
          </a:prstGeom>
          <a:noFill/>
          <a:ln/>
        </p:spPr>
        <p:txBody>
          <a:bodyPr wrap="none" lIns="0" tIns="0" rIns="0" bIns="0" rtlCol="0" anchor="t"/>
          <a:lstStyle/>
          <a:p>
            <a:pPr marL="0" indent="0" algn="l">
              <a:lnSpc>
                <a:spcPts val="2350"/>
              </a:lnSpc>
              <a:buNone/>
            </a:pPr>
            <a:r>
              <a:rPr lang="en-US" sz="1900" dirty="0">
                <a:solidFill>
                  <a:srgbClr val="F9EEE7"/>
                </a:solidFill>
                <a:latin typeface="Quattrocento" pitchFamily="34" charset="0"/>
                <a:ea typeface="Quattrocento" pitchFamily="34" charset="-122"/>
                <a:cs typeface="Quattrocento" pitchFamily="34" charset="-120"/>
              </a:rPr>
              <a:t>Incorporating Contextual Knowledge</a:t>
            </a:r>
            <a:endParaRPr lang="en-US" sz="1900" dirty="0"/>
          </a:p>
        </p:txBody>
      </p:sp>
      <p:sp>
        <p:nvSpPr>
          <p:cNvPr id="12" name="Text 6"/>
          <p:cNvSpPr/>
          <p:nvPr/>
        </p:nvSpPr>
        <p:spPr>
          <a:xfrm>
            <a:off x="2057638" y="5203388"/>
            <a:ext cx="6366153" cy="658178"/>
          </a:xfrm>
          <a:prstGeom prst="rect">
            <a:avLst/>
          </a:prstGeom>
          <a:noFill/>
          <a:ln/>
        </p:spPr>
        <p:txBody>
          <a:bodyPr wrap="square" lIns="0" tIns="0" rIns="0" bIns="0" rtlCol="0" anchor="t"/>
          <a:lstStyle/>
          <a:p>
            <a:pPr marL="0" indent="0" algn="l">
              <a:lnSpc>
                <a:spcPts val="2550"/>
              </a:lnSpc>
              <a:buNone/>
            </a:pPr>
            <a:r>
              <a:rPr lang="en-US" sz="1600" dirty="0">
                <a:solidFill>
                  <a:srgbClr val="F9EEE7"/>
                </a:solidFill>
                <a:latin typeface="Quattrocento" pitchFamily="34" charset="0"/>
                <a:ea typeface="Quattrocento" pitchFamily="34" charset="-122"/>
                <a:cs typeface="Quattrocento" pitchFamily="34" charset="-120"/>
              </a:rPr>
              <a:t>Using external knowledge helps models better understand implicit meaning beyond the text.</a:t>
            </a:r>
            <a:endParaRPr lang="en-US" sz="1600" dirty="0"/>
          </a:p>
        </p:txBody>
      </p:sp>
      <p:pic>
        <p:nvPicPr>
          <p:cNvPr id="13" name="Image 4" descr="preencoded.png"/>
          <p:cNvPicPr>
            <a:picLocks noChangeAspect="1"/>
          </p:cNvPicPr>
          <p:nvPr/>
        </p:nvPicPr>
        <p:blipFill>
          <a:blip r:embed="rId7"/>
          <a:stretch>
            <a:fillRect/>
          </a:stretch>
        </p:blipFill>
        <p:spPr>
          <a:xfrm>
            <a:off x="720209" y="6067306"/>
            <a:ext cx="1028819" cy="1495663"/>
          </a:xfrm>
          <a:prstGeom prst="rect">
            <a:avLst/>
          </a:prstGeom>
        </p:spPr>
      </p:pic>
      <p:sp>
        <p:nvSpPr>
          <p:cNvPr id="14" name="Text 7"/>
          <p:cNvSpPr/>
          <p:nvPr/>
        </p:nvSpPr>
        <p:spPr>
          <a:xfrm>
            <a:off x="2057638" y="6273046"/>
            <a:ext cx="3713440" cy="302538"/>
          </a:xfrm>
          <a:prstGeom prst="rect">
            <a:avLst/>
          </a:prstGeom>
          <a:noFill/>
          <a:ln/>
        </p:spPr>
        <p:txBody>
          <a:bodyPr wrap="none" lIns="0" tIns="0" rIns="0" bIns="0" rtlCol="0" anchor="t"/>
          <a:lstStyle/>
          <a:p>
            <a:pPr marL="0" indent="0" algn="l">
              <a:lnSpc>
                <a:spcPts val="2350"/>
              </a:lnSpc>
              <a:buNone/>
            </a:pPr>
            <a:r>
              <a:rPr lang="en-US" sz="1900" dirty="0">
                <a:solidFill>
                  <a:srgbClr val="F9EEE7"/>
                </a:solidFill>
                <a:latin typeface="Quattrocento" pitchFamily="34" charset="0"/>
                <a:ea typeface="Quattrocento" pitchFamily="34" charset="-122"/>
                <a:cs typeface="Quattrocento" pitchFamily="34" charset="-120"/>
              </a:rPr>
              <a:t>Exploring Advanced Transformers</a:t>
            </a:r>
            <a:endParaRPr lang="en-US" sz="1900" dirty="0"/>
          </a:p>
        </p:txBody>
      </p:sp>
      <p:sp>
        <p:nvSpPr>
          <p:cNvPr id="15" name="Text 8"/>
          <p:cNvSpPr/>
          <p:nvPr/>
        </p:nvSpPr>
        <p:spPr>
          <a:xfrm>
            <a:off x="2057638" y="6699052"/>
            <a:ext cx="6366153" cy="658178"/>
          </a:xfrm>
          <a:prstGeom prst="rect">
            <a:avLst/>
          </a:prstGeom>
          <a:noFill/>
          <a:ln/>
        </p:spPr>
        <p:txBody>
          <a:bodyPr wrap="square" lIns="0" tIns="0" rIns="0" bIns="0" rtlCol="0" anchor="t"/>
          <a:lstStyle/>
          <a:p>
            <a:pPr marL="0" indent="0" algn="l">
              <a:lnSpc>
                <a:spcPts val="2550"/>
              </a:lnSpc>
              <a:buNone/>
            </a:pPr>
            <a:r>
              <a:rPr lang="en-US" sz="1600" dirty="0">
                <a:solidFill>
                  <a:srgbClr val="F9EEE7"/>
                </a:solidFill>
                <a:latin typeface="Quattrocento" pitchFamily="34" charset="0"/>
                <a:ea typeface="Quattrocento" pitchFamily="34" charset="-122"/>
                <a:cs typeface="Quattrocento" pitchFamily="34" charset="-120"/>
              </a:rPr>
              <a:t>Variants like RoBERTa, XLNet, and ELECTRA offer promising improvements for future emotion recognition.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3664" y="620078"/>
            <a:ext cx="6951583" cy="624840"/>
          </a:xfrm>
          <a:prstGeom prst="rect">
            <a:avLst/>
          </a:prstGeom>
          <a:noFill/>
          <a:ln/>
        </p:spPr>
        <p:txBody>
          <a:bodyPr wrap="none" lIns="0" tIns="0" rIns="0" bIns="0" rtlCol="0" anchor="t"/>
          <a:lstStyle/>
          <a:p>
            <a:pPr marL="0" indent="0" algn="l">
              <a:lnSpc>
                <a:spcPts val="4900"/>
              </a:lnSpc>
              <a:buNone/>
            </a:pPr>
            <a:r>
              <a:rPr lang="en-US" sz="3900" dirty="0">
                <a:solidFill>
                  <a:srgbClr val="FFD9BE"/>
                </a:solidFill>
                <a:latin typeface="Quattrocento" pitchFamily="34" charset="0"/>
                <a:ea typeface="Quattrocento" pitchFamily="34" charset="-122"/>
                <a:cs typeface="Quattrocento" pitchFamily="34" charset="-120"/>
              </a:rPr>
              <a:t>Conclusion and Key Takeaways</a:t>
            </a:r>
            <a:endParaRPr lang="en-US" sz="3900" dirty="0"/>
          </a:p>
        </p:txBody>
      </p:sp>
      <p:sp>
        <p:nvSpPr>
          <p:cNvPr id="4" name="Shape 1"/>
          <p:cNvSpPr/>
          <p:nvPr/>
        </p:nvSpPr>
        <p:spPr>
          <a:xfrm>
            <a:off x="743664" y="1563529"/>
            <a:ext cx="478036" cy="478036"/>
          </a:xfrm>
          <a:prstGeom prst="roundRect">
            <a:avLst>
              <a:gd name="adj" fmla="val 6667"/>
            </a:avLst>
          </a:prstGeom>
          <a:solidFill>
            <a:srgbClr val="315251"/>
          </a:solidFill>
          <a:ln/>
        </p:spPr>
      </p:sp>
      <p:sp>
        <p:nvSpPr>
          <p:cNvPr id="5" name="Text 2"/>
          <p:cNvSpPr/>
          <p:nvPr/>
        </p:nvSpPr>
        <p:spPr>
          <a:xfrm>
            <a:off x="1434108" y="1636514"/>
            <a:ext cx="2499598" cy="312301"/>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BERT’s Effectiveness</a:t>
            </a:r>
            <a:endParaRPr lang="en-US" sz="1950" dirty="0"/>
          </a:p>
        </p:txBody>
      </p:sp>
      <p:sp>
        <p:nvSpPr>
          <p:cNvPr id="6" name="Text 3"/>
          <p:cNvSpPr/>
          <p:nvPr/>
        </p:nvSpPr>
        <p:spPr>
          <a:xfrm>
            <a:off x="1434108" y="2076212"/>
            <a:ext cx="6966228" cy="680085"/>
          </a:xfrm>
          <a:prstGeom prst="rect">
            <a:avLst/>
          </a:prstGeom>
          <a:noFill/>
          <a:ln/>
        </p:spPr>
        <p:txBody>
          <a:bodyPr wrap="square" lIns="0" tIns="0" rIns="0" bIns="0" rtlCol="0" anchor="t"/>
          <a:lstStyle/>
          <a:p>
            <a:pPr marL="0" indent="0" algn="l">
              <a:lnSpc>
                <a:spcPts val="2650"/>
              </a:lnSpc>
              <a:buNone/>
            </a:pPr>
            <a:r>
              <a:rPr lang="en-US" sz="1650" dirty="0">
                <a:solidFill>
                  <a:srgbClr val="F9EEE7"/>
                </a:solidFill>
                <a:latin typeface="Quattrocento" pitchFamily="34" charset="0"/>
                <a:ea typeface="Quattrocento" pitchFamily="34" charset="-122"/>
                <a:cs typeface="Quattrocento" pitchFamily="34" charset="-120"/>
              </a:rPr>
              <a:t>BERT’s contextual embeddings excel in nuanced emotion recognition, outperforming traditional methods consistently.</a:t>
            </a:r>
            <a:endParaRPr lang="en-US" sz="1650" dirty="0"/>
          </a:p>
        </p:txBody>
      </p:sp>
      <p:sp>
        <p:nvSpPr>
          <p:cNvPr id="7" name="Shape 4"/>
          <p:cNvSpPr/>
          <p:nvPr/>
        </p:nvSpPr>
        <p:spPr>
          <a:xfrm>
            <a:off x="743664" y="3181231"/>
            <a:ext cx="478036" cy="478036"/>
          </a:xfrm>
          <a:prstGeom prst="roundRect">
            <a:avLst>
              <a:gd name="adj" fmla="val 6667"/>
            </a:avLst>
          </a:prstGeom>
          <a:solidFill>
            <a:srgbClr val="315251"/>
          </a:solidFill>
          <a:ln/>
        </p:spPr>
      </p:sp>
      <p:sp>
        <p:nvSpPr>
          <p:cNvPr id="8" name="Text 5"/>
          <p:cNvSpPr/>
          <p:nvPr/>
        </p:nvSpPr>
        <p:spPr>
          <a:xfrm>
            <a:off x="1434108" y="3254216"/>
            <a:ext cx="3132415" cy="312301"/>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Wide Potential Applications</a:t>
            </a:r>
            <a:endParaRPr lang="en-US" sz="1950" dirty="0"/>
          </a:p>
        </p:txBody>
      </p:sp>
      <p:sp>
        <p:nvSpPr>
          <p:cNvPr id="9" name="Text 6"/>
          <p:cNvSpPr/>
          <p:nvPr/>
        </p:nvSpPr>
        <p:spPr>
          <a:xfrm>
            <a:off x="1434108" y="3693914"/>
            <a:ext cx="6966228" cy="680085"/>
          </a:xfrm>
          <a:prstGeom prst="rect">
            <a:avLst/>
          </a:prstGeom>
          <a:noFill/>
          <a:ln/>
        </p:spPr>
        <p:txBody>
          <a:bodyPr wrap="square" lIns="0" tIns="0" rIns="0" bIns="0" rtlCol="0" anchor="t"/>
          <a:lstStyle/>
          <a:p>
            <a:pPr marL="0" indent="0" algn="l">
              <a:lnSpc>
                <a:spcPts val="2650"/>
              </a:lnSpc>
              <a:buNone/>
            </a:pPr>
            <a:r>
              <a:rPr lang="en-US" sz="1650" dirty="0">
                <a:solidFill>
                  <a:srgbClr val="F9EEE7"/>
                </a:solidFill>
                <a:latin typeface="Quattrocento" pitchFamily="34" charset="0"/>
                <a:ea typeface="Quattrocento" pitchFamily="34" charset="-122"/>
                <a:cs typeface="Quattrocento" pitchFamily="34" charset="-120"/>
              </a:rPr>
              <a:t>From enhancing customer experience to social media insights, emotion recognition impacts various fields.</a:t>
            </a:r>
            <a:endParaRPr lang="en-US" sz="1650" dirty="0"/>
          </a:p>
        </p:txBody>
      </p:sp>
      <p:sp>
        <p:nvSpPr>
          <p:cNvPr id="10" name="Shape 7"/>
          <p:cNvSpPr/>
          <p:nvPr/>
        </p:nvSpPr>
        <p:spPr>
          <a:xfrm>
            <a:off x="743664" y="4798933"/>
            <a:ext cx="478036" cy="478036"/>
          </a:xfrm>
          <a:prstGeom prst="roundRect">
            <a:avLst>
              <a:gd name="adj" fmla="val 6667"/>
            </a:avLst>
          </a:prstGeom>
          <a:solidFill>
            <a:srgbClr val="315251"/>
          </a:solidFill>
          <a:ln/>
        </p:spPr>
      </p:sp>
      <p:sp>
        <p:nvSpPr>
          <p:cNvPr id="11" name="Text 8"/>
          <p:cNvSpPr/>
          <p:nvPr/>
        </p:nvSpPr>
        <p:spPr>
          <a:xfrm>
            <a:off x="1434108" y="4871918"/>
            <a:ext cx="2499598" cy="312301"/>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Future of NLP</a:t>
            </a:r>
            <a:endParaRPr lang="en-US" sz="1950" dirty="0"/>
          </a:p>
        </p:txBody>
      </p:sp>
      <p:sp>
        <p:nvSpPr>
          <p:cNvPr id="12" name="Text 9"/>
          <p:cNvSpPr/>
          <p:nvPr/>
        </p:nvSpPr>
        <p:spPr>
          <a:xfrm>
            <a:off x="1434108" y="5311616"/>
            <a:ext cx="6966228" cy="680085"/>
          </a:xfrm>
          <a:prstGeom prst="rect">
            <a:avLst/>
          </a:prstGeom>
          <a:noFill/>
          <a:ln/>
        </p:spPr>
        <p:txBody>
          <a:bodyPr wrap="square" lIns="0" tIns="0" rIns="0" bIns="0" rtlCol="0" anchor="t"/>
          <a:lstStyle/>
          <a:p>
            <a:pPr marL="0" indent="0" algn="l">
              <a:lnSpc>
                <a:spcPts val="2650"/>
              </a:lnSpc>
              <a:buNone/>
            </a:pPr>
            <a:r>
              <a:rPr lang="en-US" sz="1650" dirty="0">
                <a:solidFill>
                  <a:srgbClr val="F9EEE7"/>
                </a:solidFill>
                <a:latin typeface="Quattrocento" pitchFamily="34" charset="0"/>
                <a:ea typeface="Quattrocento" pitchFamily="34" charset="-122"/>
                <a:cs typeface="Quattrocento" pitchFamily="34" charset="-120"/>
              </a:rPr>
              <a:t>Ongoing advances in transformer models promise even deeper understanding of human language and emotion.</a:t>
            </a:r>
            <a:endParaRPr lang="en-US" sz="1650" dirty="0"/>
          </a:p>
        </p:txBody>
      </p:sp>
      <p:sp>
        <p:nvSpPr>
          <p:cNvPr id="13" name="Shape 10"/>
          <p:cNvSpPr/>
          <p:nvPr/>
        </p:nvSpPr>
        <p:spPr>
          <a:xfrm>
            <a:off x="743664" y="6416635"/>
            <a:ext cx="478036" cy="478036"/>
          </a:xfrm>
          <a:prstGeom prst="roundRect">
            <a:avLst>
              <a:gd name="adj" fmla="val 6667"/>
            </a:avLst>
          </a:prstGeom>
          <a:solidFill>
            <a:srgbClr val="315251"/>
          </a:solidFill>
          <a:ln/>
        </p:spPr>
      </p:sp>
      <p:sp>
        <p:nvSpPr>
          <p:cNvPr id="14" name="Text 11"/>
          <p:cNvSpPr/>
          <p:nvPr/>
        </p:nvSpPr>
        <p:spPr>
          <a:xfrm>
            <a:off x="1434108" y="6489621"/>
            <a:ext cx="2499598" cy="312301"/>
          </a:xfrm>
          <a:prstGeom prst="rect">
            <a:avLst/>
          </a:prstGeom>
          <a:noFill/>
          <a:ln/>
        </p:spPr>
        <p:txBody>
          <a:bodyPr wrap="none" lIns="0" tIns="0" rIns="0" bIns="0" rtlCol="0" anchor="t"/>
          <a:lstStyle/>
          <a:p>
            <a:pPr marL="0" indent="0" algn="l">
              <a:lnSpc>
                <a:spcPts val="2450"/>
              </a:lnSpc>
              <a:buNone/>
            </a:pPr>
            <a:r>
              <a:rPr lang="en-US" sz="1950" dirty="0">
                <a:solidFill>
                  <a:srgbClr val="F9EEE7"/>
                </a:solidFill>
                <a:latin typeface="Quattrocento" pitchFamily="34" charset="0"/>
                <a:ea typeface="Quattrocento" pitchFamily="34" charset="-122"/>
                <a:cs typeface="Quattrocento" pitchFamily="34" charset="-120"/>
              </a:rPr>
              <a:t>Q&amp;A</a:t>
            </a:r>
            <a:endParaRPr lang="en-US" sz="1950" dirty="0"/>
          </a:p>
        </p:txBody>
      </p:sp>
      <p:sp>
        <p:nvSpPr>
          <p:cNvPr id="15" name="Text 12"/>
          <p:cNvSpPr/>
          <p:nvPr/>
        </p:nvSpPr>
        <p:spPr>
          <a:xfrm>
            <a:off x="1434108" y="6929318"/>
            <a:ext cx="6966228" cy="680085"/>
          </a:xfrm>
          <a:prstGeom prst="rect">
            <a:avLst/>
          </a:prstGeom>
          <a:noFill/>
          <a:ln/>
        </p:spPr>
        <p:txBody>
          <a:bodyPr wrap="square" lIns="0" tIns="0" rIns="0" bIns="0" rtlCol="0" anchor="t"/>
          <a:lstStyle/>
          <a:p>
            <a:pPr marL="0" indent="0" algn="l">
              <a:lnSpc>
                <a:spcPts val="2650"/>
              </a:lnSpc>
              <a:buNone/>
            </a:pPr>
            <a:r>
              <a:rPr lang="en-US" sz="1650" dirty="0">
                <a:solidFill>
                  <a:srgbClr val="F9EEE7"/>
                </a:solidFill>
                <a:latin typeface="Quattrocento" pitchFamily="34" charset="0"/>
                <a:ea typeface="Quattrocento" pitchFamily="34" charset="-122"/>
                <a:cs typeface="Quattrocento" pitchFamily="34" charset="-120"/>
              </a:rPr>
              <a:t>We welcome your questions and discussion on this exciting and evolving field.</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733</Words>
  <Application>Microsoft Office PowerPoint</Application>
  <PresentationFormat>Custom</PresentationFormat>
  <Paragraphs>90</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Fira Sans</vt:lpstr>
      <vt:lpstr>Quattrocento Medium</vt:lpstr>
      <vt:lpstr>Arial</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Sakshi Khandelwal</cp:lastModifiedBy>
  <cp:revision>3</cp:revision>
  <dcterms:created xsi:type="dcterms:W3CDTF">2025-05-26T18:36:35Z</dcterms:created>
  <dcterms:modified xsi:type="dcterms:W3CDTF">2025-05-27T07:39:02Z</dcterms:modified>
</cp:coreProperties>
</file>