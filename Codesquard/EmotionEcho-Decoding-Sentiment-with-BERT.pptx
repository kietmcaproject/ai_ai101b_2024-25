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4630400" cy="8229600"/>
  <p:notesSz cx="8229600" cy="14630400"/>
  <p:embeddedFontLst>
    <p:embeddedFont>
      <p:font typeface="Merriweather" panose="00000500000000000000" pitchFamily="34" charset="0"/>
      <p:regular r:id="rId16"/>
    </p:embeddedFont>
    <p:embeddedFont>
      <p:font typeface="Merriweather" panose="00000500000000000000" pitchFamily="34" charset="-122"/>
      <p:regular r:id="rId17"/>
    </p:embeddedFont>
    <p:embeddedFont>
      <p:font typeface="Merriweather" panose="00000500000000000000" pitchFamily="34" charset="-120"/>
      <p:regular r:id="rId18"/>
    </p:embeddedFont>
    <p:embeddedFont>
      <p:font typeface="Calibri" panose="020F0502020204030204" charset="0"/>
      <p:regular r:id="rId19"/>
      <p:bold r:id="rId20"/>
      <p:italic r:id="rId21"/>
      <p:boldItalic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3205" y="10795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2763560"/>
            <a:ext cx="7416403" cy="15425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EmotionEcho: Decoding Sentiment with BERT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863798" y="4676299"/>
            <a:ext cx="7416403" cy="78962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Unveiling emotions hidden in text through advanced AI techniques.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9749" y="681157"/>
            <a:ext cx="7444502" cy="22759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950"/>
              </a:lnSpc>
              <a:buNone/>
            </a:pPr>
            <a:r>
              <a:rPr lang="en-US" sz="4750" dirty="0">
                <a:solidFill>
                  <a:srgbClr val="F5F0F0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The Problem: Why Emotion Detection Matters</a:t>
            </a:r>
            <a:endParaRPr lang="en-US" sz="4750" dirty="0"/>
          </a:p>
        </p:txBody>
      </p:sp>
      <p:sp>
        <p:nvSpPr>
          <p:cNvPr id="4" name="Shape 1"/>
          <p:cNvSpPr/>
          <p:nvPr/>
        </p:nvSpPr>
        <p:spPr>
          <a:xfrm>
            <a:off x="849749" y="3321248"/>
            <a:ext cx="3600926" cy="2570202"/>
          </a:xfrm>
          <a:prstGeom prst="roundRect">
            <a:avLst>
              <a:gd name="adj" fmla="val 3967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00138" y="3571637"/>
            <a:ext cx="3100149" cy="7586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Real-Time Sentiment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1100138" y="4475917"/>
            <a:ext cx="3100149" cy="11651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Social media data offers immediate public emotion insights.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4693444" y="3321248"/>
            <a:ext cx="3600926" cy="2570202"/>
          </a:xfrm>
          <a:prstGeom prst="roundRect">
            <a:avLst>
              <a:gd name="adj" fmla="val 3967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43832" y="3571637"/>
            <a:ext cx="3034784" cy="3793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Wide Applications</a:t>
            </a:r>
            <a:endParaRPr lang="en-US" sz="2350" dirty="0"/>
          </a:p>
        </p:txBody>
      </p:sp>
      <p:sp>
        <p:nvSpPr>
          <p:cNvPr id="9" name="Text 6"/>
          <p:cNvSpPr/>
          <p:nvPr/>
        </p:nvSpPr>
        <p:spPr>
          <a:xfrm>
            <a:off x="4943832" y="4096583"/>
            <a:ext cx="3100149" cy="11651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Supports mental health, marketing, and crisis responses.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49749" y="6134219"/>
            <a:ext cx="7444502" cy="1414105"/>
          </a:xfrm>
          <a:prstGeom prst="roundRect">
            <a:avLst>
              <a:gd name="adj" fmla="val 7211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00138" y="6384608"/>
            <a:ext cx="3034784" cy="3793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Market Growth</a:t>
            </a:r>
            <a:endParaRPr lang="en-US" sz="2350" dirty="0"/>
          </a:p>
        </p:txBody>
      </p:sp>
      <p:sp>
        <p:nvSpPr>
          <p:cNvPr id="12" name="Text 9"/>
          <p:cNvSpPr/>
          <p:nvPr/>
        </p:nvSpPr>
        <p:spPr>
          <a:xfrm>
            <a:off x="1100138" y="6909554"/>
            <a:ext cx="6943725" cy="3883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Emotion AI market expected to reach $36B by 2028.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290167"/>
            <a:ext cx="12467987" cy="7712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The Data: Tweets and 13 Shades of Feeling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3798" y="3678436"/>
            <a:ext cx="3085386" cy="385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Dataset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3798" y="4310777"/>
            <a:ext cx="6150293" cy="3948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27,338 tweets labeled with 13 distinct emotions.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4927640"/>
            <a:ext cx="6150293" cy="3948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Source: Kaggle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623929" y="3678436"/>
            <a:ext cx="3085386" cy="385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Class Imbalance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23929" y="4310777"/>
            <a:ext cx="6150293" cy="78962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Joy dominates, while emotions like anger are less frequent.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23929" y="5322451"/>
            <a:ext cx="6150293" cy="3948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This imbalance affects classification performance.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920591"/>
            <a:ext cx="7416403" cy="23138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The Model: Leveraging BERT for Contextual Understanding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6350198" y="3604617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52323" y="3689390"/>
            <a:ext cx="2751892" cy="385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BERT Advantage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152323" y="4222909"/>
            <a:ext cx="2751892" cy="118443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Bidirectional training captures language nuance effectively.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10212705" y="3604617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014829" y="3689390"/>
            <a:ext cx="2751892" cy="385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Training Setup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1014829" y="4222909"/>
            <a:ext cx="2751892" cy="118443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Fine-tuned on emotion dataset using a single GPU.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350198" y="5900976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52323" y="5985748"/>
            <a:ext cx="3085386" cy="385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Model Size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152323" y="6519267"/>
            <a:ext cx="6614279" cy="78962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Transformer with 110 million parameters ensures deep learning.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640919"/>
            <a:ext cx="12902803" cy="15425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Results: Promising Insights, Room for Growth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3798" y="3639979"/>
            <a:ext cx="3898940" cy="78962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Overall accuracy: 32.4% for 13 emotions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3798" y="4515922"/>
            <a:ext cx="3898940" cy="78962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Joy achieved best precision at 60%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5391864"/>
            <a:ext cx="3898940" cy="78962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Disgust had the lowest precision at 15%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72576" y="3775710"/>
            <a:ext cx="3900249" cy="118443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Baseline TFIDF model scored 18% accuracy, showing BERT's advantage.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372576" y="5182195"/>
            <a:ext cx="3900249" cy="118443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Confusion matrix reveals overlaps between sadness and fear.</a:t>
            </a:r>
            <a:endParaRPr lang="en-US" sz="1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2664" y="3831312"/>
            <a:ext cx="3898940" cy="2468285"/>
          </a:xfrm>
          <a:prstGeom prst="rect">
            <a:avLst/>
          </a:prstGeom>
        </p:spPr>
      </p:pic>
      <p:pic>
        <p:nvPicPr>
          <p:cNvPr id="9" name="Picture 8" descr="grap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5785" y="3775710"/>
            <a:ext cx="4900295" cy="2933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3192" y="607695"/>
            <a:ext cx="7597616" cy="138064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5F0F0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Challenges: Navigating Imbalance and Limits</a:t>
            </a:r>
            <a:endParaRPr lang="en-US" sz="4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192" y="2319695"/>
            <a:ext cx="1104543" cy="132552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09086" y="2540556"/>
            <a:ext cx="2761536" cy="3450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Class Imbalance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2209086" y="3018115"/>
            <a:ext cx="6161723" cy="3534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Rare emotions have fewer training examples.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92" y="3645218"/>
            <a:ext cx="1104543" cy="132552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09086" y="3866078"/>
            <a:ext cx="2816185" cy="3450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Resource Constraints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2209086" y="4343638"/>
            <a:ext cx="6161723" cy="3534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Single GPU limits training scale and complexity.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192" y="4970740"/>
            <a:ext cx="1104543" cy="132552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09086" y="5191601"/>
            <a:ext cx="2761536" cy="3450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Overfitting Risks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2209086" y="5669161"/>
            <a:ext cx="6161723" cy="3534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Small dataset size risks model overfitting.</a:t>
            </a:r>
            <a:endParaRPr lang="en-US" sz="1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192" y="6296263"/>
            <a:ext cx="1104543" cy="132552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209086" y="6517124"/>
            <a:ext cx="2761536" cy="3450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Limited Tuning</a:t>
            </a:r>
            <a:endParaRPr lang="en-US" sz="2150" dirty="0"/>
          </a:p>
        </p:txBody>
      </p:sp>
      <p:sp>
        <p:nvSpPr>
          <p:cNvPr id="15" name="Text 8"/>
          <p:cNvSpPr/>
          <p:nvPr/>
        </p:nvSpPr>
        <p:spPr>
          <a:xfrm>
            <a:off x="2209086" y="6994684"/>
            <a:ext cx="6161723" cy="3534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Time restricted hyperparameter optimization.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3729157"/>
            <a:ext cx="6170771" cy="7712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endParaRPr lang="en-US" sz="4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2478" y="785098"/>
            <a:ext cx="7599045" cy="13794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5F0F0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Improvements: Future Directions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772478" y="2495550"/>
            <a:ext cx="496610" cy="496610"/>
          </a:xfrm>
          <a:prstGeom prst="roundRect">
            <a:avLst>
              <a:gd name="adj" fmla="val 18668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5226" y="2536865"/>
            <a:ext cx="330994" cy="4138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489710" y="2571393"/>
            <a:ext cx="2759035" cy="3448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Augment Data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489710" y="3048595"/>
            <a:ext cx="6881812" cy="3531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Use techniques to balance class frequencies.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72478" y="3843099"/>
            <a:ext cx="496610" cy="496610"/>
          </a:xfrm>
          <a:prstGeom prst="roundRect">
            <a:avLst>
              <a:gd name="adj" fmla="val 18668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5226" y="3884414"/>
            <a:ext cx="330994" cy="4138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489710" y="3918942"/>
            <a:ext cx="3421499" cy="3448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Multi-Label Classification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1489710" y="4396145"/>
            <a:ext cx="6881812" cy="3531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Enable detection of multiple emotions in a tweet.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72478" y="5190649"/>
            <a:ext cx="496610" cy="496610"/>
          </a:xfrm>
          <a:prstGeom prst="roundRect">
            <a:avLst>
              <a:gd name="adj" fmla="val 18668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5226" y="5231963"/>
            <a:ext cx="330994" cy="4138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489710" y="5266492"/>
            <a:ext cx="2759035" cy="3448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Larger Models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1489710" y="5743694"/>
            <a:ext cx="6881812" cy="3531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Experiment with bigger BERT variants for performance gains.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772478" y="6538198"/>
            <a:ext cx="496610" cy="496610"/>
          </a:xfrm>
          <a:prstGeom prst="roundRect">
            <a:avLst>
              <a:gd name="adj" fmla="val 18668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5226" y="6579513"/>
            <a:ext cx="330994" cy="4138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1489710" y="6614041"/>
            <a:ext cx="2759035" cy="3448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External Knowledge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1489710" y="7091243"/>
            <a:ext cx="6881812" cy="3531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Integrate emotion lexicons and knowledge bases.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862013"/>
            <a:ext cx="7416403" cy="15425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Conclusion: Emotions at Scale - Let's Connect!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863798" y="2774752"/>
            <a:ext cx="185023" cy="928330"/>
          </a:xfrm>
          <a:prstGeom prst="roundRect">
            <a:avLst>
              <a:gd name="adj" fmla="val 56030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418987" y="2774752"/>
            <a:ext cx="3085386" cy="385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Unlocking Insight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418987" y="3308271"/>
            <a:ext cx="6861215" cy="3948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Emotion detection reveals valuable trends in text data.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1233964" y="3949898"/>
            <a:ext cx="185023" cy="1323142"/>
          </a:xfrm>
          <a:prstGeom prst="roundRect">
            <a:avLst>
              <a:gd name="adj" fmla="val 56030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789152" y="3949898"/>
            <a:ext cx="3085386" cy="385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Proven Potential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789152" y="4483418"/>
            <a:ext cx="6491049" cy="78962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BERT shows promise in nuanced emotion classification.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604248" y="5519857"/>
            <a:ext cx="185023" cy="928330"/>
          </a:xfrm>
          <a:prstGeom prst="roundRect">
            <a:avLst>
              <a:gd name="adj" fmla="val 56030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59437" y="5519857"/>
            <a:ext cx="3085386" cy="3855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Join Us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2159437" y="6053376"/>
            <a:ext cx="6120765" cy="3948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Collaborate and innovate in the Emotion AI space.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63798" y="6972657"/>
            <a:ext cx="7416403" cy="3948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anose="00000500000000000000" pitchFamily="34" charset="0"/>
                <a:ea typeface="Merriweather" panose="00000500000000000000" pitchFamily="34" charset="-122"/>
                <a:cs typeface="Merriweather" panose="00000500000000000000" pitchFamily="34" charset="-120"/>
              </a:rPr>
              <a:t>Connect on LinkedIn to continue this exciting journey.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2037</Words>
  <Application>WPS Presentation</Application>
  <PresentationFormat>On-screen Show (16:9)</PresentationFormat>
  <Paragraphs>118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Merriweather</vt:lpstr>
      <vt:lpstr>Merriweather</vt:lpstr>
      <vt:lpstr>Merriweather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Aachal Kushwaha</cp:lastModifiedBy>
  <cp:revision>2</cp:revision>
  <dcterms:created xsi:type="dcterms:W3CDTF">2025-05-26T17:43:00Z</dcterms:created>
  <dcterms:modified xsi:type="dcterms:W3CDTF">2025-05-26T17:47:25Z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7CEC94C2071B470981EA3CA8407E5285_12</vt:lpwstr>
  </property>
  <property fmtid="{D5CDD505-2E9C-101B-9397-08002B2CF9AE}" pid="3" name="KSOProductBuildVer">
    <vt:lpwstr>1033-12.2.0.21179</vt:lpwstr>
  </property>
</Properties>
</file>