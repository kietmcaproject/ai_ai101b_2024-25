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2" r:id="rId1"/>
    <p:sldMasterId id="2147483684" r:id="rId2"/>
  </p:sldMasterIdLst>
  <p:notesMasterIdLst>
    <p:notesMasterId r:id="rId18"/>
  </p:notesMasterIdLst>
  <p:sldIdLst>
    <p:sldId id="266" r:id="rId3"/>
    <p:sldId id="267" r:id="rId4"/>
    <p:sldId id="280" r:id="rId5"/>
    <p:sldId id="26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84" r:id="rId15"/>
    <p:sldId id="283" r:id="rId16"/>
    <p:sldId id="279" r:id="rId17"/>
  </p:sldIdLst>
  <p:sldSz cx="14630400" cy="8229600"/>
  <p:notesSz cx="8229600" cy="14630400"/>
  <p:embeddedFontLst>
    <p:embeddedFont>
      <p:font typeface="Platypi Medium" panose="020B0604020202020204" charset="0"/>
      <p:regular r:id="rId19"/>
    </p:embeddedFont>
    <p:embeddedFont>
      <p:font typeface="Source Serif Pro" panose="02040603050405020204" pitchFamily="18" charset="0"/>
      <p:regular r:id="rId20"/>
      <p:bold r:id="rId21"/>
      <p:italic r:id="rId22"/>
      <p:boldItalic r:id="rId23"/>
    </p:embeddedFont>
    <p:embeddedFont>
      <p:font typeface="Tahoma" panose="020B0604030504040204" pitchFamily="34" charset="0"/>
      <p:regular r:id="rId24"/>
      <p:bold r:id="rId25"/>
    </p:embeddedFont>
    <p:embeddedFont>
      <p:font typeface="Tw Cen MT" panose="020B0602020104020603" pitchFamily="34" charset="0"/>
      <p:regular r:id="rId26"/>
      <p:bold r:id="rId27"/>
      <p:italic r:id="rId28"/>
      <p:boldItalic r:id="rId29"/>
    </p:embeddedFont>
    <p:embeddedFont>
      <p:font typeface="Tw Cen MT Condensed" panose="020B0606020104020203" pitchFamily="34" charset="0"/>
      <p:regular r:id="rId30"/>
      <p:bold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9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34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1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BE56-EE12-A068-7411-268FC106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20719-7949-65F4-8567-807B82470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93F43-CD27-67E6-F270-891B76509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49705-963A-05A0-9B13-88F583F8A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149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7E67-3BFC-BDEF-8A87-69915E02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C607F-B2C3-67D4-ECF1-8B50363CF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65FB2-1C9D-4050-EC01-3E3199597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A3AD-C1FB-EA75-B7B4-E8A6244F1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00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736" y="910742"/>
            <a:ext cx="12070080" cy="427939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9600" spc="-6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061" y="5346744"/>
            <a:ext cx="12070080" cy="13716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 algn="ctr">
              <a:buNone/>
              <a:defRPr sz="2880"/>
            </a:lvl2pPr>
            <a:lvl3pPr marL="1097280" indent="0" algn="ctr">
              <a:buNone/>
              <a:defRPr sz="288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510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5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910742"/>
            <a:ext cx="12070080" cy="4279392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9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5343754"/>
            <a:ext cx="12070080" cy="13716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3820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6735" y="2214881"/>
            <a:ext cx="5925312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1504" y="2214882"/>
            <a:ext cx="5925312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2337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6736" y="3098801"/>
            <a:ext cx="5925312" cy="4053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1504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1504" y="3098801"/>
            <a:ext cx="5925312" cy="4053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96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7864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8144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" y="0"/>
            <a:ext cx="4860949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848085" y="0"/>
            <a:ext cx="7681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1"/>
            <a:ext cx="3840480" cy="2743200"/>
          </a:xfrm>
        </p:spPr>
        <p:txBody>
          <a:bodyPr anchor="b">
            <a:norm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0" y="877824"/>
            <a:ext cx="7790688" cy="6309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3511296"/>
            <a:ext cx="3840480" cy="405494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8614" y="7751743"/>
            <a:ext cx="3142212" cy="438150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60720" y="7751743"/>
            <a:ext cx="5577840" cy="43815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4353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943600"/>
            <a:ext cx="1462659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9" y="5898091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6089904"/>
            <a:ext cx="12135917" cy="987552"/>
          </a:xfrm>
        </p:spPr>
        <p:txBody>
          <a:bodyPr lIns="91440" tIns="0" rIns="91440" bIns="0" anchor="b">
            <a:no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" y="0"/>
            <a:ext cx="14630382" cy="5898091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840">
                <a:solidFill>
                  <a:schemeClr val="bg1"/>
                </a:solidFill>
              </a:defRPr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6736" y="7088428"/>
            <a:ext cx="12135917" cy="71323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720"/>
              </a:spcAft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2948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3880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97734"/>
            <a:ext cx="3154680" cy="69089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97734"/>
            <a:ext cx="9281160" cy="6908906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5665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022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188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429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376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621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826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525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650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49BF-15AD-8D62-47B6-E590C1D45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A217A-5AE6-BBB2-D1F1-6EA6E2D89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A0136-4E7E-FA96-7CCB-B6063809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9C1EC-AF16-3884-3CDD-9DBBAEC5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40269-1325-10DD-5A65-D88BB9615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153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AEDB-9ACB-9F78-63D7-6C628855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D0ACD-9C4C-BE05-A61D-20A863BF4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85C7-A48B-007B-E4CA-FD892FD50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26A23-56EF-1520-3B61-03878A969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DC234-E452-D80F-D775-3E838C28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585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8E52-1C4E-B787-DF98-84E3FDE21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EFBD4-CB1B-8A68-496D-BEBD80903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9F02A-4241-0D04-0136-AB1BC0A5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EA187-80FF-B58A-9C4E-2C58B5EF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5B1C6-3C21-3DA7-07D0-D78B1CFA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24892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1442-BB56-4C77-2FF0-57E2557C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B2138-E2DD-82A7-9535-3FF6D3665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80943-B5F8-4F98-A453-13BA84C7A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F6FBC-010B-1C9D-08DF-3D2DDD18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7A7E8-6090-7CF6-8EE9-042E9C22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13AE3-64FA-101C-5577-9FF2348C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60336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AA4D0-7AFC-60F7-4C47-3C62E87F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8F172-84BA-0B4B-DC97-C9E32425E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50B53-E248-0931-C565-2047CB0E6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622E6-91B8-A590-14F0-0C0C5DACA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08B35-99D2-F8DD-5811-D3A4F660A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461645-7DEB-AEE6-C0EB-9324ABFD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CA1BB-D0BD-37FE-41E3-077C013F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BE23D-50AD-DD4F-71AA-12291958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1656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69D5-A5AA-50BD-54F3-0DF2F75D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E9AFA-072C-215F-A885-49E23689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D12C3-C6A3-89F6-7327-9A8BA48C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B4599-8AB8-9D79-3278-E16CEBB6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49069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3CC085-B03E-EAE6-FCC8-12E568A0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9E39F-A84D-A99A-FC35-4632B485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3E822-CB47-B790-4349-1DF706E7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03945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E310-56A1-8F05-91EC-087D7E0C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4DBB5-8143-4D55-9D6E-C40FAAD55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D48ED-5416-53B2-B00F-F91D1C8F4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B5270-AD36-C491-F726-AE883417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012D0-EEF6-B1C9-0B04-281CB95D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14279-5FD1-DD68-617C-E9E3D4ED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81122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AA06-7CC3-B963-2947-9F66DC19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2D4985-EA54-A9CA-E45E-B202C7B38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9B1BF-1B03-0CED-562F-A8D394369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3BBF3-871D-2227-D773-7490F808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17E6C-E496-0E4F-46C2-52689E3D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8070D-929C-43A2-D373-DD9E5D84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673964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16F4-5E4A-4625-3A64-7636AB45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0841B-A8E3-F5C7-FC39-B76DF2479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355C8-CE32-66A8-F65D-304662B84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288BC-0664-B35C-1BF7-A6BD7744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D145-48D9-48A3-389B-D4BC5EE3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74675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C3307-DE03-B5D7-2E31-A74F5E101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C5A1E-F6DF-01AB-AEC2-B87D1B02F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1AECC-D76E-66AE-2D1A-B57CBF3D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14537-D396-9765-020A-29F66D1D3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04CB2-1D17-B106-B090-3F080D5F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72316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80960"/>
            <a:ext cx="1463040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7601179"/>
            <a:ext cx="14630401" cy="79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4881"/>
            <a:ext cx="12070080" cy="482803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6737" y="7751743"/>
            <a:ext cx="29667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3422" y="7751743"/>
            <a:ext cx="57873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80550" y="7751743"/>
            <a:ext cx="15744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432238" y="2085414"/>
            <a:ext cx="1196035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09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</p:sldLayoutIdLst>
  <p:hf sldNum="0" hdr="0" ftr="0" dt="0"/>
  <p:txStyles>
    <p:titleStyle>
      <a:lvl1pPr algn="l" defTabSz="1097280" rtl="0" eaLnBrk="1" latinLnBrk="0" hangingPunct="1">
        <a:lnSpc>
          <a:spcPct val="85000"/>
        </a:lnSpc>
        <a:spcBef>
          <a:spcPct val="0"/>
        </a:spcBef>
        <a:buNone/>
        <a:defRPr sz="5760" kern="1200" spc="-6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6085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031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9977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19226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56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8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0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FC406C-1EB0-132A-709F-515234FF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D22A2-28A8-ED77-69E0-03BA500A4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01EEE-9CE7-9D21-1A58-FD6E097E5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C67FF-F51B-8B4F-3247-D05A33409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06201-D8AE-6AD0-EF10-181EC5373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34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C05F-6C10-AAB8-B9A1-704086EB8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965731"/>
            <a:ext cx="10972800" cy="2149069"/>
          </a:xfrm>
        </p:spPr>
        <p:txBody>
          <a:bodyPr>
            <a:noAutofit/>
          </a:bodyPr>
          <a:lstStyle/>
          <a:p>
            <a:pPr algn="ctr"/>
            <a:r>
              <a:rPr lang="en-US" sz="5280" b="1" dirty="0">
                <a:latin typeface="Tw Cen MT Condensed" panose="020B0606020104020203" pitchFamily="34" charset="0"/>
                <a:cs typeface="Times New Roman" panose="02020603050405020304" pitchFamily="18" charset="0"/>
              </a:rPr>
              <a:t>Introduction to AI(AI101B)</a:t>
            </a:r>
            <a:br>
              <a:rPr lang="en-IN" sz="5280" b="1" dirty="0">
                <a:latin typeface="Tw Cen MT Condensed" panose="020B0606020104020203" pitchFamily="34" charset="0"/>
                <a:cs typeface="Times New Roman" panose="02020603050405020304" pitchFamily="18" charset="0"/>
              </a:rPr>
            </a:br>
            <a:r>
              <a:rPr lang="en-IN" sz="5280" b="1" dirty="0">
                <a:latin typeface="Tw Cen MT Condensed" panose="020B0606020104020203" pitchFamily="34" charset="0"/>
                <a:cs typeface="Times New Roman" panose="02020603050405020304" pitchFamily="18" charset="0"/>
              </a:rPr>
              <a:t>Even Semester</a:t>
            </a:r>
            <a:br>
              <a:rPr lang="en-IN" sz="5280" b="1" dirty="0">
                <a:latin typeface="Tw Cen MT Condensed" panose="020B0606020104020203" pitchFamily="34" charset="0"/>
                <a:cs typeface="Times New Roman" panose="02020603050405020304" pitchFamily="18" charset="0"/>
              </a:rPr>
            </a:br>
            <a:r>
              <a:rPr lang="en-IN" sz="5280" b="1" dirty="0">
                <a:latin typeface="Tw Cen MT Condensed" panose="020B0606020104020203" pitchFamily="34" charset="0"/>
                <a:cs typeface="Times New Roman" panose="02020603050405020304" pitchFamily="18" charset="0"/>
              </a:rPr>
              <a:t>Session 2024-25</a:t>
            </a:r>
            <a:endParaRPr lang="en-US" sz="5280" b="1" dirty="0">
              <a:latin typeface="Tw Cen MT Condensed" panose="020B0606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24FBC-2E61-AD49-3BD0-DA7AA89F9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416131"/>
            <a:ext cx="10628555" cy="2412814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sz="5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TWITTER DATA</a:t>
            </a:r>
          </a:p>
          <a:p>
            <a:pPr algn="ctr"/>
            <a:endParaRPr lang="en-US" sz="5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Leader: </a:t>
            </a:r>
            <a:r>
              <a:rPr lang="en-US" sz="5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Ridhi</a:t>
            </a:r>
            <a:r>
              <a:rPr lang="en-US" sz="5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Rajput (2426MCA334)</a:t>
            </a:r>
          </a:p>
          <a:p>
            <a:pPr algn="ctr"/>
            <a:r>
              <a:rPr lang="en-US" sz="5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Member: Sanket </a:t>
            </a:r>
            <a:r>
              <a:rPr lang="en-US" sz="5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Pundhir</a:t>
            </a:r>
            <a:r>
              <a:rPr lang="en-US" sz="5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(2426MCA503)</a:t>
            </a:r>
          </a:p>
          <a:p>
            <a:pPr algn="ctr"/>
            <a:r>
              <a:rPr lang="en-US" sz="5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Member: </a:t>
            </a:r>
            <a:r>
              <a:rPr lang="en-US" sz="5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Namrta</a:t>
            </a:r>
            <a:r>
              <a:rPr lang="en-US" sz="5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Singh(2426MCA680)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EFE38A-2987-AEC9-33EC-1BC6CB5C10DA}"/>
              </a:ext>
            </a:extLst>
          </p:cNvPr>
          <p:cNvSpPr txBox="1">
            <a:spLocks/>
          </p:cNvSpPr>
          <p:nvPr/>
        </p:nvSpPr>
        <p:spPr>
          <a:xfrm>
            <a:off x="1828800" y="5739117"/>
            <a:ext cx="10972800" cy="915238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8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043289-20F1-1B73-C850-CE92562B546B}"/>
              </a:ext>
            </a:extLst>
          </p:cNvPr>
          <p:cNvSpPr txBox="1">
            <a:spLocks/>
          </p:cNvSpPr>
          <p:nvPr/>
        </p:nvSpPr>
        <p:spPr>
          <a:xfrm>
            <a:off x="11461377" y="6760846"/>
            <a:ext cx="3642360" cy="1468754"/>
          </a:xfrm>
          <a:prstGeom prst="rect">
            <a:avLst/>
          </a:prstGeom>
        </p:spPr>
        <p:txBody>
          <a:bodyPr vert="horz" lIns="109728" tIns="54864" rIns="109728" bIns="54864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88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pPr algn="just"/>
            <a:r>
              <a:rPr lang="en-IN" sz="28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Apoorva Jain</a:t>
            </a:r>
          </a:p>
          <a:p>
            <a:pPr algn="just"/>
            <a:r>
              <a:rPr lang="en-IN" sz="28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just"/>
            <a:endParaRPr lang="en-IN" sz="288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2"/>
            <a:ext cx="14630400" cy="166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6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72F0-7EB3-A394-ABD6-7A41EF3C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4630400" cy="132588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IN" sz="6480" b="1" dirty="0"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C5ADA20-E567-4F88-93BA-265D9FA26477}"/>
              </a:ext>
            </a:extLst>
          </p:cNvPr>
          <p:cNvSpPr txBox="1">
            <a:spLocks/>
          </p:cNvSpPr>
          <p:nvPr/>
        </p:nvSpPr>
        <p:spPr>
          <a:xfrm>
            <a:off x="621075" y="1818042"/>
            <a:ext cx="13201478" cy="54003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27432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59436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914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23444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155448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Sustainable Development Goal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Natural Language Processing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Preprocessing Tweet Content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Transformers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Machine Learning Algorithms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Deep Learning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 Libraries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Visualization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Workflow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</a:t>
            </a:r>
          </a:p>
          <a:p>
            <a:pPr>
              <a:spcBef>
                <a:spcPts val="720"/>
              </a:spcBef>
              <a:buFont typeface="Wingdings" pitchFamily="2" charset="2"/>
              <a:buChar char="Ø"/>
              <a:tabLst>
                <a:tab pos="548640" algn="l"/>
              </a:tabLst>
            </a:pPr>
            <a:r>
              <a:rPr lang="en-IN" sz="2400" kern="100" dirty="0">
                <a:latin typeface="Tw Cen MT" panose="020B06020201040206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0BC397-1D49-FF54-6CCA-877141CC2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247" y="2375665"/>
            <a:ext cx="8755380" cy="47160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1715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17CB-7321-424D-AC9D-75BA01B80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4630400" cy="159149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6480" b="1" dirty="0">
                <a:latin typeface="+mj-lt"/>
              </a:rPr>
              <a:t>Sustainable Development Goal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BAB5B-D58A-4D92-9D71-A1403B53DD82}"/>
              </a:ext>
            </a:extLst>
          </p:cNvPr>
          <p:cNvSpPr txBox="1"/>
          <p:nvPr/>
        </p:nvSpPr>
        <p:spPr>
          <a:xfrm>
            <a:off x="178902" y="1591492"/>
            <a:ext cx="10677166" cy="614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80" dirty="0"/>
              <a:t>Our project will likely contribute to following SDGs:</a:t>
            </a:r>
          </a:p>
          <a:p>
            <a:endParaRPr lang="en-US" sz="2880" b="1" dirty="0"/>
          </a:p>
          <a:p>
            <a:r>
              <a:rPr lang="en-US" sz="2800" dirty="0"/>
              <a:t> 🔹 </a:t>
            </a:r>
            <a:r>
              <a:rPr lang="en-US" sz="2800" b="1" dirty="0"/>
              <a:t>SDG 9 </a:t>
            </a:r>
            <a:r>
              <a:rPr lang="en-US" sz="2800" dirty="0"/>
              <a:t>– Industry, Innovation, and </a:t>
            </a:r>
            <a:r>
              <a:rPr lang="en-US" sz="2800" dirty="0" err="1"/>
              <a:t>InfrastructurePromotes</a:t>
            </a:r>
            <a:r>
              <a:rPr lang="en-US" sz="2800" dirty="0"/>
              <a:t> the use of AI and Machine Learning </a:t>
            </a:r>
            <a:r>
              <a:rPr lang="en-US" sz="2800" dirty="0" err="1"/>
              <a:t>technologies.Encourages</a:t>
            </a:r>
            <a:r>
              <a:rPr lang="en-US" sz="2800" dirty="0"/>
              <a:t> innovation in natural language processing for social media analysis.</a:t>
            </a:r>
          </a:p>
          <a:p>
            <a:endParaRPr lang="en-US" sz="2800" dirty="0"/>
          </a:p>
          <a:p>
            <a:r>
              <a:rPr lang="en-US" sz="2800" dirty="0"/>
              <a:t>🔹 </a:t>
            </a:r>
            <a:r>
              <a:rPr lang="en-US" sz="2800" b="1" dirty="0"/>
              <a:t>SDG 16 </a:t>
            </a:r>
            <a:r>
              <a:rPr lang="en-US" sz="2800" dirty="0"/>
              <a:t>– Peace, Justice, and Strong </a:t>
            </a:r>
            <a:r>
              <a:rPr lang="en-US" sz="2800" dirty="0" err="1"/>
              <a:t>InstitutionsHelps</a:t>
            </a:r>
            <a:r>
              <a:rPr lang="en-US" sz="2800" dirty="0"/>
              <a:t> monitor public sentiment on social </a:t>
            </a:r>
            <a:r>
              <a:rPr lang="en-US" sz="2800" dirty="0" err="1"/>
              <a:t>issues.Aids</a:t>
            </a:r>
            <a:r>
              <a:rPr lang="en-US" sz="2800" dirty="0"/>
              <a:t> policymakers, NGOs, and governments in understanding public opinion for better decision-making.</a:t>
            </a:r>
          </a:p>
          <a:p>
            <a:endParaRPr lang="en-US" sz="2800" dirty="0"/>
          </a:p>
          <a:p>
            <a:r>
              <a:rPr lang="en-US" sz="2800" dirty="0"/>
              <a:t>🔹 </a:t>
            </a:r>
            <a:r>
              <a:rPr lang="en-US" sz="2800" b="1" dirty="0"/>
              <a:t>SDG 17 </a:t>
            </a:r>
            <a:r>
              <a:rPr lang="en-US" sz="2800" dirty="0"/>
              <a:t>– Partnerships for the </a:t>
            </a:r>
            <a:r>
              <a:rPr lang="en-US" sz="2800" dirty="0" err="1"/>
              <a:t>GoalsEncourages</a:t>
            </a:r>
            <a:r>
              <a:rPr lang="en-US" sz="2800" dirty="0"/>
              <a:t> collaboration between technology developers, researchers, and policy </a:t>
            </a:r>
            <a:r>
              <a:rPr lang="en-US" sz="2800" dirty="0" err="1"/>
              <a:t>influencers.Demonstrates</a:t>
            </a:r>
            <a:r>
              <a:rPr lang="en-US" sz="2800" dirty="0"/>
              <a:t> how open-source tools and frameworks can contribute to solving global challenges.</a:t>
            </a:r>
          </a:p>
        </p:txBody>
      </p:sp>
      <p:pic>
        <p:nvPicPr>
          <p:cNvPr id="1028" name="Picture 4" descr="file-uploads/sites/54852/video/b2244ce-152a-1462-80c1-274a467446ca_Untitled_design.mp4">
            <a:extLst>
              <a:ext uri="{FF2B5EF4-FFF2-40B4-BE49-F238E27FC236}">
                <a16:creationId xmlns:a16="http://schemas.microsoft.com/office/drawing/2014/main" id="{232838FB-4AE5-15F1-32EE-89412888FE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6" r="10449"/>
          <a:stretch/>
        </p:blipFill>
        <p:spPr bwMode="auto">
          <a:xfrm>
            <a:off x="10856068" y="1591492"/>
            <a:ext cx="3774332" cy="603110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598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102F-978C-3EAF-61E2-60C25A98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5F62-65DD-AD75-A67D-7D11353D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809"/>
            <a:ext cx="14630400" cy="148148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648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en-IN" sz="7200" b="1" dirty="0"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32F35-A3F4-462C-8EE4-C03EB1E536C0}"/>
              </a:ext>
            </a:extLst>
          </p:cNvPr>
          <p:cNvSpPr txBox="1"/>
          <p:nvPr/>
        </p:nvSpPr>
        <p:spPr>
          <a:xfrm>
            <a:off x="152103" y="2060205"/>
            <a:ext cx="8991897" cy="4967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80" dirty="0">
                <a:latin typeface="Times New Roman" panose="02020603050405020304" pitchFamily="18" charset="0"/>
                <a:ea typeface="Calibri" panose="020F0502020204030204" pitchFamily="34" charset="0"/>
              </a:rPr>
              <a:t>In today’s digital age, Twitter has become a powerful platform where users express their opinions on various topics in real-</a:t>
            </a:r>
            <a:r>
              <a:rPr lang="en-US" sz="288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time.This</a:t>
            </a:r>
            <a:r>
              <a:rPr lang="en-US" sz="2880" dirty="0">
                <a:latin typeface="Times New Roman" panose="02020603050405020304" pitchFamily="18" charset="0"/>
                <a:ea typeface="Calibri" panose="020F0502020204030204" pitchFamily="34" charset="0"/>
              </a:rPr>
              <a:t> project, Twitter Sentiment Analysis using NLP, aims to analyze these tweets to determine whether the sentiment behind them is positive, negative, or </a:t>
            </a:r>
            <a:r>
              <a:rPr lang="en-US" sz="288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neutral.We</a:t>
            </a:r>
            <a:r>
              <a:rPr lang="en-US" sz="2880" dirty="0">
                <a:latin typeface="Times New Roman" panose="02020603050405020304" pitchFamily="18" charset="0"/>
                <a:ea typeface="Calibri" panose="020F0502020204030204" pitchFamily="34" charset="0"/>
              </a:rPr>
              <a:t> use Natural Language Processing (NLP) techniques and Machine Learning algorithms to process the text and classify </a:t>
            </a:r>
            <a:r>
              <a:rPr lang="en-US" sz="288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sentiments.A</a:t>
            </a:r>
            <a:r>
              <a:rPr lang="en-US" sz="2880" dirty="0">
                <a:latin typeface="Times New Roman" panose="02020603050405020304" pitchFamily="18" charset="0"/>
                <a:ea typeface="Calibri" panose="020F0502020204030204" pitchFamily="34" charset="0"/>
              </a:rPr>
              <a:t> user-friendly web interface built with Flask allows users to input tweets and instantly see the sentiment analysis results, along with a confidence score.</a:t>
            </a:r>
            <a:endParaRPr lang="en-US" sz="288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149B8D2-A8AE-CBDD-CBB1-FA18C5A55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477671"/>
            <a:ext cx="5486400" cy="61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2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410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87591"/>
            <a:ext cx="96851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3653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4863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35376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Computers understand and process human language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463653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7655481" y="4863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Purpose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55481" y="535376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Preprocess and interpret tweet content effectively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17029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6397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Libraries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88752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NLTK for tokenization, stemming, lemmatization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667" y="617029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7655481" y="6397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Text Cleaning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55481" y="688752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Removing URLs, hashtags, emojis</a:t>
            </a:r>
            <a:endParaRPr lang="en-US" sz="175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210AAF4-55F5-350A-28C2-4D17647434D1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4630400" cy="11940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109728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760" kern="1200" spc="-6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6480" b="1" dirty="0">
                <a:ea typeface="Tahoma" panose="020B0604030504040204" pitchFamily="34" charset="0"/>
                <a:cs typeface="Times New Roman" panose="02020603050405020304" pitchFamily="18" charset="0"/>
              </a:rPr>
              <a:t>Natural Language Processing (NLP)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5034"/>
            <a:ext cx="5486400" cy="62513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5078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25286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Text Cleaning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0190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Crucial for accurate sentiment analysis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38355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7017306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Remove URLs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Eliminates irrelevant website links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298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Remove Hashtags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78870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Cleans noise from topic markers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66052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7017306" y="6683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Remove Emojis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71735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Simplifies text for analysis</a:t>
            </a:r>
            <a:endParaRPr lang="en-US" sz="175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EB99B0F-2378-C0B1-B1C9-D53DBBE4CB5C}"/>
              </a:ext>
            </a:extLst>
          </p:cNvPr>
          <p:cNvSpPr txBox="1">
            <a:spLocks/>
          </p:cNvSpPr>
          <p:nvPr/>
        </p:nvSpPr>
        <p:spPr>
          <a:xfrm>
            <a:off x="0" y="984"/>
            <a:ext cx="14630400" cy="128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l" defTabSz="109728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760" kern="1200" spc="-6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6480" b="1" kern="100" dirty="0">
                <a:latin typeface="+mj-lt"/>
                <a:cs typeface="Times New Roman" panose="02020603050405020304" pitchFamily="18" charset="0"/>
              </a:rPr>
              <a:t>Preprocessing Tweet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594"/>
            <a:ext cx="5833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200394" y="4087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BERT Explained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191"/>
            <a:ext cx="42418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Bidirectional Encoder Representations from Transformers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74231" y="441245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9F7F7"/>
          </a:solidFill>
          <a:ln/>
        </p:spPr>
      </p:sp>
      <p:sp>
        <p:nvSpPr>
          <p:cNvPr id="7" name="Text 4"/>
          <p:cNvSpPr/>
          <p:nvPr/>
        </p:nvSpPr>
        <p:spPr>
          <a:xfrm>
            <a:off x="5430083" y="453640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81304" y="3089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Advanced Context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481304" y="3580209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Captures nuanced sentiment with embeddings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10393" y="289036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9F7F7"/>
          </a:solidFill>
          <a:ln/>
        </p:spPr>
      </p:sp>
      <p:sp>
        <p:nvSpPr>
          <p:cNvPr id="12" name="Text 8"/>
          <p:cNvSpPr/>
          <p:nvPr/>
        </p:nvSpPr>
        <p:spPr>
          <a:xfrm>
            <a:off x="8066246" y="301430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481304" y="50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481304" y="5576173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Outperforms traditional methods in accuracy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910393" y="593443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9F7F7"/>
          </a:solidFill>
          <a:ln/>
        </p:spPr>
      </p:sp>
      <p:sp>
        <p:nvSpPr>
          <p:cNvPr id="17" name="Text 12"/>
          <p:cNvSpPr/>
          <p:nvPr/>
        </p:nvSpPr>
        <p:spPr>
          <a:xfrm>
            <a:off x="8066246" y="605837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07E84FC-1B72-CF86-6D3F-9F38C397D393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4630400" cy="11940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109728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760" kern="1200" spc="-6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6480" b="1" dirty="0">
                <a:ea typeface="Tahoma" panose="020B0604030504040204" pitchFamily="34" charset="0"/>
                <a:cs typeface="Times New Roman" panose="02020603050405020304" pitchFamily="18" charset="0"/>
              </a:rPr>
              <a:t>Transformers (BERT)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48157"/>
          <a:stretch/>
        </p:blipFill>
        <p:spPr>
          <a:xfrm>
            <a:off x="65961" y="2523538"/>
            <a:ext cx="5486400" cy="32595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04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398157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191947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036695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Simple, efficient binary classification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493" y="239815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319194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SVM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3682365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Effective in high-dimensional spaces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5" y="2398157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319194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Naive Bayes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3682365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Fast, good for large datasets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5216128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600991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Scikit-learn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80190" y="6500336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Popular ML implementation library</a:t>
            </a:r>
            <a:endParaRPr lang="en-US" sz="175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98999AE-1BDF-12EA-2E8A-C20D158707C6}"/>
              </a:ext>
            </a:extLst>
          </p:cNvPr>
          <p:cNvSpPr txBox="1">
            <a:spLocks/>
          </p:cNvSpPr>
          <p:nvPr/>
        </p:nvSpPr>
        <p:spPr>
          <a:xfrm>
            <a:off x="0" y="984"/>
            <a:ext cx="14630400" cy="128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l" defTabSz="109728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760" kern="1200" spc="-6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6480" b="1" kern="100" dirty="0">
                <a:latin typeface="+mj-lt"/>
                <a:cs typeface="Times New Roman" panose="02020603050405020304" pitchFamily="18" charset="0"/>
              </a:rPr>
              <a:t>Machine Learning Algorithms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290918"/>
            <a:ext cx="5389581" cy="6250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0060"/>
            <a:ext cx="72357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7900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1303973" y="2479000"/>
            <a:ext cx="35727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Specialized for Sequences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296941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Handles sequential tweet data effectively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55913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1644134" y="3559135"/>
            <a:ext cx="35983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Long-range Dependencies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04955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Captures context over time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463927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1984415" y="4639270"/>
            <a:ext cx="39326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Vanishing Gradient Solution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12968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Overcomes RNN limitations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814513" y="571940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2324695" y="5719405"/>
            <a:ext cx="3478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Complex Task Suitability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324695" y="6209824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Great for nuanced sentiment analysis</a:t>
            </a:r>
            <a:endParaRPr lang="en-US" sz="175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95B4C56-9A8E-8A3C-539C-9DFD1E75B41D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4630400" cy="11940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109728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760" kern="1200" spc="-6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6480" b="1" dirty="0">
                <a:ea typeface="Tahoma" panose="020B0604030504040204" pitchFamily="34" charset="0"/>
                <a:cs typeface="Times New Roman" panose="02020603050405020304" pitchFamily="18" charset="0"/>
              </a:rPr>
              <a:t>Deep Learning with LSTM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287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52726" y="27254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Main programming language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Scikit-learn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Machine learning tools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319361" y="2270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Pandas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84498" y="27749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Data manipulation and analysis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2268340" y="22745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NLTK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214091" y="2754477"/>
            <a:ext cx="34163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Natural language processing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319360" y="41304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Matplotlib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5723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Data visualization</a:t>
            </a:r>
            <a:endParaRPr lang="en-US" sz="175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D7B4B8-76F6-D226-0743-965462E72BB9}"/>
              </a:ext>
            </a:extLst>
          </p:cNvPr>
          <p:cNvSpPr txBox="1">
            <a:spLocks/>
          </p:cNvSpPr>
          <p:nvPr/>
        </p:nvSpPr>
        <p:spPr>
          <a:xfrm>
            <a:off x="0" y="984"/>
            <a:ext cx="14630400" cy="128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l" defTabSz="109728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760" kern="1200" spc="-6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6480" b="1" kern="100" dirty="0">
                <a:latin typeface="+mj-lt"/>
                <a:cs typeface="Times New Roman" panose="02020603050405020304" pitchFamily="18" charset="0"/>
              </a:rPr>
              <a:t>Python Libraries</a:t>
            </a:r>
            <a:endParaRPr lang="en-US" sz="6480" b="1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0160"/>
            <a:ext cx="5486400" cy="6260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6874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129583" y="2208512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6356397" y="2435326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Sentiment Distribution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56397" y="3280074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Positive, negative, neutral views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021260" y="2208512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10248074" y="24353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Trends Over Time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48074" y="2925744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Visualizing sentiment changes daily/weekly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129583" y="4105177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6356397" y="4331991"/>
            <a:ext cx="30275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Comparative Analysis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56397" y="482241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Differences across topics</a:t>
            </a:r>
            <a:endParaRPr lang="en-US" sz="175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249667E-D228-E23B-3BA5-D38FA1CFF692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4630400" cy="11940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109728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760" kern="1200" spc="-6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6480" b="1" dirty="0">
                <a:ea typeface="Tahoma" panose="020B0604030504040204" pitchFamily="34" charset="0"/>
                <a:cs typeface="Times New Roman" panose="02020603050405020304" pitchFamily="18" charset="0"/>
              </a:rPr>
              <a:t>Data Visualization with Matplotlib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72383" y="1655683"/>
            <a:ext cx="22860" cy="5998726"/>
          </a:xfrm>
          <a:prstGeom prst="roundRect">
            <a:avLst>
              <a:gd name="adj" fmla="val 137978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1186041" y="1880711"/>
            <a:ext cx="630793" cy="22860"/>
          </a:xfrm>
          <a:prstGeom prst="roundRect">
            <a:avLst>
              <a:gd name="adj" fmla="val 137978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35866" y="1655683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814626" y="1695033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2023824" y="1727954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Collection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2023824" y="2182654"/>
            <a:ext cx="118706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Gather tweets with Twitter API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86041" y="3164562"/>
            <a:ext cx="630793" cy="22860"/>
          </a:xfrm>
          <a:prstGeom prst="roundRect">
            <a:avLst>
              <a:gd name="adj" fmla="val 137978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5866" y="2939534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814626" y="2978884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2023824" y="3011805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Preprocessing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2023824" y="3466505"/>
            <a:ext cx="118706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Clean and transform tweets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86041" y="4448413"/>
            <a:ext cx="630793" cy="22860"/>
          </a:xfrm>
          <a:prstGeom prst="roundRect">
            <a:avLst>
              <a:gd name="adj" fmla="val 137978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35866" y="4223385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814626" y="4262735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2023824" y="4295656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Feature Extraction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2023824" y="4750356"/>
            <a:ext cx="118706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Convert text to numeric features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86041" y="5732264"/>
            <a:ext cx="630793" cy="22860"/>
          </a:xfrm>
          <a:prstGeom prst="roundRect">
            <a:avLst>
              <a:gd name="adj" fmla="val 137978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35866" y="5507236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814626" y="5546586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2023824" y="5579507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Training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2023824" y="6034207"/>
            <a:ext cx="118706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Train sentiment models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86041" y="7016115"/>
            <a:ext cx="630793" cy="22860"/>
          </a:xfrm>
          <a:prstGeom prst="roundRect">
            <a:avLst>
              <a:gd name="adj" fmla="val 137978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35866" y="6791087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26" name="Text 24"/>
          <p:cNvSpPr/>
          <p:nvPr/>
        </p:nvSpPr>
        <p:spPr>
          <a:xfrm>
            <a:off x="814626" y="6830437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2450" dirty="0"/>
          </a:p>
        </p:txBody>
      </p:sp>
      <p:sp>
        <p:nvSpPr>
          <p:cNvPr id="27" name="Text 25"/>
          <p:cNvSpPr/>
          <p:nvPr/>
        </p:nvSpPr>
        <p:spPr>
          <a:xfrm>
            <a:off x="2023824" y="6863358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Evaluation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2023824" y="7318058"/>
            <a:ext cx="118706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Assess model performance</a:t>
            </a:r>
            <a:endParaRPr lang="en-US" sz="1650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57DBB82-9557-35CC-83D9-2FF57DE9157E}"/>
              </a:ext>
            </a:extLst>
          </p:cNvPr>
          <p:cNvSpPr txBox="1">
            <a:spLocks/>
          </p:cNvSpPr>
          <p:nvPr/>
        </p:nvSpPr>
        <p:spPr>
          <a:xfrm>
            <a:off x="0" y="984"/>
            <a:ext cx="14630400" cy="128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l" defTabSz="109728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760" kern="1200" spc="-6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6480" b="1" kern="100" dirty="0">
                <a:latin typeface="+mj-lt"/>
                <a:cs typeface="Times New Roman" panose="02020603050405020304" pitchFamily="18" charset="0"/>
              </a:rPr>
              <a:t>Workflow</a:t>
            </a:r>
            <a:endParaRPr lang="en-US" sz="6480" b="1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5E0D-1D75-E91F-E75B-C4DDF801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8D0A-C035-F4F3-2047-44489595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4630400" cy="1194098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6480" b="1" dirty="0">
                <a:ea typeface="Tahoma" panose="020B0604030504040204" pitchFamily="34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9157C-B53B-FBD1-0C90-8B3AEB51C547}"/>
              </a:ext>
            </a:extLst>
          </p:cNvPr>
          <p:cNvSpPr txBox="1"/>
          <p:nvPr/>
        </p:nvSpPr>
        <p:spPr>
          <a:xfrm>
            <a:off x="542555" y="1611466"/>
            <a:ext cx="394553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60" b="1" dirty="0"/>
              <a:t>Positive Sentiment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33988-6620-8A9B-7505-6335EAC79BD0}"/>
              </a:ext>
            </a:extLst>
          </p:cNvPr>
          <p:cNvSpPr txBox="1"/>
          <p:nvPr/>
        </p:nvSpPr>
        <p:spPr>
          <a:xfrm>
            <a:off x="10060603" y="1584870"/>
            <a:ext cx="394553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60" b="1" dirty="0"/>
              <a:t>Neutral Sentiment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89971-1612-C61E-91E5-E3063D1E3D9B}"/>
              </a:ext>
            </a:extLst>
          </p:cNvPr>
          <p:cNvSpPr txBox="1"/>
          <p:nvPr/>
        </p:nvSpPr>
        <p:spPr>
          <a:xfrm>
            <a:off x="5253650" y="1598527"/>
            <a:ext cx="394553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60" b="1" dirty="0"/>
              <a:t>Negative Sentiment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50DF1-6BFE-0978-B623-C4934DED32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7" t="9806" r="5667" b="3372"/>
          <a:stretch/>
        </p:blipFill>
        <p:spPr>
          <a:xfrm>
            <a:off x="188514" y="2151552"/>
            <a:ext cx="4653622" cy="5224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F92201-9EB4-118D-6E7E-1D3F9814A6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67" t="10156" r="5833" b="3778"/>
          <a:stretch/>
        </p:blipFill>
        <p:spPr>
          <a:xfrm>
            <a:off x="4988389" y="2151553"/>
            <a:ext cx="4653622" cy="5224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48A51C-EB02-8113-3B20-18CD8B2BD8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33" t="9981" r="6334" b="3887"/>
          <a:stretch/>
        </p:blipFill>
        <p:spPr>
          <a:xfrm>
            <a:off x="9834692" y="2151552"/>
            <a:ext cx="4653622" cy="522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87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EE5D-07AA-C059-E192-DFE1FEEB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9CB5-BFFA-747A-571A-09BD4869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4630400" cy="128405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IN" sz="648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References</a:t>
            </a:r>
            <a:endParaRPr lang="en-US" sz="648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1835D-5574-4230-9853-AD44CC3617A4}"/>
              </a:ext>
            </a:extLst>
          </p:cNvPr>
          <p:cNvSpPr txBox="1"/>
          <p:nvPr/>
        </p:nvSpPr>
        <p:spPr>
          <a:xfrm>
            <a:off x="1355464" y="2274648"/>
            <a:ext cx="12048564" cy="47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200"/>
              </a:spcAft>
              <a:tabLst>
                <a:tab pos="937260" algn="l"/>
                <a:tab pos="443484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Devlin, J., et al. (2018). BERT: Pre-training of Deep Bidirectional Transformers for Language Understanding.</a:t>
            </a:r>
          </a:p>
          <a:p>
            <a:pPr>
              <a:lnSpc>
                <a:spcPct val="115000"/>
              </a:lnSpc>
              <a:spcAft>
                <a:spcPts val="1200"/>
              </a:spcAft>
              <a:tabLst>
                <a:tab pos="937260" algn="l"/>
                <a:tab pos="443484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J. Devlin, M. Chang, K. Lee, and K. Toutanova, “BERT: Pre-training of Deep Bidirectional Transformers for Language Understanding,” in NAACL, 2019.</a:t>
            </a:r>
          </a:p>
          <a:p>
            <a:pPr>
              <a:lnSpc>
                <a:spcPct val="115000"/>
              </a:lnSpc>
              <a:spcAft>
                <a:spcPts val="1200"/>
              </a:spcAft>
              <a:tabLst>
                <a:tab pos="937260" algn="l"/>
                <a:tab pos="443484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A. Go, R. Bhayani, and L. Huang, “Twitter Sentiment Classification using Distant Supervision,” CS224N Project Report, Stanford, 2009.</a:t>
            </a:r>
          </a:p>
          <a:p>
            <a:pPr>
              <a:lnSpc>
                <a:spcPct val="115000"/>
              </a:lnSpc>
              <a:spcAft>
                <a:spcPts val="1200"/>
              </a:spcAft>
              <a:tabLst>
                <a:tab pos="937260" algn="l"/>
                <a:tab pos="443484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Y. Liu et al., “</a:t>
            </a:r>
            <a:r>
              <a:rPr lang="en-IN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RoBERTa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 Robustly Optimized BERT Pretraining Approach,” </a:t>
            </a:r>
            <a:r>
              <a:rPr lang="en-IN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arXiv:1907.11692, 2019.</a:t>
            </a:r>
          </a:p>
          <a:p>
            <a:pPr>
              <a:lnSpc>
                <a:spcPct val="115000"/>
              </a:lnSpc>
              <a:spcAft>
                <a:spcPts val="1200"/>
              </a:spcAft>
              <a:tabLst>
                <a:tab pos="937260" algn="l"/>
                <a:tab pos="443484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P. Potash, A. Romanov, and A. </a:t>
            </a:r>
            <a:r>
              <a:rPr lang="en-IN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Rumshisky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“SemEval-2017 Task 4: Sentiment Analysis in Twitter,” in </a:t>
            </a:r>
            <a:r>
              <a:rPr lang="en-IN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SemEval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2017.</a:t>
            </a:r>
          </a:p>
          <a:p>
            <a:pPr>
              <a:lnSpc>
                <a:spcPct val="115000"/>
              </a:lnSpc>
              <a:spcAft>
                <a:spcPts val="1200"/>
              </a:spcAft>
              <a:tabLst>
                <a:tab pos="937260" algn="l"/>
                <a:tab pos="4434840" algn="l"/>
              </a:tabLst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M. Hu and B. Liu, “Mining and Summarizing Customer Reviews,” in KDD, 2004. </a:t>
            </a:r>
          </a:p>
        </p:txBody>
      </p:sp>
    </p:spTree>
    <p:extLst>
      <p:ext uri="{BB962C8B-B14F-4D97-AF65-F5344CB8AC3E}">
        <p14:creationId xmlns:p14="http://schemas.microsoft.com/office/powerpoint/2010/main" val="2944209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65561C-9484-4563-998E-57C39B59758D}"/>
              </a:ext>
            </a:extLst>
          </p:cNvPr>
          <p:cNvSpPr/>
          <p:nvPr/>
        </p:nvSpPr>
        <p:spPr>
          <a:xfrm>
            <a:off x="3161354" y="3331519"/>
            <a:ext cx="7849135" cy="1883593"/>
          </a:xfrm>
          <a:prstGeom prst="rect">
            <a:avLst/>
          </a:prstGeom>
          <a:noFill/>
        </p:spPr>
        <p:txBody>
          <a:bodyPr wrap="none" lIns="109728" tIns="54864" rIns="109728" bIns="54864">
            <a:spAutoFit/>
          </a:bodyPr>
          <a:lstStyle/>
          <a:p>
            <a:pPr algn="ctr"/>
            <a:r>
              <a:rPr lang="en-US" sz="1152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26188-9F98-4E37-BC76-3297594A6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55" y="4695939"/>
            <a:ext cx="2571750" cy="257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710C5-95D0-4FE3-9F35-E82EDC36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934" y="882754"/>
            <a:ext cx="2571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188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739</Words>
  <Application>Microsoft Office PowerPoint</Application>
  <PresentationFormat>Custom</PresentationFormat>
  <Paragraphs>140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Wingdings</vt:lpstr>
      <vt:lpstr>Calibri</vt:lpstr>
      <vt:lpstr>Calibri Light</vt:lpstr>
      <vt:lpstr>Times New Roman</vt:lpstr>
      <vt:lpstr>Source Serif Pro</vt:lpstr>
      <vt:lpstr>Tw Cen MT</vt:lpstr>
      <vt:lpstr>Tw Cen MT Condensed</vt:lpstr>
      <vt:lpstr>Aptos</vt:lpstr>
      <vt:lpstr>Platypi Medium</vt:lpstr>
      <vt:lpstr>Arial</vt:lpstr>
      <vt:lpstr>Tahoma</vt:lpstr>
      <vt:lpstr>Retrospect</vt:lpstr>
      <vt:lpstr>Office Theme</vt:lpstr>
      <vt:lpstr>Introduction to AI(AI101B) Even Semester Session 2024-25</vt:lpstr>
      <vt:lpstr>Content</vt:lpstr>
      <vt:lpstr>Sustainable Development Goal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Ridhi Singh Rajput</cp:lastModifiedBy>
  <cp:revision>2</cp:revision>
  <dcterms:created xsi:type="dcterms:W3CDTF">2025-05-27T05:41:59Z</dcterms:created>
  <dcterms:modified xsi:type="dcterms:W3CDTF">2025-05-27T06:53:58Z</dcterms:modified>
</cp:coreProperties>
</file>