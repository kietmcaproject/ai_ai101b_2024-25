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5.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6.xml" ContentType="application/vnd.openxmlformats-officedocument.presentationml.notesSlide+xml"/>
  <Override PartName="/ppt/ink/ink17.xml" ContentType="application/inkml+xml"/>
  <Override PartName="/ppt/notesSlides/notesSlide7.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8.xml" ContentType="application/vnd.openxmlformats-officedocument.presentationml.notesSlide+xml"/>
  <Override PartName="/ppt/ink/ink25.xml" ContentType="application/inkml+xml"/>
  <Override PartName="/ppt/ink/ink26.xml" ContentType="application/inkml+xml"/>
  <Override PartName="/ppt/notesSlides/notesSlide9.xml" ContentType="application/vnd.openxmlformats-officedocument.presentationml.notesSlide+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Consolas" panose="020B0609020204030204" pitchFamily="49" charset="0"/>
      <p:regular r:id="rId12"/>
      <p:bold r:id="rId13"/>
      <p:italic r:id="rId14"/>
      <p:boldItalic r:id="rId15"/>
    </p:embeddedFont>
    <p:embeddedFont>
      <p:font typeface="Platypi Medium" panose="020B0604020202020204" charset="0"/>
      <p:regular r:id="rId16"/>
    </p:embeddedFont>
    <p:embeddedFont>
      <p:font typeface="Source Serif Pro" panose="02040603050405020204" pitchFamily="18" charset="0"/>
      <p:regular r:id="rId17"/>
      <p:bold r:id="rId18"/>
    </p:embeddedFont>
    <p:embeddedFont>
      <p:font typeface="Source Serif Pro Bold" panose="02040803050405020204" pitchFamily="18" charset="0"/>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522" y="4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07.07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09.808"/>
    </inkml:context>
    <inkml:brush xml:id="br0">
      <inkml:brushProperty name="width" value="0.35" units="cm"/>
      <inkml:brushProperty name="height" value="0.35" units="cm"/>
      <inkml:brushProperty name="color" value="#FFFFFF"/>
    </inkml:brush>
  </inkml:definitions>
  <inkml:trace contextRef="#ctx0" brushRef="#br0">0 0 24545,'3517'0'0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6:32.92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6:44.366"/>
    </inkml:context>
    <inkml:brush xml:id="br0">
      <inkml:brushProperty name="width" value="0.35" units="cm"/>
      <inkml:brushProperty name="height" value="0.35" units="cm"/>
      <inkml:brushProperty name="color" value="#FFFFFF"/>
    </inkml:brush>
  </inkml:definitions>
  <inkml:trace contextRef="#ctx0" brushRef="#br0">646 428 24575,'22'-1'0,"0"-2"0,0 0 0,0-2 0,0 0 0,-1-2 0,23-10 0,-13 6 0,58-14 0,5 4 0,-59 11 0,0 3 0,60-6 0,-49 11 0,-19 2 0,0-1 0,-1-2 0,41-8 0,-27 2 0,0 1 0,80-3 0,85 12 0,-85 1 0,600-2 0,-693-1 0,-1-2 0,1-1 0,30-8 0,-26 4 0,56-5 0,-14 11 0,-45 2 0,1-1 0,-1-1 0,50-11 0,-39 4 0,1 2 0,81-5 0,84 13 0,-85 1 0,642-2 0,-754 0 0,0 0 0,-1 0 0,1 1 0,0 0 0,-1 1 0,1-1 0,-1 1 0,15 6 0,-19-6 0,0 0 0,0 1 0,0-1 0,0 0 0,0 1 0,0 0 0,-1 0 0,1 0 0,-1 0 0,0 0 0,0 0 0,0 1 0,0-1 0,0 1 0,-1-1 0,1 1 0,-1 0 0,0-1 0,-1 1 0,2 4 0,-2-2 0,1 0 0,-1 0 0,1 1 0,-2-1 0,1 0 0,-1 1 0,0-1 0,0 0 0,-1 0 0,0 0 0,0 0 0,0 0 0,-1 0 0,-5 8 0,-4 5 0,-1-1 0,-29 30 0,-10 14 0,48-56 0,0-1 0,1 1 0,0 0 0,0 0 0,0 0 0,1 1 0,0-1 0,0 1 0,1-1 0,0 1 0,0-1 0,0 1 0,1 0 0,0-1 0,1 8 0,-1-10 0,1-1 0,0 0 0,0 1 0,0-1 0,0 0 0,1 0 0,-1 0 0,1 0 0,0 0 0,0 0 0,0 0 0,0-1 0,0 1 0,1-1 0,-1 1 0,1-1 0,-1 0 0,1 0 0,0 0 0,0 0 0,0 0 0,0-1 0,0 0 0,1 1 0,-1-1 0,0 0 0,0-1 0,1 1 0,-1 0 0,5-1 0,-4 0 0,1 0 0,-1 0 0,1 0 0,-1-1 0,0 0 0,1 0 0,-1 0 0,0-1 0,1 1 0,-1-1 0,0 0 0,7-4 0,46-38 0,-41 30 0,21-15 0,59-38 0,-53 42 0,-2-2 0,68-56 0,-106 80 0,0 1 0,-1-1 0,1 1 0,-1-1 0,0 0 0,0 0 0,0 0 0,0-1 0,0 1 0,1-6 0,-2 8 0,-1 0 0,0 0 0,0 0 0,0 0 0,0 0 0,0-1 0,-1 1 0,1 0 0,0 0 0,0 0 0,-1 0 0,1 0 0,-1 0 0,1 0 0,-1 0 0,1 0 0,-1 0 0,1 0 0,-1 0 0,0 0 0,0 0 0,0 0 0,1 1 0,-1-1 0,0 0 0,0 0 0,0 1 0,0-1 0,0 1 0,0-1 0,0 1 0,0-1 0,0 1 0,-1 0 0,1 0 0,-2-1 0,-8-2 0,0 0 0,-1 1 0,1 1 0,-1 0 0,0 0 0,1 1 0,-1 0 0,1 1 0,-1 1 0,1 0 0,-1 0 0,1 1 0,0 0 0,0 1 0,0 1 0,-18 9 0,13-4 0,1-2 0,-1 0 0,-1-1 0,0-1 0,-29 8 0,8-2 0,-72 33 0,52-19 0,-131 64 0,161-76 0,9-3 0,-30 23 0,39-25 0,-1-1 0,-1-1 0,1 0 0,-1 0 0,0-1 0,-1 0 0,-13 3 0,-26 5 0,15-4 0,0-1 0,-1-2 0,-43 3 0,-258-12 0,328 1 0,0-1 0,1-1 0,-1 0 0,1 0 0,-1-1 0,1 0 0,1-1 0,-13-7 0,-10-9 0,-29-25 0,39 29 0,-3-2 0,7 3 0,-1 2 0,0 0 0,-2 0 0,1 2 0,-2 1 0,1 1 0,-25-8 0,-1 4 0,-1 3 0,0 2 0,-1 3 0,-89-2 0,-456 10 0,558 0 0,-1 2 0,-51 11 0,45-6 0,-49 3 0,-335-9 0,219-6 0,115 2 0,-109 4 0,189-1 0,0 0 0,0 2 0,1 0 0,-1 0 0,1 1 0,0 0 0,-12 9 0,11-7 0,0-1 0,1 0 0,-2-1 0,1 0 0,-26 5 0,-33-3 0,-1-4 0,-80-6 0,29-1 0,84 5 0,23 0 0,1 0 0,-1-2 0,1 0 0,0-1 0,-21-4 0,37 6 0,-1 0 0,0 0 0,1 0 0,-1 0 0,0 0 0,1-1 0,-1 1 0,0 0 0,1 0 0,-1 0 0,1-1 0,-1 1 0,0 0 0,1-1 0,-1 1 0,1 0 0,-1-1 0,1 1 0,-1-1 0,1 1 0,-1-1 0,1 1 0,0-1 0,-1 1 0,1-1 0,0 1 0,-1-1 0,1 0 0,0 1 0,0-1 0,-1 1 0,1-1 0,0 0 0,0 1 0,0-1 0,0 0 0,0 1 0,0-1 0,0 0 0,0 1 0,0-1 0,0 0 0,0 1 0,1-1 0,-1 1 0,0-1 0,0 0 0,1 1 0,-1-1 0,0 1 0,1-1 0,-1 1 0,0-1 0,1 1 0,-1-1 0,1 1 0,-1-1 0,1 1 0,-1-1 0,1 1 0,-1 0 0,1-1 0,0 1 0,-1 0 0,1-1 0,9-6 0,1 0 0,19-9 0,-17 9 0,5-2 0,1 0 0,-1 1 0,1 1 0,1 1 0,34-6 0,-45 10 0,0-1 0,0 0 0,0 0 0,0-1 0,-1 0 0,0-1 0,0 0 0,0 0 0,-1 0 0,9-9 0,5-6 0,35-47 0,-40 50 0,-1 1 0,2 1 0,24-18 0,14-13 0,-36 31 0,0 0 0,25-14 0,12-9 0,-45 30 0,1 0 0,0 1 0,0 1 0,1 0 0,0 0 0,0 1 0,0 1 0,1 0 0,-1 1 0,27-3 0,-16 5 0,0 0 0,0 2 0,0 1 0,0 1 0,36 9 0,-6-1 0,2-2 0,85 3 0,114-13 0,-99-2 0,242 3 0,-358 3 0,-1 1 0,1 1 0,-2 3 0,59 18 0,-88-23 0,0 0 0,1 0 0,-1 1 0,0 1 0,-1-1 0,1 1 0,12 10 0,-17-11 0,0 0 0,0 1 0,0-1 0,-1 1 0,1-1 0,-1 1 0,0 0 0,-1 1 0,1-1 0,-1 0 0,0 1 0,0-1 0,-1 1 0,2 7 0,-1-3 0,-1 0 0,0-1 0,0 1 0,-1 0 0,0 0 0,0 0 0,-1-1 0,0 1 0,-1 0 0,0-1 0,-1 1 0,0-1 0,-1 0 0,1 0 0,-2 0 0,1 0 0,-1-1 0,-1 0 0,1 0 0,-1 0 0,-1 0 0,1-1 0,-1 0 0,-1-1 0,-10 8 0,-7 5 0,0 1 0,1 0 0,2 2 0,-35 42 0,38-45 0,-1 0 0,-1-1 0,-1-1 0,-35 20 0,13-7 0,20-14 0,0-1 0,-1-2 0,-1 0 0,0-2 0,0 0 0,-1-2 0,0-1 0,-1-2 0,0 0 0,0-2 0,0-1 0,-39-1 0,-398-6 0,452 4 0,0-1 0,0-1 0,0 0 0,0 0 0,1-1 0,-1-1 0,1 0 0,0-1 0,0 0 0,0-1 0,-13-9 0,0 2 0,0 1 0,-2 1 0,1 2 0,-1 0 0,0 2 0,-1 1 0,0 1 0,0 1 0,0 1 0,-46 3 0,64 0 0,-9 0 0,0 0 0,-28 5 0,41-3 0,0-1 0,0 1 0,0 0 0,0 0 0,1 1 0,-1 0 0,1 0 0,-1 0 0,1 0 0,0 1 0,-7 7 0,11-10 0,0-1 0,0 1 0,0-1 0,1 1 0,-1 0 0,0 0 0,1-1 0,-1 1 0,1 0 0,-1 0 0,1 0 0,-1 0 0,1 0 0,-1 0 0,1-1 0,0 1 0,0 0 0,-1 0 0,1 0 0,0 0 0,0 0 0,0 0 0,0 0 0,0 0 0,1 2 0,-1-2 0,1 0 0,0 0 0,0 0 0,0 0 0,0 0 0,0 0 0,0 0 0,0 0 0,0-1 0,0 1 0,0 0 0,0-1 0,1 1 0,-1-1 0,0 1 0,3 0 0,7 1 0,1 0 0,-1 0 0,17-1 0,-25-1 0,269 0 0,-108-3 0,-145 3 0,-1-2 0,1 0 0,-1-1 0,1-1 0,-1-1 0,0 0 0,0-2 0,29-14 0,-26 13 0,0 1 0,0 0 0,0 2 0,27-4 0,-26 6 0,-1-1 0,0-1 0,1-1 0,21-11 0,-22 8 0,1 1 0,-1 1 0,1 1 0,0 0 0,40-3 0,115 4 0,454 8 0,-414-4 0,-195 0 0,0-1 0,0-2 0,37-9 0,-30 5 0,33-3 0,-29 5 0,35-10 0,-37 9 0,48-8 0,-41 10 0,39-11 0,-44 8 0,0 1 0,37-1 0,26 5 0,-53 4 0,0-3 0,71-12 0,-52 3 0,128-6 0,65 18 0,-103 1 0,-177 8 0,-1 1 0,-33 19 0,20-10 0,-118 51 0,119-56 0,-1-2 0,0-1 0,0-2 0,-1-2 0,-70 5 0,-207-11 0,158-5 0,132 3 0,-86-3 0,100 1 0,-1 0 0,1-1 0,0 0 0,0-1 0,0 0 0,-15-8 0,11 3 0,-2 0 0,1 2 0,-1 0 0,0 1 0,0 1 0,-1 1 0,0 0 0,-38-1 0,461 6 0,-133 1 0,-204-1 0,-14 0 0,0-1 0,-1-3 0,66-12 0,51-11 0,-163 26 0,-1-1 0,0 0 0,0 0 0,1 0 0,-1 0 0,0 0 0,0-1 0,0 0 0,0 0 0,6-4 0,-8-1 0,-11 7 0,-11 4 0,7 3 0,0 1 0,1 0 0,0 0 0,0 1 0,-15 16 0,17-16 0,1 0 0,-1-1 0,0 0 0,-1 0 0,1-1 0,-2-1 0,1 0 0,-15 6 0,12-8 0,0 0 0,0-1 0,0-1 0,-1 0 0,-26 0 0,37-2 0,-1 0 0,1 0 0,0-1 0,0 0 0,0 1 0,0-1 0,0-1 0,0 1 0,0 0 0,0-1 0,1 0 0,-1 0 0,0 0 0,1-1 0,-1 1 0,1-1 0,0 1 0,0-1 0,0 0 0,1 0 0,-1-1 0,0 1 0,1 0 0,-3-7 0,1-2-170,1 0-1,0-1 0,0 1 1,2-1-1,-1 0 0,2 1 1,0-15-1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41.40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55.056"/>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26.244"/>
    </inkml:context>
    <inkml:brush xml:id="br0">
      <inkml:brushProperty name="width" value="0.35" units="cm"/>
      <inkml:brushProperty name="height" value="0.35" units="cm"/>
      <inkml:brushProperty name="color" value="#FFFFFF"/>
    </inkml:brush>
  </inkml:definitions>
  <inkml:trace contextRef="#ctx0" brushRef="#br0">0 214 24575,'218'-5'0,"-169"0"0,0-1 0,67-18 0,-63 11 0,1 1 0,0 3 0,1 3 0,65 0 0,-82 4 0,1-2 0,45-10 0,49-5 0,295 16 0,-221 5 0,343-2 0,-524-1 0,-1-2 0,0-1 0,36-9 0,-31 5 0,58-6 0,-53 10 0,54-13 0,-55 10 0,62-7 0,271 11 0,-184 5 0,-176-2 0,1 0 0,0 1 0,-1-1 0,1 1 0,-1 1 0,1-1 0,-1 1 0,1 1 0,7 3 0,-12-4 0,0 0 0,0 0 0,1 1 0,-2-1 0,1 1 0,0 0 0,0 0 0,-1 0 0,1 0 0,-1 0 0,0 1 0,0-1 0,-1 1 0,1-1 0,-1 1 0,1-1 0,-1 1 0,0 0 0,1 7 0,2 26-1365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28.00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6:07.368"/>
    </inkml:context>
    <inkml:brush xml:id="br0">
      <inkml:brushProperty name="width" value="0.35" units="cm"/>
      <inkml:brushProperty name="height" value="0.35" units="cm"/>
      <inkml:brushProperty name="color" value="#FFFFFF"/>
    </inkml:brush>
  </inkml:definitions>
  <inkml:trace contextRef="#ctx0" brushRef="#br0">557 468 24575,'0'-28'0,"1"-1"0,1 1 0,8-35 0,-9 55 0,1 0 0,1 0 0,0 0 0,0 0 0,0 0 0,1 1 0,0 0 0,0 0 0,1 0 0,0 0 0,0 1 0,1-1 0,-1 1 0,1 1 0,12-9 0,-1 3 0,0 1 0,2 1 0,-1 1 0,1 1 0,0 0 0,0 1 0,34-5 0,-22 7 0,0 2 0,0 0 0,-1 2 0,42 5 0,-51-1 0,0 1 0,-1 1 0,0 1 0,0 1 0,0 0 0,30 19 0,-32-17 0,0 0 0,1-1 0,0-1 0,1-1 0,0-1 0,37 7 0,-8-10 0,58-4 0,30 2 0,-114 2 0,0 1 0,23 8 0,37 5 0,31-10 0,125-7 0,-88-3 0,-71 5 0,93-5 0,-141-2 0,0-1 0,0-2 0,33-12 0,-28 8 0,61-12 0,-18 16 0,0 3 0,97 8 0,-47-1 0,505-2 0,-607 2 0,0 1 0,0 2 0,-1 0 0,39 14 0,-61-17 0,0 0 0,0 1 0,0-1 0,-1 1 0,1 0 0,-1 0 0,0 0 0,0 1 0,0 0 0,0 0 0,0 0 0,-1 0 0,0 0 0,0 1 0,0-1 0,0 1 0,-1 0 0,0 0 0,0 0 0,0 0 0,-1 0 0,1 0 0,-1 0 0,-1 0 0,1 7 0,1 6 0,-1 0 0,-1 1 0,0-1 0,-2 0 0,0 0 0,-6 22 0,4-26 0,-1 0 0,0 0 0,-1 0 0,0 0 0,-1-1 0,-1 0 0,0-1 0,-1 0 0,-13 14 0,1-4 0,0-1 0,-2-1 0,-40 28 0,52-41 0,-1-1 0,0 0 0,0-1 0,0 0 0,-1-1 0,1 0 0,-1-1 0,0 0 0,-23 1 0,-12-2 0,-65-5 0,36-1 0,40 4 0,-9 0 0,0-2 0,-80-13 0,72 5 0,-70-2 0,49 5 0,58 5 0,0-2 0,0-1 0,0 0 0,1-1 0,-20-9 0,17 6 0,-2 1 0,-32-9 0,5 10 0,0 2 0,0 2 0,-66 5 0,56-1 0,18 2 0,0 1 0,-44 11 0,-31 3 0,-15 4 0,82-12 0,-67 4 0,41-12 0,33-1 0,0 1 0,-57 11 0,35-2 0,-129 6 0,-68-18 0,97-2 0,-429 3 0,584 1 0,0-1 0,0-1 0,1 0 0,-1 0 0,0 0 0,1-1 0,-1 0 0,-13-6 0,18 6 0,-1 0 0,1 0 0,0 0 0,0-1 0,0 0 0,0 1 0,1-1 0,-1 0 0,1 0 0,0-1 0,0 1 0,0 0 0,0-1 0,0 1 0,1-1 0,-1 0 0,1 1 0,0-1 0,-1-7 0,0-1 0,0 0 0,0 0 0,-1 0 0,-6-14 0,7 21 0,0 1 0,0 0 0,0 0 0,-1 0 0,0 0 0,0 1 0,0-1 0,0 1 0,-1-1 0,1 1 0,-1 0 0,-4-2 0,-38-21 0,-93-38 0,74 35 0,59 27 0,1 0 0,0-1 0,1 0 0,-1 0 0,0 0 0,1-1 0,0 1 0,-1-1 0,2 0 0,-1 0 0,0-1 0,1 1 0,0-1 0,0 0 0,-3-6 0,5 8 0,0 0 0,0 0 0,1 0 0,-1 0 0,1 0 0,-1 0 0,1 0 0,0 0 0,1 0 0,-1 0 0,0 0 0,1 0 0,0 0 0,-1 0 0,1 0 0,0 0 0,1 0 0,-1 1 0,0-1 0,1 0 0,0 1 0,-1-1 0,1 1 0,0-1 0,0 1 0,1 0 0,-1 0 0,0 0 0,4-2 0,5-4 0,0 0 0,1 1 0,0 0 0,1 1 0,-1 0 0,18-4 0,85-20 0,-62 18 0,-10 2 0,71-20 0,-86 21 0,4-1 0,-1-2 0,37-18 0,-48 21 0,1 0 0,0 1 0,0 1 0,1 1 0,0 1 0,0 1 0,32-2 0,164 7 0,-104 2 0,-37-3 0,133-16 0,22-17 0,424-4 0,991 40 0,-1040-4 0,-596 1 0,-1 1 0,1-1 0,0 2 0,0-1 0,10 5 0,-19-6 0,0 0 0,0 1 0,-1-1 0,1 1 0,0 0 0,0 0 0,-1-1 0,1 1 0,-1 0 0,1 1 0,-1-1 0,1 0 0,-1 0 0,1 1 0,-1-1 0,0 0 0,0 1 0,0-1 0,0 1 0,0 0 0,0-1 0,0 1 0,-1 0 0,1-1 0,0 1 0,-1 0 0,0 0 0,1 0 0,-1 0 0,0-1 0,0 1 0,0 0 0,0 0 0,0 0 0,0 0 0,-1 0 0,0 3 0,-1 0 0,0 0 0,1-1 0,-2 1 0,1 0 0,-1-1 0,1 0 0,-1 0 0,0 1 0,-1-2 0,1 1 0,-5 3 0,-46 32 0,45-34 0,0 0 0,1 0 0,0 1 0,0 1 0,0-1 0,1 1 0,0 1 0,-6 7 0,8-7 0,1 0 0,0 0 0,0 0 0,1 1 0,0-1 0,1 1 0,0 0 0,-1 11 0,0 8 0,2 37 0,0-5 0,0-52 0,-1-1 0,0 0 0,0 0 0,0 0 0,-1 0 0,0 0 0,0 0 0,-1-1 0,0 0 0,0 1 0,0-1 0,-1-1 0,0 1 0,0-1 0,-10 8 0,-22 28 0,29-33 0,0 0 0,-1-1 0,0 1 0,0-2 0,0 1 0,-1-1 0,0-1 0,0 0 0,0 0 0,-20 5 0,-28 15 0,36-15 0,0-2 0,-1 0 0,0-1 0,0-1 0,0-1 0,-1-2 0,0 0 0,0-1 0,0-1 0,1-2 0,-28-3 0,47 4 0,0-1 0,0 0 0,1 1 0,-1-1 0,0-1 0,0 1 0,1 0 0,-1-1 0,0 0 0,1 0 0,0 0 0,-1 0 0,1 0 0,-5-6 0,4 3 0,0 0 0,1 0 0,-1 0 0,1-1 0,1 1 0,-1-1 0,1 0 0,-3-8 0,0 0 0,-1 1 0,-1-1 0,0 2 0,-1-1 0,-12-15 0,11 18 0,2-1 0,-1-1 0,1 1 0,1-1 0,0-1 0,-4-13 0,9 25 0,1-1 0,-1 0 0,1 0 0,-1 0 0,1 0 0,0 0 0,0 0 0,0 0 0,0 1 0,0-1 0,1 0 0,-1 0 0,1 0 0,-1 0 0,1 0 0,-1 0 0,1 1 0,0-1 0,0 0 0,2-2 0,-1 2 0,0-1 0,1 1 0,-1 0 0,1 1 0,-1-1 0,1 0 0,0 1 0,0-1 0,-1 1 0,1 0 0,5-2 0,8 0 0,-1 1 0,1 0 0,0 0 0,16 2 0,-25 0 0,554 5 0,-545-5 0,-1-1 0,0 0 0,0-1 0,0-1 0,0-1 0,0 0 0,-1 0 0,0-2 0,0 0 0,0 0 0,0-2 0,-1 1 0,20-17 0,-30 21 0,0 1 0,1-1 0,-1 1 0,1-1 0,0 1 0,0 0 0,0 0 0,4-1 0,-7 3 0,0 0 0,0 0 0,0 0 0,0 0 0,0 0 0,0 0 0,1 0 0,-1 0 0,0 0 0,0 1 0,0-1 0,0 0 0,0 1 0,0-1 0,0 1 0,0-1 0,0 1 0,0-1 0,-1 1 0,1 0 0,0 0 0,0-1 0,0 1 0,-1 0 0,1 0 0,0 0 0,-1 0 0,1-1 0,-1 1 0,1 0 0,-1 0 0,0 0 0,1 0 0,-1 1 0,0-1 0,1 0 0,-1 1 0,0-1 0,3 10 0,0-1 0,1 1 0,1-1 0,9 18 0,-12-25 0,1 1 0,0-1 0,0 1 0,1-1 0,-1 0 0,1-1 0,-1 1 0,1 0 0,0-1 0,0 0 0,0 0 0,0 0 0,0 0 0,1-1 0,4 2 0,2-1 0,0 0 0,0-1 0,1 0 0,-1 0 0,0-1 0,0-1 0,0 0 0,0 0 0,0-1 0,0-1 0,0 0 0,0 0 0,11-6 0,-76 35 0,24-10 0,0-1 0,-61 19 0,18-19 0,49-11 0,1 0 0,-1 2 0,1 1 0,-32 13 0,-8 5 0,47-20 0,0 1 0,1 0 0,-23 14 0,33-17 0,1 0 0,0 0 0,0 0 0,0 1 0,0-1 0,1 1 0,-1 0 0,1 1 0,0-1 0,0 0 0,1 1 0,-1-1 0,1 1 0,0 0 0,-2 8 0,-8 48 0,10-42 0,-2 0 0,0 0 0,-10 26 0,13-40 0,-1 0 0,-1-1 0,1 1 0,-1-1 0,1 0 0,-1 0 0,-1 0 0,1 0 0,0 0 0,-1-1 0,0 0 0,0 1 0,0-1 0,0 0 0,0-1 0,-1 1 0,-8 3 0,11-6 12,1 1-1,-1-1 0,0 1 1,1-1-1,-1 1 1,0-1-1,1 0 0,-1 0 1,0 0-1,1 0 0,-1 0 1,0 0-1,0-1 1,1 1-1,-1-1 0,0 1 1,1-1-1,-1 1 0,1-1 1,-1 0-1,1 0 1,-1 0-1,1 0 0,-1 0 1,1 0-1,0 0 0,0 0 1,0 0-1,-2-3 1,0 0-202,0-1 0,0 0 1,1 0-1,0 0 0,0 0 1,0 0-1,1 0 1,-2-6-1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6:54.12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7:10.85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7:41.05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7:52.317"/>
    </inkml:context>
    <inkml:brush xml:id="br0">
      <inkml:brushProperty name="width" value="0.35" units="cm"/>
      <inkml:brushProperty name="height" value="0.35" units="cm"/>
      <inkml:brushProperty name="color" value="#FFFFFF"/>
    </inkml:brush>
  </inkml:definitions>
  <inkml:trace contextRef="#ctx0" brushRef="#br0">850 1155 24575,'2119'0'0,"-2087"-2"0,-1-1 0,0-2 0,0-1 0,59-21 0,43-8 0,-99 30 0,54 0 0,-61 5 0,1-1 0,0-2 0,37-8 0,34-9 0,13-3 0,-79 15 0,0 1 0,0 2 0,52-3 0,104 10 0,-78 0 0,397-2 0,-499 0 0,-1 0 0,1 1 0,0 0 0,0 0 0,-1 1 0,1 0 0,12 5 0,-19-6 0,0 0 0,0 0 0,-1 0 0,1 0 0,0 0 0,-1 0 0,1 1 0,-1-1 0,0 0 0,1 1 0,-1-1 0,0 1 0,0 0 0,0-1 0,0 1 0,0 0 0,0 0 0,0 0 0,-1-1 0,1 1 0,-1 0 0,1 0 0,-1 0 0,0 0 0,1 0 0,-1 0 0,0 0 0,-1 0 0,1 0 0,0 0 0,0 0 0,-1 0 0,1 0 0,-1 0 0,0-1 0,1 1 0,-1 0 0,0 0 0,-2 2 0,-3 8 0,0-1 0,-1 0 0,-1 0 0,0 0 0,0-1 0,-1 0 0,-1-1 0,-12 11 0,-13 7 0,-44 25 0,11-8 0,3-7 0,51-30 0,0 1 0,0 0 0,0 1 0,-18 16 0,23-18 0,0 0 0,0 0 0,-1-1 0,0 0 0,0-1 0,0 0 0,-1 0 0,1-1 0,-1-1 0,0 0 0,-1 0 0,-19 1 0,-11-1 0,-1-1 0,-48-6 0,13 0 0,36 3 0,0-2 0,1-2 0,-1-2 0,1-2 0,-74-25 0,91 26 0,-1 1 0,1 2 0,-1 0 0,-46-2 0,-104 8 0,79 2 0,-1587-1 0,868-4 0,788 0 0,-1-1 0,0-1 0,1-2 0,-40-12 0,62 16 0,1 0 0,-1 0 0,1 0 0,0 0 0,0-1 0,0 0 0,0 0 0,0 0 0,0 0 0,1 0 0,0-1 0,-1 1 0,1-1 0,1 0 0,-1 0 0,0 0 0,1-1 0,0 1 0,0 0 0,0-1 0,1 0 0,0 1 0,-1-1 0,1-5 0,-2-12 0,1-1 0,1 0 0,3-43 0,0 33 0,-2 8 0,0 4 0,0 0 0,2 0 0,0 0 0,1 0 0,1 1 0,1-1 0,1 1 0,10-23 0,-1 11 0,-1 1 0,1 1 0,2 0 0,29-40 0,-40 63 0,-1 0 0,2 0 0,-1 1 0,1 0 0,0 0 0,0 1 0,0-1 0,1 1 0,0 1 0,0 0 0,0 0 0,1 0 0,-1 1 0,1 1 0,0-1 0,-1 1 0,18-1 0,-17 3 0,0 0 0,0 0 0,0 1 0,0 1 0,0-1 0,-1 1 0,1 1 0,-1 0 0,1 0 0,9 5 0,4 5 0,0 1 0,23 19 0,-32-22 0,0-1 0,1-1 0,0 0 0,0 0 0,1-1 0,0-1 0,1-1 0,16 5 0,16-4 0,0-2 0,0-2 0,88-7 0,-32 1 0,-80 3 0,0-1 0,0-1 0,0-1 0,32-8 0,72-30 0,-101 32 0,0 2 0,1 0 0,30-2 0,27-5 0,-36 5 0,87-5 0,-65 9 0,47-13 0,-74 9 0,48-2 0,-17 9 0,-33 1 0,0-1 0,53-11 0,-35 3 0,1 2 0,115 0 0,-149 6 0,1-1 0,-1-1 0,28-7 0,-22 3 0,51-4 0,-47 8 0,55-13 0,-56 9 0,51-5 0,-62 11 0,-23 3 0,-5 1 0,-13 6 0,-24 7 0,-2-8 0,0-2 0,-48 1 0,45-4 0,-80 13 0,56-1 0,-121 30 0,-6 22 0,148-48 0,0 0 0,-53 28 0,56-23 0,-2-2 0,0-2 0,-75 20 0,101-34 0,0-1 0,-1-1 0,0-1 0,1 0 0,-1-2 0,0-1 0,0 0 0,0-2 0,1 0 0,-25-8 0,10 2 0,0 2 0,0 1 0,-56-2 0,-112 8 0,99 3 0,-548-3 0,630 2 0,0 0 0,1 2 0,-34 8 0,-36 6 0,82-17 0,-1 1 0,0 0 0,0 0 0,1 1 0,-14 6 0,22-8 0,-1 0 0,1 0 0,0 0 0,0 0 0,0 0 0,0 0 0,0 1 0,1-1 0,-1 1 0,0 0 0,1-1 0,-1 1 0,1 0 0,-1 0 0,1 0 0,0 0 0,0 0 0,0 0 0,0 0 0,0 0 0,0 0 0,1 1 0,-1-1 0,1 0 0,-1 1 0,1-1 0,0 0 0,0 1 0,0-1 0,0 0 0,1 5 0,1-4 0,-1-1 0,0 1 0,1 0 0,-1 0 0,1-1 0,0 1 0,0-1 0,0 1 0,0-1 0,0 0 0,1 0 0,-1 0 0,1 0 0,-1 0 0,1-1 0,0 1 0,-1-1 0,1 0 0,0 0 0,0 0 0,0 0 0,0 0 0,0 0 0,4 0 0,12 2 0,0-1 0,32 1 0,-41-3 0,394-6 0,-355-1 0,0-1 0,-1-3 0,83-31 0,-38 12 0,-33 11 0,1 3 0,1 3 0,1 2 0,73-3 0,232 14 0,-152 2 0,-179-4 0,0-1 0,51-12 0,-45 6 0,56-3 0,-61 9 0,0-1 0,0-3 0,-1-1 0,0-1 0,0-2 0,49-23 0,-54 22 0,0 2 0,1 0 0,0 2 0,0 2 0,59-4 0,174 10 0,-129 3 0,1216-3 0,-1338 1 0,0 0 0,0 1 0,0 1 0,0 0 0,-1 1 0,1 1 0,-1 0 0,0 0 0,0 2 0,-1 0 0,0 0 0,0 1 0,20 18 0,-26-21 0,0 1 0,-1 0 0,0 1 0,0 0 0,-1-1 0,1 2 0,-2-1 0,1 1 0,-1-1 0,0 1 0,0 0 0,-1 1 0,0-1 0,-1 1 0,0-1 0,0 1 0,-1 0 0,0-1 0,-1 1 0,1 0 0,-2 0 0,1 0 0,-1 0 0,-4 14 0,3-17 0,-1 1 0,1-1 0,-1 0 0,-1 0 0,1 0 0,-1-1 0,0 1 0,0-1 0,0 0 0,-1 0 0,-5 4 0,-10 8 0,-35 21 0,0 1 0,49-34 0,-16 14 0,-1-1 0,-1-1 0,-1 0 0,-49 23 0,68-38 0,0 0 0,0 0 0,0-1 0,0 0 0,0 0 0,0 0 0,0-1 0,0 0 0,0 0 0,0-1 0,0 1 0,-1-1 0,1-1 0,1 1 0,-1-1 0,0 0 0,0 0 0,-8-5 0,-4-4 0,0-2 0,1 1 0,0-2 0,-15-16 0,19 17 0,0 1 0,-2 0 0,1 0 0,-2 2 0,-16-10 0,31 19 0,-1 0 0,0 0 0,0 0 0,0 0 0,0 0 0,0 1 0,0-1 0,0 1 0,0-1 0,0 1 0,-1 0 0,1 0 0,0 0 0,0 0 0,0 0 0,0 0 0,0 0 0,0 1 0,0-1 0,0 1 0,-1 0 0,2-1 0,-1 1 0,0 0 0,0 0 0,0 0 0,0 0 0,0 1 0,1-1 0,-1 0 0,1 1 0,-1-1 0,1 1 0,-1 0 0,1-1 0,0 1 0,0 0 0,0 0 0,0 0 0,0 0 0,0 0 0,1 0 0,-2 3 0,-1 8 0,0 1 0,1 0 0,0 0 0,1 0 0,0 17 0,3 34 0,0-38 0,-1 0 0,-7 51 0,5-70 0,0 0 0,-1 0 0,-1 0 0,1 0 0,-1 0 0,-1-1 0,0 1 0,0-1 0,0 0 0,0 0 0,-1 0 0,-1-1 0,-10 11 0,-10 5 0,-1-2 0,-55 32 0,62-41 0,-1-1 0,0-1 0,0 0 0,-1-2 0,0-1 0,0 0 0,-34 3 0,48-9 0,-1 1 0,0-1 0,0-1 0,1 0 0,-1 0 0,0 0 0,1-1 0,-1-1 0,-14-5 0,17 5 0,1 0 0,-1-1 0,1 1 0,0-1 0,1 0 0,-1 0 0,1 0 0,0-1 0,0 0 0,0 0 0,0 0 0,1 0 0,0 0 0,0-1 0,-3-8 0,1 1 0,1-1 0,1 1 0,0-1 0,1 0 0,-1-25 0,5-76 0,1 55 0,-2 38 0,0 8 0,-1 1 0,0-1 0,-1 1 0,-2-15 0,2 25 0,0-1 0,0 1 0,0 0 0,0 0 0,0-1 0,-1 1 0,0 0 0,1 0 0,-1 0 0,0 0 0,-1 1 0,1-1 0,0 1 0,-1-1 0,1 1 0,-1 0 0,0 0 0,0 0 0,0 0 0,-5-2 0,-2 0 0,0 1 0,0 0 0,0 1 0,0 0 0,0 0 0,-14 1 0,-67 3 0,48 1 0,-756 3 0,526-7 0,244 3 0,1 1 0,-55 13 0,-13 1 0,65-12 0,-39 12 0,42-9 0,0-2 0,-29 3 0,21-6 0,-123 16 0,94-10 0,-76 2 0,47-5 0,-32 13 0,78-11 0,-53 4 0,-287-10 0,200-4 0,177 2 0,-1 0 0,1-1 0,0 0 0,0-1 0,-1 0 0,-20-7 0,28 7 0,0 0 0,0 0 0,0 0 0,0-1 0,1 1 0,-1-1 0,1 0 0,-1 0 0,1 0 0,0-1 0,0 1 0,1-1 0,-1 1 0,1-1 0,0 0 0,-1 0 0,2 0 0,-1 0 0,0 0 0,-1-7 0,0-5 0,1 1 0,0-1 0,1 0 0,1 0 0,1 1 0,0-1 0,0 0 0,2 1 0,0-1 0,1 1 0,0-1 0,9-18 0,-6 21 0,1 2 0,0-1 0,0 1 0,1 0 0,0 1 0,1 0 0,0 1 0,16-12 0,-9 7 0,-4 3 0,0 1 0,1 1 0,1 1 0,-1 0 0,1 0 0,24-7 0,5 1 0,51-9 0,-67 18 0,-1 1 0,1 1 0,31 1 0,-43 2 0,0 1 0,0 1 0,0 0 0,0 1 0,0 1 0,26 10 0,-15-4 0,0 2 0,-1 1 0,0 1 0,-1 1 0,-1 1 0,0 1 0,23 22 0,-40-33 0,0 0 0,1 0 0,0-1 0,0 0 0,0-1 0,0 0 0,1 0 0,-1 0 0,1-1 0,0-1 0,0 0 0,0 0 0,10 1 0,17 0 0,0-2 0,38-3 0,-28 1 0,43 1 0,84-5 0,-168 4 0,0 0 0,1 0 0,-1 0 0,0-1 0,0 0 0,0 0 0,0 0 0,-1 0 0,1-1 0,0 0 0,-1 0 0,0 0 0,0-1 0,6-5 0,1-4 0,0 0 0,-1-1 0,10-17 0,-2 2 0,-5 7 0,-1 0 0,-2 0 0,12-33 0,10-24 0,11-17 0,24-47 0,-51 113 0,21-50 0,-32 66 0,0 0 0,-1 0 0,-1 0 0,-1 0 0,0-1 0,1-19 0,-3 31 0,-1-1 0,1 1 0,-1-1 0,1 1 0,-1 0 0,0 0 0,0-1 0,0 1 0,-1 0 0,1 0 0,-1 0 0,0 0 0,0 1 0,0-1 0,0 0 0,0 1 0,0-1 0,-1 1 0,0 0 0,1 0 0,-1 0 0,0 0 0,0 0 0,0 0 0,0 1 0,0 0 0,0-1 0,-6 0 0,-8-2 0,1 0 0,-1 1 0,1 1 0,-25 1 0,37 1 0,-78-3 0,0 4 0,-110 15 0,162-9 0,0 1 0,1 2 0,0 0 0,0 2 0,-31 19 0,25-14 0,13-5 0,1 0 0,1 2 0,0 0 0,0 1 0,-25 26 0,7 0 0,-43 58 0,64-71 0,0 0 0,2 1 0,1 1 0,-13 39 0,2-8 0,20-49 0,0 0 0,1 0 0,0 0 0,1 1 0,-2 13 0,5-23 0,0 1 0,-1-1 0,2 0 0,-1 1 0,0-1 0,1 0 0,-1 1 0,1-1 0,0 0 0,0 0 0,0 0 0,1 0 0,-1 0 0,1 0 0,0 0 0,-1 0 0,1-1 0,0 1 0,1-1 0,-1 1 0,0-1 0,1 0 0,-1 0 0,5 3 0,-3-3 0,4 3 0,-1 0 0,0 1 0,11 10 0,-17-16 0,0 1 0,0-1 0,-1 1 0,1 0 0,0-1 0,-1 1 0,1 0 0,-1-1 0,1 1 0,-1 0 0,1 0 0,-1 0 0,1-1 0,-1 1 0,0 0 0,1 0 0,-1 0 0,0 0 0,0 0 0,0 0 0,0 0 0,0 0 0,0-1 0,0 1 0,0 0 0,0 0 0,0 0 0,0 0 0,-1 0 0,1 0 0,0 0 0,-1 0 0,1-1 0,0 1 0,-1 0 0,1 0 0,-1-1 0,0 1 0,1 0 0,-1 0 0,0-1 0,1 1 0,-1-1 0,0 1 0,1-1 0,-2 2 0,-5 1 0,0 0 0,1 0 0,-1-1 0,0 1 0,0-2 0,-1 1 0,-13 1 0,-59-1 0,52-2 0,-701-1 0,240-2 0,460 4 0,-45-3 0,69 2 0,0-1 0,-1 0 0,1 0 0,0-1 0,0 1 0,-1-1 0,1 0 0,1-1 0,-1 1 0,-7-6 0,11 8 0,0-1 0,0 1 0,1-1 0,-1 1 0,0-1 0,1 0 0,-1 1 0,0-1 0,1 0 0,-1 1 0,1-1 0,-1 0 0,1 0 0,0 1 0,-1-1 0,1 0 0,0 0 0,-1 0 0,1 0 0,0 0 0,0 1 0,0-1 0,0 0 0,0 0 0,0 0 0,0-2 0,0 2 0,1 0 0,0 0 0,0-1 0,0 1 0,-1 0 0,1 0 0,0 0 0,0 0 0,1 0 0,-1 0 0,0 0 0,0 1 0,0-1 0,3-1 0,4-2 0,0 1 0,1 0 0,-1 1 0,12-3 0,67-2-1365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7:55.995"/>
    </inkml:context>
    <inkml:brush xml:id="br0">
      <inkml:brushProperty name="width" value="0.35" units="cm"/>
      <inkml:brushProperty name="height" value="0.35" units="cm"/>
      <inkml:brushProperty name="color" value="#FFFFFF"/>
    </inkml:brush>
  </inkml:definitions>
  <inkml:trace contextRef="#ctx0" brushRef="#br0">2794 1 24492,'-2794'212'0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7:57.72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7:58.637"/>
    </inkml:context>
    <inkml:brush xml:id="br0">
      <inkml:brushProperty name="width" value="0.35" units="cm"/>
      <inkml:brushProperty name="height" value="0.35" units="cm"/>
      <inkml:brushProperty name="color" value="#FFFFFF"/>
    </inkml:brush>
  </inkml:definitions>
  <inkml:trace contextRef="#ctx0" brushRef="#br0">0 238 24575,'0'-7'0,"0"-9"0,7-10 0,3-7 0,-1-6 0,-2-3 0,-9 6 0,-11 9 0,-4 15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5:14.19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07.40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31.88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41.480"/>
    </inkml:context>
    <inkml:brush xml:id="br0">
      <inkml:brushProperty name="width" value="0.35" units="cm"/>
      <inkml:brushProperty name="height" value="0.35" units="cm"/>
      <inkml:brushProperty name="color" value="#FFFFFF"/>
    </inkml:brush>
  </inkml:definitions>
  <inkml:trace contextRef="#ctx0" brushRef="#br0">1 0 24566,'0'533'0,"2994"-533"0,-2994-533 0,-2994 533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44.87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48.413"/>
    </inkml:context>
    <inkml:brush xml:id="br0">
      <inkml:brushProperty name="width" value="0.35" units="cm"/>
      <inkml:brushProperty name="height" value="0.35" units="cm"/>
      <inkml:brushProperty name="color" value="#FFFFFF"/>
    </inkml:brush>
  </inkml:definitions>
  <inkml:trace contextRef="#ctx0" brushRef="#br0">0 432 24575,'451'0'0,"-404"4"0,0 1 0,-1 3 0,88 26 0,-88-23 0,0-1 0,1-3 0,0-2 0,60-1 0,-79-2 0,1 1 0,51 12 0,-47-7 0,52 3 0,342-7 0,-220-7 0,471 3 0,-652 2 0,1 1 0,-1 1 0,32 8 0,-27-5 0,55 7 0,313-11 0,-206-6 0,-127 5 0,-37 0 0,1-2 0,-1 0 0,0-2 0,34-7 0,-57 7 0,0 1 0,-1-1 0,1 0 0,-1-1 0,0 1 0,0-1 0,0 0 0,0-1 0,0 1 0,7-8 0,-1-1 0,-1-1 0,14-22 0,-21 31 0,3-4 0,1 0 0,1 0 0,-1 0 0,1 1 0,17-11 0,-17 13 0,-1-1 0,0 0 0,0 0 0,0 0 0,-1 0 0,0-1 0,0 0 0,7-13 0,-3 1 0,0-2 0,-2 1 0,0-2 0,-2 1 0,0 0 0,-1-1 0,-1 0 0,-1-1 0,-2 1 0,0-38 0,-2 56 0,1 0 0,-1 0 0,1 0 0,-1 0 0,0 1 0,-1-1 0,1 0 0,-1 1 0,0-1 0,1 1 0,-2 0 0,1-1 0,0 1 0,-1 0 0,1 0 0,-6-5 0,3 5 0,0-1 0,-1 1 0,1 0 0,0 1 0,-1-1 0,0 1 0,0 0 0,0 0 0,-11-1 0,-2 1 0,1 1 0,0 0 0,-1 2 0,1 0 0,0 1 0,-25 6 0,7 3 0,0 0 0,-46 24 0,51-21 0,0-1 0,0-2 0,-46 10 0,17-11 0,0 3 0,1 2 0,-80 32 0,113-36 0,-1-2 0,-1 0 0,0-2 0,0-1 0,-53 4 0,-143-10 0,-10 0 0,115 19 0,-6-1 0,-384-11 0,289-10 0,-1161 3-1365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49.86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8:53.368"/>
    </inkml:context>
    <inkml:brush xml:id="br0">
      <inkml:brushProperty name="width" value="0.35" units="cm"/>
      <inkml:brushProperty name="height" value="0.35" units="cm"/>
      <inkml:brushProperty name="color" value="#FFFFFF"/>
    </inkml:brush>
  </inkml:definitions>
  <inkml:trace contextRef="#ctx0" brushRef="#br0">0 427 24575,'1'-3'0,"0"-1"0,0 0 0,1 1 0,-1-1 0,1 1 0,0 0 0,0-1 0,0 1 0,0 0 0,5-5 0,4-8 0,52-100 0,-43 76 0,1 1 0,45-62 0,-61 95 0,1 0 0,0 0 0,-1 0 0,2 1 0,-1 0 0,1 1 0,-1-1 0,1 1 0,0 0 0,1 1 0,-1 0 0,13-4 0,-8 4 0,0 1 0,0 0 0,0 1 0,0 0 0,1 1 0,-1 1 0,19 2 0,-3 3 0,0 1 0,0 1 0,-1 1 0,-1 1 0,0 2 0,35 20 0,-46-24 0,0-1 0,0 0 0,1-2 0,0 0 0,0 0 0,1-2 0,-1 0 0,20 1 0,22-1 0,59-6 0,-34 0 0,722 2 0,-778 0 0,0-2 0,-1-1 0,31-8 0,-26 4 0,56-5 0,311 10 0,-204 5 0,949-2 0,-1121 0 0,-1 1 0,0 1 0,0 1 0,0 1 0,0 1 0,0 0 0,-1 2 0,0 0 0,28 15 0,-43-20 0,-1 1 0,0 0 0,0 0 0,0 0 0,-1 0 0,1 1 0,-1-1 0,1 1 0,-1 0 0,0 0 0,-1 0 0,1 1 0,-1-1 0,0 1 0,0-1 0,0 1 0,-1-1 0,1 1 0,-1 0 0,0 0 0,0 0 0,-1 0 0,0 0 0,0 8 0,-1-3 0,-1 0 0,0 0 0,0 0 0,-1-1 0,0 1 0,-1-1 0,0 1 0,-1-1 0,0 0 0,0-1 0,-8 10 0,-6 7 0,2 1 0,0 1 0,2 0 0,0 1 0,-19 58 0,27-71 0,0 1 0,-1-1 0,-1 0 0,0-1 0,-20 24 0,11-14 0,0-1 0,-1-1 0,0 0 0,-2-2 0,-1 0 0,0-1 0,-43 27 0,46-35 0,-1 0 0,0-2 0,0 0 0,-1-1 0,0-1 0,-1-1 0,1-1 0,-1-1 0,-32 3 0,-175-7 0,121-2 0,76-1 0,0-1 0,1-2 0,-1-1 0,2-1 0,-1-1 0,-38-19 0,33 14 0,0 1 0,0 1 0,-68-11 0,-24 5 0,-104-8 0,-488 24 0,354 4 0,359-2 0,-1 0 0,0 0 0,0-1 0,0-1 0,1 1 0,-1-1 0,0 0 0,1-1 0,0 0 0,-1 0 0,1-1 0,0 0 0,1 0 0,-12-9 0,-51-28 0,50 31 0,1 0 0,-33-26 0,39 26 0,7 6 0,0 1 0,0-1 0,0-1 0,1 1 0,0-1 0,0 1 0,0-1 0,-3-6 0,7 11 0,0-1 0,0 1 0,0-1 0,0 0 0,0 1 0,0-1 0,0 1 0,0-1 0,0 1 0,0-1 0,0 1 0,0-1 0,1 0 0,-1 1 0,0-1 0,0 1 0,0-1 0,1 1 0,-1-1 0,0 1 0,1 0 0,-1-1 0,0 1 0,1-1 0,-1 1 0,1 0 0,-1-1 0,1 1 0,-1 0 0,1-1 0,-1 1 0,1 0 0,-1 0 0,1-1 0,-1 1 0,1 0 0,-1 0 0,1 0 0,-1 0 0,1 0 0,0 0 0,28-4 0,-27 4 0,32-2-1365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9:00.86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9:10.061"/>
    </inkml:context>
    <inkml:brush xml:id="br0">
      <inkml:brushProperty name="width" value="0.35" units="cm"/>
      <inkml:brushProperty name="height" value="0.35" units="cm"/>
      <inkml:brushProperty name="color" value="#FFFFFF"/>
    </inkml:brush>
  </inkml:definitions>
  <inkml:trace contextRef="#ctx0" brushRef="#br0">426 469 24575,'549'-26'0,"346"6"0,-601 22 0,679-2 0,-936-2 0,-1-1 0,52-13 0,-44 8 0,48-4 0,0 11 0,-62 2 0,-1-2 0,1-1 0,0-1 0,39-9 0,-34 5 0,1 0 0,55-1 0,-28 3 0,-46 2 0,1-1 0,-1-1 0,0 0 0,0-1 0,17-9 0,-14 6 0,1 1 0,33-9 0,-42 15 0,0 0 0,0 0 0,0 1 0,0 1 0,1 0 0,21 3 0,-31-3 0,-1 1 0,1-1 0,-1 1 0,1-1 0,-1 1 0,1 0 0,-1 0 0,1 0 0,-1 0 0,0 1 0,0-1 0,0 1 0,0-1 0,0 1 0,0 0 0,0 0 0,0 0 0,-1 0 0,1 0 0,-1 0 0,1 0 0,-1 0 0,0 1 0,0-1 0,0 0 0,0 1 0,0-1 0,0 1 0,-1-1 0,0 1 0,1 0 0,-1-1 0,0 1 0,0-1 0,0 1 0,0 0 0,-1-1 0,0 3 0,0 0 0,0-1 0,0 0 0,-1 0 0,0 1 0,1-1 0,-1 0 0,-1-1 0,1 1 0,-1 0 0,1-1 0,-1 1 0,-4 3 0,-47 37 0,17-16 0,3 0 0,-2-2 0,0-2 0,-2-1 0,-1-2 0,0-1 0,-46 14 0,19-3 0,50-22 0,-1-1 0,0 0 0,-1-1 0,0-1 0,-36 7 0,-25-7 0,-131-7 0,78-3 0,51 6 0,-90-5 0,141-2 0,0-1 0,1-1 0,-45-17 0,48 14 0,0 1 0,-1 2 0,0 0 0,-44-3 0,-235 8 0,160 4 0,79 1 0,-87 16 0,85-9 0,-81 2 0,-698-12 0,344-2 0,492 2 0,0 0 0,0-1 0,1-1 0,-1 0 0,0 0 0,1-1 0,0-1 0,-1 0 0,-12-7 0,19 8 0,-1 0 0,1 0 0,0-1 0,0 0 0,0-1 0,0 1 0,1-1 0,-1 1 0,1-1 0,0-1 0,1 1 0,0 0 0,-1-1 0,2 0 0,-1 0 0,1 0 0,0 0 0,-3-10 0,2-2 0,0 0 0,1 0 0,1-1 0,1 1 0,0 0 0,1 0 0,1-1 0,1 1 0,1 0 0,0 1 0,1-1 0,1 1 0,1 0 0,0 0 0,1 1 0,1 0 0,12-16 0,1-1 0,-16 21 0,2 1 0,-1 1 0,19-20 0,-22 27 0,1-1 0,0 0 0,-1 1 0,2 0 0,-1 0 0,0 1 0,0-1 0,1 1 0,0 0 0,-1 1 0,1-1 0,7 0 0,32-2 0,-1 1 0,1 3 0,72 8 0,-2 12 0,-74-12 0,59 6 0,326-11 0,-217-6 0,172 3 0,-344-2 0,-1-1 0,52-13 0,-44 8 0,47-4 0,-18 10 0,-45 2 0,0-1 0,0-1 0,53-11 0,-43 3 0,15-6 0,1 3 0,0 2 0,101-8 0,465 19 0,-265 2 0,-321-3 0,-18 0 0,0 1 0,1 0 0,-1 1 0,0 1 0,17 3 0,-30-4 0,0 0 0,1 0 0,-1 1 0,0-1 0,1 1 0,-1-1 0,0 1 0,0 0 0,-1 0 0,1 0 0,0 1 0,-1-1 0,1 1 0,-1-1 0,0 1 0,1 0 0,-1 0 0,-1 0 0,1 0 0,0 0 0,-1 1 0,0-1 0,1 0 0,-1 1 0,-1-1 0,1 0 0,0 1 0,-1 5 0,0 0 0,0 1 0,0-1 0,-1 0 0,-1 0 0,0 1 0,0-1 0,-1 0 0,0 0 0,0-1 0,-1 1 0,0-1 0,-1 1 0,-6 8 0,2-3 0,-2-1 0,0 0 0,0-1 0,-1 0 0,-1 0 0,-20 14 0,-5 1 0,11-7 0,-32 17 0,32-22 0,0 2 0,-39 31 0,58-42 0,1 0 0,0 1 0,0 0 0,1 0 0,0 1 0,0 0 0,1 0 0,0 0 0,0 1 0,1-1 0,0 1 0,-5 17 0,3-2 0,-1 1 0,-1-1 0,-1 0 0,-18 32 0,8-12 0,16-35 0,-1 0 0,0 1 0,0-2 0,-1 1 0,0-1 0,-10 13 0,-14 10 0,-2-2 0,-1-1 0,-1-1 0,-2-2 0,-58 33 0,81-52 0,-1-1 0,0 0 0,-1 0 0,1-1 0,-1-1 0,0-1 0,-21 2 0,-101-4 0,86-1 0,29-1 0,1 0 0,0-1 0,0 0 0,1-2 0,-1-1 0,1 0 0,0-1 0,-20-11 0,-89-34 0,3 9 0,103 35 0,0 2 0,-1 1 0,1 1 0,-43-2 0,-96 6 0,78 3 0,68-3 0,-30 1 0,-1-2 0,1-1 0,-58-12 0,42 3 0,0 2 0,-72 0 0,-126 10 0,95 1 0,-513-2 0,665 0 0,0-1 0,-1-1 0,1 0 0,0-1 0,1 0 0,-1-1 0,0 0 0,1 0 0,0-2 0,0 1 0,0-1 0,1-1 0,0 0 0,0 0 0,1-1 0,0-1 0,0 1 0,1-1 0,0-1 0,1 1 0,-11-18 0,10 15 0,-2 0 0,0 1 0,0 0 0,-1 0 0,-20-14 0,14 11 0,-25-26 0,37 35 0,1-1 0,0 0 0,0 1 0,0-2 0,1 1 0,-1 0 0,2-1 0,-1 1 0,-2-9 0,3 5 0,0 0 0,0 0 0,1-1 0,1 1 0,-1 0 0,2 0 0,-1 0 0,2 0 0,3-19 0,-3 24 0,-1 1 0,1-1 0,0 1 0,0-1 0,0 1 0,1 0 0,-1 0 0,1 0 0,0 0 0,0 1 0,0-1 0,1 1 0,-1 0 0,1 0 0,0 0 0,0 0 0,0 0 0,0 1 0,1 0 0,-1 0 0,1 0 0,-1 1 0,6-2 0,14-2 0,0 1 0,0 2 0,0 0 0,0 1 0,28 4 0,124 21 0,-111-12 0,76 2 0,286-14 0,48 1 0,-256 19 0,60 2 0,-151-23 0,128 5 0,-212 0 0,0 1 0,0 2 0,73 23 0,-84-20 0,-1-2 0,1-1 0,0-1 0,1-2 0,51 0 0,-71-5 0,1 2 0,0 0 0,-1 0 0,1 1 0,-1 1 0,1 1 0,-1 0 0,0 0 0,-1 2 0,1 0 0,-1 0 0,0 1 0,22 16 0,-2 1 0,2-2 0,1-1 0,52 22 0,-53-28 0,1-2 0,63 15 0,80 5 0,21 6 0,-135-22 0,-1 3 0,96 43 0,-157-61 0,1 0 0,-1 0 0,0 0 0,0 0 0,0 0 0,0 1 0,0 0 0,0-1 0,-1 1 0,1 0 0,-1 0 0,0 0 0,0 1 0,0-1 0,0 0 0,-1 1 0,1-1 0,-1 1 0,0 0 0,0-1 0,0 1 0,0 4 0,2 4 0,4-74 0,-5-27 0,-6-170 0,3 255 0,1-1 0,-1 1 0,-1 0 0,1-1 0,-1 1 0,1 0 0,-1 0 0,-1 0 0,1 0 0,0 0 0,-1 1 0,0-1 0,0 1 0,0-1 0,0 1 0,0 0 0,-1 0 0,1 1 0,-6-4 0,6 4 0,1 1 0,-1 0 0,0 0 0,0-1 0,1 2 0,-1-1 0,0 0 0,0 0 0,0 1 0,0 0 0,0 0 0,0-1 0,0 2 0,0-1 0,0 0 0,0 1 0,0-1 0,0 1 0,0 0 0,1 0 0,-1 0 0,0 0 0,0 0 0,1 1 0,-1-1 0,1 1 0,-1 0 0,1 0 0,-4 3 0,2 1-105,0 0 0,0 0 0,1 1 0,-1-1 0,2 1 0,-1-1 0,1 1 0,-1 0 0,2 0 0,-1 0 0,1 0 0,0 14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9:18.49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06:29:25.106"/>
    </inkml:context>
    <inkml:brush xml:id="br0">
      <inkml:brushProperty name="width" value="0.35" units="cm"/>
      <inkml:brushProperty name="height" value="0.35" units="cm"/>
      <inkml:brushProperty name="color" value="#FFFFFF"/>
    </inkml:brush>
  </inkml:definitions>
  <inkml:trace contextRef="#ctx0" brushRef="#br0">431 306 24575,'39'-1'0,"0"-2"0,-1-2 0,59-15 0,-38 7 0,456-102 0,73-15 0,-525 121 0,0 3 0,0 3 0,99 7 0,-22 0 0,1808-5 0,-1932 1 0,0 1 0,0 1 0,1 0 0,-1 1 0,22 7 0,-33-9 0,0 1 0,0 0 0,0 0 0,0 0 0,0 1 0,-1 0 0,1 0 0,-1 0 0,0 0 0,1 1 0,-2 0 0,1 0 0,0 0 0,-1 0 0,0 0 0,0 1 0,0 0 0,0-1 0,3 10 0,-4-8 0,0 1 0,0-1 0,-1 0 0,1 1 0,-2-1 0,1 1 0,-1-1 0,0 1 0,0 0 0,0-1 0,-1 1 0,0-1 0,-1 1 0,0-1 0,0 0 0,0 0 0,0 0 0,-1 0 0,0 0 0,0 0 0,-1 0 0,0-1 0,0 0 0,0 0 0,0 0 0,-6 4 0,-34 34 0,-44 54 0,40-41 0,29-37 0,0 0 0,-2-1 0,0-1 0,-1-2 0,-1 0 0,0-1 0,-1-1 0,0-1 0,-1-1 0,-33 10 0,40-16 0,-11 5 0,-1-1 0,0-1 0,-1-2 0,-48 4 0,66-10 0,-24 3 0,0-2 0,0-2 0,1-1 0,-1-2 0,-45-11 0,42 5 0,-72-6 0,-5-2 0,74 9 0,-1 2 0,0 1 0,-1 3 0,1 1 0,0 3 0,-1 1 0,-72 14 0,56-5 0,0-2 0,-73 1 0,-125-11 0,98-2 0,68 2 0,-111 4 0,154 3 0,-98 28 0,100-21 0,-1-2 0,-53 5 0,-49 5 0,-22 2 0,128-19 0,-58 14 0,57-9 0,-55 4 0,-231-11 0,173-4 0,139 2 0,0-1 0,0-1 0,0 0 0,0-2 0,1 0 0,-21-8 0,34 10 0,0-1 0,-1 1 0,1-1 0,0 0 0,0-1 0,0 1 0,1-1 0,0-1 0,-1 1 0,1-1 0,1 1 0,-1-1 0,1-1 0,0 1 0,0-1 0,0 1 0,1-1 0,0 0 0,0-1 0,0 1 0,-2-9 0,1-5 0,1 0 0,1 0 0,0-35 0,2 46 0,0 1 0,1-1 0,0 1 0,1-1 0,0 1 0,0-1 0,1 1 0,0 0 0,0 0 0,1 0 0,5-8 0,73-84 0,-27 30 0,-47 57 0,1 1 0,0 0 0,0 0 0,1 1 0,1 0 0,0 1 0,0 1 0,1-1 0,0 2 0,23-13 0,-15 14 0,0 1 0,0 0 0,1 2 0,0 0 0,-1 2 0,1 0 0,0 1 0,0 1 0,0 1 0,0 1 0,0 1 0,0 1 0,-1 1 0,1 0 0,-1 2 0,36 16 0,-38-15 0,0 0 0,1-2 0,-1 0 0,2-1 0,-1-1 0,0-1 0,1 0 0,28-1 0,1 1 0,-15 2 0,34 9 0,-38-8 0,54 7 0,373-10 0,-233-6 0,662 3 0,-838-2 0,-1-3 0,56-13 0,-58 10 0,49-11 0,-41 7 0,100-8 0,268 18 0,-201 4 0,-181-1 0,-22 0 0,0 0 0,-1-2 0,1 0 0,0-1 0,20-4 0,-36 6 0,0-1 0,0 1 0,0 0 0,0 0 0,0-1 0,0 1 0,0-1 0,0 1 0,0-1 0,0 1 0,0-1 0,0 1 0,0-1 0,-1 0 0,1 0 0,0 1 0,0-1 0,0-1 0,-1 1 0,0 1 0,0-1 0,0 1 0,-1-1 0,1 1 0,0 0 0,0-1 0,-1 1 0,1-1 0,0 1 0,0-1 0,-1 1 0,1 0 0,0-1 0,-1 1 0,1 0 0,-1-1 0,1 1 0,0 0 0,-1 0 0,1-1 0,-1 1 0,1 0 0,-1 0 0,1 0 0,-1 0 0,-43-11 0,13 11 0,-1 1 0,1 1 0,0 1 0,0 2 0,0 1 0,-36 13 0,-86 14 0,5-21 0,-208-10 0,162-5 0,168 5 0,0 1 0,-1 0 0,-30 10 0,27-6 0,-57 7 0,-32-12 0,76-3 0,1 2 0,-1 2 0,-48 10 0,33-3 0,-1-2 0,-60 0 0,50-5 0,-120 15 0,-49 3 0,79-22 0,-52 4 0,196-1 0,0 1 0,0 1 0,1 0 0,0 2 0,-22 9 0,-35 13 0,33-20 0,0-1 0,-1-1 0,-45-1 0,-121-7 0,70-2 0,-246 4 0,373 0 22,-2 0 41,1 0-1,-1 1 1,1 0 0,-11 2-1,18-3-125,0 1 0,1-1 0,-1 1 0,0 0 0,0-1 0,1 1 0,-1 0 0,0 0 0,1 0 0,-1 0 0,1 0 0,0 0 0,-1 1 1,1-1-1,0 1 0,0-1 0,-1 0 0,1 1 0,0 0 0,0-1 0,1 1 0,-1 0 0,0-1 0,1 1 0,-1 0 0,0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6490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customXml" Target="../ink/ink2.xml"/><Relationship Id="rId5" Type="http://schemas.openxmlformats.org/officeDocument/2006/relationships/image" Target="../media/image5.png"/><Relationship Id="rId10" Type="http://schemas.openxmlformats.org/officeDocument/2006/relationships/image" Target="../media/image7.png"/><Relationship Id="rId4" Type="http://schemas.openxmlformats.org/officeDocument/2006/relationships/customXml" Target="../ink/ink1.xml"/><Relationship Id="rId9" Type="http://schemas.openxmlformats.org/officeDocument/2006/relationships/customXml" Target="../ink/ink4.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png"/><Relationship Id="rId7" Type="http://schemas.openxmlformats.org/officeDocument/2006/relationships/customXml" Target="../ink/ink7.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customXml" Target="../ink/ink6.xml"/><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customXml" Target="../ink/ink9.xml"/><Relationship Id="rId4" Type="http://schemas.openxmlformats.org/officeDocument/2006/relationships/customXml" Target="../ink/ink5.xml"/><Relationship Id="rId9" Type="http://schemas.openxmlformats.org/officeDocument/2006/relationships/customXml" Target="../ink/ink8.xml"/></Relationships>
</file>

<file path=ppt/slides/_rels/slide5.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customXml" Target="../ink/ink16.xml"/><Relationship Id="rId3" Type="http://schemas.openxmlformats.org/officeDocument/2006/relationships/image" Target="../media/image11.png"/><Relationship Id="rId7" Type="http://schemas.openxmlformats.org/officeDocument/2006/relationships/customXml" Target="../ink/ink12.xml"/><Relationship Id="rId12" Type="http://schemas.openxmlformats.org/officeDocument/2006/relationships/customXml" Target="../ink/ink15.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ustomXml" Target="../ink/ink11.xml"/><Relationship Id="rId11" Type="http://schemas.openxmlformats.org/officeDocument/2006/relationships/image" Target="../media/image13.png"/><Relationship Id="rId5" Type="http://schemas.openxmlformats.org/officeDocument/2006/relationships/image" Target="../media/image5.png"/><Relationship Id="rId10" Type="http://schemas.openxmlformats.org/officeDocument/2006/relationships/customXml" Target="../ink/ink14.xml"/><Relationship Id="rId4" Type="http://schemas.openxmlformats.org/officeDocument/2006/relationships/customXml" Target="../ink/ink10.xml"/><Relationship Id="rId9" Type="http://schemas.openxmlformats.org/officeDocument/2006/relationships/image" Target="../media/image12.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customXml" Target="../ink/ink17.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24.xml"/><Relationship Id="rId3" Type="http://schemas.openxmlformats.org/officeDocument/2006/relationships/image" Target="../media/image16.png"/><Relationship Id="rId7" Type="http://schemas.openxmlformats.org/officeDocument/2006/relationships/customXml" Target="../ink/ink20.xml"/><Relationship Id="rId12" Type="http://schemas.openxmlformats.org/officeDocument/2006/relationships/customXml" Target="../ink/ink23.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customXml" Target="../ink/ink19.xml"/><Relationship Id="rId11" Type="http://schemas.openxmlformats.org/officeDocument/2006/relationships/image" Target="../media/image18.png"/><Relationship Id="rId5" Type="http://schemas.openxmlformats.org/officeDocument/2006/relationships/image" Target="../media/image5.png"/><Relationship Id="rId10" Type="http://schemas.openxmlformats.org/officeDocument/2006/relationships/customXml" Target="../ink/ink22.xml"/><Relationship Id="rId4" Type="http://schemas.openxmlformats.org/officeDocument/2006/relationships/customXml" Target="../ink/ink18.xml"/><Relationship Id="rId9" Type="http://schemas.openxmlformats.org/officeDocument/2006/relationships/customXml" Target="../ink/ink21.xml"/><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customXml" Target="../ink/ink26.xml"/><Relationship Id="rId5" Type="http://schemas.openxmlformats.org/officeDocument/2006/relationships/image" Target="../media/image5.png"/><Relationship Id="rId4" Type="http://schemas.openxmlformats.org/officeDocument/2006/relationships/customXml" Target="../ink/ink25.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png"/><Relationship Id="rId7" Type="http://schemas.openxmlformats.org/officeDocument/2006/relationships/customXml" Target="../ink/ink27.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6.png"/><Relationship Id="rId4" Type="http://schemas.openxmlformats.org/officeDocument/2006/relationships/image" Target="../media/image23.png"/><Relationship Id="rId9" Type="http://schemas.openxmlformats.org/officeDocument/2006/relationships/customXml" Target="../ink/ink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2118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Stock Price Prediction with LSTMs</a:t>
            </a:r>
            <a:endParaRPr lang="en-US" sz="4450" dirty="0"/>
          </a:p>
        </p:txBody>
      </p:sp>
      <p:sp>
        <p:nvSpPr>
          <p:cNvPr id="4" name="Text 1"/>
          <p:cNvSpPr/>
          <p:nvPr/>
        </p:nvSpPr>
        <p:spPr>
          <a:xfrm>
            <a:off x="793790" y="3578900"/>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Predict stock prices using Long Short-Term Memory networks. Utilize time-series data for better financial forecasting. Enhance investment strategies with advanced machine learning techniques. With the rise of deep learning techniques, models such as Long Short-Term Memory (LSTM) networks have emerged as powerful tools for time-series forecasting.</a:t>
            </a:r>
            <a:endParaRPr lang="en-US" sz="1750" dirty="0"/>
          </a:p>
        </p:txBody>
      </p:sp>
      <p:sp>
        <p:nvSpPr>
          <p:cNvPr id="5" name="Shape 2"/>
          <p:cNvSpPr/>
          <p:nvPr/>
        </p:nvSpPr>
        <p:spPr>
          <a:xfrm>
            <a:off x="793790" y="6028373"/>
            <a:ext cx="362903" cy="362903"/>
          </a:xfrm>
          <a:prstGeom prst="roundRect">
            <a:avLst>
              <a:gd name="adj" fmla="val 25194296"/>
            </a:avLst>
          </a:prstGeom>
          <a:noFill/>
          <a:ln w="7620">
            <a:solidFill>
              <a:srgbClr val="FFFFFF"/>
            </a:solidFill>
            <a:prstDash val="solid"/>
          </a:ln>
        </p:spPr>
      </p:sp>
      <p:sp>
        <p:nvSpPr>
          <p:cNvPr id="7" name="Text 3"/>
          <p:cNvSpPr/>
          <p:nvPr/>
        </p:nvSpPr>
        <p:spPr>
          <a:xfrm>
            <a:off x="1270040" y="6011466"/>
            <a:ext cx="2378988" cy="396835"/>
          </a:xfrm>
          <a:prstGeom prst="rect">
            <a:avLst/>
          </a:prstGeom>
          <a:noFill/>
          <a:ln/>
        </p:spPr>
        <p:txBody>
          <a:bodyPr wrap="none" lIns="0" tIns="0" rIns="0" bIns="0" rtlCol="0" anchor="t"/>
          <a:lstStyle/>
          <a:p>
            <a:pPr marL="0" indent="0" algn="l">
              <a:lnSpc>
                <a:spcPts val="3100"/>
              </a:lnSpc>
              <a:buNone/>
            </a:pPr>
            <a:r>
              <a:rPr lang="en-US" sz="2200" b="1" dirty="0">
                <a:solidFill>
                  <a:srgbClr val="504C49"/>
                </a:solidFill>
                <a:latin typeface="Source Serif Pro Bold" pitchFamily="34" charset="0"/>
                <a:ea typeface="Source Serif Pro Bold" pitchFamily="34" charset="-122"/>
                <a:cs typeface="Source Serif Pro Bold" pitchFamily="34" charset="-120"/>
              </a:rPr>
              <a:t>by Sakshi Tripathi</a:t>
            </a:r>
          </a:p>
          <a:p>
            <a:pPr marL="0" indent="0" algn="l">
              <a:lnSpc>
                <a:spcPts val="3100"/>
              </a:lnSpc>
              <a:buNone/>
            </a:pPr>
            <a:r>
              <a:rPr lang="en-US" sz="2200" b="1" dirty="0" err="1">
                <a:solidFill>
                  <a:srgbClr val="504C49"/>
                </a:solidFill>
                <a:latin typeface="Source Serif Pro Bold" pitchFamily="34" charset="0"/>
                <a:ea typeface="Source Serif Pro Bold" pitchFamily="34" charset="-122"/>
              </a:rPr>
              <a:t>Sandali</a:t>
            </a:r>
            <a:r>
              <a:rPr lang="en-US" sz="2200" b="1" dirty="0">
                <a:solidFill>
                  <a:srgbClr val="504C49"/>
                </a:solidFill>
                <a:latin typeface="Source Serif Pro Bold" pitchFamily="34" charset="0"/>
                <a:ea typeface="Source Serif Pro Bold" pitchFamily="34" charset="-122"/>
              </a:rPr>
              <a:t> Srivastava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0331" y="751403"/>
            <a:ext cx="5789890" cy="661035"/>
          </a:xfrm>
          <a:prstGeom prst="rect">
            <a:avLst/>
          </a:prstGeom>
          <a:noFill/>
          <a:ln/>
        </p:spPr>
        <p:txBody>
          <a:bodyPr wrap="none" lIns="0" tIns="0" rIns="0" bIns="0" rtlCol="0" anchor="t"/>
          <a:lstStyle/>
          <a:p>
            <a:pPr marL="0" indent="0" algn="l">
              <a:lnSpc>
                <a:spcPts val="5200"/>
              </a:lnSpc>
              <a:buNone/>
            </a:pPr>
            <a:r>
              <a:rPr lang="en-US" sz="4150" dirty="0">
                <a:solidFill>
                  <a:srgbClr val="201B18"/>
                </a:solidFill>
                <a:latin typeface="Platypi Medium" pitchFamily="34" charset="0"/>
                <a:ea typeface="Platypi Medium" pitchFamily="34" charset="-122"/>
                <a:cs typeface="Platypi Medium" pitchFamily="34" charset="-120"/>
              </a:rPr>
              <a:t>Understanding LSTMs</a:t>
            </a:r>
            <a:endParaRPr lang="en-US" sz="4150" dirty="0"/>
          </a:p>
        </p:txBody>
      </p:sp>
      <p:sp>
        <p:nvSpPr>
          <p:cNvPr id="4" name="Text 1"/>
          <p:cNvSpPr/>
          <p:nvPr/>
        </p:nvSpPr>
        <p:spPr>
          <a:xfrm>
            <a:off x="740331" y="1729740"/>
            <a:ext cx="7663339" cy="676989"/>
          </a:xfrm>
          <a:prstGeom prst="rect">
            <a:avLst/>
          </a:prstGeom>
          <a:noFill/>
          <a:ln/>
        </p:spPr>
        <p:txBody>
          <a:bodyPr wrap="square" lIns="0" tIns="0" rIns="0" bIns="0" rtlCol="0" anchor="t"/>
          <a:lstStyle/>
          <a:p>
            <a:pPr marL="0" indent="0" algn="l">
              <a:lnSpc>
                <a:spcPts val="2650"/>
              </a:lnSpc>
              <a:buNone/>
            </a:pPr>
            <a:r>
              <a:rPr lang="en-US" sz="1650" dirty="0">
                <a:solidFill>
                  <a:srgbClr val="504C49"/>
                </a:solidFill>
                <a:latin typeface="Source Serif Pro" pitchFamily="34" charset="0"/>
                <a:ea typeface="Source Serif Pro" pitchFamily="34" charset="-122"/>
                <a:cs typeface="Source Serif Pro" pitchFamily="34" charset="-120"/>
              </a:rPr>
              <a:t>LSTMs overcome the limits of traditional RNNs by managing long-term dependencies. </a:t>
            </a:r>
            <a:endParaRPr lang="en-US" sz="1650" dirty="0"/>
          </a:p>
        </p:txBody>
      </p:sp>
      <p:sp>
        <p:nvSpPr>
          <p:cNvPr id="5" name="Text 2"/>
          <p:cNvSpPr/>
          <p:nvPr/>
        </p:nvSpPr>
        <p:spPr>
          <a:xfrm>
            <a:off x="740331" y="2644616"/>
            <a:ext cx="7663339" cy="1353979"/>
          </a:xfrm>
          <a:prstGeom prst="rect">
            <a:avLst/>
          </a:prstGeom>
          <a:noFill/>
          <a:ln/>
        </p:spPr>
        <p:txBody>
          <a:bodyPr wrap="square" lIns="0" tIns="0" rIns="0" bIns="0" rtlCol="0" anchor="t"/>
          <a:lstStyle/>
          <a:p>
            <a:pPr marL="0" indent="0" algn="l">
              <a:lnSpc>
                <a:spcPts val="2650"/>
              </a:lnSpc>
              <a:buNone/>
            </a:pPr>
            <a:r>
              <a:rPr lang="en-US" sz="1650" dirty="0">
                <a:solidFill>
                  <a:srgbClr val="504C49"/>
                </a:solidFill>
                <a:latin typeface="Source Serif Pro" pitchFamily="34" charset="0"/>
                <a:ea typeface="Source Serif Pro" pitchFamily="34" charset="-122"/>
                <a:cs typeface="Source Serif Pro" pitchFamily="34" charset="-120"/>
              </a:rPr>
              <a:t>In the context of stock market prediction, LSTMs can learn and remember relevant trends, fluctuations, and seasonal patterns in historical data. This makes them an ideal choice for building predictive models that attempt to forecast future stock prices based on past behaviors.</a:t>
            </a:r>
            <a:endParaRPr lang="en-US" sz="1650" dirty="0"/>
          </a:p>
        </p:txBody>
      </p:sp>
      <p:sp>
        <p:nvSpPr>
          <p:cNvPr id="6" name="Text 3"/>
          <p:cNvSpPr/>
          <p:nvPr/>
        </p:nvSpPr>
        <p:spPr>
          <a:xfrm>
            <a:off x="740331" y="4236482"/>
            <a:ext cx="7663339" cy="676989"/>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504C49"/>
                </a:solidFill>
                <a:latin typeface="Source Serif Pro" pitchFamily="34" charset="0"/>
                <a:ea typeface="Source Serif Pro" pitchFamily="34" charset="-122"/>
                <a:cs typeface="Source Serif Pro" pitchFamily="34" charset="-120"/>
              </a:rPr>
              <a:t>LSTM (Long Short-Term Memory)</a:t>
            </a:r>
            <a:r>
              <a:rPr lang="en-US" sz="1650" dirty="0">
                <a:solidFill>
                  <a:srgbClr val="504C49"/>
                </a:solidFill>
                <a:latin typeface="Source Serif Pro" pitchFamily="34" charset="0"/>
                <a:ea typeface="Source Serif Pro" pitchFamily="34" charset="-122"/>
                <a:cs typeface="Source Serif Pro" pitchFamily="34" charset="-120"/>
              </a:rPr>
              <a:t> is a special type of neural network designed to work with sequence data like time series.</a:t>
            </a:r>
            <a:endParaRPr lang="en-US" sz="1650" dirty="0"/>
          </a:p>
        </p:txBody>
      </p:sp>
      <p:sp>
        <p:nvSpPr>
          <p:cNvPr id="7" name="Text 4"/>
          <p:cNvSpPr/>
          <p:nvPr/>
        </p:nvSpPr>
        <p:spPr>
          <a:xfrm>
            <a:off x="740331" y="4987409"/>
            <a:ext cx="7663339" cy="676989"/>
          </a:xfrm>
          <a:prstGeom prst="rect">
            <a:avLst/>
          </a:prstGeom>
          <a:noFill/>
          <a:ln/>
        </p:spPr>
        <p:txBody>
          <a:bodyPr wrap="square" lIns="0" tIns="0" rIns="0" bIns="0" rtlCol="0" anchor="t"/>
          <a:lstStyle/>
          <a:p>
            <a:pPr marL="342900" indent="-342900" algn="l">
              <a:lnSpc>
                <a:spcPts val="2650"/>
              </a:lnSpc>
              <a:buSzPct val="100000"/>
              <a:buChar char="•"/>
            </a:pPr>
            <a:r>
              <a:rPr lang="en-US" sz="1650" dirty="0">
                <a:solidFill>
                  <a:srgbClr val="504C49"/>
                </a:solidFill>
                <a:latin typeface="Source Serif Pro" pitchFamily="34" charset="0"/>
                <a:ea typeface="Source Serif Pro" pitchFamily="34" charset="-122"/>
                <a:cs typeface="Source Serif Pro" pitchFamily="34" charset="-120"/>
              </a:rPr>
              <a:t>LSTM uses </a:t>
            </a:r>
            <a:r>
              <a:rPr lang="en-US" sz="1650" b="1" dirty="0">
                <a:solidFill>
                  <a:srgbClr val="504C49"/>
                </a:solidFill>
                <a:latin typeface="Source Serif Pro" pitchFamily="34" charset="0"/>
                <a:ea typeface="Source Serif Pro" pitchFamily="34" charset="-122"/>
                <a:cs typeface="Source Serif Pro" pitchFamily="34" charset="-120"/>
              </a:rPr>
              <a:t>memory cells</a:t>
            </a:r>
            <a:r>
              <a:rPr lang="en-US" sz="1650" dirty="0">
                <a:solidFill>
                  <a:srgbClr val="504C49"/>
                </a:solidFill>
                <a:latin typeface="Source Serif Pro" pitchFamily="34" charset="0"/>
                <a:ea typeface="Source Serif Pro" pitchFamily="34" charset="-122"/>
                <a:cs typeface="Source Serif Pro" pitchFamily="34" charset="-120"/>
              </a:rPr>
              <a:t> that can keep or forget information through </a:t>
            </a:r>
            <a:r>
              <a:rPr lang="en-US" sz="1650" b="1" dirty="0">
                <a:solidFill>
                  <a:srgbClr val="504C49"/>
                </a:solidFill>
                <a:latin typeface="Source Serif Pro" pitchFamily="34" charset="0"/>
                <a:ea typeface="Source Serif Pro" pitchFamily="34" charset="-122"/>
                <a:cs typeface="Source Serif Pro" pitchFamily="34" charset="-120"/>
              </a:rPr>
              <a:t>gates</a:t>
            </a:r>
            <a:r>
              <a:rPr lang="en-US" sz="1650" dirty="0">
                <a:solidFill>
                  <a:srgbClr val="504C49"/>
                </a:solidFill>
                <a:latin typeface="Source Serif Pro" pitchFamily="34" charset="0"/>
                <a:ea typeface="Source Serif Pro" pitchFamily="34" charset="-122"/>
                <a:cs typeface="Source Serif Pro" pitchFamily="34" charset="-120"/>
              </a:rPr>
              <a:t>: input gate, forget gate, and output gate.</a:t>
            </a:r>
            <a:endParaRPr lang="en-US" sz="1650" dirty="0"/>
          </a:p>
        </p:txBody>
      </p:sp>
      <p:sp>
        <p:nvSpPr>
          <p:cNvPr id="8" name="Text 5"/>
          <p:cNvSpPr/>
          <p:nvPr/>
        </p:nvSpPr>
        <p:spPr>
          <a:xfrm>
            <a:off x="740331" y="5738336"/>
            <a:ext cx="7663339" cy="338495"/>
          </a:xfrm>
          <a:prstGeom prst="rect">
            <a:avLst/>
          </a:prstGeom>
          <a:noFill/>
          <a:ln/>
        </p:spPr>
        <p:txBody>
          <a:bodyPr wrap="none" lIns="0" tIns="0" rIns="0" bIns="0" rtlCol="0" anchor="t"/>
          <a:lstStyle/>
          <a:p>
            <a:pPr marL="342900" indent="-342900" algn="l">
              <a:lnSpc>
                <a:spcPts val="2650"/>
              </a:lnSpc>
              <a:buSzPct val="100000"/>
              <a:buChar char="•"/>
            </a:pPr>
            <a:r>
              <a:rPr lang="en-US" sz="1650" dirty="0">
                <a:solidFill>
                  <a:srgbClr val="504C49"/>
                </a:solidFill>
                <a:latin typeface="Source Serif Pro" pitchFamily="34" charset="0"/>
                <a:ea typeface="Source Serif Pro" pitchFamily="34" charset="-122"/>
                <a:cs typeface="Source Serif Pro" pitchFamily="34" charset="-120"/>
              </a:rPr>
              <a:t>The </a:t>
            </a:r>
            <a:r>
              <a:rPr lang="en-US" sz="1650" b="1" dirty="0">
                <a:solidFill>
                  <a:srgbClr val="504C49"/>
                </a:solidFill>
                <a:latin typeface="Source Serif Pro" pitchFamily="34" charset="0"/>
                <a:ea typeface="Source Serif Pro" pitchFamily="34" charset="-122"/>
                <a:cs typeface="Source Serif Pro" pitchFamily="34" charset="-120"/>
              </a:rPr>
              <a:t>input gate</a:t>
            </a:r>
            <a:r>
              <a:rPr lang="en-US" sz="1650" dirty="0">
                <a:solidFill>
                  <a:srgbClr val="504C49"/>
                </a:solidFill>
                <a:latin typeface="Source Serif Pro" pitchFamily="34" charset="0"/>
                <a:ea typeface="Source Serif Pro" pitchFamily="34" charset="-122"/>
                <a:cs typeface="Source Serif Pro" pitchFamily="34" charset="-120"/>
              </a:rPr>
              <a:t> controls what new information enters the memory.</a:t>
            </a:r>
            <a:endParaRPr lang="en-US" sz="1650" dirty="0"/>
          </a:p>
        </p:txBody>
      </p:sp>
      <p:sp>
        <p:nvSpPr>
          <p:cNvPr id="9" name="Text 6"/>
          <p:cNvSpPr/>
          <p:nvPr/>
        </p:nvSpPr>
        <p:spPr>
          <a:xfrm>
            <a:off x="740331" y="6150769"/>
            <a:ext cx="7663339" cy="338495"/>
          </a:xfrm>
          <a:prstGeom prst="rect">
            <a:avLst/>
          </a:prstGeom>
          <a:noFill/>
          <a:ln/>
        </p:spPr>
        <p:txBody>
          <a:bodyPr wrap="none" lIns="0" tIns="0" rIns="0" bIns="0" rtlCol="0" anchor="t"/>
          <a:lstStyle/>
          <a:p>
            <a:pPr marL="342900" indent="-342900" algn="l">
              <a:lnSpc>
                <a:spcPts val="2650"/>
              </a:lnSpc>
              <a:buSzPct val="100000"/>
              <a:buChar char="•"/>
            </a:pPr>
            <a:r>
              <a:rPr lang="en-US" sz="1650" dirty="0">
                <a:solidFill>
                  <a:srgbClr val="504C49"/>
                </a:solidFill>
                <a:latin typeface="Source Serif Pro" pitchFamily="34" charset="0"/>
                <a:ea typeface="Source Serif Pro" pitchFamily="34" charset="-122"/>
                <a:cs typeface="Source Serif Pro" pitchFamily="34" charset="-120"/>
              </a:rPr>
              <a:t>The </a:t>
            </a:r>
            <a:r>
              <a:rPr lang="en-US" sz="1650" b="1" dirty="0">
                <a:solidFill>
                  <a:srgbClr val="504C49"/>
                </a:solidFill>
                <a:latin typeface="Source Serif Pro" pitchFamily="34" charset="0"/>
                <a:ea typeface="Source Serif Pro" pitchFamily="34" charset="-122"/>
                <a:cs typeface="Source Serif Pro" pitchFamily="34" charset="-120"/>
              </a:rPr>
              <a:t>forget gate</a:t>
            </a:r>
            <a:r>
              <a:rPr lang="en-US" sz="1650" dirty="0">
                <a:solidFill>
                  <a:srgbClr val="504C49"/>
                </a:solidFill>
                <a:latin typeface="Source Serif Pro" pitchFamily="34" charset="0"/>
                <a:ea typeface="Source Serif Pro" pitchFamily="34" charset="-122"/>
                <a:cs typeface="Source Serif Pro" pitchFamily="34" charset="-120"/>
              </a:rPr>
              <a:t> decides which information to discard from memory.</a:t>
            </a:r>
            <a:endParaRPr lang="en-US" sz="1650" dirty="0"/>
          </a:p>
        </p:txBody>
      </p:sp>
      <p:sp>
        <p:nvSpPr>
          <p:cNvPr id="10" name="Text 7"/>
          <p:cNvSpPr/>
          <p:nvPr/>
        </p:nvSpPr>
        <p:spPr>
          <a:xfrm>
            <a:off x="740331" y="6563201"/>
            <a:ext cx="7663339" cy="338495"/>
          </a:xfrm>
          <a:prstGeom prst="rect">
            <a:avLst/>
          </a:prstGeom>
          <a:noFill/>
          <a:ln/>
        </p:spPr>
        <p:txBody>
          <a:bodyPr wrap="none" lIns="0" tIns="0" rIns="0" bIns="0" rtlCol="0" anchor="t"/>
          <a:lstStyle/>
          <a:p>
            <a:pPr marL="342900" indent="-342900" algn="l">
              <a:lnSpc>
                <a:spcPts val="2650"/>
              </a:lnSpc>
              <a:buSzPct val="100000"/>
              <a:buChar char="•"/>
            </a:pPr>
            <a:r>
              <a:rPr lang="en-US" sz="1650" dirty="0">
                <a:solidFill>
                  <a:srgbClr val="504C49"/>
                </a:solidFill>
                <a:latin typeface="Source Serif Pro" pitchFamily="34" charset="0"/>
                <a:ea typeface="Source Serif Pro" pitchFamily="34" charset="-122"/>
                <a:cs typeface="Source Serif Pro" pitchFamily="34" charset="-120"/>
              </a:rPr>
              <a:t>The </a:t>
            </a:r>
            <a:r>
              <a:rPr lang="en-US" sz="1650" b="1" dirty="0">
                <a:solidFill>
                  <a:srgbClr val="504C49"/>
                </a:solidFill>
                <a:latin typeface="Source Serif Pro" pitchFamily="34" charset="0"/>
                <a:ea typeface="Source Serif Pro" pitchFamily="34" charset="-122"/>
                <a:cs typeface="Source Serif Pro" pitchFamily="34" charset="-120"/>
              </a:rPr>
              <a:t>output gate</a:t>
            </a:r>
            <a:r>
              <a:rPr lang="en-US" sz="1650" dirty="0">
                <a:solidFill>
                  <a:srgbClr val="504C49"/>
                </a:solidFill>
                <a:latin typeface="Source Serif Pro" pitchFamily="34" charset="0"/>
                <a:ea typeface="Source Serif Pro" pitchFamily="34" charset="-122"/>
                <a:cs typeface="Source Serif Pro" pitchFamily="34" charset="-120"/>
              </a:rPr>
              <a:t> determines what information is passed on to the next step.</a:t>
            </a:r>
            <a:endParaRPr lang="en-US" sz="1650" dirty="0"/>
          </a:p>
        </p:txBody>
      </p:sp>
      <p:sp>
        <p:nvSpPr>
          <p:cNvPr id="11" name="Text 8"/>
          <p:cNvSpPr/>
          <p:nvPr/>
        </p:nvSpPr>
        <p:spPr>
          <a:xfrm>
            <a:off x="740331" y="7139583"/>
            <a:ext cx="7663339" cy="338495"/>
          </a:xfrm>
          <a:prstGeom prst="rect">
            <a:avLst/>
          </a:prstGeom>
          <a:noFill/>
          <a:ln/>
        </p:spPr>
        <p:txBody>
          <a:bodyPr wrap="none" lIns="0" tIns="0" rIns="0" bIns="0" rtlCol="0" anchor="t"/>
          <a:lstStyle/>
          <a:p>
            <a:pPr marL="0" indent="0" algn="l">
              <a:lnSpc>
                <a:spcPts val="2650"/>
              </a:lnSpc>
              <a:buNone/>
            </a:pP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55306" y="780336"/>
            <a:ext cx="5492591" cy="686514"/>
          </a:xfrm>
          <a:prstGeom prst="rect">
            <a:avLst/>
          </a:prstGeom>
          <a:noFill/>
          <a:ln/>
        </p:spPr>
        <p:txBody>
          <a:bodyPr wrap="none" lIns="0" tIns="0" rIns="0" bIns="0" rtlCol="0" anchor="t"/>
          <a:lstStyle/>
          <a:p>
            <a:pPr marL="0" indent="0" algn="l">
              <a:lnSpc>
                <a:spcPts val="5400"/>
              </a:lnSpc>
              <a:buNone/>
            </a:pPr>
            <a:r>
              <a:rPr lang="en-US" sz="4300" dirty="0">
                <a:solidFill>
                  <a:srgbClr val="201B18"/>
                </a:solidFill>
                <a:latin typeface="Platypi Medium" pitchFamily="34" charset="0"/>
                <a:ea typeface="Platypi Medium" pitchFamily="34" charset="-122"/>
                <a:cs typeface="Platypi Medium" pitchFamily="34" charset="-120"/>
              </a:rPr>
              <a:t>Workflow Overview</a:t>
            </a:r>
            <a:endParaRPr lang="en-US" sz="4300" dirty="0"/>
          </a:p>
        </p:txBody>
      </p:sp>
      <p:sp>
        <p:nvSpPr>
          <p:cNvPr id="4" name="Text 1"/>
          <p:cNvSpPr/>
          <p:nvPr/>
        </p:nvSpPr>
        <p:spPr>
          <a:xfrm>
            <a:off x="6255306" y="1796296"/>
            <a:ext cx="7606189" cy="1054418"/>
          </a:xfrm>
          <a:prstGeom prst="rect">
            <a:avLst/>
          </a:prstGeom>
          <a:noFill/>
          <a:ln/>
        </p:spPr>
        <p:txBody>
          <a:bodyPr wrap="square" lIns="0" tIns="0" rIns="0" bIns="0" rtlCol="0" anchor="t"/>
          <a:lstStyle/>
          <a:p>
            <a:pPr marL="0" indent="0" algn="l">
              <a:lnSpc>
                <a:spcPts val="2750"/>
              </a:lnSpc>
              <a:buNone/>
            </a:pPr>
            <a:r>
              <a:rPr lang="en-US" sz="1700" dirty="0">
                <a:solidFill>
                  <a:srgbClr val="504C49"/>
                </a:solidFill>
                <a:latin typeface="Source Serif Pro" pitchFamily="34" charset="0"/>
                <a:ea typeface="Source Serif Pro" pitchFamily="34" charset="-122"/>
                <a:cs typeface="Source Serif Pro" pitchFamily="34" charset="-120"/>
              </a:rPr>
              <a:t>Stock data includes OHLCV features from 2015 to 2023 for AAPL. Clean data by handling missing values and outliers. Scale features using normalization techniques. Split data into training, validation, and testing sets.</a:t>
            </a:r>
            <a:endParaRPr lang="en-US" sz="1700" dirty="0"/>
          </a:p>
        </p:txBody>
      </p:sp>
      <p:sp>
        <p:nvSpPr>
          <p:cNvPr id="5" name="Shape 2"/>
          <p:cNvSpPr/>
          <p:nvPr/>
        </p:nvSpPr>
        <p:spPr>
          <a:xfrm>
            <a:off x="6255306" y="3097768"/>
            <a:ext cx="494228" cy="494228"/>
          </a:xfrm>
          <a:prstGeom prst="roundRect">
            <a:avLst>
              <a:gd name="adj" fmla="val 6668"/>
            </a:avLst>
          </a:prstGeom>
          <a:solidFill>
            <a:srgbClr val="F9F7F7"/>
          </a:solidFill>
          <a:ln/>
        </p:spPr>
      </p:sp>
      <p:sp>
        <p:nvSpPr>
          <p:cNvPr id="6" name="Text 3"/>
          <p:cNvSpPr/>
          <p:nvPr/>
        </p:nvSpPr>
        <p:spPr>
          <a:xfrm>
            <a:off x="6969204" y="3173254"/>
            <a:ext cx="2746296" cy="343257"/>
          </a:xfrm>
          <a:prstGeom prst="rect">
            <a:avLst/>
          </a:prstGeom>
          <a:noFill/>
          <a:ln/>
        </p:spPr>
        <p:txBody>
          <a:bodyPr wrap="none" lIns="0" tIns="0" rIns="0" bIns="0" rtlCol="0" anchor="t"/>
          <a:lstStyle/>
          <a:p>
            <a:pPr marL="0" indent="0" algn="l">
              <a:lnSpc>
                <a:spcPts val="2700"/>
              </a:lnSpc>
              <a:buNone/>
            </a:pPr>
            <a:r>
              <a:rPr lang="en-US" sz="2150" b="1" dirty="0">
                <a:solidFill>
                  <a:srgbClr val="504C49"/>
                </a:solidFill>
                <a:latin typeface="Platypi Medium" pitchFamily="34" charset="0"/>
                <a:ea typeface="Platypi Medium" pitchFamily="34" charset="-122"/>
                <a:cs typeface="Platypi Medium" pitchFamily="34" charset="-120"/>
              </a:rPr>
              <a:t>Data Collection</a:t>
            </a:r>
            <a:endParaRPr lang="en-US" sz="2150" dirty="0"/>
          </a:p>
        </p:txBody>
      </p:sp>
      <p:sp>
        <p:nvSpPr>
          <p:cNvPr id="7" name="Text 4"/>
          <p:cNvSpPr/>
          <p:nvPr/>
        </p:nvSpPr>
        <p:spPr>
          <a:xfrm>
            <a:off x="6969204" y="3648313"/>
            <a:ext cx="2951917" cy="1405533"/>
          </a:xfrm>
          <a:prstGeom prst="rect">
            <a:avLst/>
          </a:prstGeom>
          <a:noFill/>
          <a:ln/>
        </p:spPr>
        <p:txBody>
          <a:bodyPr wrap="square" lIns="0" tIns="0" rIns="0" bIns="0" rtlCol="0" anchor="t"/>
          <a:lstStyle/>
          <a:p>
            <a:pPr marL="0" indent="0" algn="l">
              <a:lnSpc>
                <a:spcPts val="2200"/>
              </a:lnSpc>
              <a:buNone/>
            </a:pPr>
            <a:r>
              <a:rPr lang="en-US" sz="1350" dirty="0">
                <a:solidFill>
                  <a:srgbClr val="504C49"/>
                </a:solidFill>
                <a:latin typeface="Source Serif Pro" pitchFamily="34" charset="0"/>
                <a:ea typeface="Source Serif Pro" pitchFamily="34" charset="-122"/>
                <a:cs typeface="Source Serif Pro" pitchFamily="34" charset="-120"/>
              </a:rPr>
              <a:t>
Historical stock data is collected from reliable financial sources such as Yahoo Finance, Google Finance, or APIs like Alpha Vantage.</a:t>
            </a:r>
            <a:endParaRPr lang="en-US" sz="1350" dirty="0"/>
          </a:p>
        </p:txBody>
      </p:sp>
      <p:sp>
        <p:nvSpPr>
          <p:cNvPr id="8" name="Shape 5"/>
          <p:cNvSpPr/>
          <p:nvPr/>
        </p:nvSpPr>
        <p:spPr>
          <a:xfrm>
            <a:off x="10195679" y="3097768"/>
            <a:ext cx="494228" cy="494228"/>
          </a:xfrm>
          <a:prstGeom prst="roundRect">
            <a:avLst>
              <a:gd name="adj" fmla="val 6668"/>
            </a:avLst>
          </a:prstGeom>
          <a:solidFill>
            <a:srgbClr val="F9F7F7"/>
          </a:solidFill>
          <a:ln/>
        </p:spPr>
      </p:sp>
      <p:sp>
        <p:nvSpPr>
          <p:cNvPr id="9" name="Text 6"/>
          <p:cNvSpPr/>
          <p:nvPr/>
        </p:nvSpPr>
        <p:spPr>
          <a:xfrm>
            <a:off x="10909578" y="3173254"/>
            <a:ext cx="2746296" cy="343257"/>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Data Preprocessing</a:t>
            </a:r>
            <a:endParaRPr lang="en-US" sz="2150" dirty="0"/>
          </a:p>
        </p:txBody>
      </p:sp>
      <p:sp>
        <p:nvSpPr>
          <p:cNvPr id="10" name="Text 7"/>
          <p:cNvSpPr/>
          <p:nvPr/>
        </p:nvSpPr>
        <p:spPr>
          <a:xfrm>
            <a:off x="10909578" y="3648313"/>
            <a:ext cx="2951917" cy="1686639"/>
          </a:xfrm>
          <a:prstGeom prst="rect">
            <a:avLst/>
          </a:prstGeom>
          <a:noFill/>
          <a:ln/>
        </p:spPr>
        <p:txBody>
          <a:bodyPr wrap="square" lIns="0" tIns="0" rIns="0" bIns="0" rtlCol="0" anchor="t"/>
          <a:lstStyle/>
          <a:p>
            <a:pPr marL="0" indent="0" algn="l">
              <a:lnSpc>
                <a:spcPts val="2200"/>
              </a:lnSpc>
              <a:buNone/>
            </a:pPr>
            <a:r>
              <a:rPr lang="en-US" sz="1350" dirty="0">
                <a:solidFill>
                  <a:srgbClr val="504C49"/>
                </a:solidFill>
                <a:latin typeface="Source Serif Pro" pitchFamily="34" charset="0"/>
                <a:ea typeface="Source Serif Pro" pitchFamily="34" charset="-122"/>
                <a:cs typeface="Source Serif Pro" pitchFamily="34" charset="-120"/>
              </a:rPr>
              <a:t>Preprocessing involves cleaning the data, normalizing it (usually using Min-Max scaling), and converting the time-series into a supervised learning format using a sliding window approach.</a:t>
            </a:r>
            <a:endParaRPr lang="en-US" sz="1350" dirty="0"/>
          </a:p>
        </p:txBody>
      </p:sp>
      <p:sp>
        <p:nvSpPr>
          <p:cNvPr id="11" name="Shape 8"/>
          <p:cNvSpPr/>
          <p:nvPr/>
        </p:nvSpPr>
        <p:spPr>
          <a:xfrm>
            <a:off x="6255306" y="5774293"/>
            <a:ext cx="494228" cy="494228"/>
          </a:xfrm>
          <a:prstGeom prst="roundRect">
            <a:avLst>
              <a:gd name="adj" fmla="val 6668"/>
            </a:avLst>
          </a:prstGeom>
          <a:solidFill>
            <a:srgbClr val="F9F7F7"/>
          </a:solidFill>
          <a:ln/>
        </p:spPr>
      </p:sp>
      <p:sp>
        <p:nvSpPr>
          <p:cNvPr id="12" name="Text 9"/>
          <p:cNvSpPr/>
          <p:nvPr/>
        </p:nvSpPr>
        <p:spPr>
          <a:xfrm>
            <a:off x="6969204" y="5849779"/>
            <a:ext cx="2746296" cy="343257"/>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 Validation</a:t>
            </a:r>
            <a:endParaRPr lang="en-US" sz="2150" dirty="0"/>
          </a:p>
        </p:txBody>
      </p:sp>
      <p:sp>
        <p:nvSpPr>
          <p:cNvPr id="13" name="Text 10"/>
          <p:cNvSpPr/>
          <p:nvPr/>
        </p:nvSpPr>
        <p:spPr>
          <a:xfrm>
            <a:off x="6969204" y="6324838"/>
            <a:ext cx="2951917" cy="1124426"/>
          </a:xfrm>
          <a:prstGeom prst="rect">
            <a:avLst/>
          </a:prstGeom>
          <a:noFill/>
          <a:ln/>
        </p:spPr>
        <p:txBody>
          <a:bodyPr wrap="square" lIns="0" tIns="0" rIns="0" bIns="0" rtlCol="0" anchor="t"/>
          <a:lstStyle/>
          <a:p>
            <a:pPr marL="0" indent="0" algn="l">
              <a:lnSpc>
                <a:spcPts val="2200"/>
              </a:lnSpc>
              <a:buNone/>
            </a:pPr>
            <a:r>
              <a:rPr lang="en-US" sz="1350" dirty="0">
                <a:solidFill>
                  <a:srgbClr val="504C49"/>
                </a:solidFill>
                <a:latin typeface="Source Serif Pro" pitchFamily="34" charset="0"/>
                <a:ea typeface="Source Serif Pro" pitchFamily="34" charset="-122"/>
                <a:cs typeface="Source Serif Pro" pitchFamily="34" charset="-120"/>
              </a:rPr>
              <a:t>Validation data is used to monitor the model's performance and prevent overfitting through techniques like early stopping.</a:t>
            </a:r>
            <a:endParaRPr lang="en-US" sz="1350" dirty="0"/>
          </a:p>
        </p:txBody>
      </p:sp>
      <p:sp>
        <p:nvSpPr>
          <p:cNvPr id="14" name="Shape 11"/>
          <p:cNvSpPr/>
          <p:nvPr/>
        </p:nvSpPr>
        <p:spPr>
          <a:xfrm>
            <a:off x="10195679" y="5774293"/>
            <a:ext cx="494228" cy="494228"/>
          </a:xfrm>
          <a:prstGeom prst="roundRect">
            <a:avLst>
              <a:gd name="adj" fmla="val 6668"/>
            </a:avLst>
          </a:prstGeom>
          <a:solidFill>
            <a:srgbClr val="F9F7F7"/>
          </a:solidFill>
          <a:ln/>
        </p:spPr>
      </p:sp>
      <p:sp>
        <p:nvSpPr>
          <p:cNvPr id="15" name="Text 12"/>
          <p:cNvSpPr/>
          <p:nvPr/>
        </p:nvSpPr>
        <p:spPr>
          <a:xfrm>
            <a:off x="10909578" y="5849779"/>
            <a:ext cx="2746296" cy="343257"/>
          </a:xfrm>
          <a:prstGeom prst="rect">
            <a:avLst/>
          </a:prstGeom>
          <a:noFill/>
          <a:ln/>
        </p:spPr>
        <p:txBody>
          <a:bodyPr wrap="none" lIns="0" tIns="0" rIns="0" bIns="0" rtlCol="0" anchor="t"/>
          <a:lstStyle/>
          <a:p>
            <a:pPr marL="0" indent="0" algn="l">
              <a:lnSpc>
                <a:spcPts val="2700"/>
              </a:lnSpc>
              <a:buNone/>
            </a:pPr>
            <a:r>
              <a:rPr lang="en-US" sz="2150" dirty="0">
                <a:solidFill>
                  <a:srgbClr val="504C49"/>
                </a:solidFill>
                <a:latin typeface="Platypi Medium" pitchFamily="34" charset="0"/>
                <a:ea typeface="Platypi Medium" pitchFamily="34" charset="-122"/>
                <a:cs typeface="Platypi Medium" pitchFamily="34" charset="-120"/>
              </a:rPr>
              <a:t>Prediction</a:t>
            </a:r>
            <a:endParaRPr lang="en-US" sz="2150" dirty="0"/>
          </a:p>
        </p:txBody>
      </p:sp>
      <p:sp>
        <p:nvSpPr>
          <p:cNvPr id="16" name="Text 13"/>
          <p:cNvSpPr/>
          <p:nvPr/>
        </p:nvSpPr>
        <p:spPr>
          <a:xfrm>
            <a:off x="10909578" y="6324838"/>
            <a:ext cx="2951917" cy="1124426"/>
          </a:xfrm>
          <a:prstGeom prst="rect">
            <a:avLst/>
          </a:prstGeom>
          <a:noFill/>
          <a:ln/>
        </p:spPr>
        <p:txBody>
          <a:bodyPr wrap="square" lIns="0" tIns="0" rIns="0" bIns="0" rtlCol="0" anchor="t"/>
          <a:lstStyle/>
          <a:p>
            <a:pPr marL="0" indent="0" algn="l">
              <a:lnSpc>
                <a:spcPts val="2200"/>
              </a:lnSpc>
              <a:buNone/>
            </a:pPr>
            <a:r>
              <a:rPr lang="en-US" sz="1350" dirty="0">
                <a:solidFill>
                  <a:srgbClr val="504C49"/>
                </a:solidFill>
                <a:latin typeface="Source Serif Pro" pitchFamily="34" charset="0"/>
                <a:ea typeface="Source Serif Pro" pitchFamily="34" charset="-122"/>
                <a:cs typeface="Source Serif Pro" pitchFamily="34" charset="-120"/>
              </a:rPr>
              <a:t>The predicted values are compared against the actual stock prices to visually and numerically evaluate performance.</a:t>
            </a:r>
            <a:endParaRPr lang="en-US" sz="1350" dirty="0"/>
          </a:p>
        </p:txBody>
      </p:sp>
      <mc:AlternateContent xmlns:mc="http://schemas.openxmlformats.org/markup-compatibility/2006">
        <mc:Choice xmlns:p14="http://schemas.microsoft.com/office/powerpoint/2010/main" Requires="p14">
          <p:contentPart p14:bwMode="auto" r:id="rId4">
            <p14:nvContentPartPr>
              <p14:cNvPr id="17" name="Ink 16">
                <a:extLst>
                  <a:ext uri="{FF2B5EF4-FFF2-40B4-BE49-F238E27FC236}">
                    <a16:creationId xmlns:a16="http://schemas.microsoft.com/office/drawing/2014/main" id="{884F4CD1-DCC2-6EB4-2D40-5B33D0A8BCB7}"/>
                  </a:ext>
                </a:extLst>
              </p14:cNvPr>
              <p14:cNvContentPartPr/>
              <p14:nvPr/>
            </p14:nvContentPartPr>
            <p14:xfrm>
              <a:off x="13121400" y="8000760"/>
              <a:ext cx="360" cy="360"/>
            </p14:xfrm>
          </p:contentPart>
        </mc:Choice>
        <mc:Fallback>
          <p:pic>
            <p:nvPicPr>
              <p:cNvPr id="17" name="Ink 16">
                <a:extLst>
                  <a:ext uri="{FF2B5EF4-FFF2-40B4-BE49-F238E27FC236}">
                    <a16:creationId xmlns:a16="http://schemas.microsoft.com/office/drawing/2014/main" id="{884F4CD1-DCC2-6EB4-2D40-5B33D0A8BCB7}"/>
                  </a:ext>
                </a:extLst>
              </p:cNvPr>
              <p:cNvPicPr/>
              <p:nvPr/>
            </p:nvPicPr>
            <p:blipFill>
              <a:blip r:embed="rId5"/>
              <a:stretch>
                <a:fillRect/>
              </a:stretch>
            </p:blipFill>
            <p:spPr>
              <a:xfrm>
                <a:off x="13058400" y="79377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Ink 18">
                <a:extLst>
                  <a:ext uri="{FF2B5EF4-FFF2-40B4-BE49-F238E27FC236}">
                    <a16:creationId xmlns:a16="http://schemas.microsoft.com/office/drawing/2014/main" id="{6102D011-7A6F-261E-740C-327E6D862CA3}"/>
                  </a:ext>
                </a:extLst>
              </p14:cNvPr>
              <p14:cNvContentPartPr/>
              <p14:nvPr/>
            </p14:nvContentPartPr>
            <p14:xfrm>
              <a:off x="13121400" y="8000760"/>
              <a:ext cx="1266480" cy="720"/>
            </p14:xfrm>
          </p:contentPart>
        </mc:Choice>
        <mc:Fallback>
          <p:pic>
            <p:nvPicPr>
              <p:cNvPr id="19" name="Ink 18">
                <a:extLst>
                  <a:ext uri="{FF2B5EF4-FFF2-40B4-BE49-F238E27FC236}">
                    <a16:creationId xmlns:a16="http://schemas.microsoft.com/office/drawing/2014/main" id="{6102D011-7A6F-261E-740C-327E6D862CA3}"/>
                  </a:ext>
                </a:extLst>
              </p:cNvPr>
              <p:cNvPicPr/>
              <p:nvPr/>
            </p:nvPicPr>
            <p:blipFill>
              <a:blip r:embed="rId7"/>
              <a:stretch>
                <a:fillRect/>
              </a:stretch>
            </p:blipFill>
            <p:spPr>
              <a:xfrm>
                <a:off x="13058400" y="7874760"/>
                <a:ext cx="139212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1" name="Ink 20">
                <a:extLst>
                  <a:ext uri="{FF2B5EF4-FFF2-40B4-BE49-F238E27FC236}">
                    <a16:creationId xmlns:a16="http://schemas.microsoft.com/office/drawing/2014/main" id="{215D3A5A-BFF3-D1D2-D42D-BA321EB7AEAA}"/>
                  </a:ext>
                </a:extLst>
              </p14:cNvPr>
              <p14:cNvContentPartPr/>
              <p14:nvPr/>
            </p14:nvContentPartPr>
            <p14:xfrm>
              <a:off x="12984600" y="7955400"/>
              <a:ext cx="360" cy="360"/>
            </p14:xfrm>
          </p:contentPart>
        </mc:Choice>
        <mc:Fallback>
          <p:pic>
            <p:nvPicPr>
              <p:cNvPr id="21" name="Ink 20">
                <a:extLst>
                  <a:ext uri="{FF2B5EF4-FFF2-40B4-BE49-F238E27FC236}">
                    <a16:creationId xmlns:a16="http://schemas.microsoft.com/office/drawing/2014/main" id="{215D3A5A-BFF3-D1D2-D42D-BA321EB7AEAA}"/>
                  </a:ext>
                </a:extLst>
              </p:cNvPr>
              <p:cNvPicPr/>
              <p:nvPr/>
            </p:nvPicPr>
            <p:blipFill>
              <a:blip r:embed="rId5"/>
              <a:stretch>
                <a:fillRect/>
              </a:stretch>
            </p:blipFill>
            <p:spPr>
              <a:xfrm>
                <a:off x="12921600" y="78924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4DDEBE31-F310-C77D-AB0B-660489752447}"/>
                  </a:ext>
                </a:extLst>
              </p14:cNvPr>
              <p14:cNvContentPartPr/>
              <p14:nvPr/>
            </p14:nvContentPartPr>
            <p14:xfrm>
              <a:off x="12752040" y="7801320"/>
              <a:ext cx="1778400" cy="307800"/>
            </p14:xfrm>
          </p:contentPart>
        </mc:Choice>
        <mc:Fallback>
          <p:pic>
            <p:nvPicPr>
              <p:cNvPr id="22" name="Ink 21">
                <a:extLst>
                  <a:ext uri="{FF2B5EF4-FFF2-40B4-BE49-F238E27FC236}">
                    <a16:creationId xmlns:a16="http://schemas.microsoft.com/office/drawing/2014/main" id="{4DDEBE31-F310-C77D-AB0B-660489752447}"/>
                  </a:ext>
                </a:extLst>
              </p:cNvPr>
              <p:cNvPicPr/>
              <p:nvPr/>
            </p:nvPicPr>
            <p:blipFill>
              <a:blip r:embed="rId10"/>
              <a:stretch>
                <a:fillRect/>
              </a:stretch>
            </p:blipFill>
            <p:spPr>
              <a:xfrm>
                <a:off x="12689400" y="7738320"/>
                <a:ext cx="1904040" cy="4334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38399" y="762833"/>
            <a:ext cx="5372219" cy="671512"/>
          </a:xfrm>
          <a:prstGeom prst="rect">
            <a:avLst/>
          </a:prstGeom>
          <a:noFill/>
          <a:ln/>
        </p:spPr>
        <p:txBody>
          <a:bodyPr wrap="none" lIns="0" tIns="0" rIns="0" bIns="0" rtlCol="0" anchor="t"/>
          <a:lstStyle/>
          <a:p>
            <a:pPr marL="0" indent="0" algn="l">
              <a:lnSpc>
                <a:spcPts val="5250"/>
              </a:lnSpc>
              <a:buNone/>
            </a:pPr>
            <a:r>
              <a:rPr lang="en-US" sz="4200" dirty="0">
                <a:solidFill>
                  <a:srgbClr val="201B18"/>
                </a:solidFill>
                <a:latin typeface="Platypi Medium" pitchFamily="34" charset="0"/>
                <a:ea typeface="Platypi Medium" pitchFamily="34" charset="-122"/>
                <a:cs typeface="Platypi Medium" pitchFamily="34" charset="-120"/>
              </a:rPr>
              <a:t>Performance</a:t>
            </a:r>
            <a:endParaRPr lang="en-US" sz="4200" dirty="0"/>
          </a:p>
        </p:txBody>
      </p:sp>
      <p:sp>
        <p:nvSpPr>
          <p:cNvPr id="4" name="Text 1"/>
          <p:cNvSpPr/>
          <p:nvPr/>
        </p:nvSpPr>
        <p:spPr>
          <a:xfrm>
            <a:off x="6238399" y="1756648"/>
            <a:ext cx="7640003" cy="1375410"/>
          </a:xfrm>
          <a:prstGeom prst="rect">
            <a:avLst/>
          </a:prstGeom>
          <a:noFill/>
          <a:ln/>
        </p:spPr>
        <p:txBody>
          <a:bodyPr wrap="square" lIns="0" tIns="0" rIns="0" bIns="0" rtlCol="0" anchor="t"/>
          <a:lstStyle/>
          <a:p>
            <a:pPr marL="0" indent="0" algn="l">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The performance of the LSTM model in stock price prediction is evaluated by comparing its predicted outputs against the actual stock prices. A good-performing model should be able to closely follow the real market trends and produce predictions with minimal deviation.</a:t>
            </a:r>
            <a:endParaRPr lang="en-US" sz="1650" dirty="0"/>
          </a:p>
        </p:txBody>
      </p:sp>
      <p:sp>
        <p:nvSpPr>
          <p:cNvPr id="5" name="Shape 2"/>
          <p:cNvSpPr/>
          <p:nvPr/>
        </p:nvSpPr>
        <p:spPr>
          <a:xfrm>
            <a:off x="6238399" y="3373755"/>
            <a:ext cx="161092" cy="808434"/>
          </a:xfrm>
          <a:prstGeom prst="roundRect">
            <a:avLst>
              <a:gd name="adj" fmla="val 20009"/>
            </a:avLst>
          </a:prstGeom>
          <a:solidFill>
            <a:srgbClr val="F9F7F7"/>
          </a:solidFill>
          <a:ln/>
        </p:spPr>
      </p:sp>
      <p:sp>
        <p:nvSpPr>
          <p:cNvPr id="6" name="Text 3"/>
          <p:cNvSpPr/>
          <p:nvPr/>
        </p:nvSpPr>
        <p:spPr>
          <a:xfrm>
            <a:off x="6721793" y="3373755"/>
            <a:ext cx="2686050" cy="335756"/>
          </a:xfrm>
          <a:prstGeom prst="rect">
            <a:avLst/>
          </a:prstGeom>
          <a:noFill/>
          <a:ln/>
        </p:spPr>
        <p:txBody>
          <a:bodyPr wrap="none" lIns="0" tIns="0" rIns="0" bIns="0" rtlCol="0" anchor="t"/>
          <a:lstStyle/>
          <a:p>
            <a:pPr marL="0" indent="0" algn="l">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Model Performance</a:t>
            </a:r>
            <a:endParaRPr lang="en-US" sz="2100" dirty="0"/>
          </a:p>
        </p:txBody>
      </p:sp>
      <p:sp>
        <p:nvSpPr>
          <p:cNvPr id="7" name="Text 4"/>
          <p:cNvSpPr/>
          <p:nvPr/>
        </p:nvSpPr>
        <p:spPr>
          <a:xfrm>
            <a:off x="6721793" y="3838337"/>
            <a:ext cx="7156609" cy="343853"/>
          </a:xfrm>
          <a:prstGeom prst="rect">
            <a:avLst/>
          </a:prstGeom>
          <a:noFill/>
          <a:ln/>
        </p:spPr>
        <p:txBody>
          <a:bodyPr wrap="none" lIns="0" tIns="0" rIns="0" bIns="0" rtlCol="0" anchor="t"/>
          <a:lstStyle/>
          <a:p>
            <a:pPr marL="0" indent="0" algn="l">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Evaluating Accuracy and Reliability of Stock Price Predictions</a:t>
            </a:r>
            <a:endParaRPr lang="en-US" sz="1650" dirty="0"/>
          </a:p>
        </p:txBody>
      </p:sp>
      <p:sp>
        <p:nvSpPr>
          <p:cNvPr id="8" name="Shape 5"/>
          <p:cNvSpPr/>
          <p:nvPr/>
        </p:nvSpPr>
        <p:spPr>
          <a:xfrm>
            <a:off x="6560701" y="4396978"/>
            <a:ext cx="161092" cy="808434"/>
          </a:xfrm>
          <a:prstGeom prst="roundRect">
            <a:avLst>
              <a:gd name="adj" fmla="val 20009"/>
            </a:avLst>
          </a:prstGeom>
          <a:solidFill>
            <a:srgbClr val="F9F7F7"/>
          </a:solidFill>
          <a:ln/>
        </p:spPr>
      </p:sp>
      <p:sp>
        <p:nvSpPr>
          <p:cNvPr id="9" name="Text 6"/>
          <p:cNvSpPr/>
          <p:nvPr/>
        </p:nvSpPr>
        <p:spPr>
          <a:xfrm>
            <a:off x="7044095" y="4396978"/>
            <a:ext cx="3160752" cy="335756"/>
          </a:xfrm>
          <a:prstGeom prst="rect">
            <a:avLst/>
          </a:prstGeom>
          <a:noFill/>
          <a:ln/>
        </p:spPr>
        <p:txBody>
          <a:bodyPr wrap="none" lIns="0" tIns="0" rIns="0" bIns="0" rtlCol="0" anchor="t"/>
          <a:lstStyle/>
          <a:p>
            <a:pPr marL="0" indent="0" algn="l">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Performance Evaluation</a:t>
            </a:r>
            <a:endParaRPr lang="en-US" sz="2100" dirty="0"/>
          </a:p>
        </p:txBody>
      </p:sp>
      <p:sp>
        <p:nvSpPr>
          <p:cNvPr id="10" name="Text 7"/>
          <p:cNvSpPr/>
          <p:nvPr/>
        </p:nvSpPr>
        <p:spPr>
          <a:xfrm>
            <a:off x="7044095" y="4861560"/>
            <a:ext cx="6834307" cy="343853"/>
          </a:xfrm>
          <a:prstGeom prst="rect">
            <a:avLst/>
          </a:prstGeom>
          <a:noFill/>
          <a:ln/>
        </p:spPr>
        <p:txBody>
          <a:bodyPr wrap="none" lIns="0" tIns="0" rIns="0" bIns="0" rtlCol="0" anchor="t"/>
          <a:lstStyle/>
          <a:p>
            <a:pPr marL="0" indent="0" algn="l">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Measuring How Well the LSTM Predicts Stock Prices</a:t>
            </a:r>
            <a:endParaRPr lang="en-US" sz="1650" dirty="0"/>
          </a:p>
        </p:txBody>
      </p:sp>
      <p:sp>
        <p:nvSpPr>
          <p:cNvPr id="11" name="Shape 8"/>
          <p:cNvSpPr/>
          <p:nvPr/>
        </p:nvSpPr>
        <p:spPr>
          <a:xfrm>
            <a:off x="6883003" y="5420201"/>
            <a:ext cx="161092" cy="808434"/>
          </a:xfrm>
          <a:prstGeom prst="roundRect">
            <a:avLst>
              <a:gd name="adj" fmla="val 20009"/>
            </a:avLst>
          </a:prstGeom>
          <a:solidFill>
            <a:srgbClr val="F9F7F7"/>
          </a:solidFill>
          <a:ln/>
        </p:spPr>
      </p:sp>
      <p:sp>
        <p:nvSpPr>
          <p:cNvPr id="12" name="Text 9"/>
          <p:cNvSpPr/>
          <p:nvPr/>
        </p:nvSpPr>
        <p:spPr>
          <a:xfrm>
            <a:off x="7366397" y="5420201"/>
            <a:ext cx="3115866" cy="335756"/>
          </a:xfrm>
          <a:prstGeom prst="rect">
            <a:avLst/>
          </a:prstGeom>
          <a:noFill/>
          <a:ln/>
        </p:spPr>
        <p:txBody>
          <a:bodyPr wrap="none" lIns="0" tIns="0" rIns="0" bIns="0" rtlCol="0" anchor="t"/>
          <a:lstStyle/>
          <a:p>
            <a:pPr marL="0" indent="0" algn="l">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Prediction Performance</a:t>
            </a:r>
            <a:endParaRPr lang="en-US" sz="2100" dirty="0"/>
          </a:p>
        </p:txBody>
      </p:sp>
      <p:sp>
        <p:nvSpPr>
          <p:cNvPr id="13" name="Text 10"/>
          <p:cNvSpPr/>
          <p:nvPr/>
        </p:nvSpPr>
        <p:spPr>
          <a:xfrm>
            <a:off x="7366397" y="5884783"/>
            <a:ext cx="6512004" cy="343853"/>
          </a:xfrm>
          <a:prstGeom prst="rect">
            <a:avLst/>
          </a:prstGeom>
          <a:noFill/>
          <a:ln/>
        </p:spPr>
        <p:txBody>
          <a:bodyPr wrap="none" lIns="0" tIns="0" rIns="0" bIns="0" rtlCol="0" anchor="t"/>
          <a:lstStyle/>
          <a:p>
            <a:pPr marL="0" indent="0" algn="l">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Assessing the Accuracy of the LSTM Model in Forecasting Stocks</a:t>
            </a:r>
            <a:endParaRPr lang="en-US" sz="1650" dirty="0"/>
          </a:p>
        </p:txBody>
      </p:sp>
      <p:sp>
        <p:nvSpPr>
          <p:cNvPr id="14" name="Shape 11"/>
          <p:cNvSpPr/>
          <p:nvPr/>
        </p:nvSpPr>
        <p:spPr>
          <a:xfrm>
            <a:off x="7205305" y="6443424"/>
            <a:ext cx="161092" cy="808434"/>
          </a:xfrm>
          <a:prstGeom prst="roundRect">
            <a:avLst>
              <a:gd name="adj" fmla="val 20009"/>
            </a:avLst>
          </a:prstGeom>
          <a:solidFill>
            <a:srgbClr val="F9F7F7"/>
          </a:solidFill>
          <a:ln/>
        </p:spPr>
      </p:sp>
      <p:sp>
        <p:nvSpPr>
          <p:cNvPr id="15" name="Text 12"/>
          <p:cNvSpPr/>
          <p:nvPr/>
        </p:nvSpPr>
        <p:spPr>
          <a:xfrm>
            <a:off x="7688699" y="6443424"/>
            <a:ext cx="3407807" cy="335756"/>
          </a:xfrm>
          <a:prstGeom prst="rect">
            <a:avLst/>
          </a:prstGeom>
          <a:noFill/>
          <a:ln/>
        </p:spPr>
        <p:txBody>
          <a:bodyPr wrap="none" lIns="0" tIns="0" rIns="0" bIns="0" rtlCol="0" anchor="t"/>
          <a:lstStyle/>
          <a:p>
            <a:pPr marL="0" indent="0" algn="l">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LSTM Model Performance</a:t>
            </a:r>
            <a:endParaRPr lang="en-US" sz="2100" dirty="0"/>
          </a:p>
        </p:txBody>
      </p:sp>
      <p:sp>
        <p:nvSpPr>
          <p:cNvPr id="16" name="Text 13"/>
          <p:cNvSpPr/>
          <p:nvPr/>
        </p:nvSpPr>
        <p:spPr>
          <a:xfrm>
            <a:off x="7688699" y="6908006"/>
            <a:ext cx="6189702" cy="343853"/>
          </a:xfrm>
          <a:prstGeom prst="rect">
            <a:avLst/>
          </a:prstGeom>
          <a:noFill/>
          <a:ln/>
        </p:spPr>
        <p:txBody>
          <a:bodyPr wrap="none" lIns="0" tIns="0" rIns="0" bIns="0" rtlCol="0" anchor="t"/>
          <a:lstStyle/>
          <a:p>
            <a:pPr marL="0" indent="0" algn="l">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Analysis of Prediction Accuracy and Generalization</a:t>
            </a:r>
            <a:endParaRPr lang="en-US" sz="1650" dirty="0"/>
          </a:p>
        </p:txBody>
      </p:sp>
      <mc:AlternateContent xmlns:mc="http://schemas.openxmlformats.org/markup-compatibility/2006">
        <mc:Choice xmlns:p14="http://schemas.microsoft.com/office/powerpoint/2010/main" Requires="p14">
          <p:contentPart p14:bwMode="auto" r:id="rId4">
            <p14:nvContentPartPr>
              <p14:cNvPr id="21" name="Ink 20">
                <a:extLst>
                  <a:ext uri="{FF2B5EF4-FFF2-40B4-BE49-F238E27FC236}">
                    <a16:creationId xmlns:a16="http://schemas.microsoft.com/office/drawing/2014/main" id="{2AFEECE4-F684-0AF0-5427-1F4F53411FC3}"/>
                  </a:ext>
                </a:extLst>
              </p14:cNvPr>
              <p14:cNvContentPartPr/>
              <p14:nvPr/>
            </p14:nvContentPartPr>
            <p14:xfrm>
              <a:off x="12587880" y="5135880"/>
              <a:ext cx="360" cy="360"/>
            </p14:xfrm>
          </p:contentPart>
        </mc:Choice>
        <mc:Fallback>
          <p:pic>
            <p:nvPicPr>
              <p:cNvPr id="21" name="Ink 20">
                <a:extLst>
                  <a:ext uri="{FF2B5EF4-FFF2-40B4-BE49-F238E27FC236}">
                    <a16:creationId xmlns:a16="http://schemas.microsoft.com/office/drawing/2014/main" id="{2AFEECE4-F684-0AF0-5427-1F4F53411FC3}"/>
                  </a:ext>
                </a:extLst>
              </p:cNvPr>
              <p:cNvPicPr/>
              <p:nvPr/>
            </p:nvPicPr>
            <p:blipFill>
              <a:blip r:embed="rId5"/>
              <a:stretch>
                <a:fillRect/>
              </a:stretch>
            </p:blipFill>
            <p:spPr>
              <a:xfrm>
                <a:off x="12524880" y="5072880"/>
                <a:ext cx="126000" cy="126000"/>
              </a:xfrm>
              <a:prstGeom prst="rect">
                <a:avLst/>
              </a:prstGeom>
            </p:spPr>
          </p:pic>
        </mc:Fallback>
      </mc:AlternateContent>
      <p:grpSp>
        <p:nvGrpSpPr>
          <p:cNvPr id="26" name="Group 25">
            <a:extLst>
              <a:ext uri="{FF2B5EF4-FFF2-40B4-BE49-F238E27FC236}">
                <a16:creationId xmlns:a16="http://schemas.microsoft.com/office/drawing/2014/main" id="{BF8DF6F6-CE54-B017-026D-1B21795FE2C1}"/>
              </a:ext>
            </a:extLst>
          </p:cNvPr>
          <p:cNvGrpSpPr/>
          <p:nvPr/>
        </p:nvGrpSpPr>
        <p:grpSpPr>
          <a:xfrm>
            <a:off x="13014840" y="7908600"/>
            <a:ext cx="1359360" cy="77400"/>
            <a:chOff x="13014840" y="7908600"/>
            <a:chExt cx="1359360" cy="77400"/>
          </a:xfrm>
        </p:grpSpPr>
        <mc:AlternateContent xmlns:mc="http://schemas.openxmlformats.org/markup-compatibility/2006">
          <mc:Choice xmlns:p14="http://schemas.microsoft.com/office/powerpoint/2010/main" Requires="p14">
            <p:contentPart p14:bwMode="auto" r:id="rId6">
              <p14:nvContentPartPr>
                <p14:cNvPr id="23" name="Ink 22">
                  <a:extLst>
                    <a:ext uri="{FF2B5EF4-FFF2-40B4-BE49-F238E27FC236}">
                      <a16:creationId xmlns:a16="http://schemas.microsoft.com/office/drawing/2014/main" id="{B444D51F-93EE-4CB7-5CBF-F999A459B722}"/>
                    </a:ext>
                  </a:extLst>
                </p14:cNvPr>
                <p14:cNvContentPartPr/>
                <p14:nvPr/>
              </p14:nvContentPartPr>
              <p14:xfrm>
                <a:off x="13014840" y="7955400"/>
                <a:ext cx="360" cy="360"/>
              </p14:xfrm>
            </p:contentPart>
          </mc:Choice>
          <mc:Fallback>
            <p:pic>
              <p:nvPicPr>
                <p:cNvPr id="23" name="Ink 22">
                  <a:extLst>
                    <a:ext uri="{FF2B5EF4-FFF2-40B4-BE49-F238E27FC236}">
                      <a16:creationId xmlns:a16="http://schemas.microsoft.com/office/drawing/2014/main" id="{B444D51F-93EE-4CB7-5CBF-F999A459B722}"/>
                    </a:ext>
                  </a:extLst>
                </p:cNvPr>
                <p:cNvPicPr/>
                <p:nvPr/>
              </p:nvPicPr>
              <p:blipFill>
                <a:blip r:embed="rId5"/>
                <a:stretch>
                  <a:fillRect/>
                </a:stretch>
              </p:blipFill>
              <p:spPr>
                <a:xfrm>
                  <a:off x="12951840" y="78924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EAF525D4-9EDA-8CDD-1EDE-D7F64DAC77C4}"/>
                    </a:ext>
                  </a:extLst>
                </p14:cNvPr>
                <p14:cNvContentPartPr/>
                <p14:nvPr/>
              </p14:nvContentPartPr>
              <p14:xfrm>
                <a:off x="13136520" y="7908600"/>
                <a:ext cx="1237680" cy="77400"/>
              </p14:xfrm>
            </p:contentPart>
          </mc:Choice>
          <mc:Fallback>
            <p:pic>
              <p:nvPicPr>
                <p:cNvPr id="17" name="Ink 16">
                  <a:extLst>
                    <a:ext uri="{FF2B5EF4-FFF2-40B4-BE49-F238E27FC236}">
                      <a16:creationId xmlns:a16="http://schemas.microsoft.com/office/drawing/2014/main" id="{EAF525D4-9EDA-8CDD-1EDE-D7F64DAC77C4}"/>
                    </a:ext>
                  </a:extLst>
                </p:cNvPr>
                <p:cNvPicPr/>
                <p:nvPr/>
              </p:nvPicPr>
              <p:blipFill>
                <a:blip r:embed="rId8"/>
                <a:stretch>
                  <a:fillRect/>
                </a:stretch>
              </p:blipFill>
              <p:spPr>
                <a:xfrm>
                  <a:off x="13073520" y="7845600"/>
                  <a:ext cx="136332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57AA7EBC-01E8-FEC7-A1CA-2FDE0B680E71}"/>
                    </a:ext>
                  </a:extLst>
                </p14:cNvPr>
                <p14:cNvContentPartPr/>
                <p14:nvPr/>
              </p14:nvContentPartPr>
              <p14:xfrm>
                <a:off x="13167480" y="7909320"/>
                <a:ext cx="360" cy="360"/>
              </p14:xfrm>
            </p:contentPart>
          </mc:Choice>
          <mc:Fallback>
            <p:pic>
              <p:nvPicPr>
                <p:cNvPr id="18" name="Ink 17">
                  <a:extLst>
                    <a:ext uri="{FF2B5EF4-FFF2-40B4-BE49-F238E27FC236}">
                      <a16:creationId xmlns:a16="http://schemas.microsoft.com/office/drawing/2014/main" id="{57AA7EBC-01E8-FEC7-A1CA-2FDE0B680E71}"/>
                    </a:ext>
                  </a:extLst>
                </p:cNvPr>
                <p:cNvPicPr/>
                <p:nvPr/>
              </p:nvPicPr>
              <p:blipFill>
                <a:blip r:embed="rId5"/>
                <a:stretch>
                  <a:fillRect/>
                </a:stretch>
              </p:blipFill>
              <p:spPr>
                <a:xfrm>
                  <a:off x="13104480" y="7846320"/>
                  <a:ext cx="126000" cy="12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24" name="Ink 23">
                <a:extLst>
                  <a:ext uri="{FF2B5EF4-FFF2-40B4-BE49-F238E27FC236}">
                    <a16:creationId xmlns:a16="http://schemas.microsoft.com/office/drawing/2014/main" id="{65A8364D-1D31-F130-B461-CBE7FACD87A5}"/>
                  </a:ext>
                </a:extLst>
              </p14:cNvPr>
              <p14:cNvContentPartPr/>
              <p14:nvPr/>
            </p14:nvContentPartPr>
            <p14:xfrm>
              <a:off x="12814320" y="7786920"/>
              <a:ext cx="1785600" cy="347760"/>
            </p14:xfrm>
          </p:contentPart>
        </mc:Choice>
        <mc:Fallback>
          <p:pic>
            <p:nvPicPr>
              <p:cNvPr id="24" name="Ink 23">
                <a:extLst>
                  <a:ext uri="{FF2B5EF4-FFF2-40B4-BE49-F238E27FC236}">
                    <a16:creationId xmlns:a16="http://schemas.microsoft.com/office/drawing/2014/main" id="{65A8364D-1D31-F130-B461-CBE7FACD87A5}"/>
                  </a:ext>
                </a:extLst>
              </p:cNvPr>
              <p:cNvPicPr/>
              <p:nvPr/>
            </p:nvPicPr>
            <p:blipFill>
              <a:blip r:embed="rId11"/>
              <a:stretch>
                <a:fillRect/>
              </a:stretch>
            </p:blipFill>
            <p:spPr>
              <a:xfrm>
                <a:off x="12751320" y="7723920"/>
                <a:ext cx="1911240" cy="4734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73680"/>
          </a:xfrm>
          <a:prstGeom prst="rect">
            <a:avLst/>
          </a:prstGeom>
        </p:spPr>
      </p:pic>
      <p:sp>
        <p:nvSpPr>
          <p:cNvPr id="3" name="Text 0"/>
          <p:cNvSpPr/>
          <p:nvPr/>
        </p:nvSpPr>
        <p:spPr>
          <a:xfrm>
            <a:off x="776526" y="3383875"/>
            <a:ext cx="5547360" cy="693301"/>
          </a:xfrm>
          <a:prstGeom prst="rect">
            <a:avLst/>
          </a:prstGeom>
          <a:noFill/>
          <a:ln/>
        </p:spPr>
        <p:txBody>
          <a:bodyPr wrap="none" lIns="0" tIns="0" rIns="0" bIns="0" rtlCol="0" anchor="t"/>
          <a:lstStyle/>
          <a:p>
            <a:pPr marL="0" indent="0" algn="l">
              <a:lnSpc>
                <a:spcPts val="5450"/>
              </a:lnSpc>
              <a:buNone/>
            </a:pPr>
            <a:r>
              <a:rPr lang="en-US" sz="4350" dirty="0">
                <a:solidFill>
                  <a:srgbClr val="201B18"/>
                </a:solidFill>
                <a:latin typeface="Platypi Medium" pitchFamily="34" charset="0"/>
                <a:ea typeface="Platypi Medium" pitchFamily="34" charset="-122"/>
                <a:cs typeface="Platypi Medium" pitchFamily="34" charset="-120"/>
              </a:rPr>
              <a:t>Prediction Result</a:t>
            </a:r>
            <a:endParaRPr lang="en-US" sz="4350" dirty="0"/>
          </a:p>
        </p:txBody>
      </p:sp>
      <p:sp>
        <p:nvSpPr>
          <p:cNvPr id="4" name="Text 1"/>
          <p:cNvSpPr/>
          <p:nvPr/>
        </p:nvSpPr>
        <p:spPr>
          <a:xfrm>
            <a:off x="776526" y="4409956"/>
            <a:ext cx="13077349" cy="710089"/>
          </a:xfrm>
          <a:prstGeom prst="rect">
            <a:avLst/>
          </a:prstGeom>
          <a:noFill/>
          <a:ln/>
        </p:spPr>
        <p:txBody>
          <a:bodyPr wrap="square" lIns="0" tIns="0" rIns="0" bIns="0" rtlCol="0" anchor="t"/>
          <a:lstStyle/>
          <a:p>
            <a:pPr marL="0" indent="0" algn="l">
              <a:lnSpc>
                <a:spcPts val="2750"/>
              </a:lnSpc>
              <a:buNone/>
            </a:pPr>
            <a:r>
              <a:rPr lang="en-US" sz="1700" dirty="0">
                <a:solidFill>
                  <a:srgbClr val="504C49"/>
                </a:solidFill>
                <a:latin typeface="Source Serif Pro" pitchFamily="34" charset="0"/>
                <a:ea typeface="Source Serif Pro" pitchFamily="34" charset="-122"/>
                <a:cs typeface="Source Serif Pro" pitchFamily="34" charset="-120"/>
              </a:rPr>
              <a:t>The trained LSTM model predicts future stock prices with strong accuracy. Visualizations show predicted vs actual price movements. The model captures trend and volatility well over test data.</a:t>
            </a:r>
            <a:endParaRPr lang="en-US" sz="1700" dirty="0"/>
          </a:p>
        </p:txBody>
      </p:sp>
      <p:sp>
        <p:nvSpPr>
          <p:cNvPr id="5" name="Shape 2"/>
          <p:cNvSpPr/>
          <p:nvPr/>
        </p:nvSpPr>
        <p:spPr>
          <a:xfrm>
            <a:off x="776526" y="5369600"/>
            <a:ext cx="499229" cy="499229"/>
          </a:xfrm>
          <a:prstGeom prst="roundRect">
            <a:avLst>
              <a:gd name="adj" fmla="val 6667"/>
            </a:avLst>
          </a:prstGeom>
          <a:solidFill>
            <a:srgbClr val="F9F7F7"/>
          </a:solidFill>
          <a:ln/>
        </p:spPr>
      </p:sp>
      <p:sp>
        <p:nvSpPr>
          <p:cNvPr id="6" name="Text 3"/>
          <p:cNvSpPr/>
          <p:nvPr/>
        </p:nvSpPr>
        <p:spPr>
          <a:xfrm>
            <a:off x="859691" y="5411152"/>
            <a:ext cx="332780" cy="416004"/>
          </a:xfrm>
          <a:prstGeom prst="rect">
            <a:avLst/>
          </a:prstGeom>
          <a:noFill/>
          <a:ln/>
        </p:spPr>
        <p:txBody>
          <a:bodyPr wrap="none" lIns="0" tIns="0" rIns="0" bIns="0" rtlCol="0" anchor="t"/>
          <a:lstStyle/>
          <a:p>
            <a:pPr marL="0" indent="0" algn="ctr">
              <a:lnSpc>
                <a:spcPts val="2600"/>
              </a:lnSpc>
              <a:buNone/>
            </a:pPr>
            <a:r>
              <a:rPr lang="en-US" sz="2600" dirty="0">
                <a:solidFill>
                  <a:srgbClr val="504C49"/>
                </a:solidFill>
                <a:latin typeface="Platypi Medium" pitchFamily="34" charset="0"/>
                <a:ea typeface="Platypi Medium" pitchFamily="34" charset="-122"/>
                <a:cs typeface="Platypi Medium" pitchFamily="34" charset="-120"/>
              </a:rPr>
              <a:t>1</a:t>
            </a:r>
            <a:endParaRPr lang="en-US" sz="2600" dirty="0"/>
          </a:p>
        </p:txBody>
      </p:sp>
      <p:sp>
        <p:nvSpPr>
          <p:cNvPr id="7" name="Text 4"/>
          <p:cNvSpPr/>
          <p:nvPr/>
        </p:nvSpPr>
        <p:spPr>
          <a:xfrm>
            <a:off x="1497568" y="5477113"/>
            <a:ext cx="3453170" cy="851892"/>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The predicted stock prices closely follow the trend of the actual prices over time.</a:t>
            </a:r>
            <a:endParaRPr lang="en-US" sz="1700" dirty="0"/>
          </a:p>
        </p:txBody>
      </p:sp>
      <p:sp>
        <p:nvSpPr>
          <p:cNvPr id="8" name="Text 5"/>
          <p:cNvSpPr/>
          <p:nvPr/>
        </p:nvSpPr>
        <p:spPr>
          <a:xfrm>
            <a:off x="1497568" y="6406634"/>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The model captures key market movements such as rises and falls.</a:t>
            </a:r>
            <a:endParaRPr lang="en-US" sz="1700" dirty="0"/>
          </a:p>
        </p:txBody>
      </p:sp>
      <p:sp>
        <p:nvSpPr>
          <p:cNvPr id="9" name="Text 6"/>
          <p:cNvSpPr/>
          <p:nvPr/>
        </p:nvSpPr>
        <p:spPr>
          <a:xfrm>
            <a:off x="1497568" y="7052191"/>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Minor delays or lag in prediction may occur during sudden market shifts.</a:t>
            </a:r>
            <a:endParaRPr lang="en-US" sz="1700" dirty="0"/>
          </a:p>
        </p:txBody>
      </p:sp>
      <p:sp>
        <p:nvSpPr>
          <p:cNvPr id="10" name="Shape 7"/>
          <p:cNvSpPr/>
          <p:nvPr/>
        </p:nvSpPr>
        <p:spPr>
          <a:xfrm>
            <a:off x="5228034" y="5369600"/>
            <a:ext cx="499229" cy="499229"/>
          </a:xfrm>
          <a:prstGeom prst="roundRect">
            <a:avLst>
              <a:gd name="adj" fmla="val 6667"/>
            </a:avLst>
          </a:prstGeom>
          <a:solidFill>
            <a:srgbClr val="F9F7F7"/>
          </a:solidFill>
          <a:ln/>
        </p:spPr>
      </p:sp>
      <p:sp>
        <p:nvSpPr>
          <p:cNvPr id="11" name="Text 8"/>
          <p:cNvSpPr/>
          <p:nvPr/>
        </p:nvSpPr>
        <p:spPr>
          <a:xfrm>
            <a:off x="5311200" y="5411152"/>
            <a:ext cx="332780" cy="416004"/>
          </a:xfrm>
          <a:prstGeom prst="rect">
            <a:avLst/>
          </a:prstGeom>
          <a:noFill/>
          <a:ln/>
        </p:spPr>
        <p:txBody>
          <a:bodyPr wrap="none" lIns="0" tIns="0" rIns="0" bIns="0" rtlCol="0" anchor="t"/>
          <a:lstStyle/>
          <a:p>
            <a:pPr marL="0" indent="0" algn="ctr">
              <a:lnSpc>
                <a:spcPts val="2600"/>
              </a:lnSpc>
              <a:buNone/>
            </a:pPr>
            <a:r>
              <a:rPr lang="en-US" sz="2600" dirty="0">
                <a:solidFill>
                  <a:srgbClr val="504C49"/>
                </a:solidFill>
                <a:latin typeface="Platypi Medium" pitchFamily="34" charset="0"/>
                <a:ea typeface="Platypi Medium" pitchFamily="34" charset="-122"/>
                <a:cs typeface="Platypi Medium" pitchFamily="34" charset="-120"/>
              </a:rPr>
              <a:t>2</a:t>
            </a:r>
            <a:endParaRPr lang="en-US" sz="2600" dirty="0"/>
          </a:p>
        </p:txBody>
      </p:sp>
      <p:sp>
        <p:nvSpPr>
          <p:cNvPr id="12" name="Text 9"/>
          <p:cNvSpPr/>
          <p:nvPr/>
        </p:nvSpPr>
        <p:spPr>
          <a:xfrm>
            <a:off x="5949077" y="5477113"/>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Responsive to sudden market changes within limits.</a:t>
            </a:r>
            <a:endParaRPr lang="en-US" sz="1700" dirty="0"/>
          </a:p>
        </p:txBody>
      </p:sp>
      <p:sp>
        <p:nvSpPr>
          <p:cNvPr id="13" name="Text 10"/>
          <p:cNvSpPr/>
          <p:nvPr/>
        </p:nvSpPr>
        <p:spPr>
          <a:xfrm>
            <a:off x="5949077" y="6122670"/>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Minor delays or lag in prediction may occur during sudden market shifts.</a:t>
            </a:r>
            <a:endParaRPr lang="en-US" sz="1700" dirty="0"/>
          </a:p>
        </p:txBody>
      </p:sp>
      <p:sp>
        <p:nvSpPr>
          <p:cNvPr id="14" name="Text 11"/>
          <p:cNvSpPr/>
          <p:nvPr/>
        </p:nvSpPr>
        <p:spPr>
          <a:xfrm>
            <a:off x="5949077" y="6823710"/>
            <a:ext cx="3453170" cy="283964"/>
          </a:xfrm>
          <a:prstGeom prst="rect">
            <a:avLst/>
          </a:prstGeom>
          <a:noFill/>
          <a:ln/>
        </p:spPr>
        <p:txBody>
          <a:bodyPr wrap="none" lIns="0" tIns="0" rIns="0" bIns="0" rtlCol="0" anchor="t"/>
          <a:lstStyle/>
          <a:p>
            <a:pPr marL="0" indent="0" algn="l">
              <a:lnSpc>
                <a:spcPts val="2200"/>
              </a:lnSpc>
              <a:buNone/>
            </a:pPr>
            <a:endParaRPr lang="en-US" sz="1350" dirty="0"/>
          </a:p>
        </p:txBody>
      </p:sp>
      <p:sp>
        <p:nvSpPr>
          <p:cNvPr id="15" name="Shape 12"/>
          <p:cNvSpPr/>
          <p:nvPr/>
        </p:nvSpPr>
        <p:spPr>
          <a:xfrm>
            <a:off x="9679543" y="5369600"/>
            <a:ext cx="499229" cy="499229"/>
          </a:xfrm>
          <a:prstGeom prst="roundRect">
            <a:avLst>
              <a:gd name="adj" fmla="val 6667"/>
            </a:avLst>
          </a:prstGeom>
          <a:solidFill>
            <a:srgbClr val="F9F7F7"/>
          </a:solidFill>
          <a:ln/>
        </p:spPr>
      </p:sp>
      <p:sp>
        <p:nvSpPr>
          <p:cNvPr id="16" name="Text 13"/>
          <p:cNvSpPr/>
          <p:nvPr/>
        </p:nvSpPr>
        <p:spPr>
          <a:xfrm>
            <a:off x="9762708" y="5411152"/>
            <a:ext cx="332780" cy="416004"/>
          </a:xfrm>
          <a:prstGeom prst="rect">
            <a:avLst/>
          </a:prstGeom>
          <a:noFill/>
          <a:ln/>
        </p:spPr>
        <p:txBody>
          <a:bodyPr wrap="none" lIns="0" tIns="0" rIns="0" bIns="0" rtlCol="0" anchor="t"/>
          <a:lstStyle/>
          <a:p>
            <a:pPr marL="0" indent="0" algn="ctr">
              <a:lnSpc>
                <a:spcPts val="2600"/>
              </a:lnSpc>
              <a:buNone/>
            </a:pPr>
            <a:r>
              <a:rPr lang="en-US" sz="2600" dirty="0">
                <a:solidFill>
                  <a:srgbClr val="504C49"/>
                </a:solidFill>
                <a:latin typeface="Platypi Medium" pitchFamily="34" charset="0"/>
                <a:ea typeface="Platypi Medium" pitchFamily="34" charset="-122"/>
                <a:cs typeface="Platypi Medium" pitchFamily="34" charset="-120"/>
              </a:rPr>
              <a:t>3</a:t>
            </a:r>
            <a:endParaRPr lang="en-US" sz="2600" dirty="0"/>
          </a:p>
        </p:txBody>
      </p:sp>
      <p:sp>
        <p:nvSpPr>
          <p:cNvPr id="17" name="Text 14"/>
          <p:cNvSpPr/>
          <p:nvPr/>
        </p:nvSpPr>
        <p:spPr>
          <a:xfrm>
            <a:off x="10400586" y="5477113"/>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Demonstrates effective generalization to unseen data.</a:t>
            </a:r>
            <a:endParaRPr lang="en-US" sz="1700" dirty="0"/>
          </a:p>
        </p:txBody>
      </p:sp>
      <p:sp>
        <p:nvSpPr>
          <p:cNvPr id="18" name="Text 15"/>
          <p:cNvSpPr/>
          <p:nvPr/>
        </p:nvSpPr>
        <p:spPr>
          <a:xfrm>
            <a:off x="10400586" y="6122670"/>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Prediction accuracy depends on the quality and quantity of historical data.</a:t>
            </a:r>
            <a:endParaRPr lang="en-US" sz="1700" dirty="0"/>
          </a:p>
        </p:txBody>
      </p:sp>
      <p:sp>
        <p:nvSpPr>
          <p:cNvPr id="19" name="Text 16"/>
          <p:cNvSpPr/>
          <p:nvPr/>
        </p:nvSpPr>
        <p:spPr>
          <a:xfrm>
            <a:off x="10400586" y="6768227"/>
            <a:ext cx="3453170" cy="567928"/>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504C49"/>
                </a:solidFill>
                <a:latin typeface="Source Serif Pro" pitchFamily="34" charset="0"/>
                <a:ea typeface="Source Serif Pro" pitchFamily="34" charset="-122"/>
                <a:cs typeface="Source Serif Pro" pitchFamily="34" charset="-120"/>
              </a:rPr>
              <a:t>The model performs better with longer training and properly tuned parameters</a:t>
            </a:r>
            <a:endParaRPr lang="en-US" sz="1700" dirty="0"/>
          </a:p>
        </p:txBody>
      </p:sp>
      <mc:AlternateContent xmlns:mc="http://schemas.openxmlformats.org/markup-compatibility/2006">
        <mc:Choice xmlns:p14="http://schemas.microsoft.com/office/powerpoint/2010/main" Requires="p14">
          <p:contentPart p14:bwMode="auto" r:id="rId4">
            <p14:nvContentPartPr>
              <p14:cNvPr id="20" name="Ink 19">
                <a:extLst>
                  <a:ext uri="{FF2B5EF4-FFF2-40B4-BE49-F238E27FC236}">
                    <a16:creationId xmlns:a16="http://schemas.microsoft.com/office/drawing/2014/main" id="{BF60E3A4-EC2D-A49D-32B8-CF4CC0B6FA3B}"/>
                  </a:ext>
                </a:extLst>
              </p14:cNvPr>
              <p14:cNvContentPartPr/>
              <p14:nvPr/>
            </p14:nvContentPartPr>
            <p14:xfrm>
              <a:off x="13029960" y="8000760"/>
              <a:ext cx="360" cy="360"/>
            </p14:xfrm>
          </p:contentPart>
        </mc:Choice>
        <mc:Fallback>
          <p:pic>
            <p:nvPicPr>
              <p:cNvPr id="20" name="Ink 19">
                <a:extLst>
                  <a:ext uri="{FF2B5EF4-FFF2-40B4-BE49-F238E27FC236}">
                    <a16:creationId xmlns:a16="http://schemas.microsoft.com/office/drawing/2014/main" id="{BF60E3A4-EC2D-A49D-32B8-CF4CC0B6FA3B}"/>
                  </a:ext>
                </a:extLst>
              </p:cNvPr>
              <p:cNvPicPr/>
              <p:nvPr/>
            </p:nvPicPr>
            <p:blipFill>
              <a:blip r:embed="rId5"/>
              <a:stretch>
                <a:fillRect/>
              </a:stretch>
            </p:blipFill>
            <p:spPr>
              <a:xfrm>
                <a:off x="12966960" y="79377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 name="Ink 22">
                <a:extLst>
                  <a:ext uri="{FF2B5EF4-FFF2-40B4-BE49-F238E27FC236}">
                    <a16:creationId xmlns:a16="http://schemas.microsoft.com/office/drawing/2014/main" id="{275E68B5-9181-4141-34D2-BD313DBEE01C}"/>
                  </a:ext>
                </a:extLst>
              </p14:cNvPr>
              <p14:cNvContentPartPr/>
              <p14:nvPr/>
            </p14:nvContentPartPr>
            <p14:xfrm>
              <a:off x="14279880" y="8015880"/>
              <a:ext cx="360" cy="360"/>
            </p14:xfrm>
          </p:contentPart>
        </mc:Choice>
        <mc:Fallback>
          <p:pic>
            <p:nvPicPr>
              <p:cNvPr id="23" name="Ink 22">
                <a:extLst>
                  <a:ext uri="{FF2B5EF4-FFF2-40B4-BE49-F238E27FC236}">
                    <a16:creationId xmlns:a16="http://schemas.microsoft.com/office/drawing/2014/main" id="{275E68B5-9181-4141-34D2-BD313DBEE01C}"/>
                  </a:ext>
                </a:extLst>
              </p:cNvPr>
              <p:cNvPicPr/>
              <p:nvPr/>
            </p:nvPicPr>
            <p:blipFill>
              <a:blip r:embed="rId5"/>
              <a:stretch>
                <a:fillRect/>
              </a:stretch>
            </p:blipFill>
            <p:spPr>
              <a:xfrm>
                <a:off x="14216880" y="795288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5" name="Ink 24">
                <a:extLst>
                  <a:ext uri="{FF2B5EF4-FFF2-40B4-BE49-F238E27FC236}">
                    <a16:creationId xmlns:a16="http://schemas.microsoft.com/office/drawing/2014/main" id="{A292792C-0B6D-2A49-7F00-40A47C968FB4}"/>
                  </a:ext>
                </a:extLst>
              </p14:cNvPr>
              <p14:cNvContentPartPr/>
              <p14:nvPr/>
            </p14:nvContentPartPr>
            <p14:xfrm>
              <a:off x="12999720" y="7940280"/>
              <a:ext cx="360" cy="360"/>
            </p14:xfrm>
          </p:contentPart>
        </mc:Choice>
        <mc:Fallback>
          <p:pic>
            <p:nvPicPr>
              <p:cNvPr id="25" name="Ink 24">
                <a:extLst>
                  <a:ext uri="{FF2B5EF4-FFF2-40B4-BE49-F238E27FC236}">
                    <a16:creationId xmlns:a16="http://schemas.microsoft.com/office/drawing/2014/main" id="{A292792C-0B6D-2A49-7F00-40A47C968FB4}"/>
                  </a:ext>
                </a:extLst>
              </p:cNvPr>
              <p:cNvPicPr/>
              <p:nvPr/>
            </p:nvPicPr>
            <p:blipFill>
              <a:blip r:embed="rId5"/>
              <a:stretch>
                <a:fillRect/>
              </a:stretch>
            </p:blipFill>
            <p:spPr>
              <a:xfrm>
                <a:off x="12936720" y="787728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6" name="Ink 25">
                <a:extLst>
                  <a:ext uri="{FF2B5EF4-FFF2-40B4-BE49-F238E27FC236}">
                    <a16:creationId xmlns:a16="http://schemas.microsoft.com/office/drawing/2014/main" id="{2D0EDDD7-258D-8F5B-4C9F-C08C940D676F}"/>
                  </a:ext>
                </a:extLst>
              </p14:cNvPr>
              <p14:cNvContentPartPr/>
              <p14:nvPr/>
            </p14:nvContentPartPr>
            <p14:xfrm>
              <a:off x="12693720" y="7524480"/>
              <a:ext cx="1953720" cy="582120"/>
            </p14:xfrm>
          </p:contentPart>
        </mc:Choice>
        <mc:Fallback>
          <p:pic>
            <p:nvPicPr>
              <p:cNvPr id="26" name="Ink 25">
                <a:extLst>
                  <a:ext uri="{FF2B5EF4-FFF2-40B4-BE49-F238E27FC236}">
                    <a16:creationId xmlns:a16="http://schemas.microsoft.com/office/drawing/2014/main" id="{2D0EDDD7-258D-8F5B-4C9F-C08C940D676F}"/>
                  </a:ext>
                </a:extLst>
              </p:cNvPr>
              <p:cNvPicPr/>
              <p:nvPr/>
            </p:nvPicPr>
            <p:blipFill>
              <a:blip r:embed="rId9"/>
              <a:stretch>
                <a:fillRect/>
              </a:stretch>
            </p:blipFill>
            <p:spPr>
              <a:xfrm>
                <a:off x="12631080" y="7461840"/>
                <a:ext cx="2079360" cy="707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8" name="Ink 27">
                <a:extLst>
                  <a:ext uri="{FF2B5EF4-FFF2-40B4-BE49-F238E27FC236}">
                    <a16:creationId xmlns:a16="http://schemas.microsoft.com/office/drawing/2014/main" id="{52C12B37-3E34-D132-E94F-336D8D88B92B}"/>
                  </a:ext>
                </a:extLst>
              </p14:cNvPr>
              <p14:cNvContentPartPr/>
              <p14:nvPr/>
            </p14:nvContentPartPr>
            <p14:xfrm>
              <a:off x="13014840" y="8061600"/>
              <a:ext cx="1006200" cy="76680"/>
            </p14:xfrm>
          </p:contentPart>
        </mc:Choice>
        <mc:Fallback>
          <p:pic>
            <p:nvPicPr>
              <p:cNvPr id="28" name="Ink 27">
                <a:extLst>
                  <a:ext uri="{FF2B5EF4-FFF2-40B4-BE49-F238E27FC236}">
                    <a16:creationId xmlns:a16="http://schemas.microsoft.com/office/drawing/2014/main" id="{52C12B37-3E34-D132-E94F-336D8D88B92B}"/>
                  </a:ext>
                </a:extLst>
              </p:cNvPr>
              <p:cNvPicPr/>
              <p:nvPr/>
            </p:nvPicPr>
            <p:blipFill>
              <a:blip r:embed="rId11"/>
              <a:stretch>
                <a:fillRect/>
              </a:stretch>
            </p:blipFill>
            <p:spPr>
              <a:xfrm>
                <a:off x="12951840" y="7998960"/>
                <a:ext cx="1131840" cy="202320"/>
              </a:xfrm>
              <a:prstGeom prst="rect">
                <a:avLst/>
              </a:prstGeom>
            </p:spPr>
          </p:pic>
        </mc:Fallback>
      </mc:AlternateContent>
      <p:grpSp>
        <p:nvGrpSpPr>
          <p:cNvPr id="31" name="Group 30">
            <a:extLst>
              <a:ext uri="{FF2B5EF4-FFF2-40B4-BE49-F238E27FC236}">
                <a16:creationId xmlns:a16="http://schemas.microsoft.com/office/drawing/2014/main" id="{5B8387FA-8E87-03BF-8069-E8E130A6C009}"/>
              </a:ext>
            </a:extLst>
          </p:cNvPr>
          <p:cNvGrpSpPr/>
          <p:nvPr/>
        </p:nvGrpSpPr>
        <p:grpSpPr>
          <a:xfrm>
            <a:off x="14401560" y="8006520"/>
            <a:ext cx="12240" cy="86040"/>
            <a:chOff x="14401560" y="8006520"/>
            <a:chExt cx="12240" cy="86040"/>
          </a:xfrm>
        </p:grpSpPr>
        <mc:AlternateContent xmlns:mc="http://schemas.openxmlformats.org/markup-compatibility/2006">
          <mc:Choice xmlns:p14="http://schemas.microsoft.com/office/powerpoint/2010/main" Requires="p14">
            <p:contentPart p14:bwMode="auto" r:id="rId12">
              <p14:nvContentPartPr>
                <p14:cNvPr id="29" name="Ink 28">
                  <a:extLst>
                    <a:ext uri="{FF2B5EF4-FFF2-40B4-BE49-F238E27FC236}">
                      <a16:creationId xmlns:a16="http://schemas.microsoft.com/office/drawing/2014/main" id="{CD277570-8BDF-27BD-371C-9CBBF88C19E9}"/>
                    </a:ext>
                  </a:extLst>
                </p14:cNvPr>
                <p14:cNvContentPartPr/>
                <p14:nvPr/>
              </p14:nvContentPartPr>
              <p14:xfrm>
                <a:off x="14401560" y="8092200"/>
                <a:ext cx="360" cy="360"/>
              </p14:xfrm>
            </p:contentPart>
          </mc:Choice>
          <mc:Fallback>
            <p:pic>
              <p:nvPicPr>
                <p:cNvPr id="29" name="Ink 28">
                  <a:extLst>
                    <a:ext uri="{FF2B5EF4-FFF2-40B4-BE49-F238E27FC236}">
                      <a16:creationId xmlns:a16="http://schemas.microsoft.com/office/drawing/2014/main" id="{CD277570-8BDF-27BD-371C-9CBBF88C19E9}"/>
                    </a:ext>
                  </a:extLst>
                </p:cNvPr>
                <p:cNvPicPr/>
                <p:nvPr/>
              </p:nvPicPr>
              <p:blipFill>
                <a:blip r:embed="rId5"/>
                <a:stretch>
                  <a:fillRect/>
                </a:stretch>
              </p:blipFill>
              <p:spPr>
                <a:xfrm>
                  <a:off x="14338560" y="80292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0" name="Ink 29">
                  <a:extLst>
                    <a:ext uri="{FF2B5EF4-FFF2-40B4-BE49-F238E27FC236}">
                      <a16:creationId xmlns:a16="http://schemas.microsoft.com/office/drawing/2014/main" id="{2860BF72-81C8-3B19-79F0-F25F9CD40D74}"/>
                    </a:ext>
                  </a:extLst>
                </p14:cNvPr>
                <p14:cNvContentPartPr/>
                <p14:nvPr/>
              </p14:nvContentPartPr>
              <p14:xfrm>
                <a:off x="14401560" y="8006520"/>
                <a:ext cx="12240" cy="86040"/>
              </p14:xfrm>
            </p:contentPart>
          </mc:Choice>
          <mc:Fallback>
            <p:pic>
              <p:nvPicPr>
                <p:cNvPr id="30" name="Ink 29">
                  <a:extLst>
                    <a:ext uri="{FF2B5EF4-FFF2-40B4-BE49-F238E27FC236}">
                      <a16:creationId xmlns:a16="http://schemas.microsoft.com/office/drawing/2014/main" id="{2860BF72-81C8-3B19-79F0-F25F9CD40D74}"/>
                    </a:ext>
                  </a:extLst>
                </p:cNvPr>
                <p:cNvPicPr/>
                <p:nvPr/>
              </p:nvPicPr>
              <p:blipFill>
                <a:blip r:embed="rId14"/>
                <a:stretch>
                  <a:fillRect/>
                </a:stretch>
              </p:blipFill>
              <p:spPr>
                <a:xfrm>
                  <a:off x="14338560" y="7943520"/>
                  <a:ext cx="137880" cy="211680"/>
                </a:xfrm>
                <a:prstGeom prst="rect">
                  <a:avLst/>
                </a:prstGeom>
              </p:spPr>
            </p:pic>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3415" y="765096"/>
            <a:ext cx="5866328" cy="583406"/>
          </a:xfrm>
          <a:prstGeom prst="rect">
            <a:avLst/>
          </a:prstGeom>
          <a:noFill/>
          <a:ln/>
        </p:spPr>
        <p:txBody>
          <a:bodyPr wrap="none" lIns="0" tIns="0" rIns="0" bIns="0" rtlCol="0" anchor="t"/>
          <a:lstStyle/>
          <a:p>
            <a:pPr marL="0" indent="0" algn="l">
              <a:lnSpc>
                <a:spcPts val="4550"/>
              </a:lnSpc>
              <a:buNone/>
            </a:pPr>
            <a:r>
              <a:rPr lang="en-US" sz="3650" dirty="0">
                <a:solidFill>
                  <a:srgbClr val="201B18"/>
                </a:solidFill>
                <a:latin typeface="Platypi Medium" pitchFamily="34" charset="0"/>
                <a:ea typeface="Platypi Medium" pitchFamily="34" charset="-122"/>
                <a:cs typeface="Platypi Medium" pitchFamily="34" charset="-120"/>
              </a:rPr>
              <a:t>LSTM Model Architecture</a:t>
            </a:r>
            <a:endParaRPr lang="en-US" sz="3650" dirty="0"/>
          </a:p>
        </p:txBody>
      </p:sp>
      <p:sp>
        <p:nvSpPr>
          <p:cNvPr id="4" name="Text 1"/>
          <p:cNvSpPr/>
          <p:nvPr/>
        </p:nvSpPr>
        <p:spPr>
          <a:xfrm>
            <a:off x="653415" y="1628537"/>
            <a:ext cx="7837170" cy="597218"/>
          </a:xfrm>
          <a:prstGeom prst="rect">
            <a:avLst/>
          </a:prstGeom>
          <a:noFill/>
          <a:ln/>
        </p:spPr>
        <p:txBody>
          <a:bodyPr wrap="square" lIns="0" tIns="0" rIns="0" bIns="0" rtlCol="0" anchor="t"/>
          <a:lstStyle/>
          <a:p>
            <a:pPr marL="0" indent="0" algn="l">
              <a:lnSpc>
                <a:spcPts val="2350"/>
              </a:lnSpc>
              <a:buNone/>
            </a:pPr>
            <a:r>
              <a:rPr lang="en-US" sz="1450" dirty="0">
                <a:solidFill>
                  <a:srgbClr val="504C49"/>
                </a:solidFill>
                <a:latin typeface="Source Serif Pro" pitchFamily="34" charset="0"/>
                <a:ea typeface="Source Serif Pro" pitchFamily="34" charset="-122"/>
                <a:cs typeface="Source Serif Pro" pitchFamily="34" charset="-120"/>
              </a:rPr>
              <a:t>The LSTM model architecture for stock price prediction consists of the following main components:</a:t>
            </a:r>
            <a:endParaRPr lang="en-US" sz="1450" dirty="0"/>
          </a:p>
        </p:txBody>
      </p:sp>
      <p:sp>
        <p:nvSpPr>
          <p:cNvPr id="5" name="Text 2"/>
          <p:cNvSpPr/>
          <p:nvPr/>
        </p:nvSpPr>
        <p:spPr>
          <a:xfrm>
            <a:off x="653415" y="2435781"/>
            <a:ext cx="7837170" cy="298609"/>
          </a:xfrm>
          <a:prstGeom prst="rect">
            <a:avLst/>
          </a:prstGeom>
          <a:noFill/>
          <a:ln/>
        </p:spPr>
        <p:txBody>
          <a:bodyPr wrap="none" lIns="0" tIns="0" rIns="0" bIns="0" rtlCol="0" anchor="t"/>
          <a:lstStyle/>
          <a:p>
            <a:pPr marL="342900" indent="-342900" algn="l">
              <a:lnSpc>
                <a:spcPts val="2350"/>
              </a:lnSpc>
              <a:buSzPct val="100000"/>
              <a:buFont typeface="+mj-lt"/>
              <a:buAutoNum type="arabicPeriod"/>
            </a:pPr>
            <a:r>
              <a:rPr lang="en-US" sz="1450" b="1" dirty="0">
                <a:solidFill>
                  <a:srgbClr val="504C49"/>
                </a:solidFill>
                <a:latin typeface="Source Serif Pro" pitchFamily="34" charset="0"/>
                <a:ea typeface="Source Serif Pro" pitchFamily="34" charset="-122"/>
                <a:cs typeface="Source Serif Pro" pitchFamily="34" charset="-120"/>
              </a:rPr>
              <a:t>Input Layer</a:t>
            </a:r>
            <a:endParaRPr lang="en-US" sz="1450" dirty="0"/>
          </a:p>
        </p:txBody>
      </p:sp>
      <p:sp>
        <p:nvSpPr>
          <p:cNvPr id="6" name="Text 3"/>
          <p:cNvSpPr/>
          <p:nvPr/>
        </p:nvSpPr>
        <p:spPr>
          <a:xfrm>
            <a:off x="653415" y="2799636"/>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Takes sequences of past stock prices (e.g., last 60 days) as input.</a:t>
            </a:r>
            <a:endParaRPr lang="en-US" sz="1450" dirty="0"/>
          </a:p>
        </p:txBody>
      </p:sp>
      <p:sp>
        <p:nvSpPr>
          <p:cNvPr id="7" name="Text 4"/>
          <p:cNvSpPr/>
          <p:nvPr/>
        </p:nvSpPr>
        <p:spPr>
          <a:xfrm>
            <a:off x="653415" y="3163491"/>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Data is usually reshaped into 3D format: [samples, time steps, features].</a:t>
            </a:r>
            <a:endParaRPr lang="en-US" sz="1450" dirty="0"/>
          </a:p>
        </p:txBody>
      </p:sp>
      <p:sp>
        <p:nvSpPr>
          <p:cNvPr id="8" name="Text 5"/>
          <p:cNvSpPr/>
          <p:nvPr/>
        </p:nvSpPr>
        <p:spPr>
          <a:xfrm>
            <a:off x="653415" y="3527346"/>
            <a:ext cx="7837170" cy="298609"/>
          </a:xfrm>
          <a:prstGeom prst="rect">
            <a:avLst/>
          </a:prstGeom>
          <a:noFill/>
          <a:ln/>
        </p:spPr>
        <p:txBody>
          <a:bodyPr wrap="none" lIns="0" tIns="0" rIns="0" bIns="0" rtlCol="0" anchor="t"/>
          <a:lstStyle/>
          <a:p>
            <a:pPr marL="342900" indent="-342900" algn="l">
              <a:lnSpc>
                <a:spcPts val="2350"/>
              </a:lnSpc>
              <a:buSzPct val="100000"/>
              <a:buFont typeface="+mj-lt"/>
              <a:buAutoNum type="arabicPeriod" startAt="2"/>
            </a:pPr>
            <a:r>
              <a:rPr lang="en-US" sz="1450" b="1" dirty="0">
                <a:solidFill>
                  <a:srgbClr val="504C49"/>
                </a:solidFill>
                <a:latin typeface="Source Serif Pro" pitchFamily="34" charset="0"/>
                <a:ea typeface="Source Serif Pro" pitchFamily="34" charset="-122"/>
                <a:cs typeface="Source Serif Pro" pitchFamily="34" charset="-120"/>
              </a:rPr>
              <a:t>LSTM Layers</a:t>
            </a:r>
            <a:endParaRPr lang="en-US" sz="1450" dirty="0"/>
          </a:p>
        </p:txBody>
      </p:sp>
      <p:sp>
        <p:nvSpPr>
          <p:cNvPr id="9" name="Text 6"/>
          <p:cNvSpPr/>
          <p:nvPr/>
        </p:nvSpPr>
        <p:spPr>
          <a:xfrm>
            <a:off x="653415" y="3891201"/>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One or more LSTM layers process the sequential data.</a:t>
            </a:r>
            <a:endParaRPr lang="en-US" sz="1450" dirty="0"/>
          </a:p>
        </p:txBody>
      </p:sp>
      <p:sp>
        <p:nvSpPr>
          <p:cNvPr id="10" name="Text 7"/>
          <p:cNvSpPr/>
          <p:nvPr/>
        </p:nvSpPr>
        <p:spPr>
          <a:xfrm>
            <a:off x="653415" y="4255056"/>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These layers have memory cells that remember important patterns over time.</a:t>
            </a:r>
            <a:endParaRPr lang="en-US" sz="1450" dirty="0"/>
          </a:p>
        </p:txBody>
      </p:sp>
      <p:sp>
        <p:nvSpPr>
          <p:cNvPr id="11" name="Text 8"/>
          <p:cNvSpPr/>
          <p:nvPr/>
        </p:nvSpPr>
        <p:spPr>
          <a:xfrm>
            <a:off x="653415" y="4618911"/>
            <a:ext cx="7837170" cy="298609"/>
          </a:xfrm>
          <a:prstGeom prst="rect">
            <a:avLst/>
          </a:prstGeom>
          <a:noFill/>
          <a:ln/>
        </p:spPr>
        <p:txBody>
          <a:bodyPr wrap="none" lIns="0" tIns="0" rIns="0" bIns="0" rtlCol="0" anchor="t"/>
          <a:lstStyle/>
          <a:p>
            <a:pPr marL="342900" indent="-342900" algn="l">
              <a:lnSpc>
                <a:spcPts val="2350"/>
              </a:lnSpc>
              <a:buSzPct val="100000"/>
              <a:buFont typeface="+mj-lt"/>
              <a:buAutoNum type="arabicPeriod" startAt="3"/>
            </a:pPr>
            <a:r>
              <a:rPr lang="en-US" sz="1450" b="1" dirty="0">
                <a:solidFill>
                  <a:srgbClr val="504C49"/>
                </a:solidFill>
                <a:latin typeface="Source Serif Pro" pitchFamily="34" charset="0"/>
                <a:ea typeface="Source Serif Pro" pitchFamily="34" charset="-122"/>
                <a:cs typeface="Source Serif Pro" pitchFamily="34" charset="-120"/>
              </a:rPr>
              <a:t>Dropout Layers</a:t>
            </a:r>
            <a:endParaRPr lang="en-US" sz="1450" dirty="0"/>
          </a:p>
        </p:txBody>
      </p:sp>
      <p:sp>
        <p:nvSpPr>
          <p:cNvPr id="12" name="Text 9"/>
          <p:cNvSpPr/>
          <p:nvPr/>
        </p:nvSpPr>
        <p:spPr>
          <a:xfrm>
            <a:off x="653415" y="4982766"/>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Added after LSTM layers to prevent overfitting.</a:t>
            </a:r>
            <a:endParaRPr lang="en-US" sz="1450" dirty="0"/>
          </a:p>
        </p:txBody>
      </p:sp>
      <p:sp>
        <p:nvSpPr>
          <p:cNvPr id="13" name="Text 10"/>
          <p:cNvSpPr/>
          <p:nvPr/>
        </p:nvSpPr>
        <p:spPr>
          <a:xfrm>
            <a:off x="653415" y="5346621"/>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Randomly disables some neurons during training to improve generalization.</a:t>
            </a:r>
            <a:endParaRPr lang="en-US" sz="1450" dirty="0"/>
          </a:p>
        </p:txBody>
      </p:sp>
      <p:sp>
        <p:nvSpPr>
          <p:cNvPr id="14" name="Text 11"/>
          <p:cNvSpPr/>
          <p:nvPr/>
        </p:nvSpPr>
        <p:spPr>
          <a:xfrm>
            <a:off x="653415" y="5710476"/>
            <a:ext cx="7837170" cy="298609"/>
          </a:xfrm>
          <a:prstGeom prst="rect">
            <a:avLst/>
          </a:prstGeom>
          <a:noFill/>
          <a:ln/>
        </p:spPr>
        <p:txBody>
          <a:bodyPr wrap="none" lIns="0" tIns="0" rIns="0" bIns="0" rtlCol="0" anchor="t"/>
          <a:lstStyle/>
          <a:p>
            <a:pPr marL="342900" indent="-342900" algn="l">
              <a:lnSpc>
                <a:spcPts val="2350"/>
              </a:lnSpc>
              <a:buSzPct val="100000"/>
              <a:buFont typeface="+mj-lt"/>
              <a:buAutoNum type="arabicPeriod" startAt="4"/>
            </a:pPr>
            <a:r>
              <a:rPr lang="en-US" sz="1450" b="1" dirty="0">
                <a:solidFill>
                  <a:srgbClr val="504C49"/>
                </a:solidFill>
                <a:latin typeface="Source Serif Pro" pitchFamily="34" charset="0"/>
                <a:ea typeface="Source Serif Pro" pitchFamily="34" charset="-122"/>
                <a:cs typeface="Source Serif Pro" pitchFamily="34" charset="-120"/>
              </a:rPr>
              <a:t>Dense (Fully Connected) Layer</a:t>
            </a:r>
            <a:endParaRPr lang="en-US" sz="1450" dirty="0"/>
          </a:p>
        </p:txBody>
      </p:sp>
      <p:sp>
        <p:nvSpPr>
          <p:cNvPr id="15" name="Text 12"/>
          <p:cNvSpPr/>
          <p:nvPr/>
        </p:nvSpPr>
        <p:spPr>
          <a:xfrm>
            <a:off x="653415" y="6074331"/>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The final layer that outputs the predicted stock price.</a:t>
            </a:r>
            <a:endParaRPr lang="en-US" sz="1450" dirty="0"/>
          </a:p>
        </p:txBody>
      </p:sp>
      <p:sp>
        <p:nvSpPr>
          <p:cNvPr id="16" name="Text 13"/>
          <p:cNvSpPr/>
          <p:nvPr/>
        </p:nvSpPr>
        <p:spPr>
          <a:xfrm>
            <a:off x="653415" y="6438186"/>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It combines information from the LSTM layers to generate a single value.</a:t>
            </a:r>
            <a:endParaRPr lang="en-US" sz="1450" dirty="0"/>
          </a:p>
        </p:txBody>
      </p:sp>
      <p:sp>
        <p:nvSpPr>
          <p:cNvPr id="17" name="Text 14"/>
          <p:cNvSpPr/>
          <p:nvPr/>
        </p:nvSpPr>
        <p:spPr>
          <a:xfrm>
            <a:off x="653415" y="6802041"/>
            <a:ext cx="7837170" cy="298609"/>
          </a:xfrm>
          <a:prstGeom prst="rect">
            <a:avLst/>
          </a:prstGeom>
          <a:noFill/>
          <a:ln/>
        </p:spPr>
        <p:txBody>
          <a:bodyPr wrap="none" lIns="0" tIns="0" rIns="0" bIns="0" rtlCol="0" anchor="t"/>
          <a:lstStyle/>
          <a:p>
            <a:pPr marL="342900" indent="-342900" algn="l">
              <a:lnSpc>
                <a:spcPts val="2350"/>
              </a:lnSpc>
              <a:buSzPct val="100000"/>
              <a:buFont typeface="+mj-lt"/>
              <a:buAutoNum type="arabicPeriod" startAt="5"/>
            </a:pPr>
            <a:r>
              <a:rPr lang="en-US" sz="1450" b="1" dirty="0">
                <a:solidFill>
                  <a:srgbClr val="504C49"/>
                </a:solidFill>
                <a:latin typeface="Source Serif Pro" pitchFamily="34" charset="0"/>
                <a:ea typeface="Source Serif Pro" pitchFamily="34" charset="-122"/>
                <a:cs typeface="Source Serif Pro" pitchFamily="34" charset="-120"/>
              </a:rPr>
              <a:t>Output</a:t>
            </a:r>
            <a:endParaRPr lang="en-US" sz="1450" dirty="0"/>
          </a:p>
        </p:txBody>
      </p:sp>
      <p:sp>
        <p:nvSpPr>
          <p:cNvPr id="18" name="Text 15"/>
          <p:cNvSpPr/>
          <p:nvPr/>
        </p:nvSpPr>
        <p:spPr>
          <a:xfrm>
            <a:off x="653415" y="7165896"/>
            <a:ext cx="7837170" cy="298609"/>
          </a:xfrm>
          <a:prstGeom prst="rect">
            <a:avLst/>
          </a:prstGeom>
          <a:noFill/>
          <a:ln/>
        </p:spPr>
        <p:txBody>
          <a:bodyPr wrap="none" lIns="0" tIns="0" rIns="0" bIns="0" rtlCol="0" anchor="t"/>
          <a:lstStyle/>
          <a:p>
            <a:pPr marL="685800" lvl="1" indent="-342900" algn="l">
              <a:lnSpc>
                <a:spcPts val="2350"/>
              </a:lnSpc>
              <a:buSzPct val="100000"/>
              <a:buChar char="•"/>
            </a:pPr>
            <a:r>
              <a:rPr lang="en-US" sz="1450" dirty="0">
                <a:solidFill>
                  <a:srgbClr val="504C49"/>
                </a:solidFill>
                <a:latin typeface="Source Serif Pro" pitchFamily="34" charset="0"/>
                <a:ea typeface="Source Serif Pro" pitchFamily="34" charset="-122"/>
                <a:cs typeface="Source Serif Pro" pitchFamily="34" charset="-120"/>
              </a:rPr>
              <a:t>A single value representing the predicted stock price for the next time step.</a:t>
            </a:r>
            <a:endParaRPr lang="en-US" sz="1450" dirty="0"/>
          </a:p>
        </p:txBody>
      </p:sp>
      <mc:AlternateContent xmlns:mc="http://schemas.openxmlformats.org/markup-compatibility/2006">
        <mc:Choice xmlns:p14="http://schemas.microsoft.com/office/powerpoint/2010/main" Requires="p14">
          <p:contentPart p14:bwMode="auto" r:id="rId4">
            <p14:nvContentPartPr>
              <p14:cNvPr id="19" name="Ink 18">
                <a:extLst>
                  <a:ext uri="{FF2B5EF4-FFF2-40B4-BE49-F238E27FC236}">
                    <a16:creationId xmlns:a16="http://schemas.microsoft.com/office/drawing/2014/main" id="{EA4C0AA8-6A4F-5930-543D-CE2895940E98}"/>
                  </a:ext>
                </a:extLst>
              </p14:cNvPr>
              <p14:cNvContentPartPr/>
              <p14:nvPr/>
            </p14:nvContentPartPr>
            <p14:xfrm>
              <a:off x="16108680" y="7513320"/>
              <a:ext cx="360" cy="360"/>
            </p14:xfrm>
          </p:contentPart>
        </mc:Choice>
        <mc:Fallback>
          <p:pic>
            <p:nvPicPr>
              <p:cNvPr id="19" name="Ink 18">
                <a:extLst>
                  <a:ext uri="{FF2B5EF4-FFF2-40B4-BE49-F238E27FC236}">
                    <a16:creationId xmlns:a16="http://schemas.microsoft.com/office/drawing/2014/main" id="{EA4C0AA8-6A4F-5930-543D-CE2895940E98}"/>
                  </a:ext>
                </a:extLst>
              </p:cNvPr>
              <p:cNvPicPr/>
              <p:nvPr/>
            </p:nvPicPr>
            <p:blipFill>
              <a:blip r:embed="rId5"/>
              <a:stretch>
                <a:fillRect/>
              </a:stretch>
            </p:blipFill>
            <p:spPr>
              <a:xfrm>
                <a:off x="16045680" y="7450320"/>
                <a:ext cx="126000" cy="1260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33807"/>
            <a:ext cx="7340084"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Tools and Implementation</a:t>
            </a:r>
            <a:endParaRPr lang="en-US" sz="4450" dirty="0"/>
          </a:p>
        </p:txBody>
      </p:sp>
      <p:sp>
        <p:nvSpPr>
          <p:cNvPr id="4" name="Text 1"/>
          <p:cNvSpPr/>
          <p:nvPr/>
        </p:nvSpPr>
        <p:spPr>
          <a:xfrm>
            <a:off x="6280190" y="198274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Python libraries like TensorFlow, Keras, scikit-learn, and pandas facilitate LSTM modeling. yfinance provides historical data. Visualization leverages matplotlib. Simple code structure helps define LSTM models cleanly in Keras.</a:t>
            </a:r>
            <a:endParaRPr lang="en-US" sz="1750" dirty="0"/>
          </a:p>
        </p:txBody>
      </p:sp>
      <p:sp>
        <p:nvSpPr>
          <p:cNvPr id="5" name="Shape 2"/>
          <p:cNvSpPr/>
          <p:nvPr/>
        </p:nvSpPr>
        <p:spPr>
          <a:xfrm>
            <a:off x="6280190" y="3689509"/>
            <a:ext cx="7556421" cy="3606165"/>
          </a:xfrm>
          <a:prstGeom prst="roundRect">
            <a:avLst>
              <a:gd name="adj" fmla="val 944"/>
            </a:avLst>
          </a:prstGeom>
          <a:solidFill>
            <a:srgbClr val="F3E3D8"/>
          </a:solidFill>
          <a:ln/>
        </p:spPr>
      </p:sp>
      <p:sp>
        <p:nvSpPr>
          <p:cNvPr id="6" name="Shape 3"/>
          <p:cNvSpPr/>
          <p:nvPr/>
        </p:nvSpPr>
        <p:spPr>
          <a:xfrm>
            <a:off x="6268879" y="3689509"/>
            <a:ext cx="7579043" cy="3606165"/>
          </a:xfrm>
          <a:prstGeom prst="roundRect">
            <a:avLst>
              <a:gd name="adj" fmla="val 944"/>
            </a:avLst>
          </a:prstGeom>
          <a:solidFill>
            <a:srgbClr val="F3E3D8"/>
          </a:solidFill>
          <a:ln/>
        </p:spPr>
      </p:sp>
      <p:sp>
        <p:nvSpPr>
          <p:cNvPr id="7" name="Text 4"/>
          <p:cNvSpPr/>
          <p:nvPr/>
        </p:nvSpPr>
        <p:spPr>
          <a:xfrm>
            <a:off x="6495693" y="3859530"/>
            <a:ext cx="7125414" cy="3266123"/>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highlight>
                  <a:srgbClr val="F3E3D8"/>
                </a:highlight>
                <a:latin typeface="Consolas" pitchFamily="34" charset="0"/>
                <a:ea typeface="Consolas" pitchFamily="34" charset="-122"/>
                <a:cs typeface="Consolas" pitchFamily="34" charset="-120"/>
              </a:rPr>
              <a:t>Python: Primary programming language for implementation.</a:t>
            </a:r>
            <a:endParaRPr lang="en-US" sz="1750" dirty="0"/>
          </a:p>
          <a:p>
            <a:pPr marL="0" indent="0" algn="l">
              <a:lnSpc>
                <a:spcPts val="2850"/>
              </a:lnSpc>
              <a:buNone/>
            </a:pPr>
            <a:endParaRPr lang="en-US" sz="1750" dirty="0"/>
          </a:p>
          <a:p>
            <a:pPr marL="0" indent="0" algn="l">
              <a:lnSpc>
                <a:spcPts val="2850"/>
              </a:lnSpc>
              <a:buNone/>
            </a:pPr>
            <a:r>
              <a:rPr lang="en-US" sz="1750" dirty="0">
                <a:solidFill>
                  <a:srgbClr val="504C49"/>
                </a:solidFill>
                <a:highlight>
                  <a:srgbClr val="F3E3D8"/>
                </a:highlight>
                <a:latin typeface="Consolas" pitchFamily="34" charset="0"/>
                <a:ea typeface="Consolas" pitchFamily="34" charset="-122"/>
                <a:cs typeface="Consolas" pitchFamily="34" charset="-120"/>
              </a:rPr>
              <a:t>NumPy &amp; Pandas: For data preprocessing and manipulation.</a:t>
            </a:r>
            <a:endParaRPr lang="en-US" sz="1750" dirty="0"/>
          </a:p>
          <a:p>
            <a:pPr marL="0" indent="0" algn="l">
              <a:lnSpc>
                <a:spcPts val="2850"/>
              </a:lnSpc>
              <a:buNone/>
            </a:pPr>
            <a:endParaRPr lang="en-US" sz="1750" dirty="0"/>
          </a:p>
          <a:p>
            <a:pPr marL="0" indent="0" algn="l">
              <a:lnSpc>
                <a:spcPts val="2850"/>
              </a:lnSpc>
              <a:buNone/>
            </a:pPr>
            <a:r>
              <a:rPr lang="en-US" sz="1750" dirty="0">
                <a:solidFill>
                  <a:srgbClr val="504C49"/>
                </a:solidFill>
                <a:highlight>
                  <a:srgbClr val="F3E3D8"/>
                </a:highlight>
                <a:latin typeface="Consolas" pitchFamily="34" charset="0"/>
                <a:ea typeface="Consolas" pitchFamily="34" charset="-122"/>
                <a:cs typeface="Consolas" pitchFamily="34" charset="-120"/>
              </a:rPr>
              <a:t>Matplotlib &amp; Seaborn: For data visualization and plotting prediction results.</a:t>
            </a:r>
            <a:endParaRPr lang="en-US" sz="1750" dirty="0"/>
          </a:p>
          <a:p>
            <a:pPr marL="0" indent="0" algn="l">
              <a:lnSpc>
                <a:spcPts val="2850"/>
              </a:lnSpc>
              <a:buNone/>
            </a:pPr>
            <a:endParaRPr lang="en-US" sz="1750" dirty="0"/>
          </a:p>
          <a:p>
            <a:pPr marL="0" indent="0" algn="l">
              <a:lnSpc>
                <a:spcPts val="2850"/>
              </a:lnSpc>
              <a:buNone/>
            </a:pPr>
            <a:r>
              <a:rPr lang="en-US" sz="1750" dirty="0">
                <a:solidFill>
                  <a:srgbClr val="504C49"/>
                </a:solidFill>
                <a:highlight>
                  <a:srgbClr val="F3E3D8"/>
                </a:highlight>
                <a:latin typeface="Consolas" pitchFamily="34" charset="0"/>
                <a:ea typeface="Consolas" pitchFamily="34" charset="-122"/>
                <a:cs typeface="Consolas" pitchFamily="34" charset="-120"/>
              </a:rPr>
              <a:t>Scikit-learn: For data splitting, scaling, and evaluation metrics</a:t>
            </a:r>
            <a:endParaRPr lang="en-US" sz="1750" dirty="0"/>
          </a:p>
          <a:p>
            <a:pPr marL="0" indent="0" algn="l">
              <a:lnSpc>
                <a:spcPts val="2850"/>
              </a:lnSpc>
              <a:buNone/>
            </a:pPr>
            <a:r>
              <a:rPr lang="en-US" sz="1750" dirty="0">
                <a:solidFill>
                  <a:srgbClr val="504C49"/>
                </a:solidFill>
                <a:highlight>
                  <a:srgbClr val="F3E3D8"/>
                </a:highlight>
                <a:latin typeface="Consolas" pitchFamily="34" charset="0"/>
                <a:ea typeface="Consolas" pitchFamily="34" charset="-122"/>
                <a:cs typeface="Consolas" pitchFamily="34" charset="-120"/>
              </a:rPr>
              <a:t>  </a:t>
            </a:r>
            <a:endParaRPr lang="en-US" sz="1750" dirty="0"/>
          </a:p>
        </p:txBody>
      </p:sp>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EF33E203-111B-2979-F111-F1098F7D96A7}"/>
                  </a:ext>
                </a:extLst>
              </p14:cNvPr>
              <p14:cNvContentPartPr/>
              <p14:nvPr/>
            </p14:nvContentPartPr>
            <p14:xfrm>
              <a:off x="13076040" y="7909320"/>
              <a:ext cx="360" cy="360"/>
            </p14:xfrm>
          </p:contentPart>
        </mc:Choice>
        <mc:Fallback>
          <p:pic>
            <p:nvPicPr>
              <p:cNvPr id="8" name="Ink 7">
                <a:extLst>
                  <a:ext uri="{FF2B5EF4-FFF2-40B4-BE49-F238E27FC236}">
                    <a16:creationId xmlns:a16="http://schemas.microsoft.com/office/drawing/2014/main" id="{EF33E203-111B-2979-F111-F1098F7D96A7}"/>
                  </a:ext>
                </a:extLst>
              </p:cNvPr>
              <p:cNvPicPr/>
              <p:nvPr/>
            </p:nvPicPr>
            <p:blipFill>
              <a:blip r:embed="rId5"/>
              <a:stretch>
                <a:fillRect/>
              </a:stretch>
            </p:blipFill>
            <p:spPr>
              <a:xfrm>
                <a:off x="13013040" y="78463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297F21A6-9BDE-668E-C787-157CC7A04F94}"/>
                  </a:ext>
                </a:extLst>
              </p14:cNvPr>
              <p14:cNvContentPartPr/>
              <p14:nvPr/>
            </p14:nvContentPartPr>
            <p14:xfrm>
              <a:off x="14295000" y="7940280"/>
              <a:ext cx="360" cy="360"/>
            </p14:xfrm>
          </p:contentPart>
        </mc:Choice>
        <mc:Fallback>
          <p:pic>
            <p:nvPicPr>
              <p:cNvPr id="10" name="Ink 9">
                <a:extLst>
                  <a:ext uri="{FF2B5EF4-FFF2-40B4-BE49-F238E27FC236}">
                    <a16:creationId xmlns:a16="http://schemas.microsoft.com/office/drawing/2014/main" id="{297F21A6-9BDE-668E-C787-157CC7A04F94}"/>
                  </a:ext>
                </a:extLst>
              </p:cNvPr>
              <p:cNvPicPr/>
              <p:nvPr/>
            </p:nvPicPr>
            <p:blipFill>
              <a:blip r:embed="rId5"/>
              <a:stretch>
                <a:fillRect/>
              </a:stretch>
            </p:blipFill>
            <p:spPr>
              <a:xfrm>
                <a:off x="14232000" y="787728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64076E06-2A98-3536-6DEA-6FF94DD49CE0}"/>
                  </a:ext>
                </a:extLst>
              </p14:cNvPr>
              <p14:cNvContentPartPr/>
              <p14:nvPr/>
            </p14:nvContentPartPr>
            <p14:xfrm>
              <a:off x="13207663" y="7748238"/>
              <a:ext cx="1078474" cy="192204"/>
            </p14:xfrm>
          </p:contentPart>
        </mc:Choice>
        <mc:Fallback>
          <p:pic>
            <p:nvPicPr>
              <p:cNvPr id="12" name="Ink 11">
                <a:extLst>
                  <a:ext uri="{FF2B5EF4-FFF2-40B4-BE49-F238E27FC236}">
                    <a16:creationId xmlns:a16="http://schemas.microsoft.com/office/drawing/2014/main" id="{64076E06-2A98-3536-6DEA-6FF94DD49CE0}"/>
                  </a:ext>
                </a:extLst>
              </p:cNvPr>
              <p:cNvPicPr/>
              <p:nvPr/>
            </p:nvPicPr>
            <p:blipFill>
              <a:blip r:embed="rId8"/>
              <a:stretch>
                <a:fillRect/>
              </a:stretch>
            </p:blipFill>
            <p:spPr>
              <a:xfrm>
                <a:off x="13145028" y="7685250"/>
                <a:ext cx="1204104" cy="3178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3419E846-893A-3B38-31DA-0253BF09D899}"/>
                  </a:ext>
                </a:extLst>
              </p14:cNvPr>
              <p14:cNvContentPartPr/>
              <p14:nvPr/>
            </p14:nvContentPartPr>
            <p14:xfrm>
              <a:off x="12984600" y="8015880"/>
              <a:ext cx="360" cy="360"/>
            </p14:xfrm>
          </p:contentPart>
        </mc:Choice>
        <mc:Fallback>
          <p:pic>
            <p:nvPicPr>
              <p:cNvPr id="13" name="Ink 12">
                <a:extLst>
                  <a:ext uri="{FF2B5EF4-FFF2-40B4-BE49-F238E27FC236}">
                    <a16:creationId xmlns:a16="http://schemas.microsoft.com/office/drawing/2014/main" id="{3419E846-893A-3B38-31DA-0253BF09D899}"/>
                  </a:ext>
                </a:extLst>
              </p:cNvPr>
              <p:cNvPicPr/>
              <p:nvPr/>
            </p:nvPicPr>
            <p:blipFill>
              <a:blip r:embed="rId5"/>
              <a:stretch>
                <a:fillRect/>
              </a:stretch>
            </p:blipFill>
            <p:spPr>
              <a:xfrm>
                <a:off x="12921600" y="7952880"/>
                <a:ext cx="126000" cy="126000"/>
              </a:xfrm>
              <a:prstGeom prst="rect">
                <a:avLst/>
              </a:prstGeom>
            </p:spPr>
          </p:pic>
        </mc:Fallback>
      </mc:AlternateContent>
      <p:grpSp>
        <p:nvGrpSpPr>
          <p:cNvPr id="17" name="Group 16">
            <a:extLst>
              <a:ext uri="{FF2B5EF4-FFF2-40B4-BE49-F238E27FC236}">
                <a16:creationId xmlns:a16="http://schemas.microsoft.com/office/drawing/2014/main" id="{147E3BE4-94CE-4C90-9A4E-A44D8CF28FC5}"/>
              </a:ext>
            </a:extLst>
          </p:cNvPr>
          <p:cNvGrpSpPr/>
          <p:nvPr/>
        </p:nvGrpSpPr>
        <p:grpSpPr>
          <a:xfrm>
            <a:off x="12953640" y="7770720"/>
            <a:ext cx="1495080" cy="353520"/>
            <a:chOff x="12953640" y="7770720"/>
            <a:chExt cx="1495080" cy="353520"/>
          </a:xfrm>
        </p:grpSpPr>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1F5A6F15-CCC0-7E60-B3CA-4FA418099848}"/>
                    </a:ext>
                  </a:extLst>
                </p14:cNvPr>
                <p14:cNvContentPartPr/>
                <p14:nvPr/>
              </p14:nvContentPartPr>
              <p14:xfrm>
                <a:off x="12984600" y="7860360"/>
                <a:ext cx="1432800" cy="218520"/>
              </p14:xfrm>
            </p:contentPart>
          </mc:Choice>
          <mc:Fallback>
            <p:pic>
              <p:nvPicPr>
                <p:cNvPr id="14" name="Ink 13">
                  <a:extLst>
                    <a:ext uri="{FF2B5EF4-FFF2-40B4-BE49-F238E27FC236}">
                      <a16:creationId xmlns:a16="http://schemas.microsoft.com/office/drawing/2014/main" id="{1F5A6F15-CCC0-7E60-B3CA-4FA418099848}"/>
                    </a:ext>
                  </a:extLst>
                </p:cNvPr>
                <p:cNvPicPr/>
                <p:nvPr/>
              </p:nvPicPr>
              <p:blipFill>
                <a:blip r:embed="rId11"/>
                <a:stretch>
                  <a:fillRect/>
                </a:stretch>
              </p:blipFill>
              <p:spPr>
                <a:xfrm>
                  <a:off x="12921600" y="7797360"/>
                  <a:ext cx="155844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F5474FD0-2BB6-E549-720C-748667928EA6}"/>
                    </a:ext>
                  </a:extLst>
                </p14:cNvPr>
                <p14:cNvContentPartPr/>
                <p14:nvPr/>
              </p14:nvContentPartPr>
              <p14:xfrm>
                <a:off x="12953640" y="7924440"/>
                <a:ext cx="360" cy="360"/>
              </p14:xfrm>
            </p:contentPart>
          </mc:Choice>
          <mc:Fallback>
            <p:pic>
              <p:nvPicPr>
                <p:cNvPr id="15" name="Ink 14">
                  <a:extLst>
                    <a:ext uri="{FF2B5EF4-FFF2-40B4-BE49-F238E27FC236}">
                      <a16:creationId xmlns:a16="http://schemas.microsoft.com/office/drawing/2014/main" id="{F5474FD0-2BB6-E549-720C-748667928EA6}"/>
                    </a:ext>
                  </a:extLst>
                </p:cNvPr>
                <p:cNvPicPr/>
                <p:nvPr/>
              </p:nvPicPr>
              <p:blipFill>
                <a:blip r:embed="rId5"/>
                <a:stretch>
                  <a:fillRect/>
                </a:stretch>
              </p:blipFill>
              <p:spPr>
                <a:xfrm>
                  <a:off x="12890640" y="786144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6" name="Ink 15">
                  <a:extLst>
                    <a:ext uri="{FF2B5EF4-FFF2-40B4-BE49-F238E27FC236}">
                      <a16:creationId xmlns:a16="http://schemas.microsoft.com/office/drawing/2014/main" id="{AA5A4E2C-DC03-51B8-5357-562BF59618F5}"/>
                    </a:ext>
                  </a:extLst>
                </p14:cNvPr>
                <p14:cNvContentPartPr/>
                <p14:nvPr/>
              </p14:nvContentPartPr>
              <p14:xfrm>
                <a:off x="12953640" y="7770720"/>
                <a:ext cx="1495080" cy="353520"/>
              </p14:xfrm>
            </p:contentPart>
          </mc:Choice>
          <mc:Fallback>
            <p:pic>
              <p:nvPicPr>
                <p:cNvPr id="16" name="Ink 15">
                  <a:extLst>
                    <a:ext uri="{FF2B5EF4-FFF2-40B4-BE49-F238E27FC236}">
                      <a16:creationId xmlns:a16="http://schemas.microsoft.com/office/drawing/2014/main" id="{AA5A4E2C-DC03-51B8-5357-562BF59618F5}"/>
                    </a:ext>
                  </a:extLst>
                </p:cNvPr>
                <p:cNvPicPr/>
                <p:nvPr/>
              </p:nvPicPr>
              <p:blipFill>
                <a:blip r:embed="rId14"/>
                <a:stretch>
                  <a:fillRect/>
                </a:stretch>
              </p:blipFill>
              <p:spPr>
                <a:xfrm>
                  <a:off x="12890640" y="7707720"/>
                  <a:ext cx="1620720" cy="479160"/>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351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Limitations</a:t>
            </a:r>
            <a:endParaRPr lang="en-US" sz="4450" dirty="0"/>
          </a:p>
        </p:txBody>
      </p:sp>
      <p:sp>
        <p:nvSpPr>
          <p:cNvPr id="4" name="Text 1"/>
          <p:cNvSpPr/>
          <p:nvPr/>
        </p:nvSpPr>
        <p:spPr>
          <a:xfrm>
            <a:off x="6280190" y="2184083"/>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LSTMs risk overfitting without enough data or regularization. Market volatility limits prediction certainty. Data quality and feature engineering, including technical indicators, improve model reliability but can't eliminate risk.</a:t>
            </a:r>
            <a:endParaRPr lang="en-US" sz="1750" dirty="0"/>
          </a:p>
        </p:txBody>
      </p:sp>
      <p:sp>
        <p:nvSpPr>
          <p:cNvPr id="5" name="Shape 2"/>
          <p:cNvSpPr/>
          <p:nvPr/>
        </p:nvSpPr>
        <p:spPr>
          <a:xfrm>
            <a:off x="6280190" y="3890843"/>
            <a:ext cx="3664863" cy="1669852"/>
          </a:xfrm>
          <a:prstGeom prst="roundRect">
            <a:avLst>
              <a:gd name="adj" fmla="val 2038"/>
            </a:avLst>
          </a:prstGeom>
          <a:solidFill>
            <a:srgbClr val="F9F7F7"/>
          </a:solidFill>
          <a:ln/>
        </p:spPr>
      </p:sp>
      <p:sp>
        <p:nvSpPr>
          <p:cNvPr id="6" name="Text 3"/>
          <p:cNvSpPr/>
          <p:nvPr/>
        </p:nvSpPr>
        <p:spPr>
          <a:xfrm>
            <a:off x="6507004" y="41176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Overfitting Risks</a:t>
            </a:r>
            <a:endParaRPr lang="en-US" sz="2200" dirty="0"/>
          </a:p>
        </p:txBody>
      </p:sp>
      <p:sp>
        <p:nvSpPr>
          <p:cNvPr id="7" name="Text 4"/>
          <p:cNvSpPr/>
          <p:nvPr/>
        </p:nvSpPr>
        <p:spPr>
          <a:xfrm>
            <a:off x="6507004" y="4608076"/>
            <a:ext cx="3211235"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Need regularization and sufficient data volume.</a:t>
            </a:r>
            <a:endParaRPr lang="en-US" sz="1750" dirty="0"/>
          </a:p>
        </p:txBody>
      </p:sp>
      <p:sp>
        <p:nvSpPr>
          <p:cNvPr id="8" name="Shape 5"/>
          <p:cNvSpPr/>
          <p:nvPr/>
        </p:nvSpPr>
        <p:spPr>
          <a:xfrm>
            <a:off x="10171867" y="3890843"/>
            <a:ext cx="3664863" cy="1669852"/>
          </a:xfrm>
          <a:prstGeom prst="roundRect">
            <a:avLst>
              <a:gd name="adj" fmla="val 2038"/>
            </a:avLst>
          </a:prstGeom>
          <a:solidFill>
            <a:srgbClr val="F9F7F7"/>
          </a:solidFill>
          <a:ln/>
        </p:spPr>
      </p:sp>
      <p:sp>
        <p:nvSpPr>
          <p:cNvPr id="9" name="Text 6"/>
          <p:cNvSpPr/>
          <p:nvPr/>
        </p:nvSpPr>
        <p:spPr>
          <a:xfrm>
            <a:off x="10398681" y="41176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Data Quality</a:t>
            </a:r>
            <a:endParaRPr lang="en-US" sz="2200" dirty="0"/>
          </a:p>
        </p:txBody>
      </p:sp>
      <p:sp>
        <p:nvSpPr>
          <p:cNvPr id="10" name="Text 7"/>
          <p:cNvSpPr/>
          <p:nvPr/>
        </p:nvSpPr>
        <p:spPr>
          <a:xfrm>
            <a:off x="10398681" y="4608076"/>
            <a:ext cx="3211235"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Accurate historical data is essential.</a:t>
            </a:r>
            <a:endParaRPr lang="en-US" sz="1750" dirty="0"/>
          </a:p>
        </p:txBody>
      </p:sp>
      <p:sp>
        <p:nvSpPr>
          <p:cNvPr id="11" name="Shape 8"/>
          <p:cNvSpPr/>
          <p:nvPr/>
        </p:nvSpPr>
        <p:spPr>
          <a:xfrm>
            <a:off x="6280190" y="5787509"/>
            <a:ext cx="7556421" cy="1306949"/>
          </a:xfrm>
          <a:prstGeom prst="roundRect">
            <a:avLst>
              <a:gd name="adj" fmla="val 2603"/>
            </a:avLst>
          </a:prstGeom>
          <a:solidFill>
            <a:srgbClr val="F9F7F7"/>
          </a:solidFill>
          <a:ln/>
        </p:spPr>
      </p:sp>
      <p:sp>
        <p:nvSpPr>
          <p:cNvPr id="12" name="Text 9"/>
          <p:cNvSpPr/>
          <p:nvPr/>
        </p:nvSpPr>
        <p:spPr>
          <a:xfrm>
            <a:off x="6507004" y="60143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Market Volatility</a:t>
            </a:r>
            <a:endParaRPr lang="en-US" sz="2200" dirty="0"/>
          </a:p>
        </p:txBody>
      </p:sp>
      <p:sp>
        <p:nvSpPr>
          <p:cNvPr id="13" name="Text 10"/>
          <p:cNvSpPr/>
          <p:nvPr/>
        </p:nvSpPr>
        <p:spPr>
          <a:xfrm>
            <a:off x="6507004" y="6504742"/>
            <a:ext cx="7102793"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Sudden changes challenge prediction accuracy.</a:t>
            </a:r>
            <a:endParaRPr lang="en-US" sz="1750" dirty="0"/>
          </a:p>
        </p:txBody>
      </p:sp>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EEEF148C-A382-EA34-ECB4-885FA3BB7515}"/>
                  </a:ext>
                </a:extLst>
              </p14:cNvPr>
              <p14:cNvContentPartPr/>
              <p14:nvPr/>
            </p14:nvContentPartPr>
            <p14:xfrm>
              <a:off x="13060920" y="7940280"/>
              <a:ext cx="360" cy="360"/>
            </p14:xfrm>
          </p:contentPart>
        </mc:Choice>
        <mc:Fallback>
          <p:pic>
            <p:nvPicPr>
              <p:cNvPr id="14" name="Ink 13">
                <a:extLst>
                  <a:ext uri="{FF2B5EF4-FFF2-40B4-BE49-F238E27FC236}">
                    <a16:creationId xmlns:a16="http://schemas.microsoft.com/office/drawing/2014/main" id="{EEEF148C-A382-EA34-ECB4-885FA3BB7515}"/>
                  </a:ext>
                </a:extLst>
              </p:cNvPr>
              <p:cNvPicPr/>
              <p:nvPr/>
            </p:nvPicPr>
            <p:blipFill>
              <a:blip r:embed="rId5"/>
              <a:stretch>
                <a:fillRect/>
              </a:stretch>
            </p:blipFill>
            <p:spPr>
              <a:xfrm>
                <a:off x="12997920" y="787728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A1B2644A-C2D7-5B9D-FCC6-E9F1CFCC78D8}"/>
                  </a:ext>
                </a:extLst>
              </p14:cNvPr>
              <p14:cNvContentPartPr/>
              <p14:nvPr/>
            </p14:nvContentPartPr>
            <p14:xfrm>
              <a:off x="12907560" y="7771440"/>
              <a:ext cx="1554120" cy="398880"/>
            </p14:xfrm>
          </p:contentPart>
        </mc:Choice>
        <mc:Fallback>
          <p:pic>
            <p:nvPicPr>
              <p:cNvPr id="15" name="Ink 14">
                <a:extLst>
                  <a:ext uri="{FF2B5EF4-FFF2-40B4-BE49-F238E27FC236}">
                    <a16:creationId xmlns:a16="http://schemas.microsoft.com/office/drawing/2014/main" id="{A1B2644A-C2D7-5B9D-FCC6-E9F1CFCC78D8}"/>
                  </a:ext>
                </a:extLst>
              </p:cNvPr>
              <p:cNvPicPr/>
              <p:nvPr/>
            </p:nvPicPr>
            <p:blipFill>
              <a:blip r:embed="rId7"/>
              <a:stretch>
                <a:fillRect/>
              </a:stretch>
            </p:blipFill>
            <p:spPr>
              <a:xfrm>
                <a:off x="12844560" y="7708800"/>
                <a:ext cx="1679760" cy="5245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6057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Future Directions</a:t>
            </a:r>
            <a:endParaRPr lang="en-US" sz="4450" dirty="0"/>
          </a:p>
        </p:txBody>
      </p:sp>
      <p:sp>
        <p:nvSpPr>
          <p:cNvPr id="3" name="Text 1"/>
          <p:cNvSpPr/>
          <p:nvPr/>
        </p:nvSpPr>
        <p:spPr>
          <a:xfrm>
            <a:off x="793790" y="192297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LSTMs are powerful but need ongoing advances. Integrating sentiment analysis and news data could enhance predictions. Continued tuning and hybrid models may improve robustness and forecasting power.</a:t>
            </a:r>
            <a:endParaRPr lang="en-US" sz="1750" dirty="0"/>
          </a:p>
        </p:txBody>
      </p:sp>
      <p:sp>
        <p:nvSpPr>
          <p:cNvPr id="4" name="Text 2"/>
          <p:cNvSpPr/>
          <p:nvPr/>
        </p:nvSpPr>
        <p:spPr>
          <a:xfrm>
            <a:off x="1857256" y="344269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Data Tuning</a:t>
            </a:r>
            <a:endParaRPr lang="en-US" sz="2200" dirty="0"/>
          </a:p>
        </p:txBody>
      </p:sp>
      <p:sp>
        <p:nvSpPr>
          <p:cNvPr id="5" name="Text 3"/>
          <p:cNvSpPr/>
          <p:nvPr/>
        </p:nvSpPr>
        <p:spPr>
          <a:xfrm>
            <a:off x="793790" y="3933111"/>
            <a:ext cx="3898702" cy="725805"/>
          </a:xfrm>
          <a:prstGeom prst="rect">
            <a:avLst/>
          </a:prstGeom>
          <a:noFill/>
          <a:ln/>
        </p:spPr>
        <p:txBody>
          <a:bodyPr wrap="square" lIns="0" tIns="0" rIns="0" bIns="0" rtlCol="0" anchor="t"/>
          <a:lstStyle/>
          <a:p>
            <a:pPr marL="0" indent="0" algn="r">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Continuous preprocessing improvements</a:t>
            </a:r>
            <a:endParaRPr lang="en-US" sz="1750" dirty="0"/>
          </a:p>
        </p:txBody>
      </p:sp>
      <p:pic>
        <p:nvPicPr>
          <p:cNvPr id="6" name="Image 0" descr="preencoded.png"/>
          <p:cNvPicPr>
            <a:picLocks noChangeAspect="1"/>
          </p:cNvPicPr>
          <p:nvPr/>
        </p:nvPicPr>
        <p:blipFill>
          <a:blip r:embed="rId3"/>
          <a:stretch>
            <a:fillRect/>
          </a:stretch>
        </p:blipFill>
        <p:spPr>
          <a:xfrm>
            <a:off x="5032653" y="2903934"/>
            <a:ext cx="4564975" cy="4564975"/>
          </a:xfrm>
          <a:prstGeom prst="rect">
            <a:avLst/>
          </a:prstGeom>
        </p:spPr>
      </p:pic>
      <p:sp>
        <p:nvSpPr>
          <p:cNvPr id="7" name="Text 4"/>
          <p:cNvSpPr/>
          <p:nvPr/>
        </p:nvSpPr>
        <p:spPr>
          <a:xfrm>
            <a:off x="6226731" y="3667006"/>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504C49"/>
                </a:solidFill>
                <a:latin typeface="Platypi Medium" pitchFamily="34" charset="0"/>
                <a:ea typeface="Platypi Medium" pitchFamily="34" charset="-122"/>
                <a:cs typeface="Platypi Medium" pitchFamily="34" charset="-120"/>
              </a:rPr>
              <a:t>1</a:t>
            </a:r>
            <a:endParaRPr lang="en-US" sz="2650" dirty="0"/>
          </a:p>
        </p:txBody>
      </p:sp>
      <p:sp>
        <p:nvSpPr>
          <p:cNvPr id="8" name="Text 5"/>
          <p:cNvSpPr/>
          <p:nvPr/>
        </p:nvSpPr>
        <p:spPr>
          <a:xfrm>
            <a:off x="9937790" y="34426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Hybrid Models</a:t>
            </a:r>
            <a:endParaRPr lang="en-US" sz="2200" dirty="0"/>
          </a:p>
        </p:txBody>
      </p:sp>
      <p:sp>
        <p:nvSpPr>
          <p:cNvPr id="9" name="Text 6"/>
          <p:cNvSpPr/>
          <p:nvPr/>
        </p:nvSpPr>
        <p:spPr>
          <a:xfrm>
            <a:off x="9937790" y="3933111"/>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Combining LSTMs with other algorithms</a:t>
            </a:r>
            <a:endParaRPr lang="en-US" sz="1750" dirty="0"/>
          </a:p>
        </p:txBody>
      </p:sp>
      <p:pic>
        <p:nvPicPr>
          <p:cNvPr id="10" name="Image 1" descr="preencoded.png"/>
          <p:cNvPicPr>
            <a:picLocks noChangeAspect="1"/>
          </p:cNvPicPr>
          <p:nvPr/>
        </p:nvPicPr>
        <p:blipFill>
          <a:blip r:embed="rId4"/>
          <a:stretch>
            <a:fillRect/>
          </a:stretch>
        </p:blipFill>
        <p:spPr>
          <a:xfrm>
            <a:off x="5032653" y="2903934"/>
            <a:ext cx="4564975" cy="4564975"/>
          </a:xfrm>
          <a:prstGeom prst="rect">
            <a:avLst/>
          </a:prstGeom>
        </p:spPr>
      </p:pic>
      <p:sp>
        <p:nvSpPr>
          <p:cNvPr id="11" name="Text 7"/>
          <p:cNvSpPr/>
          <p:nvPr/>
        </p:nvSpPr>
        <p:spPr>
          <a:xfrm>
            <a:off x="8452604" y="4055507"/>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504C49"/>
                </a:solidFill>
                <a:latin typeface="Platypi Medium" pitchFamily="34" charset="0"/>
                <a:ea typeface="Platypi Medium" pitchFamily="34" charset="-122"/>
                <a:cs typeface="Platypi Medium" pitchFamily="34" charset="-120"/>
              </a:rPr>
              <a:t>2</a:t>
            </a:r>
            <a:endParaRPr lang="en-US" sz="2650" dirty="0"/>
          </a:p>
        </p:txBody>
      </p:sp>
      <p:sp>
        <p:nvSpPr>
          <p:cNvPr id="12" name="Text 8"/>
          <p:cNvSpPr/>
          <p:nvPr/>
        </p:nvSpPr>
        <p:spPr>
          <a:xfrm>
            <a:off x="9937790" y="607671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Sentiment Analysis</a:t>
            </a:r>
            <a:endParaRPr lang="en-US" sz="2200" dirty="0"/>
          </a:p>
        </p:txBody>
      </p:sp>
      <p:sp>
        <p:nvSpPr>
          <p:cNvPr id="13" name="Text 9"/>
          <p:cNvSpPr/>
          <p:nvPr/>
        </p:nvSpPr>
        <p:spPr>
          <a:xfrm>
            <a:off x="9937790" y="6567130"/>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Using news and social media data</a:t>
            </a:r>
            <a:endParaRPr lang="en-US" sz="1750" dirty="0"/>
          </a:p>
        </p:txBody>
      </p:sp>
      <p:pic>
        <p:nvPicPr>
          <p:cNvPr id="14" name="Image 2" descr="preencoded.png"/>
          <p:cNvPicPr>
            <a:picLocks noChangeAspect="1"/>
          </p:cNvPicPr>
          <p:nvPr/>
        </p:nvPicPr>
        <p:blipFill>
          <a:blip r:embed="rId5"/>
          <a:stretch>
            <a:fillRect/>
          </a:stretch>
        </p:blipFill>
        <p:spPr>
          <a:xfrm>
            <a:off x="5032653" y="2903934"/>
            <a:ext cx="4564975" cy="4564975"/>
          </a:xfrm>
          <a:prstGeom prst="rect">
            <a:avLst/>
          </a:prstGeom>
        </p:spPr>
      </p:pic>
      <p:sp>
        <p:nvSpPr>
          <p:cNvPr id="15" name="Text 10"/>
          <p:cNvSpPr/>
          <p:nvPr/>
        </p:nvSpPr>
        <p:spPr>
          <a:xfrm>
            <a:off x="8064103" y="6281380"/>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504C49"/>
                </a:solidFill>
                <a:latin typeface="Platypi Medium" pitchFamily="34" charset="0"/>
                <a:ea typeface="Platypi Medium" pitchFamily="34" charset="-122"/>
                <a:cs typeface="Platypi Medium" pitchFamily="34" charset="-120"/>
              </a:rPr>
              <a:t>3</a:t>
            </a:r>
            <a:endParaRPr lang="en-US" sz="2650" dirty="0"/>
          </a:p>
        </p:txBody>
      </p:sp>
      <p:sp>
        <p:nvSpPr>
          <p:cNvPr id="16" name="Text 11"/>
          <p:cNvSpPr/>
          <p:nvPr/>
        </p:nvSpPr>
        <p:spPr>
          <a:xfrm>
            <a:off x="1857256" y="607671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Broader Validation</a:t>
            </a:r>
            <a:endParaRPr lang="en-US" sz="2200" dirty="0"/>
          </a:p>
        </p:txBody>
      </p:sp>
      <p:sp>
        <p:nvSpPr>
          <p:cNvPr id="17" name="Text 12"/>
          <p:cNvSpPr/>
          <p:nvPr/>
        </p:nvSpPr>
        <p:spPr>
          <a:xfrm>
            <a:off x="793790" y="6567130"/>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Robust testing in volatile markets</a:t>
            </a:r>
            <a:endParaRPr lang="en-US" sz="1750" dirty="0"/>
          </a:p>
        </p:txBody>
      </p:sp>
      <p:pic>
        <p:nvPicPr>
          <p:cNvPr id="18" name="Image 3" descr="preencoded.png"/>
          <p:cNvPicPr>
            <a:picLocks noChangeAspect="1"/>
          </p:cNvPicPr>
          <p:nvPr/>
        </p:nvPicPr>
        <p:blipFill>
          <a:blip r:embed="rId6"/>
          <a:stretch>
            <a:fillRect/>
          </a:stretch>
        </p:blipFill>
        <p:spPr>
          <a:xfrm>
            <a:off x="5032653" y="2903934"/>
            <a:ext cx="4564975" cy="4564975"/>
          </a:xfrm>
          <a:prstGeom prst="rect">
            <a:avLst/>
          </a:prstGeom>
        </p:spPr>
      </p:pic>
      <p:sp>
        <p:nvSpPr>
          <p:cNvPr id="19" name="Text 13"/>
          <p:cNvSpPr/>
          <p:nvPr/>
        </p:nvSpPr>
        <p:spPr>
          <a:xfrm>
            <a:off x="5838230" y="5892879"/>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504C49"/>
                </a:solidFill>
                <a:latin typeface="Platypi Medium" pitchFamily="34" charset="0"/>
                <a:ea typeface="Platypi Medium" pitchFamily="34" charset="-122"/>
                <a:cs typeface="Platypi Medium" pitchFamily="34" charset="-120"/>
              </a:rPr>
              <a:t>4</a:t>
            </a:r>
            <a:endParaRPr lang="en-US" sz="2650" dirty="0"/>
          </a:p>
        </p:txBody>
      </p:sp>
      <mc:AlternateContent xmlns:mc="http://schemas.openxmlformats.org/markup-compatibility/2006">
        <mc:Choice xmlns:p14="http://schemas.microsoft.com/office/powerpoint/2010/main" Requires="p14">
          <p:contentPart p14:bwMode="auto" r:id="rId7">
            <p14:nvContentPartPr>
              <p14:cNvPr id="20" name="Ink 19">
                <a:extLst>
                  <a:ext uri="{FF2B5EF4-FFF2-40B4-BE49-F238E27FC236}">
                    <a16:creationId xmlns:a16="http://schemas.microsoft.com/office/drawing/2014/main" id="{F67A8A97-BD1B-3CC8-9FFD-C59CE01144C2}"/>
                  </a:ext>
                </a:extLst>
              </p14:cNvPr>
              <p14:cNvContentPartPr/>
              <p14:nvPr/>
            </p14:nvContentPartPr>
            <p14:xfrm>
              <a:off x="13045080" y="7940280"/>
              <a:ext cx="360" cy="360"/>
            </p14:xfrm>
          </p:contentPart>
        </mc:Choice>
        <mc:Fallback>
          <p:pic>
            <p:nvPicPr>
              <p:cNvPr id="20" name="Ink 19">
                <a:extLst>
                  <a:ext uri="{FF2B5EF4-FFF2-40B4-BE49-F238E27FC236}">
                    <a16:creationId xmlns:a16="http://schemas.microsoft.com/office/drawing/2014/main" id="{F67A8A97-BD1B-3CC8-9FFD-C59CE01144C2}"/>
                  </a:ext>
                </a:extLst>
              </p:cNvPr>
              <p:cNvPicPr/>
              <p:nvPr/>
            </p:nvPicPr>
            <p:blipFill>
              <a:blip r:embed="rId8"/>
              <a:stretch>
                <a:fillRect/>
              </a:stretch>
            </p:blipFill>
            <p:spPr>
              <a:xfrm>
                <a:off x="12982080" y="787728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1" name="Ink 20">
                <a:extLst>
                  <a:ext uri="{FF2B5EF4-FFF2-40B4-BE49-F238E27FC236}">
                    <a16:creationId xmlns:a16="http://schemas.microsoft.com/office/drawing/2014/main" id="{38E88C40-21DF-706C-0CCC-037DD20BA3F9}"/>
                  </a:ext>
                </a:extLst>
              </p14:cNvPr>
              <p14:cNvContentPartPr/>
              <p14:nvPr/>
            </p14:nvContentPartPr>
            <p14:xfrm>
              <a:off x="12889920" y="7830120"/>
              <a:ext cx="1605240" cy="293760"/>
            </p14:xfrm>
          </p:contentPart>
        </mc:Choice>
        <mc:Fallback>
          <p:pic>
            <p:nvPicPr>
              <p:cNvPr id="21" name="Ink 20">
                <a:extLst>
                  <a:ext uri="{FF2B5EF4-FFF2-40B4-BE49-F238E27FC236}">
                    <a16:creationId xmlns:a16="http://schemas.microsoft.com/office/drawing/2014/main" id="{38E88C40-21DF-706C-0CCC-037DD20BA3F9}"/>
                  </a:ext>
                </a:extLst>
              </p:cNvPr>
              <p:cNvPicPr/>
              <p:nvPr/>
            </p:nvPicPr>
            <p:blipFill>
              <a:blip r:embed="rId10"/>
              <a:stretch>
                <a:fillRect/>
              </a:stretch>
            </p:blipFill>
            <p:spPr>
              <a:xfrm>
                <a:off x="12827280" y="7767480"/>
                <a:ext cx="1730880" cy="4194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906</Words>
  <Application>Microsoft Office PowerPoint</Application>
  <PresentationFormat>Custom</PresentationFormat>
  <Paragraphs>102</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Source Serif Pro Bold</vt:lpstr>
      <vt:lpstr>Arial</vt:lpstr>
      <vt:lpstr>Platypi Medium</vt:lpstr>
      <vt:lpstr>Consolas</vt:lpstr>
      <vt:lpstr>Source Serif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st878909@gmail.com</cp:lastModifiedBy>
  <cp:revision>2</cp:revision>
  <dcterms:created xsi:type="dcterms:W3CDTF">2025-05-27T06:22:59Z</dcterms:created>
  <dcterms:modified xsi:type="dcterms:W3CDTF">2025-05-27T06:31:07Z</dcterms:modified>
</cp:coreProperties>
</file>