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charset="1" panose="020B0604020202020204"/>
      <p:regular r:id="rId19"/>
    </p:embeddedFont>
    <p:embeddedFont>
      <p:font typeface="Noto Sans" charset="1" panose="020B050204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https://gamma.app/?utm_source=made-with-gamma" TargetMode="External" Type="http://schemas.openxmlformats.org/officeDocument/2006/relationships/hyperlink"/><Relationship Id="rId6"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https://gamma.app/?utm_source=made-with-gamma" TargetMode="External" Type="http://schemas.openxmlformats.org/officeDocument/2006/relationships/hyperlink"/><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notesSlides/notesSlide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https://gamma.app/?utm_source=made-with-gamma" TargetMode="External" Type="http://schemas.openxmlformats.org/officeDocument/2006/relationships/hyperlink"/><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https://gamma.app/?utm_source=made-with-gamma" TargetMode="External" Type="http://schemas.openxmlformats.org/officeDocument/2006/relationships/hyperlink"/><Relationship Id="rId6"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pn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Freeform 5" id="5" descr="preencoded.png">
            <a:hlinkClick r:id="rId5"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4"/>
            <a:stretch>
              <a:fillRect l="0" t="0" r="0" b="0"/>
            </a:stretch>
          </a:blipFill>
        </p:spPr>
      </p:sp>
      <p:sp>
        <p:nvSpPr>
          <p:cNvPr name="Freeform 6" id="6"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6"/>
            <a:stretch>
              <a:fillRect l="0" t="0" r="0" b="0"/>
            </a:stretch>
          </a:blipFill>
        </p:spPr>
      </p:sp>
      <p:sp>
        <p:nvSpPr>
          <p:cNvPr name="TextBox 7" id="7"/>
          <p:cNvSpPr txBox="true"/>
          <p:nvPr/>
        </p:nvSpPr>
        <p:spPr>
          <a:xfrm rot="0">
            <a:off x="992238" y="2456855"/>
            <a:ext cx="9445526" cy="2715071"/>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Mental Health Prediction on Social Media Using NLP, ANN &amp; BERT</a:t>
            </a:r>
          </a:p>
        </p:txBody>
      </p:sp>
      <p:sp>
        <p:nvSpPr>
          <p:cNvPr name="TextBox 8" id="8"/>
          <p:cNvSpPr txBox="true"/>
          <p:nvPr/>
        </p:nvSpPr>
        <p:spPr>
          <a:xfrm rot="0">
            <a:off x="992238" y="5511404"/>
            <a:ext cx="9445526" cy="1446610"/>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This presentation explores how advanced AI helps predict mental health challenges. We will delve into NLP, ANN, and BERT. Our goal is early detection and support.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Freeform 5" id="5" descr="preencoded.png">
            <a:hlinkClick r:id="rId5"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4"/>
            <a:stretch>
              <a:fillRect l="0" t="0" r="0" b="0"/>
            </a:stretch>
          </a:blipFill>
        </p:spPr>
      </p:sp>
      <p:sp>
        <p:nvSpPr>
          <p:cNvPr name="Freeform 6" id="6"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6"/>
            <a:stretch>
              <a:fillRect l="0" t="0" r="0" b="0"/>
            </a:stretch>
          </a:blipFill>
        </p:spPr>
      </p:sp>
      <p:sp>
        <p:nvSpPr>
          <p:cNvPr name="TextBox 7" id="7"/>
          <p:cNvSpPr txBox="true"/>
          <p:nvPr/>
        </p:nvSpPr>
        <p:spPr>
          <a:xfrm rot="0">
            <a:off x="992238" y="1190030"/>
            <a:ext cx="9445526" cy="2715071"/>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The Growing Mental Health Crisis: Why Early Detection Matters</a:t>
            </a:r>
          </a:p>
        </p:txBody>
      </p:sp>
      <p:grpSp>
        <p:nvGrpSpPr>
          <p:cNvPr name="Group 8" id="8"/>
          <p:cNvGrpSpPr/>
          <p:nvPr/>
        </p:nvGrpSpPr>
        <p:grpSpPr>
          <a:xfrm rot="0">
            <a:off x="992238" y="4330304"/>
            <a:ext cx="637878" cy="637878"/>
            <a:chOff x="0" y="0"/>
            <a:chExt cx="850503" cy="850503"/>
          </a:xfrm>
        </p:grpSpPr>
        <p:sp>
          <p:nvSpPr>
            <p:cNvPr name="Freeform 9" id="9"/>
            <p:cNvSpPr/>
            <p:nvPr/>
          </p:nvSpPr>
          <p:spPr>
            <a:xfrm flipH="false" flipV="false" rot="0">
              <a:off x="0" y="0"/>
              <a:ext cx="850392" cy="850519"/>
            </a:xfrm>
            <a:custGeom>
              <a:avLst/>
              <a:gdLst/>
              <a:ahLst/>
              <a:cxnLst/>
              <a:rect r="r" b="b" t="t" l="l"/>
              <a:pathLst>
                <a:path h="850519" w="850392">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26262B"/>
            </a:solidFill>
          </p:spPr>
        </p:sp>
      </p:grpSp>
      <p:sp>
        <p:nvSpPr>
          <p:cNvPr name="Freeform 10" id="10" descr="preencoded.png"/>
          <p:cNvSpPr/>
          <p:nvPr/>
        </p:nvSpPr>
        <p:spPr>
          <a:xfrm flipH="false" flipV="false" rot="0">
            <a:off x="1098575" y="4383435"/>
            <a:ext cx="425202" cy="531614"/>
          </a:xfrm>
          <a:custGeom>
            <a:avLst/>
            <a:gdLst/>
            <a:ahLst/>
            <a:cxnLst/>
            <a:rect r="r" b="b" t="t" l="l"/>
            <a:pathLst>
              <a:path h="531614" w="425202">
                <a:moveTo>
                  <a:pt x="0" y="0"/>
                </a:moveTo>
                <a:lnTo>
                  <a:pt x="425203" y="0"/>
                </a:lnTo>
                <a:lnTo>
                  <a:pt x="425203" y="531614"/>
                </a:lnTo>
                <a:lnTo>
                  <a:pt x="0" y="531614"/>
                </a:lnTo>
                <a:lnTo>
                  <a:pt x="0" y="0"/>
                </a:lnTo>
                <a:close/>
              </a:path>
            </a:pathLst>
          </a:custGeom>
          <a:blipFill>
            <a:blip r:embed="rId7"/>
            <a:stretch>
              <a:fillRect l="-233" t="0" r="-233" b="0"/>
            </a:stretch>
          </a:blipFill>
        </p:spPr>
      </p:sp>
      <p:sp>
        <p:nvSpPr>
          <p:cNvPr name="TextBox 11" id="11"/>
          <p:cNvSpPr txBox="true"/>
          <p:nvPr/>
        </p:nvSpPr>
        <p:spPr>
          <a:xfrm rot="0">
            <a:off x="1913632" y="4389536"/>
            <a:ext cx="3544044"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Rising Prevalence</a:t>
            </a:r>
          </a:p>
        </p:txBody>
      </p:sp>
      <p:sp>
        <p:nvSpPr>
          <p:cNvPr name="TextBox 12" id="12"/>
          <p:cNvSpPr txBox="true"/>
          <p:nvPr/>
        </p:nvSpPr>
        <p:spPr>
          <a:xfrm rot="0">
            <a:off x="1913632" y="4954935"/>
            <a:ext cx="3624263" cy="1900237"/>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Mental health issues are increasing globally. Many individuals suffer in silence.</a:t>
            </a:r>
          </a:p>
        </p:txBody>
      </p:sp>
      <p:grpSp>
        <p:nvGrpSpPr>
          <p:cNvPr name="Group 13" id="13"/>
          <p:cNvGrpSpPr/>
          <p:nvPr/>
        </p:nvGrpSpPr>
        <p:grpSpPr>
          <a:xfrm rot="0">
            <a:off x="5892254" y="4330304"/>
            <a:ext cx="637878" cy="637878"/>
            <a:chOff x="0" y="0"/>
            <a:chExt cx="850503" cy="850503"/>
          </a:xfrm>
        </p:grpSpPr>
        <p:sp>
          <p:nvSpPr>
            <p:cNvPr name="Freeform 14" id="14"/>
            <p:cNvSpPr/>
            <p:nvPr/>
          </p:nvSpPr>
          <p:spPr>
            <a:xfrm flipH="false" flipV="false" rot="0">
              <a:off x="0" y="0"/>
              <a:ext cx="850392" cy="850519"/>
            </a:xfrm>
            <a:custGeom>
              <a:avLst/>
              <a:gdLst/>
              <a:ahLst/>
              <a:cxnLst/>
              <a:rect r="r" b="b" t="t" l="l"/>
              <a:pathLst>
                <a:path h="850519" w="850392">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26262B"/>
            </a:solidFill>
          </p:spPr>
        </p:sp>
      </p:grpSp>
      <p:sp>
        <p:nvSpPr>
          <p:cNvPr name="Freeform 15" id="15" descr="preencoded.png"/>
          <p:cNvSpPr/>
          <p:nvPr/>
        </p:nvSpPr>
        <p:spPr>
          <a:xfrm flipH="false" flipV="false" rot="0">
            <a:off x="5998592" y="4383435"/>
            <a:ext cx="425203" cy="531614"/>
          </a:xfrm>
          <a:custGeom>
            <a:avLst/>
            <a:gdLst/>
            <a:ahLst/>
            <a:cxnLst/>
            <a:rect r="r" b="b" t="t" l="l"/>
            <a:pathLst>
              <a:path h="531614" w="425203">
                <a:moveTo>
                  <a:pt x="0" y="0"/>
                </a:moveTo>
                <a:lnTo>
                  <a:pt x="425203" y="0"/>
                </a:lnTo>
                <a:lnTo>
                  <a:pt x="425203" y="531614"/>
                </a:lnTo>
                <a:lnTo>
                  <a:pt x="0" y="531614"/>
                </a:lnTo>
                <a:lnTo>
                  <a:pt x="0" y="0"/>
                </a:lnTo>
                <a:close/>
              </a:path>
            </a:pathLst>
          </a:custGeom>
          <a:blipFill>
            <a:blip r:embed="rId8"/>
            <a:stretch>
              <a:fillRect l="-233" t="0" r="-233" b="0"/>
            </a:stretch>
          </a:blipFill>
        </p:spPr>
      </p:sp>
      <p:sp>
        <p:nvSpPr>
          <p:cNvPr name="TextBox 16" id="16"/>
          <p:cNvSpPr txBox="true"/>
          <p:nvPr/>
        </p:nvSpPr>
        <p:spPr>
          <a:xfrm rot="0">
            <a:off x="6813649" y="4389536"/>
            <a:ext cx="3544044"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Early Intervention</a:t>
            </a:r>
          </a:p>
        </p:txBody>
      </p:sp>
      <p:sp>
        <p:nvSpPr>
          <p:cNvPr name="TextBox 17" id="17"/>
          <p:cNvSpPr txBox="true"/>
          <p:nvPr/>
        </p:nvSpPr>
        <p:spPr>
          <a:xfrm rot="0">
            <a:off x="6813649" y="4954935"/>
            <a:ext cx="3624262" cy="1900237"/>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Early detection significantly improves treatment outcomes. It can prevent severe crises.</a:t>
            </a:r>
          </a:p>
        </p:txBody>
      </p:sp>
      <p:grpSp>
        <p:nvGrpSpPr>
          <p:cNvPr name="Group 18" id="18"/>
          <p:cNvGrpSpPr/>
          <p:nvPr/>
        </p:nvGrpSpPr>
        <p:grpSpPr>
          <a:xfrm rot="0">
            <a:off x="992238" y="7422208"/>
            <a:ext cx="637878" cy="637877"/>
            <a:chOff x="0" y="0"/>
            <a:chExt cx="850503" cy="850503"/>
          </a:xfrm>
        </p:grpSpPr>
        <p:sp>
          <p:nvSpPr>
            <p:cNvPr name="Freeform 19" id="19"/>
            <p:cNvSpPr/>
            <p:nvPr/>
          </p:nvSpPr>
          <p:spPr>
            <a:xfrm flipH="false" flipV="false" rot="0">
              <a:off x="0" y="0"/>
              <a:ext cx="850392" cy="850519"/>
            </a:xfrm>
            <a:custGeom>
              <a:avLst/>
              <a:gdLst/>
              <a:ahLst/>
              <a:cxnLst/>
              <a:rect r="r" b="b" t="t" l="l"/>
              <a:pathLst>
                <a:path h="850519" w="850392">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26262B"/>
            </a:solidFill>
          </p:spPr>
        </p:sp>
      </p:grpSp>
      <p:sp>
        <p:nvSpPr>
          <p:cNvPr name="Freeform 20" id="20" descr="preencoded.png"/>
          <p:cNvSpPr/>
          <p:nvPr/>
        </p:nvSpPr>
        <p:spPr>
          <a:xfrm flipH="false" flipV="false" rot="0">
            <a:off x="1098575" y="7475339"/>
            <a:ext cx="425202" cy="531614"/>
          </a:xfrm>
          <a:custGeom>
            <a:avLst/>
            <a:gdLst/>
            <a:ahLst/>
            <a:cxnLst/>
            <a:rect r="r" b="b" t="t" l="l"/>
            <a:pathLst>
              <a:path h="531614" w="425202">
                <a:moveTo>
                  <a:pt x="0" y="0"/>
                </a:moveTo>
                <a:lnTo>
                  <a:pt x="425203" y="0"/>
                </a:lnTo>
                <a:lnTo>
                  <a:pt x="425203" y="531613"/>
                </a:lnTo>
                <a:lnTo>
                  <a:pt x="0" y="531613"/>
                </a:lnTo>
                <a:lnTo>
                  <a:pt x="0" y="0"/>
                </a:lnTo>
                <a:close/>
              </a:path>
            </a:pathLst>
          </a:custGeom>
          <a:blipFill>
            <a:blip r:embed="rId9"/>
            <a:stretch>
              <a:fillRect l="-233" t="0" r="-233" b="0"/>
            </a:stretch>
          </a:blipFill>
        </p:spPr>
      </p:sp>
      <p:sp>
        <p:nvSpPr>
          <p:cNvPr name="TextBox 21" id="21"/>
          <p:cNvSpPr txBox="true"/>
          <p:nvPr/>
        </p:nvSpPr>
        <p:spPr>
          <a:xfrm rot="0">
            <a:off x="1913632" y="7481441"/>
            <a:ext cx="3544044"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Societal Impact</a:t>
            </a:r>
          </a:p>
        </p:txBody>
      </p:sp>
      <p:sp>
        <p:nvSpPr>
          <p:cNvPr name="TextBox 22" id="22"/>
          <p:cNvSpPr txBox="true"/>
          <p:nvPr/>
        </p:nvSpPr>
        <p:spPr>
          <a:xfrm rot="0">
            <a:off x="1913632" y="8046839"/>
            <a:ext cx="8524131"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Unaddressed mental health impacts communities. It affects productivity and well-being.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5" id="5"/>
          <p:cNvSpPr txBox="true"/>
          <p:nvPr/>
        </p:nvSpPr>
        <p:spPr>
          <a:xfrm rot="0">
            <a:off x="992238" y="1845617"/>
            <a:ext cx="16303526" cy="182909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Introduction to Natural Language Processing (NLP) for Mental Health</a:t>
            </a:r>
          </a:p>
        </p:txBody>
      </p:sp>
      <p:sp>
        <p:nvSpPr>
          <p:cNvPr name="TextBox 6" id="6"/>
          <p:cNvSpPr txBox="true"/>
          <p:nvPr/>
        </p:nvSpPr>
        <p:spPr>
          <a:xfrm rot="0">
            <a:off x="992238" y="4345335"/>
            <a:ext cx="3544044"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What is NLP?</a:t>
            </a:r>
          </a:p>
        </p:txBody>
      </p:sp>
      <p:sp>
        <p:nvSpPr>
          <p:cNvPr name="TextBox 7" id="7"/>
          <p:cNvSpPr txBox="true"/>
          <p:nvPr/>
        </p:nvSpPr>
        <p:spPr>
          <a:xfrm rot="0">
            <a:off x="992238" y="5024140"/>
            <a:ext cx="7805886"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NLP enables computers to understand human language. It processes text and speech.</a:t>
            </a:r>
          </a:p>
        </p:txBody>
      </p:sp>
      <p:sp>
        <p:nvSpPr>
          <p:cNvPr name="TextBox 8" id="8"/>
          <p:cNvSpPr txBox="true"/>
          <p:nvPr/>
        </p:nvSpPr>
        <p:spPr>
          <a:xfrm rot="0">
            <a:off x="992238" y="6186487"/>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Text analysis</a:t>
            </a:r>
          </a:p>
        </p:txBody>
      </p:sp>
      <p:sp>
        <p:nvSpPr>
          <p:cNvPr name="TextBox 9" id="9"/>
          <p:cNvSpPr txBox="true"/>
          <p:nvPr/>
        </p:nvSpPr>
        <p:spPr>
          <a:xfrm rot="0">
            <a:off x="992238" y="6739235"/>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Sentiment extraction</a:t>
            </a:r>
          </a:p>
        </p:txBody>
      </p:sp>
      <p:sp>
        <p:nvSpPr>
          <p:cNvPr name="TextBox 10" id="10"/>
          <p:cNvSpPr txBox="true"/>
          <p:nvPr/>
        </p:nvSpPr>
        <p:spPr>
          <a:xfrm rot="0">
            <a:off x="992238" y="7291982"/>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Contextual understanding</a:t>
            </a:r>
          </a:p>
        </p:txBody>
      </p:sp>
      <p:sp>
        <p:nvSpPr>
          <p:cNvPr name="TextBox 11" id="11"/>
          <p:cNvSpPr txBox="true"/>
          <p:nvPr/>
        </p:nvSpPr>
        <p:spPr>
          <a:xfrm rot="0">
            <a:off x="9499401" y="4345335"/>
            <a:ext cx="3738116"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NLP in Mental Health</a:t>
            </a:r>
          </a:p>
        </p:txBody>
      </p:sp>
      <p:sp>
        <p:nvSpPr>
          <p:cNvPr name="TextBox 12" id="12"/>
          <p:cNvSpPr txBox="true"/>
          <p:nvPr/>
        </p:nvSpPr>
        <p:spPr>
          <a:xfrm rot="0">
            <a:off x="9499401" y="5024140"/>
            <a:ext cx="7805886" cy="1446610"/>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Analyzes social media posts for language patterns. Identifies indicators of distress. It flags concerning keywords.</a:t>
            </a:r>
          </a:p>
        </p:txBody>
      </p:sp>
      <p:sp>
        <p:nvSpPr>
          <p:cNvPr name="TextBox 13" id="13"/>
          <p:cNvSpPr txBox="true"/>
          <p:nvPr/>
        </p:nvSpPr>
        <p:spPr>
          <a:xfrm rot="0">
            <a:off x="9499401" y="6640116"/>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Emotion detection</a:t>
            </a:r>
          </a:p>
        </p:txBody>
      </p:sp>
      <p:sp>
        <p:nvSpPr>
          <p:cNvPr name="TextBox 14" id="14"/>
          <p:cNvSpPr txBox="true"/>
          <p:nvPr/>
        </p:nvSpPr>
        <p:spPr>
          <a:xfrm rot="0">
            <a:off x="9499401" y="7192864"/>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Depression cues</a:t>
            </a:r>
          </a:p>
        </p:txBody>
      </p:sp>
      <p:sp>
        <p:nvSpPr>
          <p:cNvPr name="TextBox 15" id="15"/>
          <p:cNvSpPr txBox="true"/>
          <p:nvPr/>
        </p:nvSpPr>
        <p:spPr>
          <a:xfrm rot="0">
            <a:off x="9499401" y="7745611"/>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Anxiety patterns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Freeform 5" id="5" descr="preencoded.png">
            <a:hlinkClick r:id="rId5"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4"/>
            <a:stretch>
              <a:fillRect l="0" t="0" r="0" b="0"/>
            </a:stretch>
          </a:blipFill>
        </p:spPr>
      </p:sp>
      <p:sp>
        <p:nvSpPr>
          <p:cNvPr name="Freeform 6" id="6"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6"/>
            <a:stretch>
              <a:fillRect l="0" t="0" r="0" b="0"/>
            </a:stretch>
          </a:blipFill>
        </p:spPr>
      </p:sp>
      <p:sp>
        <p:nvSpPr>
          <p:cNvPr name="TextBox 7" id="7"/>
          <p:cNvSpPr txBox="true"/>
          <p:nvPr/>
        </p:nvSpPr>
        <p:spPr>
          <a:xfrm rot="0">
            <a:off x="854571" y="721072"/>
            <a:ext cx="9720858" cy="1573709"/>
          </a:xfrm>
          <a:prstGeom prst="rect">
            <a:avLst/>
          </a:prstGeom>
        </p:spPr>
        <p:txBody>
          <a:bodyPr anchor="t" rtlCol="false" tIns="0" lIns="0" bIns="0" rIns="0">
            <a:spAutoFit/>
          </a:bodyPr>
          <a:lstStyle/>
          <a:p>
            <a:pPr algn="l">
              <a:lnSpc>
                <a:spcPts val="6000"/>
              </a:lnSpc>
            </a:pPr>
            <a:r>
              <a:rPr lang="en-US" sz="4750">
                <a:solidFill>
                  <a:srgbClr val="97B8FF"/>
                </a:solidFill>
                <a:latin typeface="Arimo"/>
                <a:ea typeface="Arimo"/>
                <a:cs typeface="Arimo"/>
                <a:sym typeface="Arimo"/>
              </a:rPr>
              <a:t>Artificial Neural Networks (ANN) for Sentiment Analysis</a:t>
            </a:r>
          </a:p>
        </p:txBody>
      </p:sp>
      <p:sp>
        <p:nvSpPr>
          <p:cNvPr name="Freeform 8" id="8" descr="preencoded.png"/>
          <p:cNvSpPr/>
          <p:nvPr/>
        </p:nvSpPr>
        <p:spPr>
          <a:xfrm flipH="false" flipV="false" rot="0">
            <a:off x="854571" y="2661048"/>
            <a:ext cx="1220838" cy="1465064"/>
          </a:xfrm>
          <a:custGeom>
            <a:avLst/>
            <a:gdLst/>
            <a:ahLst/>
            <a:cxnLst/>
            <a:rect r="r" b="b" t="t" l="l"/>
            <a:pathLst>
              <a:path h="1465064" w="1220838">
                <a:moveTo>
                  <a:pt x="0" y="0"/>
                </a:moveTo>
                <a:lnTo>
                  <a:pt x="1220838" y="0"/>
                </a:lnTo>
                <a:lnTo>
                  <a:pt x="1220838" y="1465063"/>
                </a:lnTo>
                <a:lnTo>
                  <a:pt x="0" y="1465063"/>
                </a:lnTo>
                <a:lnTo>
                  <a:pt x="0" y="0"/>
                </a:lnTo>
                <a:close/>
              </a:path>
            </a:pathLst>
          </a:custGeom>
          <a:blipFill>
            <a:blip r:embed="rId7"/>
            <a:stretch>
              <a:fillRect l="0" t="-128" r="0" b="-128"/>
            </a:stretch>
          </a:blipFill>
        </p:spPr>
      </p:sp>
      <p:sp>
        <p:nvSpPr>
          <p:cNvPr name="TextBox 9" id="9"/>
          <p:cNvSpPr txBox="true"/>
          <p:nvPr/>
        </p:nvSpPr>
        <p:spPr>
          <a:xfrm rot="0">
            <a:off x="2441674" y="2876550"/>
            <a:ext cx="3052167" cy="410021"/>
          </a:xfrm>
          <a:prstGeom prst="rect">
            <a:avLst/>
          </a:prstGeom>
        </p:spPr>
        <p:txBody>
          <a:bodyPr anchor="t" rtlCol="false" tIns="0" lIns="0" bIns="0" rIns="0">
            <a:spAutoFit/>
          </a:bodyPr>
          <a:lstStyle/>
          <a:p>
            <a:pPr algn="l">
              <a:lnSpc>
                <a:spcPts val="3000"/>
              </a:lnSpc>
            </a:pPr>
            <a:r>
              <a:rPr lang="en-US" sz="2375">
                <a:solidFill>
                  <a:srgbClr val="E0D6DE"/>
                </a:solidFill>
                <a:latin typeface="Arimo"/>
                <a:ea typeface="Arimo"/>
                <a:cs typeface="Arimo"/>
                <a:sym typeface="Arimo"/>
              </a:rPr>
              <a:t>Input Layer</a:t>
            </a:r>
          </a:p>
        </p:txBody>
      </p:sp>
      <p:sp>
        <p:nvSpPr>
          <p:cNvPr name="TextBox 10" id="10"/>
          <p:cNvSpPr txBox="true"/>
          <p:nvPr/>
        </p:nvSpPr>
        <p:spPr>
          <a:xfrm rot="0">
            <a:off x="2441674" y="3356819"/>
            <a:ext cx="8133755" cy="466874"/>
          </a:xfrm>
          <a:prstGeom prst="rect">
            <a:avLst/>
          </a:prstGeom>
        </p:spPr>
        <p:txBody>
          <a:bodyPr anchor="t" rtlCol="false" tIns="0" lIns="0" bIns="0" rIns="0">
            <a:spAutoFit/>
          </a:bodyPr>
          <a:lstStyle/>
          <a:p>
            <a:pPr algn="l">
              <a:lnSpc>
                <a:spcPts val="3062"/>
              </a:lnSpc>
            </a:pPr>
            <a:r>
              <a:rPr lang="en-US" sz="1874">
                <a:solidFill>
                  <a:srgbClr val="E0D6DE"/>
                </a:solidFill>
                <a:latin typeface="Noto Sans"/>
                <a:ea typeface="Noto Sans"/>
                <a:cs typeface="Noto Sans"/>
                <a:sym typeface="Noto Sans"/>
              </a:rPr>
              <a:t>Receives processed text data. Each word or phrase becomes a node.</a:t>
            </a:r>
          </a:p>
        </p:txBody>
      </p:sp>
      <p:sp>
        <p:nvSpPr>
          <p:cNvPr name="Freeform 11" id="11" descr="preencoded.png"/>
          <p:cNvSpPr/>
          <p:nvPr/>
        </p:nvSpPr>
        <p:spPr>
          <a:xfrm flipH="false" flipV="false" rot="0">
            <a:off x="854571" y="4126111"/>
            <a:ext cx="1220838" cy="1797397"/>
          </a:xfrm>
          <a:custGeom>
            <a:avLst/>
            <a:gdLst/>
            <a:ahLst/>
            <a:cxnLst/>
            <a:rect r="r" b="b" t="t" l="l"/>
            <a:pathLst>
              <a:path h="1797397" w="1220838">
                <a:moveTo>
                  <a:pt x="0" y="0"/>
                </a:moveTo>
                <a:lnTo>
                  <a:pt x="1220838" y="0"/>
                </a:lnTo>
                <a:lnTo>
                  <a:pt x="1220838" y="1797398"/>
                </a:lnTo>
                <a:lnTo>
                  <a:pt x="0" y="1797398"/>
                </a:lnTo>
                <a:lnTo>
                  <a:pt x="0" y="0"/>
                </a:lnTo>
                <a:close/>
              </a:path>
            </a:pathLst>
          </a:custGeom>
          <a:blipFill>
            <a:blip r:embed="rId8"/>
            <a:stretch>
              <a:fillRect l="0" t="-145" r="0" b="-145"/>
            </a:stretch>
          </a:blipFill>
        </p:spPr>
      </p:sp>
      <p:sp>
        <p:nvSpPr>
          <p:cNvPr name="TextBox 12" id="12"/>
          <p:cNvSpPr txBox="true"/>
          <p:nvPr/>
        </p:nvSpPr>
        <p:spPr>
          <a:xfrm rot="0">
            <a:off x="2441674" y="4341614"/>
            <a:ext cx="3052167" cy="410021"/>
          </a:xfrm>
          <a:prstGeom prst="rect">
            <a:avLst/>
          </a:prstGeom>
        </p:spPr>
        <p:txBody>
          <a:bodyPr anchor="t" rtlCol="false" tIns="0" lIns="0" bIns="0" rIns="0">
            <a:spAutoFit/>
          </a:bodyPr>
          <a:lstStyle/>
          <a:p>
            <a:pPr algn="l">
              <a:lnSpc>
                <a:spcPts val="3000"/>
              </a:lnSpc>
            </a:pPr>
            <a:r>
              <a:rPr lang="en-US" sz="2375">
                <a:solidFill>
                  <a:srgbClr val="E0D6DE"/>
                </a:solidFill>
                <a:latin typeface="Arimo"/>
                <a:ea typeface="Arimo"/>
                <a:cs typeface="Arimo"/>
                <a:sym typeface="Arimo"/>
              </a:rPr>
              <a:t>Hidden Layers</a:t>
            </a:r>
          </a:p>
        </p:txBody>
      </p:sp>
      <p:sp>
        <p:nvSpPr>
          <p:cNvPr name="TextBox 13" id="13"/>
          <p:cNvSpPr txBox="true"/>
          <p:nvPr/>
        </p:nvSpPr>
        <p:spPr>
          <a:xfrm rot="0">
            <a:off x="2441674" y="4821882"/>
            <a:ext cx="8133755" cy="857547"/>
          </a:xfrm>
          <a:prstGeom prst="rect">
            <a:avLst/>
          </a:prstGeom>
        </p:spPr>
        <p:txBody>
          <a:bodyPr anchor="t" rtlCol="false" tIns="0" lIns="0" bIns="0" rIns="0">
            <a:spAutoFit/>
          </a:bodyPr>
          <a:lstStyle/>
          <a:p>
            <a:pPr algn="l">
              <a:lnSpc>
                <a:spcPts val="3062"/>
              </a:lnSpc>
            </a:pPr>
            <a:r>
              <a:rPr lang="en-US" sz="1874">
                <a:solidFill>
                  <a:srgbClr val="E0D6DE"/>
                </a:solidFill>
                <a:latin typeface="Noto Sans"/>
                <a:ea typeface="Noto Sans"/>
                <a:cs typeface="Noto Sans"/>
                <a:sym typeface="Noto Sans"/>
              </a:rPr>
              <a:t>Complex computations occur here. Patterns and relationships are identified.</a:t>
            </a:r>
          </a:p>
        </p:txBody>
      </p:sp>
      <p:sp>
        <p:nvSpPr>
          <p:cNvPr name="Freeform 14" id="14" descr="preencoded.png"/>
          <p:cNvSpPr/>
          <p:nvPr/>
        </p:nvSpPr>
        <p:spPr>
          <a:xfrm flipH="false" flipV="false" rot="0">
            <a:off x="854571" y="5923509"/>
            <a:ext cx="1220838" cy="1797398"/>
          </a:xfrm>
          <a:custGeom>
            <a:avLst/>
            <a:gdLst/>
            <a:ahLst/>
            <a:cxnLst/>
            <a:rect r="r" b="b" t="t" l="l"/>
            <a:pathLst>
              <a:path h="1797398" w="1220838">
                <a:moveTo>
                  <a:pt x="0" y="0"/>
                </a:moveTo>
                <a:lnTo>
                  <a:pt x="1220838" y="0"/>
                </a:lnTo>
                <a:lnTo>
                  <a:pt x="1220838" y="1797397"/>
                </a:lnTo>
                <a:lnTo>
                  <a:pt x="0" y="1797397"/>
                </a:lnTo>
                <a:lnTo>
                  <a:pt x="0" y="0"/>
                </a:lnTo>
                <a:close/>
              </a:path>
            </a:pathLst>
          </a:custGeom>
          <a:blipFill>
            <a:blip r:embed="rId9"/>
            <a:stretch>
              <a:fillRect l="0" t="-145" r="0" b="-145"/>
            </a:stretch>
          </a:blipFill>
        </p:spPr>
      </p:sp>
      <p:sp>
        <p:nvSpPr>
          <p:cNvPr name="TextBox 15" id="15"/>
          <p:cNvSpPr txBox="true"/>
          <p:nvPr/>
        </p:nvSpPr>
        <p:spPr>
          <a:xfrm rot="0">
            <a:off x="2441674" y="6139011"/>
            <a:ext cx="3052167" cy="410021"/>
          </a:xfrm>
          <a:prstGeom prst="rect">
            <a:avLst/>
          </a:prstGeom>
        </p:spPr>
        <p:txBody>
          <a:bodyPr anchor="t" rtlCol="false" tIns="0" lIns="0" bIns="0" rIns="0">
            <a:spAutoFit/>
          </a:bodyPr>
          <a:lstStyle/>
          <a:p>
            <a:pPr algn="l">
              <a:lnSpc>
                <a:spcPts val="3000"/>
              </a:lnSpc>
            </a:pPr>
            <a:r>
              <a:rPr lang="en-US" sz="2375">
                <a:solidFill>
                  <a:srgbClr val="E0D6DE"/>
                </a:solidFill>
                <a:latin typeface="Arimo"/>
                <a:ea typeface="Arimo"/>
                <a:cs typeface="Arimo"/>
                <a:sym typeface="Arimo"/>
              </a:rPr>
              <a:t>Output Layer</a:t>
            </a:r>
          </a:p>
        </p:txBody>
      </p:sp>
      <p:sp>
        <p:nvSpPr>
          <p:cNvPr name="TextBox 16" id="16"/>
          <p:cNvSpPr txBox="true"/>
          <p:nvPr/>
        </p:nvSpPr>
        <p:spPr>
          <a:xfrm rot="0">
            <a:off x="2441674" y="6619280"/>
            <a:ext cx="8133755" cy="857547"/>
          </a:xfrm>
          <a:prstGeom prst="rect">
            <a:avLst/>
          </a:prstGeom>
        </p:spPr>
        <p:txBody>
          <a:bodyPr anchor="t" rtlCol="false" tIns="0" lIns="0" bIns="0" rIns="0">
            <a:spAutoFit/>
          </a:bodyPr>
          <a:lstStyle/>
          <a:p>
            <a:pPr algn="l">
              <a:lnSpc>
                <a:spcPts val="3062"/>
              </a:lnSpc>
            </a:pPr>
            <a:r>
              <a:rPr lang="en-US" sz="1874">
                <a:solidFill>
                  <a:srgbClr val="E0D6DE"/>
                </a:solidFill>
                <a:latin typeface="Noto Sans"/>
                <a:ea typeface="Noto Sans"/>
                <a:cs typeface="Noto Sans"/>
                <a:sym typeface="Noto Sans"/>
              </a:rPr>
              <a:t>Generates sentiment scores. Categorizes text as positive, negative, or neutral.</a:t>
            </a:r>
          </a:p>
        </p:txBody>
      </p:sp>
      <p:sp>
        <p:nvSpPr>
          <p:cNvPr name="Freeform 17" id="17" descr="preencoded.png"/>
          <p:cNvSpPr/>
          <p:nvPr/>
        </p:nvSpPr>
        <p:spPr>
          <a:xfrm flipH="false" flipV="false" rot="0">
            <a:off x="854571" y="7720905"/>
            <a:ext cx="1220838" cy="1797398"/>
          </a:xfrm>
          <a:custGeom>
            <a:avLst/>
            <a:gdLst/>
            <a:ahLst/>
            <a:cxnLst/>
            <a:rect r="r" b="b" t="t" l="l"/>
            <a:pathLst>
              <a:path h="1797398" w="1220838">
                <a:moveTo>
                  <a:pt x="0" y="0"/>
                </a:moveTo>
                <a:lnTo>
                  <a:pt x="1220838" y="0"/>
                </a:lnTo>
                <a:lnTo>
                  <a:pt x="1220838" y="1797397"/>
                </a:lnTo>
                <a:lnTo>
                  <a:pt x="0" y="1797397"/>
                </a:lnTo>
                <a:lnTo>
                  <a:pt x="0" y="0"/>
                </a:lnTo>
                <a:close/>
              </a:path>
            </a:pathLst>
          </a:custGeom>
          <a:blipFill>
            <a:blip r:embed="rId10"/>
            <a:stretch>
              <a:fillRect l="0" t="-145" r="0" b="-145"/>
            </a:stretch>
          </a:blipFill>
        </p:spPr>
      </p:sp>
      <p:sp>
        <p:nvSpPr>
          <p:cNvPr name="TextBox 18" id="18"/>
          <p:cNvSpPr txBox="true"/>
          <p:nvPr/>
        </p:nvSpPr>
        <p:spPr>
          <a:xfrm rot="0">
            <a:off x="2441674" y="7936409"/>
            <a:ext cx="3052167" cy="410021"/>
          </a:xfrm>
          <a:prstGeom prst="rect">
            <a:avLst/>
          </a:prstGeom>
        </p:spPr>
        <p:txBody>
          <a:bodyPr anchor="t" rtlCol="false" tIns="0" lIns="0" bIns="0" rIns="0">
            <a:spAutoFit/>
          </a:bodyPr>
          <a:lstStyle/>
          <a:p>
            <a:pPr algn="l">
              <a:lnSpc>
                <a:spcPts val="3000"/>
              </a:lnSpc>
            </a:pPr>
            <a:r>
              <a:rPr lang="en-US" sz="2375">
                <a:solidFill>
                  <a:srgbClr val="E0D6DE"/>
                </a:solidFill>
                <a:latin typeface="Arimo"/>
                <a:ea typeface="Arimo"/>
                <a:cs typeface="Arimo"/>
                <a:sym typeface="Arimo"/>
              </a:rPr>
              <a:t>Predictive Power</a:t>
            </a:r>
          </a:p>
        </p:txBody>
      </p:sp>
      <p:sp>
        <p:nvSpPr>
          <p:cNvPr name="TextBox 19" id="19"/>
          <p:cNvSpPr txBox="true"/>
          <p:nvPr/>
        </p:nvSpPr>
        <p:spPr>
          <a:xfrm rot="0">
            <a:off x="2441674" y="8416678"/>
            <a:ext cx="8133755" cy="857547"/>
          </a:xfrm>
          <a:prstGeom prst="rect">
            <a:avLst/>
          </a:prstGeom>
        </p:spPr>
        <p:txBody>
          <a:bodyPr anchor="t" rtlCol="false" tIns="0" lIns="0" bIns="0" rIns="0">
            <a:spAutoFit/>
          </a:bodyPr>
          <a:lstStyle/>
          <a:p>
            <a:pPr algn="l">
              <a:lnSpc>
                <a:spcPts val="3062"/>
              </a:lnSpc>
            </a:pPr>
            <a:r>
              <a:rPr lang="en-US" sz="1874">
                <a:solidFill>
                  <a:srgbClr val="E0D6DE"/>
                </a:solidFill>
                <a:latin typeface="Noto Sans"/>
                <a:ea typeface="Noto Sans"/>
                <a:cs typeface="Noto Sans"/>
                <a:sym typeface="Noto Sans"/>
              </a:rPr>
              <a:t>ANNs learn to associate linguistic cues with emotional states. They detect subtle shifts.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Freeform 5" id="5" descr="preencoded.png"/>
          <p:cNvSpPr/>
          <p:nvPr/>
        </p:nvSpPr>
        <p:spPr>
          <a:xfrm flipH="false" flipV="false" rot="0">
            <a:off x="0" y="0"/>
            <a:ext cx="18288000" cy="3110210"/>
          </a:xfrm>
          <a:custGeom>
            <a:avLst/>
            <a:gdLst/>
            <a:ahLst/>
            <a:cxnLst/>
            <a:rect r="r" b="b" t="t" l="l"/>
            <a:pathLst>
              <a:path h="3110210" w="18288000">
                <a:moveTo>
                  <a:pt x="0" y="0"/>
                </a:moveTo>
                <a:lnTo>
                  <a:pt x="18288000" y="0"/>
                </a:lnTo>
                <a:lnTo>
                  <a:pt x="18288000" y="3110210"/>
                </a:lnTo>
                <a:lnTo>
                  <a:pt x="0" y="3110210"/>
                </a:lnTo>
                <a:lnTo>
                  <a:pt x="0" y="0"/>
                </a:lnTo>
                <a:close/>
              </a:path>
            </a:pathLst>
          </a:custGeom>
          <a:blipFill>
            <a:blip r:embed="rId4"/>
            <a:stretch>
              <a:fillRect l="0" t="-71" r="0" b="-71"/>
            </a:stretch>
          </a:blipFill>
        </p:spPr>
      </p:sp>
      <p:sp>
        <p:nvSpPr>
          <p:cNvPr name="TextBox 6" id="6"/>
          <p:cNvSpPr txBox="true"/>
          <p:nvPr/>
        </p:nvSpPr>
        <p:spPr>
          <a:xfrm rot="0">
            <a:off x="870794" y="3756272"/>
            <a:ext cx="13662571" cy="815728"/>
          </a:xfrm>
          <a:prstGeom prst="rect">
            <a:avLst/>
          </a:prstGeom>
        </p:spPr>
        <p:txBody>
          <a:bodyPr anchor="t" rtlCol="false" tIns="0" lIns="0" bIns="0" rIns="0">
            <a:spAutoFit/>
          </a:bodyPr>
          <a:lstStyle/>
          <a:p>
            <a:pPr algn="l">
              <a:lnSpc>
                <a:spcPts val="6062"/>
              </a:lnSpc>
            </a:pPr>
            <a:r>
              <a:rPr lang="en-US" sz="4875">
                <a:solidFill>
                  <a:srgbClr val="97B8FF"/>
                </a:solidFill>
                <a:latin typeface="Arimo"/>
                <a:ea typeface="Arimo"/>
                <a:cs typeface="Arimo"/>
                <a:sym typeface="Arimo"/>
              </a:rPr>
              <a:t>BERT: A Deep Dive into Transformer Models</a:t>
            </a:r>
          </a:p>
        </p:txBody>
      </p:sp>
      <p:grpSp>
        <p:nvGrpSpPr>
          <p:cNvPr name="Group 7" id="7"/>
          <p:cNvGrpSpPr/>
          <p:nvPr/>
        </p:nvGrpSpPr>
        <p:grpSpPr>
          <a:xfrm rot="0">
            <a:off x="870794" y="7274570"/>
            <a:ext cx="16546414" cy="28575"/>
            <a:chOff x="0" y="0"/>
            <a:chExt cx="22061885" cy="38100"/>
          </a:xfrm>
        </p:grpSpPr>
        <p:sp>
          <p:nvSpPr>
            <p:cNvPr name="Freeform 8" id="8"/>
            <p:cNvSpPr/>
            <p:nvPr/>
          </p:nvSpPr>
          <p:spPr>
            <a:xfrm flipH="false" flipV="false" rot="0">
              <a:off x="0" y="0"/>
              <a:ext cx="22061932" cy="38100"/>
            </a:xfrm>
            <a:custGeom>
              <a:avLst/>
              <a:gdLst/>
              <a:ahLst/>
              <a:cxnLst/>
              <a:rect r="r" b="b" t="t" l="l"/>
              <a:pathLst>
                <a:path h="38100" w="22061932">
                  <a:moveTo>
                    <a:pt x="0" y="19050"/>
                  </a:moveTo>
                  <a:cubicBezTo>
                    <a:pt x="0" y="8509"/>
                    <a:pt x="8509" y="0"/>
                    <a:pt x="19050" y="0"/>
                  </a:cubicBezTo>
                  <a:lnTo>
                    <a:pt x="22042882" y="0"/>
                  </a:lnTo>
                  <a:cubicBezTo>
                    <a:pt x="22053423" y="0"/>
                    <a:pt x="22061932" y="8509"/>
                    <a:pt x="22061932" y="19050"/>
                  </a:cubicBezTo>
                  <a:cubicBezTo>
                    <a:pt x="22061932" y="29591"/>
                    <a:pt x="22053423" y="38100"/>
                    <a:pt x="22042882" y="38100"/>
                  </a:cubicBezTo>
                  <a:lnTo>
                    <a:pt x="19050" y="38100"/>
                  </a:lnTo>
                  <a:cubicBezTo>
                    <a:pt x="8509" y="38100"/>
                    <a:pt x="0" y="29591"/>
                    <a:pt x="0" y="19050"/>
                  </a:cubicBezTo>
                  <a:close/>
                </a:path>
              </a:pathLst>
            </a:custGeom>
            <a:solidFill>
              <a:srgbClr val="3F3F44"/>
            </a:solidFill>
          </p:spPr>
        </p:sp>
      </p:grpSp>
      <p:grpSp>
        <p:nvGrpSpPr>
          <p:cNvPr name="Group 9" id="9"/>
          <p:cNvGrpSpPr/>
          <p:nvPr/>
        </p:nvGrpSpPr>
        <p:grpSpPr>
          <a:xfrm rot="0">
            <a:off x="4915197" y="6528271"/>
            <a:ext cx="28575" cy="746372"/>
            <a:chOff x="0" y="0"/>
            <a:chExt cx="38100" cy="995163"/>
          </a:xfrm>
        </p:grpSpPr>
        <p:sp>
          <p:nvSpPr>
            <p:cNvPr name="Freeform 10" id="10"/>
            <p:cNvSpPr/>
            <p:nvPr/>
          </p:nvSpPr>
          <p:spPr>
            <a:xfrm flipH="false" flipV="false" rot="0">
              <a:off x="0" y="0"/>
              <a:ext cx="38100" cy="995172"/>
            </a:xfrm>
            <a:custGeom>
              <a:avLst/>
              <a:gdLst/>
              <a:ahLst/>
              <a:cxnLst/>
              <a:rect r="r" b="b" t="t" l="l"/>
              <a:pathLst>
                <a:path h="995172" w="38100">
                  <a:moveTo>
                    <a:pt x="0" y="19050"/>
                  </a:moveTo>
                  <a:cubicBezTo>
                    <a:pt x="0" y="8509"/>
                    <a:pt x="8509" y="0"/>
                    <a:pt x="19050" y="0"/>
                  </a:cubicBezTo>
                  <a:cubicBezTo>
                    <a:pt x="29591" y="0"/>
                    <a:pt x="38100" y="8509"/>
                    <a:pt x="38100" y="19050"/>
                  </a:cubicBezTo>
                  <a:lnTo>
                    <a:pt x="38100" y="976122"/>
                  </a:lnTo>
                  <a:cubicBezTo>
                    <a:pt x="38100" y="986663"/>
                    <a:pt x="29591" y="995172"/>
                    <a:pt x="19050" y="995172"/>
                  </a:cubicBezTo>
                  <a:cubicBezTo>
                    <a:pt x="8509" y="995172"/>
                    <a:pt x="0" y="986663"/>
                    <a:pt x="0" y="976122"/>
                  </a:cubicBezTo>
                  <a:close/>
                </a:path>
              </a:pathLst>
            </a:custGeom>
            <a:solidFill>
              <a:srgbClr val="3F3F44"/>
            </a:solidFill>
          </p:spPr>
        </p:sp>
      </p:grpSp>
      <p:grpSp>
        <p:nvGrpSpPr>
          <p:cNvPr name="Group 11" id="11"/>
          <p:cNvGrpSpPr/>
          <p:nvPr/>
        </p:nvGrpSpPr>
        <p:grpSpPr>
          <a:xfrm rot="0">
            <a:off x="4649689" y="6994699"/>
            <a:ext cx="559743" cy="559743"/>
            <a:chOff x="0" y="0"/>
            <a:chExt cx="746323" cy="746323"/>
          </a:xfrm>
        </p:grpSpPr>
        <p:sp>
          <p:nvSpPr>
            <p:cNvPr name="Freeform 12" id="12"/>
            <p:cNvSpPr/>
            <p:nvPr/>
          </p:nvSpPr>
          <p:spPr>
            <a:xfrm flipH="false" flipV="false" rot="0">
              <a:off x="0" y="0"/>
              <a:ext cx="746379" cy="746379"/>
            </a:xfrm>
            <a:custGeom>
              <a:avLst/>
              <a:gdLst/>
              <a:ahLst/>
              <a:cxnLst/>
              <a:rect r="r" b="b" t="t" l="l"/>
              <a:pathLst>
                <a:path h="746379" w="746379">
                  <a:moveTo>
                    <a:pt x="0" y="49784"/>
                  </a:moveTo>
                  <a:cubicBezTo>
                    <a:pt x="0" y="22225"/>
                    <a:pt x="22225" y="0"/>
                    <a:pt x="49784" y="0"/>
                  </a:cubicBezTo>
                  <a:lnTo>
                    <a:pt x="696595" y="0"/>
                  </a:lnTo>
                  <a:cubicBezTo>
                    <a:pt x="724027" y="0"/>
                    <a:pt x="746379" y="22225"/>
                    <a:pt x="746379" y="49784"/>
                  </a:cubicBezTo>
                  <a:lnTo>
                    <a:pt x="746379" y="696595"/>
                  </a:lnTo>
                  <a:cubicBezTo>
                    <a:pt x="746379" y="724027"/>
                    <a:pt x="724154" y="746379"/>
                    <a:pt x="696595" y="746379"/>
                  </a:cubicBezTo>
                  <a:lnTo>
                    <a:pt x="49784" y="746379"/>
                  </a:lnTo>
                  <a:cubicBezTo>
                    <a:pt x="22225" y="746379"/>
                    <a:pt x="0" y="724027"/>
                    <a:pt x="0" y="696595"/>
                  </a:cubicBezTo>
                  <a:close/>
                </a:path>
              </a:pathLst>
            </a:custGeom>
            <a:solidFill>
              <a:srgbClr val="26262B"/>
            </a:solidFill>
          </p:spPr>
        </p:sp>
      </p:grpSp>
      <p:sp>
        <p:nvSpPr>
          <p:cNvPr name="Freeform 13" id="13" descr="preencoded.png"/>
          <p:cNvSpPr/>
          <p:nvPr/>
        </p:nvSpPr>
        <p:spPr>
          <a:xfrm flipH="false" flipV="false" rot="0">
            <a:off x="4742929" y="7041281"/>
            <a:ext cx="373112" cy="466428"/>
          </a:xfrm>
          <a:custGeom>
            <a:avLst/>
            <a:gdLst/>
            <a:ahLst/>
            <a:cxnLst/>
            <a:rect r="r" b="b" t="t" l="l"/>
            <a:pathLst>
              <a:path h="466428" w="373112">
                <a:moveTo>
                  <a:pt x="0" y="0"/>
                </a:moveTo>
                <a:lnTo>
                  <a:pt x="373112" y="0"/>
                </a:lnTo>
                <a:lnTo>
                  <a:pt x="373112" y="466428"/>
                </a:lnTo>
                <a:lnTo>
                  <a:pt x="0" y="466428"/>
                </a:lnTo>
                <a:lnTo>
                  <a:pt x="0" y="0"/>
                </a:lnTo>
                <a:close/>
              </a:path>
            </a:pathLst>
          </a:custGeom>
          <a:blipFill>
            <a:blip r:embed="rId5"/>
            <a:stretch>
              <a:fillRect l="0" t="-252" r="0" b="-252"/>
            </a:stretch>
          </a:blipFill>
        </p:spPr>
      </p:sp>
      <p:sp>
        <p:nvSpPr>
          <p:cNvPr name="TextBox 14" id="14"/>
          <p:cNvSpPr txBox="true"/>
          <p:nvPr/>
        </p:nvSpPr>
        <p:spPr>
          <a:xfrm rot="0">
            <a:off x="3374529" y="5333702"/>
            <a:ext cx="3110210" cy="398264"/>
          </a:xfrm>
          <a:prstGeom prst="rect">
            <a:avLst/>
          </a:prstGeom>
        </p:spPr>
        <p:txBody>
          <a:bodyPr anchor="t" rtlCol="false" tIns="0" lIns="0" bIns="0" rIns="0">
            <a:spAutoFit/>
          </a:bodyPr>
          <a:lstStyle/>
          <a:p>
            <a:pPr algn="ctr">
              <a:lnSpc>
                <a:spcPts val="2999"/>
              </a:lnSpc>
            </a:pPr>
            <a:r>
              <a:rPr lang="en-US" sz="2437">
                <a:solidFill>
                  <a:srgbClr val="E0D6DE"/>
                </a:solidFill>
                <a:latin typeface="Arimo"/>
                <a:ea typeface="Arimo"/>
                <a:cs typeface="Arimo"/>
                <a:sym typeface="Arimo"/>
              </a:rPr>
              <a:t>Pre-training</a:t>
            </a:r>
          </a:p>
        </p:txBody>
      </p:sp>
      <p:sp>
        <p:nvSpPr>
          <p:cNvPr name="TextBox 15" id="15"/>
          <p:cNvSpPr txBox="true"/>
          <p:nvPr/>
        </p:nvSpPr>
        <p:spPr>
          <a:xfrm rot="0">
            <a:off x="1119485" y="5795516"/>
            <a:ext cx="7620297" cy="483840"/>
          </a:xfrm>
          <a:prstGeom prst="rect">
            <a:avLst/>
          </a:prstGeom>
        </p:spPr>
        <p:txBody>
          <a:bodyPr anchor="t" rtlCol="false" tIns="0" lIns="0" bIns="0" rIns="0">
            <a:spAutoFit/>
          </a:bodyPr>
          <a:lstStyle/>
          <a:p>
            <a:pPr algn="ctr">
              <a:lnSpc>
                <a:spcPts val="3125"/>
              </a:lnSpc>
            </a:pPr>
            <a:r>
              <a:rPr lang="en-US" sz="1937">
                <a:solidFill>
                  <a:srgbClr val="E0D6DE"/>
                </a:solidFill>
                <a:latin typeface="Noto Sans"/>
                <a:ea typeface="Noto Sans"/>
                <a:cs typeface="Noto Sans"/>
                <a:sym typeface="Noto Sans"/>
              </a:rPr>
              <a:t>BERT learns language context. It processes vast text corpora.</a:t>
            </a:r>
          </a:p>
        </p:txBody>
      </p:sp>
      <p:grpSp>
        <p:nvGrpSpPr>
          <p:cNvPr name="Group 16" id="16"/>
          <p:cNvGrpSpPr/>
          <p:nvPr/>
        </p:nvGrpSpPr>
        <p:grpSpPr>
          <a:xfrm rot="0">
            <a:off x="9129415" y="7274495"/>
            <a:ext cx="28575" cy="746372"/>
            <a:chOff x="0" y="0"/>
            <a:chExt cx="38100" cy="995163"/>
          </a:xfrm>
        </p:grpSpPr>
        <p:sp>
          <p:nvSpPr>
            <p:cNvPr name="Freeform 17" id="17"/>
            <p:cNvSpPr/>
            <p:nvPr/>
          </p:nvSpPr>
          <p:spPr>
            <a:xfrm flipH="false" flipV="false" rot="0">
              <a:off x="0" y="0"/>
              <a:ext cx="38100" cy="995172"/>
            </a:xfrm>
            <a:custGeom>
              <a:avLst/>
              <a:gdLst/>
              <a:ahLst/>
              <a:cxnLst/>
              <a:rect r="r" b="b" t="t" l="l"/>
              <a:pathLst>
                <a:path h="995172" w="38100">
                  <a:moveTo>
                    <a:pt x="0" y="19050"/>
                  </a:moveTo>
                  <a:cubicBezTo>
                    <a:pt x="0" y="8509"/>
                    <a:pt x="8509" y="0"/>
                    <a:pt x="19050" y="0"/>
                  </a:cubicBezTo>
                  <a:cubicBezTo>
                    <a:pt x="29591" y="0"/>
                    <a:pt x="38100" y="8509"/>
                    <a:pt x="38100" y="19050"/>
                  </a:cubicBezTo>
                  <a:lnTo>
                    <a:pt x="38100" y="976122"/>
                  </a:lnTo>
                  <a:cubicBezTo>
                    <a:pt x="38100" y="986663"/>
                    <a:pt x="29591" y="995172"/>
                    <a:pt x="19050" y="995172"/>
                  </a:cubicBezTo>
                  <a:cubicBezTo>
                    <a:pt x="8509" y="995172"/>
                    <a:pt x="0" y="986663"/>
                    <a:pt x="0" y="976122"/>
                  </a:cubicBezTo>
                  <a:close/>
                </a:path>
              </a:pathLst>
            </a:custGeom>
            <a:solidFill>
              <a:srgbClr val="3F3F44"/>
            </a:solidFill>
          </p:spPr>
        </p:sp>
      </p:grpSp>
      <p:grpSp>
        <p:nvGrpSpPr>
          <p:cNvPr name="Group 18" id="18"/>
          <p:cNvGrpSpPr/>
          <p:nvPr/>
        </p:nvGrpSpPr>
        <p:grpSpPr>
          <a:xfrm rot="0">
            <a:off x="8863905" y="6994699"/>
            <a:ext cx="559743" cy="559743"/>
            <a:chOff x="0" y="0"/>
            <a:chExt cx="746323" cy="746323"/>
          </a:xfrm>
        </p:grpSpPr>
        <p:sp>
          <p:nvSpPr>
            <p:cNvPr name="Freeform 19" id="19"/>
            <p:cNvSpPr/>
            <p:nvPr/>
          </p:nvSpPr>
          <p:spPr>
            <a:xfrm flipH="false" flipV="false" rot="0">
              <a:off x="0" y="0"/>
              <a:ext cx="746379" cy="746379"/>
            </a:xfrm>
            <a:custGeom>
              <a:avLst/>
              <a:gdLst/>
              <a:ahLst/>
              <a:cxnLst/>
              <a:rect r="r" b="b" t="t" l="l"/>
              <a:pathLst>
                <a:path h="746379" w="746379">
                  <a:moveTo>
                    <a:pt x="0" y="49784"/>
                  </a:moveTo>
                  <a:cubicBezTo>
                    <a:pt x="0" y="22225"/>
                    <a:pt x="22225" y="0"/>
                    <a:pt x="49784" y="0"/>
                  </a:cubicBezTo>
                  <a:lnTo>
                    <a:pt x="696595" y="0"/>
                  </a:lnTo>
                  <a:cubicBezTo>
                    <a:pt x="724027" y="0"/>
                    <a:pt x="746379" y="22225"/>
                    <a:pt x="746379" y="49784"/>
                  </a:cubicBezTo>
                  <a:lnTo>
                    <a:pt x="746379" y="696595"/>
                  </a:lnTo>
                  <a:cubicBezTo>
                    <a:pt x="746379" y="724027"/>
                    <a:pt x="724154" y="746379"/>
                    <a:pt x="696595" y="746379"/>
                  </a:cubicBezTo>
                  <a:lnTo>
                    <a:pt x="49784" y="746379"/>
                  </a:lnTo>
                  <a:cubicBezTo>
                    <a:pt x="22225" y="746379"/>
                    <a:pt x="0" y="724027"/>
                    <a:pt x="0" y="696595"/>
                  </a:cubicBezTo>
                  <a:close/>
                </a:path>
              </a:pathLst>
            </a:custGeom>
            <a:solidFill>
              <a:srgbClr val="26262B"/>
            </a:solidFill>
          </p:spPr>
        </p:sp>
      </p:grpSp>
      <p:sp>
        <p:nvSpPr>
          <p:cNvPr name="Freeform 20" id="20" descr="preencoded.png"/>
          <p:cNvSpPr/>
          <p:nvPr/>
        </p:nvSpPr>
        <p:spPr>
          <a:xfrm flipH="false" flipV="false" rot="0">
            <a:off x="8957146" y="7041281"/>
            <a:ext cx="373112" cy="466428"/>
          </a:xfrm>
          <a:custGeom>
            <a:avLst/>
            <a:gdLst/>
            <a:ahLst/>
            <a:cxnLst/>
            <a:rect r="r" b="b" t="t" l="l"/>
            <a:pathLst>
              <a:path h="466428" w="373112">
                <a:moveTo>
                  <a:pt x="0" y="0"/>
                </a:moveTo>
                <a:lnTo>
                  <a:pt x="373113" y="0"/>
                </a:lnTo>
                <a:lnTo>
                  <a:pt x="373113" y="466428"/>
                </a:lnTo>
                <a:lnTo>
                  <a:pt x="0" y="466428"/>
                </a:lnTo>
                <a:lnTo>
                  <a:pt x="0" y="0"/>
                </a:lnTo>
                <a:close/>
              </a:path>
            </a:pathLst>
          </a:custGeom>
          <a:blipFill>
            <a:blip r:embed="rId6"/>
            <a:stretch>
              <a:fillRect l="0" t="-252" r="0" b="-252"/>
            </a:stretch>
          </a:blipFill>
        </p:spPr>
      </p:sp>
      <p:sp>
        <p:nvSpPr>
          <p:cNvPr name="TextBox 21" id="21"/>
          <p:cNvSpPr txBox="true"/>
          <p:nvPr/>
        </p:nvSpPr>
        <p:spPr>
          <a:xfrm rot="0">
            <a:off x="7438579" y="8260259"/>
            <a:ext cx="3410694" cy="398264"/>
          </a:xfrm>
          <a:prstGeom prst="rect">
            <a:avLst/>
          </a:prstGeom>
        </p:spPr>
        <p:txBody>
          <a:bodyPr anchor="t" rtlCol="false" tIns="0" lIns="0" bIns="0" rIns="0">
            <a:spAutoFit/>
          </a:bodyPr>
          <a:lstStyle/>
          <a:p>
            <a:pPr algn="ctr">
              <a:lnSpc>
                <a:spcPts val="2999"/>
              </a:lnSpc>
            </a:pPr>
            <a:r>
              <a:rPr lang="en-US" sz="2437">
                <a:solidFill>
                  <a:srgbClr val="E0D6DE"/>
                </a:solidFill>
                <a:latin typeface="Arimo"/>
                <a:ea typeface="Arimo"/>
                <a:cs typeface="Arimo"/>
                <a:sym typeface="Arimo"/>
              </a:rPr>
              <a:t>Bidirectional Context</a:t>
            </a:r>
          </a:p>
        </p:txBody>
      </p:sp>
      <p:sp>
        <p:nvSpPr>
          <p:cNvPr name="TextBox 22" id="22"/>
          <p:cNvSpPr txBox="true"/>
          <p:nvPr/>
        </p:nvSpPr>
        <p:spPr>
          <a:xfrm rot="0">
            <a:off x="5333702" y="8722073"/>
            <a:ext cx="7620446" cy="881955"/>
          </a:xfrm>
          <a:prstGeom prst="rect">
            <a:avLst/>
          </a:prstGeom>
        </p:spPr>
        <p:txBody>
          <a:bodyPr anchor="t" rtlCol="false" tIns="0" lIns="0" bIns="0" rIns="0">
            <a:spAutoFit/>
          </a:bodyPr>
          <a:lstStyle/>
          <a:p>
            <a:pPr algn="ctr">
              <a:lnSpc>
                <a:spcPts val="3125"/>
              </a:lnSpc>
            </a:pPr>
            <a:r>
              <a:rPr lang="en-US" sz="1937">
                <a:solidFill>
                  <a:srgbClr val="E0D6DE"/>
                </a:solidFill>
                <a:latin typeface="Noto Sans"/>
                <a:ea typeface="Noto Sans"/>
                <a:cs typeface="Noto Sans"/>
                <a:sym typeface="Noto Sans"/>
              </a:rPr>
              <a:t>Understands words based on their full context. Both left and right neighbors are considered.</a:t>
            </a:r>
          </a:p>
        </p:txBody>
      </p:sp>
      <p:grpSp>
        <p:nvGrpSpPr>
          <p:cNvPr name="Group 23" id="23"/>
          <p:cNvGrpSpPr/>
          <p:nvPr/>
        </p:nvGrpSpPr>
        <p:grpSpPr>
          <a:xfrm rot="0">
            <a:off x="13343781" y="6528271"/>
            <a:ext cx="28575" cy="746372"/>
            <a:chOff x="0" y="0"/>
            <a:chExt cx="38100" cy="995163"/>
          </a:xfrm>
        </p:grpSpPr>
        <p:sp>
          <p:nvSpPr>
            <p:cNvPr name="Freeform 24" id="24"/>
            <p:cNvSpPr/>
            <p:nvPr/>
          </p:nvSpPr>
          <p:spPr>
            <a:xfrm flipH="false" flipV="false" rot="0">
              <a:off x="0" y="0"/>
              <a:ext cx="38100" cy="995172"/>
            </a:xfrm>
            <a:custGeom>
              <a:avLst/>
              <a:gdLst/>
              <a:ahLst/>
              <a:cxnLst/>
              <a:rect r="r" b="b" t="t" l="l"/>
              <a:pathLst>
                <a:path h="995172" w="38100">
                  <a:moveTo>
                    <a:pt x="0" y="19050"/>
                  </a:moveTo>
                  <a:cubicBezTo>
                    <a:pt x="0" y="8509"/>
                    <a:pt x="8509" y="0"/>
                    <a:pt x="19050" y="0"/>
                  </a:cubicBezTo>
                  <a:cubicBezTo>
                    <a:pt x="29591" y="0"/>
                    <a:pt x="38100" y="8509"/>
                    <a:pt x="38100" y="19050"/>
                  </a:cubicBezTo>
                  <a:lnTo>
                    <a:pt x="38100" y="976122"/>
                  </a:lnTo>
                  <a:cubicBezTo>
                    <a:pt x="38100" y="986663"/>
                    <a:pt x="29591" y="995172"/>
                    <a:pt x="19050" y="995172"/>
                  </a:cubicBezTo>
                  <a:cubicBezTo>
                    <a:pt x="8509" y="995172"/>
                    <a:pt x="0" y="986663"/>
                    <a:pt x="0" y="976122"/>
                  </a:cubicBezTo>
                  <a:close/>
                </a:path>
              </a:pathLst>
            </a:custGeom>
            <a:solidFill>
              <a:srgbClr val="3F3F44"/>
            </a:solidFill>
          </p:spPr>
        </p:sp>
      </p:grpSp>
      <p:grpSp>
        <p:nvGrpSpPr>
          <p:cNvPr name="Group 25" id="25"/>
          <p:cNvGrpSpPr/>
          <p:nvPr/>
        </p:nvGrpSpPr>
        <p:grpSpPr>
          <a:xfrm rot="0">
            <a:off x="13078271" y="6994699"/>
            <a:ext cx="559743" cy="559743"/>
            <a:chOff x="0" y="0"/>
            <a:chExt cx="746323" cy="746323"/>
          </a:xfrm>
        </p:grpSpPr>
        <p:sp>
          <p:nvSpPr>
            <p:cNvPr name="Freeform 26" id="26"/>
            <p:cNvSpPr/>
            <p:nvPr/>
          </p:nvSpPr>
          <p:spPr>
            <a:xfrm flipH="false" flipV="false" rot="0">
              <a:off x="0" y="0"/>
              <a:ext cx="746379" cy="746379"/>
            </a:xfrm>
            <a:custGeom>
              <a:avLst/>
              <a:gdLst/>
              <a:ahLst/>
              <a:cxnLst/>
              <a:rect r="r" b="b" t="t" l="l"/>
              <a:pathLst>
                <a:path h="746379" w="746379">
                  <a:moveTo>
                    <a:pt x="0" y="49784"/>
                  </a:moveTo>
                  <a:cubicBezTo>
                    <a:pt x="0" y="22225"/>
                    <a:pt x="22225" y="0"/>
                    <a:pt x="49784" y="0"/>
                  </a:cubicBezTo>
                  <a:lnTo>
                    <a:pt x="696595" y="0"/>
                  </a:lnTo>
                  <a:cubicBezTo>
                    <a:pt x="724027" y="0"/>
                    <a:pt x="746379" y="22225"/>
                    <a:pt x="746379" y="49784"/>
                  </a:cubicBezTo>
                  <a:lnTo>
                    <a:pt x="746379" y="696595"/>
                  </a:lnTo>
                  <a:cubicBezTo>
                    <a:pt x="746379" y="724027"/>
                    <a:pt x="724154" y="746379"/>
                    <a:pt x="696595" y="746379"/>
                  </a:cubicBezTo>
                  <a:lnTo>
                    <a:pt x="49784" y="746379"/>
                  </a:lnTo>
                  <a:cubicBezTo>
                    <a:pt x="22225" y="746379"/>
                    <a:pt x="0" y="724027"/>
                    <a:pt x="0" y="696595"/>
                  </a:cubicBezTo>
                  <a:close/>
                </a:path>
              </a:pathLst>
            </a:custGeom>
            <a:solidFill>
              <a:srgbClr val="26262B"/>
            </a:solidFill>
          </p:spPr>
        </p:sp>
      </p:grpSp>
      <p:sp>
        <p:nvSpPr>
          <p:cNvPr name="Freeform 27" id="27" descr="preencoded.png"/>
          <p:cNvSpPr/>
          <p:nvPr/>
        </p:nvSpPr>
        <p:spPr>
          <a:xfrm flipH="false" flipV="false" rot="0">
            <a:off x="13171512" y="7041281"/>
            <a:ext cx="373113" cy="466428"/>
          </a:xfrm>
          <a:custGeom>
            <a:avLst/>
            <a:gdLst/>
            <a:ahLst/>
            <a:cxnLst/>
            <a:rect r="r" b="b" t="t" l="l"/>
            <a:pathLst>
              <a:path h="466428" w="373113">
                <a:moveTo>
                  <a:pt x="0" y="0"/>
                </a:moveTo>
                <a:lnTo>
                  <a:pt x="373113" y="0"/>
                </a:lnTo>
                <a:lnTo>
                  <a:pt x="373113" y="466428"/>
                </a:lnTo>
                <a:lnTo>
                  <a:pt x="0" y="466428"/>
                </a:lnTo>
                <a:lnTo>
                  <a:pt x="0" y="0"/>
                </a:lnTo>
                <a:close/>
              </a:path>
            </a:pathLst>
          </a:custGeom>
          <a:blipFill>
            <a:blip r:embed="rId7"/>
            <a:stretch>
              <a:fillRect l="0" t="-252" r="0" b="-252"/>
            </a:stretch>
          </a:blipFill>
        </p:spPr>
      </p:sp>
      <p:sp>
        <p:nvSpPr>
          <p:cNvPr name="TextBox 28" id="28"/>
          <p:cNvSpPr txBox="true"/>
          <p:nvPr/>
        </p:nvSpPr>
        <p:spPr>
          <a:xfrm rot="0">
            <a:off x="11803112" y="4935587"/>
            <a:ext cx="3110210" cy="398264"/>
          </a:xfrm>
          <a:prstGeom prst="rect">
            <a:avLst/>
          </a:prstGeom>
        </p:spPr>
        <p:txBody>
          <a:bodyPr anchor="t" rtlCol="false" tIns="0" lIns="0" bIns="0" rIns="0">
            <a:spAutoFit/>
          </a:bodyPr>
          <a:lstStyle/>
          <a:p>
            <a:pPr algn="ctr">
              <a:lnSpc>
                <a:spcPts val="2999"/>
              </a:lnSpc>
            </a:pPr>
            <a:r>
              <a:rPr lang="en-US" sz="2437">
                <a:solidFill>
                  <a:srgbClr val="E0D6DE"/>
                </a:solidFill>
                <a:latin typeface="Arimo"/>
                <a:ea typeface="Arimo"/>
                <a:cs typeface="Arimo"/>
                <a:sym typeface="Arimo"/>
              </a:rPr>
              <a:t>Fine-tuning</a:t>
            </a:r>
          </a:p>
        </p:txBody>
      </p:sp>
      <p:sp>
        <p:nvSpPr>
          <p:cNvPr name="TextBox 29" id="29"/>
          <p:cNvSpPr txBox="true"/>
          <p:nvPr/>
        </p:nvSpPr>
        <p:spPr>
          <a:xfrm rot="0">
            <a:off x="9548069" y="5397401"/>
            <a:ext cx="7620446" cy="881955"/>
          </a:xfrm>
          <a:prstGeom prst="rect">
            <a:avLst/>
          </a:prstGeom>
        </p:spPr>
        <p:txBody>
          <a:bodyPr anchor="t" rtlCol="false" tIns="0" lIns="0" bIns="0" rIns="0">
            <a:spAutoFit/>
          </a:bodyPr>
          <a:lstStyle/>
          <a:p>
            <a:pPr algn="ctr">
              <a:lnSpc>
                <a:spcPts val="3125"/>
              </a:lnSpc>
            </a:pPr>
            <a:r>
              <a:rPr lang="en-US" sz="1937">
                <a:solidFill>
                  <a:srgbClr val="E0D6DE"/>
                </a:solidFill>
                <a:latin typeface="Noto Sans"/>
                <a:ea typeface="Noto Sans"/>
                <a:cs typeface="Noto Sans"/>
                <a:sym typeface="Noto Sans"/>
              </a:rPr>
              <a:t>Adapts to specific tasks. Achieves high accuracy in sentiment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Freeform 5" id="5" descr="preencoded.png">
            <a:hlinkClick r:id="rId5"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4"/>
            <a:stretch>
              <a:fillRect l="0" t="0" r="0" b="0"/>
            </a:stretch>
          </a:blipFill>
        </p:spPr>
      </p:sp>
      <p:sp>
        <p:nvSpPr>
          <p:cNvPr name="Freeform 6" id="6"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6"/>
            <a:stretch>
              <a:fillRect l="0" t="0" r="0" b="0"/>
            </a:stretch>
          </a:blipFill>
        </p:spPr>
      </p:sp>
      <p:sp>
        <p:nvSpPr>
          <p:cNvPr name="TextBox 7" id="7"/>
          <p:cNvSpPr txBox="true"/>
          <p:nvPr/>
        </p:nvSpPr>
        <p:spPr>
          <a:xfrm rot="0">
            <a:off x="904578" y="1219349"/>
            <a:ext cx="9620845" cy="2480221"/>
          </a:xfrm>
          <a:prstGeom prst="rect">
            <a:avLst/>
          </a:prstGeom>
        </p:spPr>
        <p:txBody>
          <a:bodyPr anchor="t" rtlCol="false" tIns="0" lIns="0" bIns="0" rIns="0">
            <a:spAutoFit/>
          </a:bodyPr>
          <a:lstStyle/>
          <a:p>
            <a:pPr algn="l">
              <a:lnSpc>
                <a:spcPts val="6312"/>
              </a:lnSpc>
            </a:pPr>
            <a:r>
              <a:rPr lang="en-US" sz="5062">
                <a:solidFill>
                  <a:srgbClr val="97B8FF"/>
                </a:solidFill>
                <a:latin typeface="Arimo"/>
                <a:ea typeface="Arimo"/>
                <a:cs typeface="Arimo"/>
                <a:sym typeface="Arimo"/>
              </a:rPr>
              <a:t>Data Collection &amp; Preprocessing from Social Media Platforms</a:t>
            </a:r>
          </a:p>
        </p:txBody>
      </p:sp>
      <p:grpSp>
        <p:nvGrpSpPr>
          <p:cNvPr name="Group 8" id="8"/>
          <p:cNvGrpSpPr/>
          <p:nvPr/>
        </p:nvGrpSpPr>
        <p:grpSpPr>
          <a:xfrm rot="0">
            <a:off x="904578" y="4087266"/>
            <a:ext cx="193774" cy="972443"/>
            <a:chOff x="0" y="0"/>
            <a:chExt cx="258365" cy="1296590"/>
          </a:xfrm>
        </p:grpSpPr>
        <p:sp>
          <p:nvSpPr>
            <p:cNvPr name="Freeform 9" id="9"/>
            <p:cNvSpPr/>
            <p:nvPr/>
          </p:nvSpPr>
          <p:spPr>
            <a:xfrm flipH="false" flipV="false" rot="0">
              <a:off x="0" y="0"/>
              <a:ext cx="258318" cy="1296543"/>
            </a:xfrm>
            <a:custGeom>
              <a:avLst/>
              <a:gdLst/>
              <a:ahLst/>
              <a:cxnLst/>
              <a:rect r="r" b="b" t="t" l="l"/>
              <a:pathLst>
                <a:path h="1296543" w="258318">
                  <a:moveTo>
                    <a:pt x="0" y="51689"/>
                  </a:moveTo>
                  <a:cubicBezTo>
                    <a:pt x="0" y="23114"/>
                    <a:pt x="23114" y="0"/>
                    <a:pt x="51689" y="0"/>
                  </a:cubicBezTo>
                  <a:lnTo>
                    <a:pt x="206629" y="0"/>
                  </a:lnTo>
                  <a:cubicBezTo>
                    <a:pt x="235204" y="0"/>
                    <a:pt x="258318" y="23114"/>
                    <a:pt x="258318" y="51689"/>
                  </a:cubicBezTo>
                  <a:lnTo>
                    <a:pt x="258318" y="1244854"/>
                  </a:lnTo>
                  <a:cubicBezTo>
                    <a:pt x="258318" y="1273429"/>
                    <a:pt x="235204" y="1296543"/>
                    <a:pt x="206629" y="1296543"/>
                  </a:cubicBezTo>
                  <a:lnTo>
                    <a:pt x="51689" y="1296543"/>
                  </a:lnTo>
                  <a:cubicBezTo>
                    <a:pt x="23114" y="1296543"/>
                    <a:pt x="0" y="1273429"/>
                    <a:pt x="0" y="1244854"/>
                  </a:cubicBezTo>
                  <a:close/>
                </a:path>
              </a:pathLst>
            </a:custGeom>
            <a:solidFill>
              <a:srgbClr val="26262B"/>
            </a:solidFill>
          </p:spPr>
        </p:sp>
      </p:grpSp>
      <p:sp>
        <p:nvSpPr>
          <p:cNvPr name="TextBox 10" id="10"/>
          <p:cNvSpPr txBox="true"/>
          <p:nvPr/>
        </p:nvSpPr>
        <p:spPr>
          <a:xfrm rot="0">
            <a:off x="1486049" y="4058691"/>
            <a:ext cx="3569642" cy="432346"/>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Consent &amp; Anonymity</a:t>
            </a:r>
          </a:p>
        </p:txBody>
      </p:sp>
      <p:sp>
        <p:nvSpPr>
          <p:cNvPr name="TextBox 11" id="11"/>
          <p:cNvSpPr txBox="true"/>
          <p:nvPr/>
        </p:nvSpPr>
        <p:spPr>
          <a:xfrm rot="0">
            <a:off x="1486049" y="4560391"/>
            <a:ext cx="9039374" cy="499319"/>
          </a:xfrm>
          <a:prstGeom prst="rect">
            <a:avLst/>
          </a:prstGeom>
        </p:spPr>
        <p:txBody>
          <a:bodyPr anchor="t" rtlCol="false" tIns="0" lIns="0" bIns="0" rIns="0">
            <a:spAutoFit/>
          </a:bodyPr>
          <a:lstStyle/>
          <a:p>
            <a:pPr algn="l">
              <a:lnSpc>
                <a:spcPts val="3250"/>
              </a:lnSpc>
            </a:pPr>
            <a:r>
              <a:rPr lang="en-US" sz="2000">
                <a:solidFill>
                  <a:srgbClr val="E0D6DE"/>
                </a:solidFill>
                <a:latin typeface="Noto Sans"/>
                <a:ea typeface="Noto Sans"/>
                <a:cs typeface="Noto Sans"/>
                <a:sym typeface="Noto Sans"/>
              </a:rPr>
              <a:t>Obtain user consent where possible. Ensure data is fully anonymized.</a:t>
            </a:r>
          </a:p>
        </p:txBody>
      </p:sp>
      <p:grpSp>
        <p:nvGrpSpPr>
          <p:cNvPr name="Group 12" id="12"/>
          <p:cNvGrpSpPr/>
          <p:nvPr/>
        </p:nvGrpSpPr>
        <p:grpSpPr>
          <a:xfrm rot="0">
            <a:off x="1292275" y="5318075"/>
            <a:ext cx="193774" cy="972442"/>
            <a:chOff x="0" y="0"/>
            <a:chExt cx="258365" cy="1296590"/>
          </a:xfrm>
        </p:grpSpPr>
        <p:sp>
          <p:nvSpPr>
            <p:cNvPr name="Freeform 13" id="13"/>
            <p:cNvSpPr/>
            <p:nvPr/>
          </p:nvSpPr>
          <p:spPr>
            <a:xfrm flipH="false" flipV="false" rot="0">
              <a:off x="0" y="0"/>
              <a:ext cx="258318" cy="1296543"/>
            </a:xfrm>
            <a:custGeom>
              <a:avLst/>
              <a:gdLst/>
              <a:ahLst/>
              <a:cxnLst/>
              <a:rect r="r" b="b" t="t" l="l"/>
              <a:pathLst>
                <a:path h="1296543" w="258318">
                  <a:moveTo>
                    <a:pt x="0" y="51689"/>
                  </a:moveTo>
                  <a:cubicBezTo>
                    <a:pt x="0" y="23114"/>
                    <a:pt x="23114" y="0"/>
                    <a:pt x="51689" y="0"/>
                  </a:cubicBezTo>
                  <a:lnTo>
                    <a:pt x="206629" y="0"/>
                  </a:lnTo>
                  <a:cubicBezTo>
                    <a:pt x="235204" y="0"/>
                    <a:pt x="258318" y="23114"/>
                    <a:pt x="258318" y="51689"/>
                  </a:cubicBezTo>
                  <a:lnTo>
                    <a:pt x="258318" y="1244854"/>
                  </a:lnTo>
                  <a:cubicBezTo>
                    <a:pt x="258318" y="1273429"/>
                    <a:pt x="235204" y="1296543"/>
                    <a:pt x="206629" y="1296543"/>
                  </a:cubicBezTo>
                  <a:lnTo>
                    <a:pt x="51689" y="1296543"/>
                  </a:lnTo>
                  <a:cubicBezTo>
                    <a:pt x="23114" y="1296543"/>
                    <a:pt x="0" y="1273429"/>
                    <a:pt x="0" y="1244854"/>
                  </a:cubicBezTo>
                  <a:close/>
                </a:path>
              </a:pathLst>
            </a:custGeom>
            <a:solidFill>
              <a:srgbClr val="26262B"/>
            </a:solidFill>
          </p:spPr>
        </p:sp>
      </p:grpSp>
      <p:sp>
        <p:nvSpPr>
          <p:cNvPr name="TextBox 14" id="14"/>
          <p:cNvSpPr txBox="true"/>
          <p:nvPr/>
        </p:nvSpPr>
        <p:spPr>
          <a:xfrm rot="0">
            <a:off x="1873746" y="5289500"/>
            <a:ext cx="3230910" cy="432346"/>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Data Extraction</a:t>
            </a:r>
          </a:p>
        </p:txBody>
      </p:sp>
      <p:sp>
        <p:nvSpPr>
          <p:cNvPr name="TextBox 15" id="15"/>
          <p:cNvSpPr txBox="true"/>
          <p:nvPr/>
        </p:nvSpPr>
        <p:spPr>
          <a:xfrm rot="0">
            <a:off x="1873746" y="5791200"/>
            <a:ext cx="8651676" cy="499319"/>
          </a:xfrm>
          <a:prstGeom prst="rect">
            <a:avLst/>
          </a:prstGeom>
        </p:spPr>
        <p:txBody>
          <a:bodyPr anchor="t" rtlCol="false" tIns="0" lIns="0" bIns="0" rIns="0">
            <a:spAutoFit/>
          </a:bodyPr>
          <a:lstStyle/>
          <a:p>
            <a:pPr algn="l">
              <a:lnSpc>
                <a:spcPts val="3250"/>
              </a:lnSpc>
            </a:pPr>
            <a:r>
              <a:rPr lang="en-US" sz="2000">
                <a:solidFill>
                  <a:srgbClr val="E0D6DE"/>
                </a:solidFill>
                <a:latin typeface="Noto Sans"/>
                <a:ea typeface="Noto Sans"/>
                <a:cs typeface="Noto Sans"/>
                <a:sym typeface="Noto Sans"/>
              </a:rPr>
              <a:t>Collect public posts from platforms like Twitter. Use APIs responsibly.</a:t>
            </a:r>
          </a:p>
        </p:txBody>
      </p:sp>
      <p:grpSp>
        <p:nvGrpSpPr>
          <p:cNvPr name="Group 16" id="16"/>
          <p:cNvGrpSpPr/>
          <p:nvPr/>
        </p:nvGrpSpPr>
        <p:grpSpPr>
          <a:xfrm rot="0">
            <a:off x="1679972" y="6548884"/>
            <a:ext cx="193774" cy="972442"/>
            <a:chOff x="0" y="0"/>
            <a:chExt cx="258365" cy="1296590"/>
          </a:xfrm>
        </p:grpSpPr>
        <p:sp>
          <p:nvSpPr>
            <p:cNvPr name="Freeform 17" id="17"/>
            <p:cNvSpPr/>
            <p:nvPr/>
          </p:nvSpPr>
          <p:spPr>
            <a:xfrm flipH="false" flipV="false" rot="0">
              <a:off x="0" y="0"/>
              <a:ext cx="258318" cy="1296543"/>
            </a:xfrm>
            <a:custGeom>
              <a:avLst/>
              <a:gdLst/>
              <a:ahLst/>
              <a:cxnLst/>
              <a:rect r="r" b="b" t="t" l="l"/>
              <a:pathLst>
                <a:path h="1296543" w="258318">
                  <a:moveTo>
                    <a:pt x="0" y="51689"/>
                  </a:moveTo>
                  <a:cubicBezTo>
                    <a:pt x="0" y="23114"/>
                    <a:pt x="23114" y="0"/>
                    <a:pt x="51689" y="0"/>
                  </a:cubicBezTo>
                  <a:lnTo>
                    <a:pt x="206629" y="0"/>
                  </a:lnTo>
                  <a:cubicBezTo>
                    <a:pt x="235204" y="0"/>
                    <a:pt x="258318" y="23114"/>
                    <a:pt x="258318" y="51689"/>
                  </a:cubicBezTo>
                  <a:lnTo>
                    <a:pt x="258318" y="1244854"/>
                  </a:lnTo>
                  <a:cubicBezTo>
                    <a:pt x="258318" y="1273429"/>
                    <a:pt x="235204" y="1296543"/>
                    <a:pt x="206629" y="1296543"/>
                  </a:cubicBezTo>
                  <a:lnTo>
                    <a:pt x="51689" y="1296543"/>
                  </a:lnTo>
                  <a:cubicBezTo>
                    <a:pt x="23114" y="1296543"/>
                    <a:pt x="0" y="1273429"/>
                    <a:pt x="0" y="1244854"/>
                  </a:cubicBezTo>
                  <a:close/>
                </a:path>
              </a:pathLst>
            </a:custGeom>
            <a:solidFill>
              <a:srgbClr val="26262B"/>
            </a:solidFill>
          </p:spPr>
        </p:sp>
      </p:grpSp>
      <p:sp>
        <p:nvSpPr>
          <p:cNvPr name="TextBox 18" id="18"/>
          <p:cNvSpPr txBox="true"/>
          <p:nvPr/>
        </p:nvSpPr>
        <p:spPr>
          <a:xfrm rot="0">
            <a:off x="2261444" y="6520309"/>
            <a:ext cx="4191744" cy="432346"/>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Cleaning &amp; Normalization</a:t>
            </a:r>
          </a:p>
        </p:txBody>
      </p:sp>
      <p:sp>
        <p:nvSpPr>
          <p:cNvPr name="TextBox 19" id="19"/>
          <p:cNvSpPr txBox="true"/>
          <p:nvPr/>
        </p:nvSpPr>
        <p:spPr>
          <a:xfrm rot="0">
            <a:off x="2261444" y="7022009"/>
            <a:ext cx="8263979" cy="499319"/>
          </a:xfrm>
          <a:prstGeom prst="rect">
            <a:avLst/>
          </a:prstGeom>
        </p:spPr>
        <p:txBody>
          <a:bodyPr anchor="t" rtlCol="false" tIns="0" lIns="0" bIns="0" rIns="0">
            <a:spAutoFit/>
          </a:bodyPr>
          <a:lstStyle/>
          <a:p>
            <a:pPr algn="l">
              <a:lnSpc>
                <a:spcPts val="3250"/>
              </a:lnSpc>
            </a:pPr>
            <a:r>
              <a:rPr lang="en-US" sz="2000">
                <a:solidFill>
                  <a:srgbClr val="E0D6DE"/>
                </a:solidFill>
                <a:latin typeface="Noto Sans"/>
                <a:ea typeface="Noto Sans"/>
                <a:cs typeface="Noto Sans"/>
                <a:sym typeface="Noto Sans"/>
              </a:rPr>
              <a:t>Remove irrelevant content and noise. Standardize text for analysis.</a:t>
            </a:r>
          </a:p>
        </p:txBody>
      </p:sp>
      <p:grpSp>
        <p:nvGrpSpPr>
          <p:cNvPr name="Group 20" id="20"/>
          <p:cNvGrpSpPr/>
          <p:nvPr/>
        </p:nvGrpSpPr>
        <p:grpSpPr>
          <a:xfrm rot="0">
            <a:off x="2067669" y="7779692"/>
            <a:ext cx="193774" cy="972442"/>
            <a:chOff x="0" y="0"/>
            <a:chExt cx="258365" cy="1296590"/>
          </a:xfrm>
        </p:grpSpPr>
        <p:sp>
          <p:nvSpPr>
            <p:cNvPr name="Freeform 21" id="21"/>
            <p:cNvSpPr/>
            <p:nvPr/>
          </p:nvSpPr>
          <p:spPr>
            <a:xfrm flipH="false" flipV="false" rot="0">
              <a:off x="0" y="0"/>
              <a:ext cx="258318" cy="1296543"/>
            </a:xfrm>
            <a:custGeom>
              <a:avLst/>
              <a:gdLst/>
              <a:ahLst/>
              <a:cxnLst/>
              <a:rect r="r" b="b" t="t" l="l"/>
              <a:pathLst>
                <a:path h="1296543" w="258318">
                  <a:moveTo>
                    <a:pt x="0" y="51689"/>
                  </a:moveTo>
                  <a:cubicBezTo>
                    <a:pt x="0" y="23114"/>
                    <a:pt x="23114" y="0"/>
                    <a:pt x="51689" y="0"/>
                  </a:cubicBezTo>
                  <a:lnTo>
                    <a:pt x="206629" y="0"/>
                  </a:lnTo>
                  <a:cubicBezTo>
                    <a:pt x="235204" y="0"/>
                    <a:pt x="258318" y="23114"/>
                    <a:pt x="258318" y="51689"/>
                  </a:cubicBezTo>
                  <a:lnTo>
                    <a:pt x="258318" y="1244854"/>
                  </a:lnTo>
                  <a:cubicBezTo>
                    <a:pt x="258318" y="1273429"/>
                    <a:pt x="235204" y="1296543"/>
                    <a:pt x="206629" y="1296543"/>
                  </a:cubicBezTo>
                  <a:lnTo>
                    <a:pt x="51689" y="1296543"/>
                  </a:lnTo>
                  <a:cubicBezTo>
                    <a:pt x="23114" y="1296543"/>
                    <a:pt x="0" y="1273429"/>
                    <a:pt x="0" y="1244854"/>
                  </a:cubicBezTo>
                  <a:close/>
                </a:path>
              </a:pathLst>
            </a:custGeom>
            <a:solidFill>
              <a:srgbClr val="26262B"/>
            </a:solidFill>
          </p:spPr>
        </p:sp>
      </p:grpSp>
      <p:sp>
        <p:nvSpPr>
          <p:cNvPr name="TextBox 22" id="22"/>
          <p:cNvSpPr txBox="true"/>
          <p:nvPr/>
        </p:nvSpPr>
        <p:spPr>
          <a:xfrm rot="0">
            <a:off x="2649141" y="7751117"/>
            <a:ext cx="3230910" cy="432346"/>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Tokenization</a:t>
            </a:r>
          </a:p>
        </p:txBody>
      </p:sp>
      <p:sp>
        <p:nvSpPr>
          <p:cNvPr name="TextBox 23" id="23"/>
          <p:cNvSpPr txBox="true"/>
          <p:nvPr/>
        </p:nvSpPr>
        <p:spPr>
          <a:xfrm rot="0">
            <a:off x="2649141" y="8252817"/>
            <a:ext cx="7876283" cy="499319"/>
          </a:xfrm>
          <a:prstGeom prst="rect">
            <a:avLst/>
          </a:prstGeom>
        </p:spPr>
        <p:txBody>
          <a:bodyPr anchor="t" rtlCol="false" tIns="0" lIns="0" bIns="0" rIns="0">
            <a:spAutoFit/>
          </a:bodyPr>
          <a:lstStyle/>
          <a:p>
            <a:pPr algn="l">
              <a:lnSpc>
                <a:spcPts val="3250"/>
              </a:lnSpc>
            </a:pPr>
            <a:r>
              <a:rPr lang="en-US" sz="2000">
                <a:solidFill>
                  <a:srgbClr val="E0D6DE"/>
                </a:solidFill>
                <a:latin typeface="Noto Sans"/>
                <a:ea typeface="Noto Sans"/>
                <a:cs typeface="Noto Sans"/>
                <a:sym typeface="Noto Sans"/>
              </a:rPr>
              <a:t>Break text into smaller units. Prepare data for model input.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Freeform 5" id="5"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4"/>
            <a:stretch>
              <a:fillRect l="0" t="0" r="0" b="0"/>
            </a:stretch>
          </a:blipFill>
        </p:spPr>
      </p:sp>
      <p:sp>
        <p:nvSpPr>
          <p:cNvPr name="TextBox 6" id="6"/>
          <p:cNvSpPr txBox="true"/>
          <p:nvPr/>
        </p:nvSpPr>
        <p:spPr>
          <a:xfrm rot="0">
            <a:off x="7660035" y="616149"/>
            <a:ext cx="9825930" cy="1479948"/>
          </a:xfrm>
          <a:prstGeom prst="rect">
            <a:avLst/>
          </a:prstGeom>
        </p:spPr>
        <p:txBody>
          <a:bodyPr anchor="t" rtlCol="false" tIns="0" lIns="0" bIns="0" rIns="0">
            <a:spAutoFit/>
          </a:bodyPr>
          <a:lstStyle/>
          <a:p>
            <a:pPr algn="l">
              <a:lnSpc>
                <a:spcPts val="5625"/>
              </a:lnSpc>
            </a:pPr>
            <a:r>
              <a:rPr lang="en-US" sz="4499">
                <a:solidFill>
                  <a:srgbClr val="97B8FF"/>
                </a:solidFill>
                <a:latin typeface="Arimo"/>
                <a:ea typeface="Arimo"/>
                <a:cs typeface="Arimo"/>
                <a:sym typeface="Arimo"/>
              </a:rPr>
              <a:t>Model Training &amp; Evaluation: Metrics and Challenges</a:t>
            </a:r>
          </a:p>
        </p:txBody>
      </p:sp>
      <p:sp>
        <p:nvSpPr>
          <p:cNvPr name="TextBox 7" id="7"/>
          <p:cNvSpPr txBox="true"/>
          <p:nvPr/>
        </p:nvSpPr>
        <p:spPr>
          <a:xfrm rot="0">
            <a:off x="7660035" y="2630389"/>
            <a:ext cx="4741069" cy="679996"/>
          </a:xfrm>
          <a:prstGeom prst="rect">
            <a:avLst/>
          </a:prstGeom>
        </p:spPr>
        <p:txBody>
          <a:bodyPr anchor="t" rtlCol="false" tIns="0" lIns="0" bIns="0" rIns="0">
            <a:spAutoFit/>
          </a:bodyPr>
          <a:lstStyle/>
          <a:p>
            <a:pPr algn="ctr">
              <a:lnSpc>
                <a:spcPts val="5937"/>
              </a:lnSpc>
            </a:pPr>
            <a:r>
              <a:rPr lang="en-US" sz="5937">
                <a:solidFill>
                  <a:srgbClr val="E0D6DE"/>
                </a:solidFill>
                <a:latin typeface="Arimo"/>
                <a:ea typeface="Arimo"/>
                <a:cs typeface="Arimo"/>
                <a:sym typeface="Arimo"/>
              </a:rPr>
              <a:t>90%</a:t>
            </a:r>
          </a:p>
        </p:txBody>
      </p:sp>
      <p:sp>
        <p:nvSpPr>
          <p:cNvPr name="TextBox 8" id="8"/>
          <p:cNvSpPr txBox="true"/>
          <p:nvPr/>
        </p:nvSpPr>
        <p:spPr>
          <a:xfrm rot="0">
            <a:off x="8598248" y="3568005"/>
            <a:ext cx="2864644" cy="386655"/>
          </a:xfrm>
          <a:prstGeom prst="rect">
            <a:avLst/>
          </a:prstGeom>
        </p:spPr>
        <p:txBody>
          <a:bodyPr anchor="t" rtlCol="false" tIns="0" lIns="0" bIns="0" rIns="0">
            <a:spAutoFit/>
          </a:bodyPr>
          <a:lstStyle/>
          <a:p>
            <a:pPr algn="ctr">
              <a:lnSpc>
                <a:spcPts val="2812"/>
              </a:lnSpc>
            </a:pPr>
            <a:r>
              <a:rPr lang="en-US" sz="2249">
                <a:solidFill>
                  <a:srgbClr val="E0D6DE"/>
                </a:solidFill>
                <a:latin typeface="Arimo"/>
                <a:ea typeface="Arimo"/>
                <a:cs typeface="Arimo"/>
                <a:sym typeface="Arimo"/>
              </a:rPr>
              <a:t>Accuracy</a:t>
            </a:r>
          </a:p>
        </p:txBody>
      </p:sp>
      <p:sp>
        <p:nvSpPr>
          <p:cNvPr name="TextBox 9" id="9"/>
          <p:cNvSpPr txBox="true"/>
          <p:nvPr/>
        </p:nvSpPr>
        <p:spPr>
          <a:xfrm rot="0">
            <a:off x="7660035" y="4025354"/>
            <a:ext cx="4741069" cy="800100"/>
          </a:xfrm>
          <a:prstGeom prst="rect">
            <a:avLst/>
          </a:prstGeom>
        </p:spPr>
        <p:txBody>
          <a:bodyPr anchor="t" rtlCol="false" tIns="0" lIns="0" bIns="0" rIns="0">
            <a:spAutoFit/>
          </a:bodyPr>
          <a:lstStyle/>
          <a:p>
            <a:pPr algn="ctr">
              <a:lnSpc>
                <a:spcPts val="2874"/>
              </a:lnSpc>
            </a:pPr>
            <a:r>
              <a:rPr lang="en-US" sz="1750">
                <a:solidFill>
                  <a:srgbClr val="E0D6DE"/>
                </a:solidFill>
                <a:latin typeface="Noto Sans"/>
                <a:ea typeface="Noto Sans"/>
                <a:cs typeface="Noto Sans"/>
                <a:sym typeface="Noto Sans"/>
              </a:rPr>
              <a:t>Measure of correct predictions. High accuracy is crucial.</a:t>
            </a:r>
          </a:p>
        </p:txBody>
      </p:sp>
      <p:sp>
        <p:nvSpPr>
          <p:cNvPr name="TextBox 10" id="10"/>
          <p:cNvSpPr txBox="true"/>
          <p:nvPr/>
        </p:nvSpPr>
        <p:spPr>
          <a:xfrm rot="0">
            <a:off x="12744747" y="2630389"/>
            <a:ext cx="4741218" cy="679996"/>
          </a:xfrm>
          <a:prstGeom prst="rect">
            <a:avLst/>
          </a:prstGeom>
        </p:spPr>
        <p:txBody>
          <a:bodyPr anchor="t" rtlCol="false" tIns="0" lIns="0" bIns="0" rIns="0">
            <a:spAutoFit/>
          </a:bodyPr>
          <a:lstStyle/>
          <a:p>
            <a:pPr algn="ctr">
              <a:lnSpc>
                <a:spcPts val="5937"/>
              </a:lnSpc>
            </a:pPr>
            <a:r>
              <a:rPr lang="en-US" sz="5937">
                <a:solidFill>
                  <a:srgbClr val="E0D6DE"/>
                </a:solidFill>
                <a:latin typeface="Arimo"/>
                <a:ea typeface="Arimo"/>
                <a:cs typeface="Arimo"/>
                <a:sym typeface="Arimo"/>
              </a:rPr>
              <a:t>0.85</a:t>
            </a:r>
          </a:p>
        </p:txBody>
      </p:sp>
      <p:sp>
        <p:nvSpPr>
          <p:cNvPr name="TextBox 11" id="11"/>
          <p:cNvSpPr txBox="true"/>
          <p:nvPr/>
        </p:nvSpPr>
        <p:spPr>
          <a:xfrm rot="0">
            <a:off x="13682960" y="3568005"/>
            <a:ext cx="2864644" cy="386655"/>
          </a:xfrm>
          <a:prstGeom prst="rect">
            <a:avLst/>
          </a:prstGeom>
        </p:spPr>
        <p:txBody>
          <a:bodyPr anchor="t" rtlCol="false" tIns="0" lIns="0" bIns="0" rIns="0">
            <a:spAutoFit/>
          </a:bodyPr>
          <a:lstStyle/>
          <a:p>
            <a:pPr algn="ctr">
              <a:lnSpc>
                <a:spcPts val="2812"/>
              </a:lnSpc>
            </a:pPr>
            <a:r>
              <a:rPr lang="en-US" sz="2249">
                <a:solidFill>
                  <a:srgbClr val="E0D6DE"/>
                </a:solidFill>
                <a:latin typeface="Arimo"/>
                <a:ea typeface="Arimo"/>
                <a:cs typeface="Arimo"/>
                <a:sym typeface="Arimo"/>
              </a:rPr>
              <a:t>F1 Score</a:t>
            </a:r>
          </a:p>
        </p:txBody>
      </p:sp>
      <p:sp>
        <p:nvSpPr>
          <p:cNvPr name="TextBox 12" id="12"/>
          <p:cNvSpPr txBox="true"/>
          <p:nvPr/>
        </p:nvSpPr>
        <p:spPr>
          <a:xfrm rot="0">
            <a:off x="12744747" y="4025354"/>
            <a:ext cx="4741218" cy="800100"/>
          </a:xfrm>
          <a:prstGeom prst="rect">
            <a:avLst/>
          </a:prstGeom>
        </p:spPr>
        <p:txBody>
          <a:bodyPr anchor="t" rtlCol="false" tIns="0" lIns="0" bIns="0" rIns="0">
            <a:spAutoFit/>
          </a:bodyPr>
          <a:lstStyle/>
          <a:p>
            <a:pPr algn="ctr">
              <a:lnSpc>
                <a:spcPts val="2874"/>
              </a:lnSpc>
            </a:pPr>
            <a:r>
              <a:rPr lang="en-US" sz="1750">
                <a:solidFill>
                  <a:srgbClr val="E0D6DE"/>
                </a:solidFill>
                <a:latin typeface="Noto Sans"/>
                <a:ea typeface="Noto Sans"/>
                <a:cs typeface="Noto Sans"/>
                <a:sym typeface="Noto Sans"/>
              </a:rPr>
              <a:t>Balances precision and recall. Important for imbalanced datasets.</a:t>
            </a:r>
          </a:p>
        </p:txBody>
      </p:sp>
      <p:sp>
        <p:nvSpPr>
          <p:cNvPr name="TextBox 13" id="13"/>
          <p:cNvSpPr txBox="true"/>
          <p:nvPr/>
        </p:nvSpPr>
        <p:spPr>
          <a:xfrm rot="0">
            <a:off x="10202316" y="5703540"/>
            <a:ext cx="4741218" cy="679996"/>
          </a:xfrm>
          <a:prstGeom prst="rect">
            <a:avLst/>
          </a:prstGeom>
        </p:spPr>
        <p:txBody>
          <a:bodyPr anchor="t" rtlCol="false" tIns="0" lIns="0" bIns="0" rIns="0">
            <a:spAutoFit/>
          </a:bodyPr>
          <a:lstStyle/>
          <a:p>
            <a:pPr algn="ctr">
              <a:lnSpc>
                <a:spcPts val="5937"/>
              </a:lnSpc>
            </a:pPr>
            <a:r>
              <a:rPr lang="en-US" sz="5937">
                <a:solidFill>
                  <a:srgbClr val="E0D6DE"/>
                </a:solidFill>
                <a:latin typeface="Arimo"/>
                <a:ea typeface="Arimo"/>
                <a:cs typeface="Arimo"/>
                <a:sym typeface="Arimo"/>
              </a:rPr>
              <a:t>100K+</a:t>
            </a:r>
          </a:p>
        </p:txBody>
      </p:sp>
      <p:sp>
        <p:nvSpPr>
          <p:cNvPr name="TextBox 14" id="14"/>
          <p:cNvSpPr txBox="true"/>
          <p:nvPr/>
        </p:nvSpPr>
        <p:spPr>
          <a:xfrm rot="0">
            <a:off x="11140529" y="6641157"/>
            <a:ext cx="2864644" cy="386655"/>
          </a:xfrm>
          <a:prstGeom prst="rect">
            <a:avLst/>
          </a:prstGeom>
        </p:spPr>
        <p:txBody>
          <a:bodyPr anchor="t" rtlCol="false" tIns="0" lIns="0" bIns="0" rIns="0">
            <a:spAutoFit/>
          </a:bodyPr>
          <a:lstStyle/>
          <a:p>
            <a:pPr algn="ctr">
              <a:lnSpc>
                <a:spcPts val="2812"/>
              </a:lnSpc>
            </a:pPr>
            <a:r>
              <a:rPr lang="en-US" sz="2249">
                <a:solidFill>
                  <a:srgbClr val="E0D6DE"/>
                </a:solidFill>
                <a:latin typeface="Arimo"/>
                <a:ea typeface="Arimo"/>
                <a:cs typeface="Arimo"/>
                <a:sym typeface="Arimo"/>
              </a:rPr>
              <a:t>Dataset Size</a:t>
            </a:r>
          </a:p>
        </p:txBody>
      </p:sp>
      <p:sp>
        <p:nvSpPr>
          <p:cNvPr name="TextBox 15" id="15"/>
          <p:cNvSpPr txBox="true"/>
          <p:nvPr/>
        </p:nvSpPr>
        <p:spPr>
          <a:xfrm rot="0">
            <a:off x="10202316" y="7098506"/>
            <a:ext cx="4741218" cy="1166813"/>
          </a:xfrm>
          <a:prstGeom prst="rect">
            <a:avLst/>
          </a:prstGeom>
        </p:spPr>
        <p:txBody>
          <a:bodyPr anchor="t" rtlCol="false" tIns="0" lIns="0" bIns="0" rIns="0">
            <a:spAutoFit/>
          </a:bodyPr>
          <a:lstStyle/>
          <a:p>
            <a:pPr algn="ctr">
              <a:lnSpc>
                <a:spcPts val="2874"/>
              </a:lnSpc>
            </a:pPr>
            <a:r>
              <a:rPr lang="en-US" sz="1750">
                <a:solidFill>
                  <a:srgbClr val="E0D6DE"/>
                </a:solidFill>
                <a:latin typeface="Noto Sans"/>
                <a:ea typeface="Noto Sans"/>
                <a:cs typeface="Noto Sans"/>
                <a:sym typeface="Noto Sans"/>
              </a:rPr>
              <a:t>Larger datasets improve model generalization. More data leads to better performance.</a:t>
            </a:r>
          </a:p>
        </p:txBody>
      </p:sp>
      <p:sp>
        <p:nvSpPr>
          <p:cNvPr name="TextBox 16" id="16"/>
          <p:cNvSpPr txBox="true"/>
          <p:nvPr/>
        </p:nvSpPr>
        <p:spPr>
          <a:xfrm rot="0">
            <a:off x="7660035" y="8456414"/>
            <a:ext cx="9825930" cy="1166813"/>
          </a:xfrm>
          <a:prstGeom prst="rect">
            <a:avLst/>
          </a:prstGeom>
        </p:spPr>
        <p:txBody>
          <a:bodyPr anchor="t" rtlCol="false" tIns="0" lIns="0" bIns="0" rIns="0">
            <a:spAutoFit/>
          </a:bodyPr>
          <a:lstStyle/>
          <a:p>
            <a:pPr algn="l">
              <a:lnSpc>
                <a:spcPts val="2874"/>
              </a:lnSpc>
            </a:pPr>
            <a:r>
              <a:rPr lang="en-US" sz="1750">
                <a:solidFill>
                  <a:srgbClr val="E0D6DE"/>
                </a:solidFill>
                <a:latin typeface="Noto Sans"/>
                <a:ea typeface="Noto Sans"/>
                <a:cs typeface="Noto Sans"/>
                <a:sym typeface="Noto Sans"/>
              </a:rPr>
              <a:t>Training involves feeding preprocessed data to the models. We use metrics like accuracy and F1 score for evaluation. Challenges include data imbalance and evolving language. Bias in data can lead to skewed results.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Freeform 5" id="5" descr="preencoded.png"/>
          <p:cNvSpPr/>
          <p:nvPr/>
        </p:nvSpPr>
        <p:spPr>
          <a:xfrm flipH="false" flipV="false" rot="0">
            <a:off x="0" y="0"/>
            <a:ext cx="18288000" cy="3393281"/>
          </a:xfrm>
          <a:custGeom>
            <a:avLst/>
            <a:gdLst/>
            <a:ahLst/>
            <a:cxnLst/>
            <a:rect r="r" b="b" t="t" l="l"/>
            <a:pathLst>
              <a:path h="3393281" w="18288000">
                <a:moveTo>
                  <a:pt x="0" y="0"/>
                </a:moveTo>
                <a:lnTo>
                  <a:pt x="18288000" y="0"/>
                </a:lnTo>
                <a:lnTo>
                  <a:pt x="18288000" y="3393281"/>
                </a:lnTo>
                <a:lnTo>
                  <a:pt x="0" y="3393281"/>
                </a:lnTo>
                <a:lnTo>
                  <a:pt x="0" y="0"/>
                </a:lnTo>
                <a:close/>
              </a:path>
            </a:pathLst>
          </a:custGeom>
          <a:blipFill>
            <a:blip r:embed="rId4"/>
            <a:stretch>
              <a:fillRect l="-35" t="0" r="-35" b="0"/>
            </a:stretch>
          </a:blipFill>
        </p:spPr>
      </p:sp>
      <p:sp>
        <p:nvSpPr>
          <p:cNvPr name="TextBox 6" id="6"/>
          <p:cNvSpPr txBox="true"/>
          <p:nvPr/>
        </p:nvSpPr>
        <p:spPr>
          <a:xfrm rot="0">
            <a:off x="950119" y="4307086"/>
            <a:ext cx="16387762" cy="1744266"/>
          </a:xfrm>
          <a:prstGeom prst="rect">
            <a:avLst/>
          </a:prstGeom>
        </p:spPr>
        <p:txBody>
          <a:bodyPr anchor="t" rtlCol="false" tIns="0" lIns="0" bIns="0" rIns="0">
            <a:spAutoFit/>
          </a:bodyPr>
          <a:lstStyle/>
          <a:p>
            <a:pPr algn="l">
              <a:lnSpc>
                <a:spcPts val="6625"/>
              </a:lnSpc>
            </a:pPr>
            <a:r>
              <a:rPr lang="en-US" sz="5312">
                <a:solidFill>
                  <a:srgbClr val="97B8FF"/>
                </a:solidFill>
                <a:latin typeface="Arimo"/>
                <a:ea typeface="Arimo"/>
                <a:cs typeface="Arimo"/>
                <a:sym typeface="Arimo"/>
              </a:rPr>
              <a:t>Case Study 1: Predicting Depression Risk Using Twitter Data</a:t>
            </a:r>
          </a:p>
        </p:txBody>
      </p:sp>
      <p:grpSp>
        <p:nvGrpSpPr>
          <p:cNvPr name="Group 7" id="7"/>
          <p:cNvGrpSpPr/>
          <p:nvPr/>
        </p:nvGrpSpPr>
        <p:grpSpPr>
          <a:xfrm rot="0">
            <a:off x="950119" y="6458545"/>
            <a:ext cx="5281612" cy="2867025"/>
            <a:chOff x="0" y="0"/>
            <a:chExt cx="7042150" cy="3822700"/>
          </a:xfrm>
        </p:grpSpPr>
        <p:sp>
          <p:nvSpPr>
            <p:cNvPr name="Freeform 8" id="8"/>
            <p:cNvSpPr/>
            <p:nvPr/>
          </p:nvSpPr>
          <p:spPr>
            <a:xfrm flipH="false" flipV="false" rot="0">
              <a:off x="0" y="0"/>
              <a:ext cx="7042150" cy="3822700"/>
            </a:xfrm>
            <a:custGeom>
              <a:avLst/>
              <a:gdLst/>
              <a:ahLst/>
              <a:cxnLst/>
              <a:rect r="r" b="b" t="t" l="l"/>
              <a:pathLst>
                <a:path h="3822700" w="7042150">
                  <a:moveTo>
                    <a:pt x="0" y="54229"/>
                  </a:moveTo>
                  <a:cubicBezTo>
                    <a:pt x="0" y="24257"/>
                    <a:pt x="24257" y="0"/>
                    <a:pt x="54229" y="0"/>
                  </a:cubicBezTo>
                  <a:lnTo>
                    <a:pt x="6987921" y="0"/>
                  </a:lnTo>
                  <a:cubicBezTo>
                    <a:pt x="7017893" y="0"/>
                    <a:pt x="7042150" y="24257"/>
                    <a:pt x="7042150" y="54229"/>
                  </a:cubicBezTo>
                  <a:lnTo>
                    <a:pt x="7042150" y="3768471"/>
                  </a:lnTo>
                  <a:cubicBezTo>
                    <a:pt x="7042150" y="3798443"/>
                    <a:pt x="7017893" y="3822700"/>
                    <a:pt x="6987921" y="3822700"/>
                  </a:cubicBezTo>
                  <a:lnTo>
                    <a:pt x="54229" y="3822700"/>
                  </a:lnTo>
                  <a:cubicBezTo>
                    <a:pt x="24257" y="3822700"/>
                    <a:pt x="0" y="3798443"/>
                    <a:pt x="0" y="3768471"/>
                  </a:cubicBezTo>
                  <a:close/>
                </a:path>
              </a:pathLst>
            </a:custGeom>
            <a:solidFill>
              <a:srgbClr val="26262B"/>
            </a:solidFill>
          </p:spPr>
        </p:sp>
      </p:grpSp>
      <p:sp>
        <p:nvSpPr>
          <p:cNvPr name="TextBox 9" id="9"/>
          <p:cNvSpPr txBox="true"/>
          <p:nvPr/>
        </p:nvSpPr>
        <p:spPr>
          <a:xfrm rot="0">
            <a:off x="1221581" y="6691907"/>
            <a:ext cx="3393281" cy="462260"/>
          </a:xfrm>
          <a:prstGeom prst="rect">
            <a:avLst/>
          </a:prstGeom>
        </p:spPr>
        <p:txBody>
          <a:bodyPr anchor="t" rtlCol="false" tIns="0" lIns="0" bIns="0" rIns="0">
            <a:spAutoFit/>
          </a:bodyPr>
          <a:lstStyle/>
          <a:p>
            <a:pPr algn="l">
              <a:lnSpc>
                <a:spcPts val="3312"/>
              </a:lnSpc>
            </a:pPr>
            <a:r>
              <a:rPr lang="en-US" sz="2625">
                <a:solidFill>
                  <a:srgbClr val="E0D6DE"/>
                </a:solidFill>
                <a:latin typeface="Arimo"/>
                <a:ea typeface="Arimo"/>
                <a:cs typeface="Arimo"/>
                <a:sym typeface="Arimo"/>
              </a:rPr>
              <a:t>Methodology</a:t>
            </a:r>
          </a:p>
        </p:txBody>
      </p:sp>
      <p:sp>
        <p:nvSpPr>
          <p:cNvPr name="TextBox 10" id="10"/>
          <p:cNvSpPr txBox="true"/>
          <p:nvPr/>
        </p:nvSpPr>
        <p:spPr>
          <a:xfrm rot="0">
            <a:off x="1221581" y="7240786"/>
            <a:ext cx="4738688" cy="1813322"/>
          </a:xfrm>
          <a:prstGeom prst="rect">
            <a:avLst/>
          </a:prstGeom>
        </p:spPr>
        <p:txBody>
          <a:bodyPr anchor="t" rtlCol="false" tIns="0" lIns="0" bIns="0" rIns="0">
            <a:spAutoFit/>
          </a:bodyPr>
          <a:lstStyle/>
          <a:p>
            <a:pPr algn="l">
              <a:lnSpc>
                <a:spcPts val="3374"/>
              </a:lnSpc>
            </a:pPr>
            <a:r>
              <a:rPr lang="en-US" sz="2125">
                <a:solidFill>
                  <a:srgbClr val="E0D6DE"/>
                </a:solidFill>
                <a:latin typeface="Noto Sans"/>
                <a:ea typeface="Noto Sans"/>
                <a:cs typeface="Noto Sans"/>
                <a:sym typeface="Noto Sans"/>
              </a:rPr>
              <a:t>Collected anonymized tweets. Used NLP to extract linguistic features. Trained an ANN model to identify depression indicators.</a:t>
            </a:r>
          </a:p>
        </p:txBody>
      </p:sp>
      <p:grpSp>
        <p:nvGrpSpPr>
          <p:cNvPr name="Group 11" id="11"/>
          <p:cNvGrpSpPr/>
          <p:nvPr/>
        </p:nvGrpSpPr>
        <p:grpSpPr>
          <a:xfrm rot="0">
            <a:off x="6503194" y="6458545"/>
            <a:ext cx="5281612" cy="2867025"/>
            <a:chOff x="0" y="0"/>
            <a:chExt cx="7042150" cy="3822700"/>
          </a:xfrm>
        </p:grpSpPr>
        <p:sp>
          <p:nvSpPr>
            <p:cNvPr name="Freeform 12" id="12"/>
            <p:cNvSpPr/>
            <p:nvPr/>
          </p:nvSpPr>
          <p:spPr>
            <a:xfrm flipH="false" flipV="false" rot="0">
              <a:off x="0" y="0"/>
              <a:ext cx="7042150" cy="3822700"/>
            </a:xfrm>
            <a:custGeom>
              <a:avLst/>
              <a:gdLst/>
              <a:ahLst/>
              <a:cxnLst/>
              <a:rect r="r" b="b" t="t" l="l"/>
              <a:pathLst>
                <a:path h="3822700" w="7042150">
                  <a:moveTo>
                    <a:pt x="0" y="54229"/>
                  </a:moveTo>
                  <a:cubicBezTo>
                    <a:pt x="0" y="24257"/>
                    <a:pt x="24257" y="0"/>
                    <a:pt x="54229" y="0"/>
                  </a:cubicBezTo>
                  <a:lnTo>
                    <a:pt x="6987921" y="0"/>
                  </a:lnTo>
                  <a:cubicBezTo>
                    <a:pt x="7017893" y="0"/>
                    <a:pt x="7042150" y="24257"/>
                    <a:pt x="7042150" y="54229"/>
                  </a:cubicBezTo>
                  <a:lnTo>
                    <a:pt x="7042150" y="3768471"/>
                  </a:lnTo>
                  <a:cubicBezTo>
                    <a:pt x="7042150" y="3798443"/>
                    <a:pt x="7017893" y="3822700"/>
                    <a:pt x="6987921" y="3822700"/>
                  </a:cubicBezTo>
                  <a:lnTo>
                    <a:pt x="54229" y="3822700"/>
                  </a:lnTo>
                  <a:cubicBezTo>
                    <a:pt x="24257" y="3822700"/>
                    <a:pt x="0" y="3798443"/>
                    <a:pt x="0" y="3768471"/>
                  </a:cubicBezTo>
                  <a:close/>
                </a:path>
              </a:pathLst>
            </a:custGeom>
            <a:solidFill>
              <a:srgbClr val="26262B"/>
            </a:solidFill>
          </p:spPr>
        </p:sp>
      </p:grpSp>
      <p:sp>
        <p:nvSpPr>
          <p:cNvPr name="TextBox 13" id="13"/>
          <p:cNvSpPr txBox="true"/>
          <p:nvPr/>
        </p:nvSpPr>
        <p:spPr>
          <a:xfrm rot="0">
            <a:off x="6774656" y="6691907"/>
            <a:ext cx="3393281" cy="462260"/>
          </a:xfrm>
          <a:prstGeom prst="rect">
            <a:avLst/>
          </a:prstGeom>
        </p:spPr>
        <p:txBody>
          <a:bodyPr anchor="t" rtlCol="false" tIns="0" lIns="0" bIns="0" rIns="0">
            <a:spAutoFit/>
          </a:bodyPr>
          <a:lstStyle/>
          <a:p>
            <a:pPr algn="l">
              <a:lnSpc>
                <a:spcPts val="3312"/>
              </a:lnSpc>
            </a:pPr>
            <a:r>
              <a:rPr lang="en-US" sz="2625">
                <a:solidFill>
                  <a:srgbClr val="E0D6DE"/>
                </a:solidFill>
                <a:latin typeface="Arimo"/>
                <a:ea typeface="Arimo"/>
                <a:cs typeface="Arimo"/>
                <a:sym typeface="Arimo"/>
              </a:rPr>
              <a:t>Key Findings</a:t>
            </a:r>
          </a:p>
        </p:txBody>
      </p:sp>
      <p:sp>
        <p:nvSpPr>
          <p:cNvPr name="TextBox 14" id="14"/>
          <p:cNvSpPr txBox="true"/>
          <p:nvPr/>
        </p:nvSpPr>
        <p:spPr>
          <a:xfrm rot="0">
            <a:off x="6774656" y="7240786"/>
            <a:ext cx="4738687" cy="1813322"/>
          </a:xfrm>
          <a:prstGeom prst="rect">
            <a:avLst/>
          </a:prstGeom>
        </p:spPr>
        <p:txBody>
          <a:bodyPr anchor="t" rtlCol="false" tIns="0" lIns="0" bIns="0" rIns="0">
            <a:spAutoFit/>
          </a:bodyPr>
          <a:lstStyle/>
          <a:p>
            <a:pPr algn="l">
              <a:lnSpc>
                <a:spcPts val="3374"/>
              </a:lnSpc>
            </a:pPr>
            <a:r>
              <a:rPr lang="en-US" sz="2125">
                <a:solidFill>
                  <a:srgbClr val="E0D6DE"/>
                </a:solidFill>
                <a:latin typeface="Noto Sans"/>
                <a:ea typeface="Noto Sans"/>
                <a:cs typeface="Noto Sans"/>
                <a:sym typeface="Noto Sans"/>
              </a:rPr>
              <a:t>Identified specific linguistic patterns. Increased use of negative sentiment words. Higher prevalence of self-referential language.</a:t>
            </a:r>
          </a:p>
        </p:txBody>
      </p:sp>
      <p:grpSp>
        <p:nvGrpSpPr>
          <p:cNvPr name="Group 15" id="15"/>
          <p:cNvGrpSpPr/>
          <p:nvPr/>
        </p:nvGrpSpPr>
        <p:grpSpPr>
          <a:xfrm rot="0">
            <a:off x="12056269" y="6458545"/>
            <a:ext cx="5281612" cy="2867025"/>
            <a:chOff x="0" y="0"/>
            <a:chExt cx="7042150" cy="3822700"/>
          </a:xfrm>
        </p:grpSpPr>
        <p:sp>
          <p:nvSpPr>
            <p:cNvPr name="Freeform 16" id="16"/>
            <p:cNvSpPr/>
            <p:nvPr/>
          </p:nvSpPr>
          <p:spPr>
            <a:xfrm flipH="false" flipV="false" rot="0">
              <a:off x="0" y="0"/>
              <a:ext cx="7042150" cy="3822700"/>
            </a:xfrm>
            <a:custGeom>
              <a:avLst/>
              <a:gdLst/>
              <a:ahLst/>
              <a:cxnLst/>
              <a:rect r="r" b="b" t="t" l="l"/>
              <a:pathLst>
                <a:path h="3822700" w="7042150">
                  <a:moveTo>
                    <a:pt x="0" y="54229"/>
                  </a:moveTo>
                  <a:cubicBezTo>
                    <a:pt x="0" y="24257"/>
                    <a:pt x="24257" y="0"/>
                    <a:pt x="54229" y="0"/>
                  </a:cubicBezTo>
                  <a:lnTo>
                    <a:pt x="6987921" y="0"/>
                  </a:lnTo>
                  <a:cubicBezTo>
                    <a:pt x="7017893" y="0"/>
                    <a:pt x="7042150" y="24257"/>
                    <a:pt x="7042150" y="54229"/>
                  </a:cubicBezTo>
                  <a:lnTo>
                    <a:pt x="7042150" y="3768471"/>
                  </a:lnTo>
                  <a:cubicBezTo>
                    <a:pt x="7042150" y="3798443"/>
                    <a:pt x="7017893" y="3822700"/>
                    <a:pt x="6987921" y="3822700"/>
                  </a:cubicBezTo>
                  <a:lnTo>
                    <a:pt x="54229" y="3822700"/>
                  </a:lnTo>
                  <a:cubicBezTo>
                    <a:pt x="24257" y="3822700"/>
                    <a:pt x="0" y="3798443"/>
                    <a:pt x="0" y="3768471"/>
                  </a:cubicBezTo>
                  <a:close/>
                </a:path>
              </a:pathLst>
            </a:custGeom>
            <a:solidFill>
              <a:srgbClr val="26262B"/>
            </a:solidFill>
          </p:spPr>
        </p:sp>
      </p:grpSp>
      <p:sp>
        <p:nvSpPr>
          <p:cNvPr name="TextBox 17" id="17"/>
          <p:cNvSpPr txBox="true"/>
          <p:nvPr/>
        </p:nvSpPr>
        <p:spPr>
          <a:xfrm rot="0">
            <a:off x="12327731" y="6691907"/>
            <a:ext cx="3393281" cy="462260"/>
          </a:xfrm>
          <a:prstGeom prst="rect">
            <a:avLst/>
          </a:prstGeom>
        </p:spPr>
        <p:txBody>
          <a:bodyPr anchor="t" rtlCol="false" tIns="0" lIns="0" bIns="0" rIns="0">
            <a:spAutoFit/>
          </a:bodyPr>
          <a:lstStyle/>
          <a:p>
            <a:pPr algn="l">
              <a:lnSpc>
                <a:spcPts val="3312"/>
              </a:lnSpc>
            </a:pPr>
            <a:r>
              <a:rPr lang="en-US" sz="2625">
                <a:solidFill>
                  <a:srgbClr val="E0D6DE"/>
                </a:solidFill>
                <a:latin typeface="Arimo"/>
                <a:ea typeface="Arimo"/>
                <a:cs typeface="Arimo"/>
                <a:sym typeface="Arimo"/>
              </a:rPr>
              <a:t>Impact</a:t>
            </a:r>
          </a:p>
        </p:txBody>
      </p:sp>
      <p:sp>
        <p:nvSpPr>
          <p:cNvPr name="TextBox 18" id="18"/>
          <p:cNvSpPr txBox="true"/>
          <p:nvPr/>
        </p:nvSpPr>
        <p:spPr>
          <a:xfrm rot="0">
            <a:off x="12327731" y="7240786"/>
            <a:ext cx="4738688" cy="1813322"/>
          </a:xfrm>
          <a:prstGeom prst="rect">
            <a:avLst/>
          </a:prstGeom>
        </p:spPr>
        <p:txBody>
          <a:bodyPr anchor="t" rtlCol="false" tIns="0" lIns="0" bIns="0" rIns="0">
            <a:spAutoFit/>
          </a:bodyPr>
          <a:lstStyle/>
          <a:p>
            <a:pPr algn="l">
              <a:lnSpc>
                <a:spcPts val="3374"/>
              </a:lnSpc>
            </a:pPr>
            <a:r>
              <a:rPr lang="en-US" sz="2125">
                <a:solidFill>
                  <a:srgbClr val="E0D6DE"/>
                </a:solidFill>
                <a:latin typeface="Noto Sans"/>
                <a:ea typeface="Noto Sans"/>
                <a:cs typeface="Noto Sans"/>
                <a:sym typeface="Noto Sans"/>
              </a:rPr>
              <a:t>Demonstrated feasibility of early detection. Potential for proactive support systems. Provided valuable insights into language use.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5" id="5"/>
          <p:cNvSpPr txBox="true"/>
          <p:nvPr/>
        </p:nvSpPr>
        <p:spPr>
          <a:xfrm rot="0">
            <a:off x="992238" y="1063675"/>
            <a:ext cx="16303526" cy="182909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Ethical Considerations &amp; Privacy Concerns in Mental Health AI</a:t>
            </a:r>
          </a:p>
        </p:txBody>
      </p:sp>
      <p:sp>
        <p:nvSpPr>
          <p:cNvPr name="TextBox 6" id="6"/>
          <p:cNvSpPr txBox="true"/>
          <p:nvPr/>
        </p:nvSpPr>
        <p:spPr>
          <a:xfrm rot="0">
            <a:off x="2746772" y="3754934"/>
            <a:ext cx="3544044" cy="481012"/>
          </a:xfrm>
          <a:prstGeom prst="rect">
            <a:avLst/>
          </a:prstGeom>
        </p:spPr>
        <p:txBody>
          <a:bodyPr anchor="t" rtlCol="false" tIns="0" lIns="0" bIns="0" rIns="0">
            <a:spAutoFit/>
          </a:bodyPr>
          <a:lstStyle/>
          <a:p>
            <a:pPr algn="r">
              <a:lnSpc>
                <a:spcPts val="3437"/>
              </a:lnSpc>
            </a:pPr>
            <a:r>
              <a:rPr lang="en-US" sz="2750">
                <a:solidFill>
                  <a:srgbClr val="E0D6DE"/>
                </a:solidFill>
                <a:latin typeface="Arimo"/>
                <a:ea typeface="Arimo"/>
                <a:cs typeface="Arimo"/>
                <a:sym typeface="Arimo"/>
              </a:rPr>
              <a:t>Privacy</a:t>
            </a:r>
          </a:p>
        </p:txBody>
      </p:sp>
      <p:sp>
        <p:nvSpPr>
          <p:cNvPr name="TextBox 7" id="7"/>
          <p:cNvSpPr txBox="true"/>
          <p:nvPr/>
        </p:nvSpPr>
        <p:spPr>
          <a:xfrm rot="0">
            <a:off x="992238" y="4320331"/>
            <a:ext cx="5298579" cy="1446610"/>
          </a:xfrm>
          <a:prstGeom prst="rect">
            <a:avLst/>
          </a:prstGeom>
        </p:spPr>
        <p:txBody>
          <a:bodyPr anchor="t" rtlCol="false" tIns="0" lIns="0" bIns="0" rIns="0">
            <a:spAutoFit/>
          </a:bodyPr>
          <a:lstStyle/>
          <a:p>
            <a:pPr algn="r">
              <a:lnSpc>
                <a:spcPts val="3562"/>
              </a:lnSpc>
            </a:pPr>
            <a:r>
              <a:rPr lang="en-US" sz="2187">
                <a:solidFill>
                  <a:srgbClr val="E0D6DE"/>
                </a:solidFill>
                <a:latin typeface="Noto Sans"/>
                <a:ea typeface="Noto Sans"/>
                <a:cs typeface="Noto Sans"/>
                <a:sym typeface="Noto Sans"/>
              </a:rPr>
              <a:t>Protecting user data is paramount. Anonymization techniques are essential.</a:t>
            </a:r>
          </a:p>
        </p:txBody>
      </p:sp>
      <p:sp>
        <p:nvSpPr>
          <p:cNvPr name="Freeform 8" id="8" descr="preencoded.png"/>
          <p:cNvSpPr/>
          <p:nvPr/>
        </p:nvSpPr>
        <p:spPr>
          <a:xfrm flipH="false" flipV="false" rot="0">
            <a:off x="6290816" y="3459807"/>
            <a:ext cx="5706219" cy="5706219"/>
          </a:xfrm>
          <a:custGeom>
            <a:avLst/>
            <a:gdLst/>
            <a:ahLst/>
            <a:cxnLst/>
            <a:rect r="r" b="b" t="t" l="l"/>
            <a:pathLst>
              <a:path h="5706219" w="5706219">
                <a:moveTo>
                  <a:pt x="0" y="0"/>
                </a:moveTo>
                <a:lnTo>
                  <a:pt x="5706219" y="0"/>
                </a:lnTo>
                <a:lnTo>
                  <a:pt x="5706219" y="5706219"/>
                </a:lnTo>
                <a:lnTo>
                  <a:pt x="0" y="5706219"/>
                </a:lnTo>
                <a:lnTo>
                  <a:pt x="0" y="0"/>
                </a:lnTo>
                <a:close/>
              </a:path>
            </a:pathLst>
          </a:custGeom>
          <a:blipFill>
            <a:blip r:embed="rId4"/>
            <a:stretch>
              <a:fillRect l="0" t="0" r="0" b="0"/>
            </a:stretch>
          </a:blipFill>
        </p:spPr>
      </p:sp>
      <p:sp>
        <p:nvSpPr>
          <p:cNvPr name="Freeform 9" id="9" descr="preencoded.png"/>
          <p:cNvSpPr/>
          <p:nvPr/>
        </p:nvSpPr>
        <p:spPr>
          <a:xfrm flipH="false" flipV="false" rot="0">
            <a:off x="7905452" y="5024735"/>
            <a:ext cx="398710" cy="498276"/>
          </a:xfrm>
          <a:custGeom>
            <a:avLst/>
            <a:gdLst/>
            <a:ahLst/>
            <a:cxnLst/>
            <a:rect r="r" b="b" t="t" l="l"/>
            <a:pathLst>
              <a:path h="498276" w="398710">
                <a:moveTo>
                  <a:pt x="0" y="0"/>
                </a:moveTo>
                <a:lnTo>
                  <a:pt x="398710" y="0"/>
                </a:lnTo>
                <a:lnTo>
                  <a:pt x="398710" y="498276"/>
                </a:lnTo>
                <a:lnTo>
                  <a:pt x="0" y="498276"/>
                </a:lnTo>
                <a:lnTo>
                  <a:pt x="0" y="0"/>
                </a:lnTo>
                <a:close/>
              </a:path>
            </a:pathLst>
          </a:custGeom>
          <a:blipFill>
            <a:blip r:embed="rId5"/>
            <a:stretch>
              <a:fillRect l="-469" t="0" r="-469" b="0"/>
            </a:stretch>
          </a:blipFill>
        </p:spPr>
      </p:sp>
      <p:sp>
        <p:nvSpPr>
          <p:cNvPr name="TextBox 10" id="10"/>
          <p:cNvSpPr txBox="true"/>
          <p:nvPr/>
        </p:nvSpPr>
        <p:spPr>
          <a:xfrm rot="0">
            <a:off x="11997035" y="3754934"/>
            <a:ext cx="3544044"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Bias</a:t>
            </a:r>
          </a:p>
        </p:txBody>
      </p:sp>
      <p:sp>
        <p:nvSpPr>
          <p:cNvPr name="TextBox 11" id="11"/>
          <p:cNvSpPr txBox="true"/>
          <p:nvPr/>
        </p:nvSpPr>
        <p:spPr>
          <a:xfrm rot="0">
            <a:off x="11997035" y="4320331"/>
            <a:ext cx="5298727" cy="1446610"/>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Models can perpetuate societal biases. Fair and equitable algorithms are critical.</a:t>
            </a:r>
          </a:p>
        </p:txBody>
      </p:sp>
      <p:sp>
        <p:nvSpPr>
          <p:cNvPr name="Freeform 12" id="12" descr="preencoded.png"/>
          <p:cNvSpPr/>
          <p:nvPr/>
        </p:nvSpPr>
        <p:spPr>
          <a:xfrm flipH="false" flipV="false" rot="0">
            <a:off x="6290816" y="3459807"/>
            <a:ext cx="5706219" cy="5706219"/>
          </a:xfrm>
          <a:custGeom>
            <a:avLst/>
            <a:gdLst/>
            <a:ahLst/>
            <a:cxnLst/>
            <a:rect r="r" b="b" t="t" l="l"/>
            <a:pathLst>
              <a:path h="5706219" w="5706219">
                <a:moveTo>
                  <a:pt x="0" y="0"/>
                </a:moveTo>
                <a:lnTo>
                  <a:pt x="5706219" y="0"/>
                </a:lnTo>
                <a:lnTo>
                  <a:pt x="5706219" y="5706219"/>
                </a:lnTo>
                <a:lnTo>
                  <a:pt x="0" y="5706219"/>
                </a:lnTo>
                <a:lnTo>
                  <a:pt x="0" y="0"/>
                </a:lnTo>
                <a:close/>
              </a:path>
            </a:pathLst>
          </a:custGeom>
          <a:blipFill>
            <a:blip r:embed="rId6"/>
            <a:stretch>
              <a:fillRect l="0" t="0" r="0" b="0"/>
            </a:stretch>
          </a:blipFill>
        </p:spPr>
      </p:sp>
      <p:sp>
        <p:nvSpPr>
          <p:cNvPr name="Freeform 13" id="13" descr="preencoded.png"/>
          <p:cNvSpPr/>
          <p:nvPr/>
        </p:nvSpPr>
        <p:spPr>
          <a:xfrm flipH="false" flipV="false" rot="0">
            <a:off x="9983391" y="5024735"/>
            <a:ext cx="398710" cy="498276"/>
          </a:xfrm>
          <a:custGeom>
            <a:avLst/>
            <a:gdLst/>
            <a:ahLst/>
            <a:cxnLst/>
            <a:rect r="r" b="b" t="t" l="l"/>
            <a:pathLst>
              <a:path h="498276" w="398710">
                <a:moveTo>
                  <a:pt x="0" y="0"/>
                </a:moveTo>
                <a:lnTo>
                  <a:pt x="398710" y="0"/>
                </a:lnTo>
                <a:lnTo>
                  <a:pt x="398710" y="498276"/>
                </a:lnTo>
                <a:lnTo>
                  <a:pt x="0" y="498276"/>
                </a:lnTo>
                <a:lnTo>
                  <a:pt x="0" y="0"/>
                </a:lnTo>
                <a:close/>
              </a:path>
            </a:pathLst>
          </a:custGeom>
          <a:blipFill>
            <a:blip r:embed="rId7"/>
            <a:stretch>
              <a:fillRect l="-469" t="0" r="-469" b="0"/>
            </a:stretch>
          </a:blipFill>
        </p:spPr>
      </p:sp>
      <p:sp>
        <p:nvSpPr>
          <p:cNvPr name="TextBox 14" id="14"/>
          <p:cNvSpPr txBox="true"/>
          <p:nvPr/>
        </p:nvSpPr>
        <p:spPr>
          <a:xfrm rot="0">
            <a:off x="11997035" y="6820644"/>
            <a:ext cx="3544044"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Misdiagnosis</a:t>
            </a:r>
          </a:p>
        </p:txBody>
      </p:sp>
      <p:sp>
        <p:nvSpPr>
          <p:cNvPr name="TextBox 15" id="15"/>
          <p:cNvSpPr txBox="true"/>
          <p:nvPr/>
        </p:nvSpPr>
        <p:spPr>
          <a:xfrm rot="0">
            <a:off x="11997035" y="7386042"/>
            <a:ext cx="5298727" cy="1446610"/>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AI is a tool, not a diagnostic replacement. Human oversight is always necessary.</a:t>
            </a:r>
          </a:p>
        </p:txBody>
      </p:sp>
      <p:sp>
        <p:nvSpPr>
          <p:cNvPr name="Freeform 16" id="16" descr="preencoded.png"/>
          <p:cNvSpPr/>
          <p:nvPr/>
        </p:nvSpPr>
        <p:spPr>
          <a:xfrm flipH="false" flipV="false" rot="0">
            <a:off x="6290816" y="3459807"/>
            <a:ext cx="5706219" cy="5706219"/>
          </a:xfrm>
          <a:custGeom>
            <a:avLst/>
            <a:gdLst/>
            <a:ahLst/>
            <a:cxnLst/>
            <a:rect r="r" b="b" t="t" l="l"/>
            <a:pathLst>
              <a:path h="5706219" w="5706219">
                <a:moveTo>
                  <a:pt x="0" y="0"/>
                </a:moveTo>
                <a:lnTo>
                  <a:pt x="5706219" y="0"/>
                </a:lnTo>
                <a:lnTo>
                  <a:pt x="5706219" y="5706219"/>
                </a:lnTo>
                <a:lnTo>
                  <a:pt x="0" y="5706219"/>
                </a:lnTo>
                <a:lnTo>
                  <a:pt x="0" y="0"/>
                </a:lnTo>
                <a:close/>
              </a:path>
            </a:pathLst>
          </a:custGeom>
          <a:blipFill>
            <a:blip r:embed="rId8"/>
            <a:stretch>
              <a:fillRect l="0" t="0" r="0" b="0"/>
            </a:stretch>
          </a:blipFill>
        </p:spPr>
      </p:sp>
      <p:sp>
        <p:nvSpPr>
          <p:cNvPr name="Freeform 17" id="17" descr="preencoded.png"/>
          <p:cNvSpPr/>
          <p:nvPr/>
        </p:nvSpPr>
        <p:spPr>
          <a:xfrm flipH="false" flipV="false" rot="0">
            <a:off x="9983391" y="7102674"/>
            <a:ext cx="398710" cy="498276"/>
          </a:xfrm>
          <a:custGeom>
            <a:avLst/>
            <a:gdLst/>
            <a:ahLst/>
            <a:cxnLst/>
            <a:rect r="r" b="b" t="t" l="l"/>
            <a:pathLst>
              <a:path h="498276" w="398710">
                <a:moveTo>
                  <a:pt x="0" y="0"/>
                </a:moveTo>
                <a:lnTo>
                  <a:pt x="398710" y="0"/>
                </a:lnTo>
                <a:lnTo>
                  <a:pt x="398710" y="498276"/>
                </a:lnTo>
                <a:lnTo>
                  <a:pt x="0" y="498276"/>
                </a:lnTo>
                <a:lnTo>
                  <a:pt x="0" y="0"/>
                </a:lnTo>
                <a:close/>
              </a:path>
            </a:pathLst>
          </a:custGeom>
          <a:blipFill>
            <a:blip r:embed="rId9"/>
            <a:stretch>
              <a:fillRect l="-469" t="0" r="-469" b="0"/>
            </a:stretch>
          </a:blipFill>
        </p:spPr>
      </p:sp>
      <p:sp>
        <p:nvSpPr>
          <p:cNvPr name="TextBox 18" id="18"/>
          <p:cNvSpPr txBox="true"/>
          <p:nvPr/>
        </p:nvSpPr>
        <p:spPr>
          <a:xfrm rot="0">
            <a:off x="2746772" y="6820644"/>
            <a:ext cx="3544044" cy="481012"/>
          </a:xfrm>
          <a:prstGeom prst="rect">
            <a:avLst/>
          </a:prstGeom>
        </p:spPr>
        <p:txBody>
          <a:bodyPr anchor="t" rtlCol="false" tIns="0" lIns="0" bIns="0" rIns="0">
            <a:spAutoFit/>
          </a:bodyPr>
          <a:lstStyle/>
          <a:p>
            <a:pPr algn="r">
              <a:lnSpc>
                <a:spcPts val="3437"/>
              </a:lnSpc>
            </a:pPr>
            <a:r>
              <a:rPr lang="en-US" sz="2750">
                <a:solidFill>
                  <a:srgbClr val="E0D6DE"/>
                </a:solidFill>
                <a:latin typeface="Arimo"/>
                <a:ea typeface="Arimo"/>
                <a:cs typeface="Arimo"/>
                <a:sym typeface="Arimo"/>
              </a:rPr>
              <a:t>Security</a:t>
            </a:r>
          </a:p>
        </p:txBody>
      </p:sp>
      <p:sp>
        <p:nvSpPr>
          <p:cNvPr name="TextBox 19" id="19"/>
          <p:cNvSpPr txBox="true"/>
          <p:nvPr/>
        </p:nvSpPr>
        <p:spPr>
          <a:xfrm rot="0">
            <a:off x="992238" y="7386042"/>
            <a:ext cx="5298579" cy="1446610"/>
          </a:xfrm>
          <a:prstGeom prst="rect">
            <a:avLst/>
          </a:prstGeom>
        </p:spPr>
        <p:txBody>
          <a:bodyPr anchor="t" rtlCol="false" tIns="0" lIns="0" bIns="0" rIns="0">
            <a:spAutoFit/>
          </a:bodyPr>
          <a:lstStyle/>
          <a:p>
            <a:pPr algn="r">
              <a:lnSpc>
                <a:spcPts val="3562"/>
              </a:lnSpc>
            </a:pPr>
            <a:r>
              <a:rPr lang="en-US" sz="2187">
                <a:solidFill>
                  <a:srgbClr val="E0D6DE"/>
                </a:solidFill>
                <a:latin typeface="Noto Sans"/>
                <a:ea typeface="Noto Sans"/>
                <a:cs typeface="Noto Sans"/>
                <a:sym typeface="Noto Sans"/>
              </a:rPr>
              <a:t>Safeguarding sensitive mental health data. Strong cybersecurity measures are required.</a:t>
            </a:r>
          </a:p>
        </p:txBody>
      </p:sp>
      <p:sp>
        <p:nvSpPr>
          <p:cNvPr name="Freeform 20" id="20" descr="preencoded.png"/>
          <p:cNvSpPr/>
          <p:nvPr/>
        </p:nvSpPr>
        <p:spPr>
          <a:xfrm flipH="false" flipV="false" rot="0">
            <a:off x="6290816" y="3459807"/>
            <a:ext cx="5706219" cy="5706219"/>
          </a:xfrm>
          <a:custGeom>
            <a:avLst/>
            <a:gdLst/>
            <a:ahLst/>
            <a:cxnLst/>
            <a:rect r="r" b="b" t="t" l="l"/>
            <a:pathLst>
              <a:path h="5706219" w="5706219">
                <a:moveTo>
                  <a:pt x="0" y="0"/>
                </a:moveTo>
                <a:lnTo>
                  <a:pt x="5706219" y="0"/>
                </a:lnTo>
                <a:lnTo>
                  <a:pt x="5706219" y="5706219"/>
                </a:lnTo>
                <a:lnTo>
                  <a:pt x="0" y="5706219"/>
                </a:lnTo>
                <a:lnTo>
                  <a:pt x="0" y="0"/>
                </a:lnTo>
                <a:close/>
              </a:path>
            </a:pathLst>
          </a:custGeom>
          <a:blipFill>
            <a:blip r:embed="rId10"/>
            <a:stretch>
              <a:fillRect l="0" t="0" r="0" b="0"/>
            </a:stretch>
          </a:blipFill>
        </p:spPr>
      </p:sp>
      <p:sp>
        <p:nvSpPr>
          <p:cNvPr name="Freeform 21" id="21" descr="preencoded.png"/>
          <p:cNvSpPr/>
          <p:nvPr/>
        </p:nvSpPr>
        <p:spPr>
          <a:xfrm flipH="false" flipV="false" rot="0">
            <a:off x="7905452" y="7102674"/>
            <a:ext cx="398710" cy="498276"/>
          </a:xfrm>
          <a:custGeom>
            <a:avLst/>
            <a:gdLst/>
            <a:ahLst/>
            <a:cxnLst/>
            <a:rect r="r" b="b" t="t" l="l"/>
            <a:pathLst>
              <a:path h="498276" w="398710">
                <a:moveTo>
                  <a:pt x="0" y="0"/>
                </a:moveTo>
                <a:lnTo>
                  <a:pt x="398710" y="0"/>
                </a:lnTo>
                <a:lnTo>
                  <a:pt x="398710" y="498276"/>
                </a:lnTo>
                <a:lnTo>
                  <a:pt x="0" y="498276"/>
                </a:lnTo>
                <a:lnTo>
                  <a:pt x="0" y="0"/>
                </a:lnTo>
                <a:close/>
              </a:path>
            </a:pathLst>
          </a:custGeom>
          <a:blipFill>
            <a:blip r:embed="rId11"/>
            <a:stretch>
              <a:fillRect l="-469" t="0" r="-469"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5" id="5"/>
          <p:cNvSpPr txBox="true"/>
          <p:nvPr/>
        </p:nvSpPr>
        <p:spPr>
          <a:xfrm rot="0">
            <a:off x="992238" y="2354015"/>
            <a:ext cx="14982379" cy="943124"/>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Conclusion: Future Directions and Impact</a:t>
            </a:r>
          </a:p>
        </p:txBody>
      </p:sp>
      <p:sp>
        <p:nvSpPr>
          <p:cNvPr name="TextBox 6" id="6"/>
          <p:cNvSpPr txBox="true"/>
          <p:nvPr/>
        </p:nvSpPr>
        <p:spPr>
          <a:xfrm rot="0">
            <a:off x="992238" y="3778449"/>
            <a:ext cx="16303526" cy="1446610"/>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Our exploration highlights the potential of AI in mental health. NLP, ANN, and BERT offer promising avenues. They can assist in early detection. Future work includes multimodal data fusion. We aim for real-time monitoring and personalized interventions. This technology can revolutionize mental health support, making it more accessible and proactive.</a:t>
            </a:r>
          </a:p>
        </p:txBody>
      </p:sp>
      <p:sp>
        <p:nvSpPr>
          <p:cNvPr name="TextBox 7" id="7"/>
          <p:cNvSpPr txBox="true"/>
          <p:nvPr/>
        </p:nvSpPr>
        <p:spPr>
          <a:xfrm rot="0">
            <a:off x="992238" y="5458271"/>
            <a:ext cx="16303526" cy="539354"/>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Key takeaways:</a:t>
            </a:r>
          </a:p>
        </p:txBody>
      </p:sp>
      <p:sp>
        <p:nvSpPr>
          <p:cNvPr name="TextBox 8" id="8"/>
          <p:cNvSpPr txBox="true"/>
          <p:nvPr/>
        </p:nvSpPr>
        <p:spPr>
          <a:xfrm rot="0">
            <a:off x="992238" y="6230839"/>
            <a:ext cx="1630352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AI enhances early detection.</a:t>
            </a:r>
          </a:p>
        </p:txBody>
      </p:sp>
      <p:sp>
        <p:nvSpPr>
          <p:cNvPr name="TextBox 9" id="9"/>
          <p:cNvSpPr txBox="true"/>
          <p:nvPr/>
        </p:nvSpPr>
        <p:spPr>
          <a:xfrm rot="0">
            <a:off x="992238" y="6783586"/>
            <a:ext cx="1630352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Ethical guidelines are crucial.</a:t>
            </a:r>
          </a:p>
        </p:txBody>
      </p:sp>
      <p:sp>
        <p:nvSpPr>
          <p:cNvPr name="TextBox 10" id="10"/>
          <p:cNvSpPr txBox="true"/>
          <p:nvPr/>
        </p:nvSpPr>
        <p:spPr>
          <a:xfrm rot="0">
            <a:off x="992238" y="7336334"/>
            <a:ext cx="1630352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Collaboration is key for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DAGonOGejcc</dc:identifier>
  <dcterms:modified xsi:type="dcterms:W3CDTF">2011-08-01T06:04:30Z</dcterms:modified>
  <cp:revision>1</cp:revision>
  <dc:title>Mental-Health-Prediction-on-Social-Media-Using-NLP-ANN-and-BERT.pptx</dc:title>
</cp:coreProperties>
</file>