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8.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COVID-19 Tweets: Analysis and Prediction</a:t>
            </a:r>
            <a:endParaRPr lang="en-US" sz="4450" dirty="0"/>
          </a:p>
        </p:txBody>
      </p:sp>
      <p:sp>
        <p:nvSpPr>
          <p:cNvPr id="4" name="Text 1"/>
          <p:cNvSpPr/>
          <p:nvPr/>
        </p:nvSpPr>
        <p:spPr>
          <a:xfrm>
            <a:off x="793790" y="4267795"/>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presentation explores how Twitter data can illuminate public sentiment during the COVID-19 pandemic. We will delve into methods for predicting future trends. Our goal is to provide data-driven insights for policymakers and healthcare professionals.</a:t>
            </a:r>
            <a:endParaRPr lang="en-US" sz="1750" dirty="0">
              <a:solidFill>
                <a:srgbClr val="272525"/>
              </a:solidFill>
              <a:latin typeface="Inter" pitchFamily="34" charset="0"/>
              <a:ea typeface="Inter" pitchFamily="34" charset="-122"/>
              <a:cs typeface="Inter" pitchFamily="34" charset="-120"/>
            </a:endParaRPr>
          </a:p>
          <a:p>
            <a:pPr marL="0" indent="0" algn="l">
              <a:lnSpc>
                <a:spcPts val="2850"/>
              </a:lnSpc>
              <a:buNone/>
            </a:pPr>
            <a:endParaRPr lang="en-US" sz="1750" dirty="0"/>
          </a:p>
          <a:p>
            <a:pPr marL="0" indent="0" algn="l">
              <a:lnSpc>
                <a:spcPts val="2850"/>
              </a:lnSpc>
              <a:buNone/>
            </a:pPr>
            <a:endParaRPr lang="en-US" sz="1750" b="1" i="1" dirty="0"/>
          </a:p>
          <a:p>
            <a:pPr marL="0" indent="0" algn="l">
              <a:lnSpc>
                <a:spcPts val="2850"/>
              </a:lnSpc>
              <a:buNone/>
            </a:pPr>
            <a:r>
              <a:rPr lang="en-US" sz="1750" b="1" i="1" dirty="0"/>
              <a:t>BY </a:t>
            </a:r>
            <a:r>
              <a:rPr lang="en-IN" altLang="en-US" sz="1750" b="1" i="1" dirty="0"/>
              <a:t>Deep Thinkers</a:t>
            </a:r>
            <a:endParaRPr lang="en-IN" altLang="en-US" sz="1750"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31163"/>
            <a:ext cx="7556421" cy="1417558"/>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Data Collection and Preprocessing</a:t>
            </a:r>
            <a:endParaRPr lang="en-US" sz="4450" dirty="0"/>
          </a:p>
        </p:txBody>
      </p:sp>
      <p:pic>
        <p:nvPicPr>
          <p:cNvPr id="4" name="Image 1" descr="preencoded.png"/>
          <p:cNvPicPr>
            <a:picLocks noChangeAspect="1"/>
          </p:cNvPicPr>
          <p:nvPr/>
        </p:nvPicPr>
        <p:blipFill>
          <a:blip r:embed="rId2"/>
          <a:stretch>
            <a:fillRect/>
          </a:stretch>
        </p:blipFill>
        <p:spPr>
          <a:xfrm>
            <a:off x="6280190" y="2488883"/>
            <a:ext cx="1134070" cy="1669852"/>
          </a:xfrm>
          <a:prstGeom prst="rect">
            <a:avLst/>
          </a:prstGeom>
        </p:spPr>
      </p:pic>
      <p:sp>
        <p:nvSpPr>
          <p:cNvPr id="5" name="Text 1"/>
          <p:cNvSpPr/>
          <p:nvPr/>
        </p:nvSpPr>
        <p:spPr>
          <a:xfrm>
            <a:off x="7754422" y="271569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Sourcing Tweets</a:t>
            </a:r>
            <a:endParaRPr lang="en-US" sz="2200" dirty="0"/>
          </a:p>
        </p:txBody>
      </p:sp>
      <p:sp>
        <p:nvSpPr>
          <p:cNvPr id="6" name="Text 2"/>
          <p:cNvSpPr/>
          <p:nvPr/>
        </p:nvSpPr>
        <p:spPr>
          <a:xfrm>
            <a:off x="7754422" y="3206115"/>
            <a:ext cx="6082189"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Collected 1.2 million tweets from March 2020 to December 2023.</a:t>
            </a:r>
            <a:endParaRPr lang="en-US" sz="1750" dirty="0"/>
          </a:p>
        </p:txBody>
      </p:sp>
      <p:pic>
        <p:nvPicPr>
          <p:cNvPr id="7" name="Image 2" descr="preencoded.png"/>
          <p:cNvPicPr>
            <a:picLocks noChangeAspect="1"/>
          </p:cNvPicPr>
          <p:nvPr/>
        </p:nvPicPr>
        <p:blipFill>
          <a:blip r:embed="rId3"/>
          <a:stretch>
            <a:fillRect/>
          </a:stretch>
        </p:blipFill>
        <p:spPr>
          <a:xfrm>
            <a:off x="6280190" y="4158734"/>
            <a:ext cx="1134070" cy="1669852"/>
          </a:xfrm>
          <a:prstGeom prst="rect">
            <a:avLst/>
          </a:prstGeom>
        </p:spPr>
      </p:pic>
      <p:sp>
        <p:nvSpPr>
          <p:cNvPr id="8" name="Text 3"/>
          <p:cNvSpPr/>
          <p:nvPr/>
        </p:nvSpPr>
        <p:spPr>
          <a:xfrm>
            <a:off x="7754422" y="4385548"/>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Data Cleaning</a:t>
            </a:r>
            <a:endParaRPr lang="en-US" sz="2200" dirty="0"/>
          </a:p>
        </p:txBody>
      </p:sp>
      <p:sp>
        <p:nvSpPr>
          <p:cNvPr id="9" name="Text 4"/>
          <p:cNvSpPr/>
          <p:nvPr/>
        </p:nvSpPr>
        <p:spPr>
          <a:xfrm>
            <a:off x="7754422" y="4875967"/>
            <a:ext cx="6082189"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Removed duplicates and handled missing values. Filtered out bot accounts.</a:t>
            </a:r>
            <a:endParaRPr lang="en-US" sz="1750" dirty="0"/>
          </a:p>
        </p:txBody>
      </p:sp>
      <p:pic>
        <p:nvPicPr>
          <p:cNvPr id="10" name="Image 3" descr="preencoded.png"/>
          <p:cNvPicPr>
            <a:picLocks noChangeAspect="1"/>
          </p:cNvPicPr>
          <p:nvPr/>
        </p:nvPicPr>
        <p:blipFill>
          <a:blip r:embed="rId4"/>
          <a:stretch>
            <a:fillRect/>
          </a:stretch>
        </p:blipFill>
        <p:spPr>
          <a:xfrm>
            <a:off x="6280190" y="5828586"/>
            <a:ext cx="1134070" cy="1669852"/>
          </a:xfrm>
          <a:prstGeom prst="rect">
            <a:avLst/>
          </a:prstGeom>
        </p:spPr>
      </p:pic>
      <p:sp>
        <p:nvSpPr>
          <p:cNvPr id="11" name="Text 5"/>
          <p:cNvSpPr/>
          <p:nvPr/>
        </p:nvSpPr>
        <p:spPr>
          <a:xfrm>
            <a:off x="7754422" y="6055400"/>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Text Preprocessing</a:t>
            </a:r>
            <a:endParaRPr lang="en-US" sz="2200" dirty="0"/>
          </a:p>
        </p:txBody>
      </p:sp>
      <p:sp>
        <p:nvSpPr>
          <p:cNvPr id="12" name="Text 6"/>
          <p:cNvSpPr/>
          <p:nvPr/>
        </p:nvSpPr>
        <p:spPr>
          <a:xfrm>
            <a:off x="7754422" y="6545818"/>
            <a:ext cx="6082189"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Applied tokenization, stemming/lemmatization, and stop word removal.</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7566" y="414457"/>
            <a:ext cx="3768804" cy="471011"/>
          </a:xfrm>
          <a:prstGeom prst="rect">
            <a:avLst/>
          </a:prstGeom>
          <a:noFill/>
        </p:spPr>
        <p:txBody>
          <a:bodyPr wrap="none" lIns="0" tIns="0" rIns="0" bIns="0" rtlCol="0" anchor="t"/>
          <a:lstStyle/>
          <a:p>
            <a:pPr marL="0" indent="0" algn="l">
              <a:lnSpc>
                <a:spcPts val="3700"/>
              </a:lnSpc>
              <a:buNone/>
            </a:pPr>
            <a:r>
              <a:rPr lang="en-US" sz="2950" b="1" dirty="0">
                <a:solidFill>
                  <a:srgbClr val="000000"/>
                </a:solidFill>
                <a:latin typeface="Inter Bold" pitchFamily="34" charset="0"/>
                <a:ea typeface="Inter Bold" pitchFamily="34" charset="-122"/>
                <a:cs typeface="Inter Bold" pitchFamily="34" charset="-120"/>
              </a:rPr>
              <a:t>Sentiment Analysis</a:t>
            </a:r>
            <a:endParaRPr lang="en-US" sz="2950" dirty="0"/>
          </a:p>
        </p:txBody>
      </p:sp>
      <p:pic>
        <p:nvPicPr>
          <p:cNvPr id="3" name="Image 0" descr="preencoded.png"/>
          <p:cNvPicPr>
            <a:picLocks noChangeAspect="1"/>
          </p:cNvPicPr>
          <p:nvPr/>
        </p:nvPicPr>
        <p:blipFill>
          <a:blip r:embed="rId1"/>
          <a:stretch>
            <a:fillRect/>
          </a:stretch>
        </p:blipFill>
        <p:spPr>
          <a:xfrm>
            <a:off x="527566" y="1186934"/>
            <a:ext cx="13575268" cy="7149822"/>
          </a:xfrm>
          <a:prstGeom prst="rect">
            <a:avLst/>
          </a:prstGeom>
        </p:spPr>
      </p:pic>
      <p:sp>
        <p:nvSpPr>
          <p:cNvPr id="4" name="Shape 1"/>
          <p:cNvSpPr/>
          <p:nvPr/>
        </p:nvSpPr>
        <p:spPr>
          <a:xfrm>
            <a:off x="5634276" y="8336756"/>
            <a:ext cx="150733" cy="150733"/>
          </a:xfrm>
          <a:prstGeom prst="roundRect">
            <a:avLst>
              <a:gd name="adj" fmla="val 12133"/>
            </a:avLst>
          </a:prstGeom>
          <a:solidFill>
            <a:srgbClr val="151738"/>
          </a:solidFill>
        </p:spPr>
      </p:sp>
      <p:sp>
        <p:nvSpPr>
          <p:cNvPr id="5" name="Text 2"/>
          <p:cNvSpPr/>
          <p:nvPr/>
        </p:nvSpPr>
        <p:spPr>
          <a:xfrm>
            <a:off x="5845969" y="8336756"/>
            <a:ext cx="1393031" cy="15073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itchFamily="34" charset="0"/>
                <a:ea typeface="Inter" pitchFamily="34" charset="-122"/>
                <a:cs typeface="Inter" pitchFamily="34" charset="-120"/>
              </a:rPr>
              <a:t>Negative Sentiment</a:t>
            </a:r>
            <a:endParaRPr lang="en-US" sz="1150" dirty="0"/>
          </a:p>
        </p:txBody>
      </p:sp>
      <p:sp>
        <p:nvSpPr>
          <p:cNvPr id="6" name="Shape 3"/>
          <p:cNvSpPr/>
          <p:nvPr/>
        </p:nvSpPr>
        <p:spPr>
          <a:xfrm>
            <a:off x="7391400" y="8336756"/>
            <a:ext cx="150733" cy="150733"/>
          </a:xfrm>
          <a:prstGeom prst="roundRect">
            <a:avLst>
              <a:gd name="adj" fmla="val 12133"/>
            </a:avLst>
          </a:prstGeom>
          <a:solidFill>
            <a:srgbClr val="393F9B"/>
          </a:solidFill>
        </p:spPr>
      </p:sp>
      <p:sp>
        <p:nvSpPr>
          <p:cNvPr id="7" name="Text 4"/>
          <p:cNvSpPr/>
          <p:nvPr/>
        </p:nvSpPr>
        <p:spPr>
          <a:xfrm>
            <a:off x="7603093" y="8336756"/>
            <a:ext cx="1316474" cy="150733"/>
          </a:xfrm>
          <a:prstGeom prst="rect">
            <a:avLst/>
          </a:prstGeom>
          <a:noFill/>
        </p:spPr>
        <p:txBody>
          <a:bodyPr wrap="none" lIns="0" tIns="0" rIns="0" bIns="0" rtlCol="0" anchor="t"/>
          <a:lstStyle/>
          <a:p>
            <a:pPr marL="0" indent="0" algn="l">
              <a:lnSpc>
                <a:spcPts val="1150"/>
              </a:lnSpc>
              <a:buNone/>
            </a:pPr>
            <a:r>
              <a:rPr lang="en-US" sz="1150" dirty="0">
                <a:solidFill>
                  <a:srgbClr val="272525"/>
                </a:solidFill>
                <a:latin typeface="Inter" pitchFamily="34" charset="0"/>
                <a:ea typeface="Inter" pitchFamily="34" charset="-122"/>
                <a:cs typeface="Inter" pitchFamily="34" charset="-120"/>
              </a:rPr>
              <a:t>Positive Sentiment</a:t>
            </a:r>
            <a:endParaRPr lang="en-US" sz="1150" dirty="0"/>
          </a:p>
        </p:txBody>
      </p:sp>
      <p:sp>
        <p:nvSpPr>
          <p:cNvPr id="8" name="Text 5"/>
          <p:cNvSpPr/>
          <p:nvPr/>
        </p:nvSpPr>
        <p:spPr>
          <a:xfrm>
            <a:off x="527566" y="8958620"/>
            <a:ext cx="13575268" cy="482203"/>
          </a:xfrm>
          <a:prstGeom prst="rect">
            <a:avLst/>
          </a:prstGeom>
          <a:noFill/>
        </p:spPr>
        <p:txBody>
          <a:bodyPr wrap="squar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We employed Natural Language Processing (NLP) to gauge public sentiment. Vader sentiment analysis scored tweets on positive, negative, and neutral sentiments. 70% of tweets showed negative sentiment during peak infection periods. Monthly sentiment aligned with real-world events.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54606" y="662464"/>
            <a:ext cx="4675942" cy="584359"/>
          </a:xfrm>
          <a:prstGeom prst="rect">
            <a:avLst/>
          </a:prstGeom>
          <a:noFill/>
        </p:spPr>
        <p:txBody>
          <a:bodyPr wrap="none" lIns="0" tIns="0" rIns="0" bIns="0" rtlCol="0" anchor="t"/>
          <a:lstStyle/>
          <a:p>
            <a:pPr marL="0" indent="0" algn="l">
              <a:lnSpc>
                <a:spcPts val="4600"/>
              </a:lnSpc>
              <a:buNone/>
            </a:pPr>
            <a:r>
              <a:rPr lang="en-US" sz="3650" b="1" dirty="0">
                <a:solidFill>
                  <a:srgbClr val="000000"/>
                </a:solidFill>
                <a:latin typeface="Inter Bold" pitchFamily="34" charset="0"/>
                <a:ea typeface="Inter Bold" pitchFamily="34" charset="-122"/>
                <a:cs typeface="Inter Bold" pitchFamily="34" charset="-120"/>
              </a:rPr>
              <a:t>Topic Modeling</a:t>
            </a:r>
            <a:endParaRPr lang="en-US" sz="3650" dirty="0"/>
          </a:p>
        </p:txBody>
      </p:sp>
      <p:sp>
        <p:nvSpPr>
          <p:cNvPr id="4" name="Shape 1"/>
          <p:cNvSpPr/>
          <p:nvPr/>
        </p:nvSpPr>
        <p:spPr>
          <a:xfrm>
            <a:off x="654606" y="1527334"/>
            <a:ext cx="7834789" cy="1092756"/>
          </a:xfrm>
          <a:prstGeom prst="roundRect">
            <a:avLst>
              <a:gd name="adj" fmla="val 7189"/>
            </a:avLst>
          </a:prstGeom>
          <a:solidFill>
            <a:srgbClr val="DADBF1"/>
          </a:solidFill>
          <a:ln w="7620">
            <a:solidFill>
              <a:srgbClr val="C0C1D7"/>
            </a:solidFill>
            <a:prstDash val="solid"/>
          </a:ln>
        </p:spPr>
      </p:sp>
      <p:sp>
        <p:nvSpPr>
          <p:cNvPr id="5" name="Text 2"/>
          <p:cNvSpPr/>
          <p:nvPr/>
        </p:nvSpPr>
        <p:spPr>
          <a:xfrm>
            <a:off x="849154" y="1721882"/>
            <a:ext cx="2337911" cy="292298"/>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Vaccine Efficacy</a:t>
            </a:r>
            <a:endParaRPr lang="en-US" sz="1800" dirty="0"/>
          </a:p>
        </p:txBody>
      </p:sp>
      <p:sp>
        <p:nvSpPr>
          <p:cNvPr id="6" name="Text 3"/>
          <p:cNvSpPr/>
          <p:nvPr/>
        </p:nvSpPr>
        <p:spPr>
          <a:xfrm>
            <a:off x="849154" y="2126337"/>
            <a:ext cx="7445693" cy="299204"/>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Discussions on vaccine effectiveness and public trust.</a:t>
            </a:r>
            <a:endParaRPr lang="en-US" sz="1450" dirty="0"/>
          </a:p>
        </p:txBody>
      </p:sp>
      <p:sp>
        <p:nvSpPr>
          <p:cNvPr id="7" name="Shape 4"/>
          <p:cNvSpPr/>
          <p:nvPr/>
        </p:nvSpPr>
        <p:spPr>
          <a:xfrm>
            <a:off x="654606" y="2807018"/>
            <a:ext cx="7834789" cy="1092756"/>
          </a:xfrm>
          <a:prstGeom prst="roundRect">
            <a:avLst>
              <a:gd name="adj" fmla="val 7189"/>
            </a:avLst>
          </a:prstGeom>
          <a:solidFill>
            <a:srgbClr val="DADBF1"/>
          </a:solidFill>
          <a:ln w="7620">
            <a:solidFill>
              <a:srgbClr val="C0C1D7"/>
            </a:solidFill>
            <a:prstDash val="solid"/>
          </a:ln>
        </p:spPr>
      </p:sp>
      <p:sp>
        <p:nvSpPr>
          <p:cNvPr id="8" name="Text 5"/>
          <p:cNvSpPr/>
          <p:nvPr/>
        </p:nvSpPr>
        <p:spPr>
          <a:xfrm>
            <a:off x="849154" y="3001566"/>
            <a:ext cx="2361367" cy="292298"/>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Lockdown Measures</a:t>
            </a:r>
            <a:endParaRPr lang="en-US" sz="1800" dirty="0"/>
          </a:p>
        </p:txBody>
      </p:sp>
      <p:sp>
        <p:nvSpPr>
          <p:cNvPr id="9" name="Text 6"/>
          <p:cNvSpPr/>
          <p:nvPr/>
        </p:nvSpPr>
        <p:spPr>
          <a:xfrm>
            <a:off x="849154" y="3406021"/>
            <a:ext cx="7445693" cy="299204"/>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Conversations about restrictions and their impact.</a:t>
            </a:r>
            <a:endParaRPr lang="en-US" sz="1450" dirty="0"/>
          </a:p>
        </p:txBody>
      </p:sp>
      <p:sp>
        <p:nvSpPr>
          <p:cNvPr id="10" name="Shape 7"/>
          <p:cNvSpPr/>
          <p:nvPr/>
        </p:nvSpPr>
        <p:spPr>
          <a:xfrm>
            <a:off x="654606" y="4086701"/>
            <a:ext cx="7834789" cy="1092756"/>
          </a:xfrm>
          <a:prstGeom prst="roundRect">
            <a:avLst>
              <a:gd name="adj" fmla="val 7189"/>
            </a:avLst>
          </a:prstGeom>
          <a:solidFill>
            <a:srgbClr val="DADBF1"/>
          </a:solidFill>
          <a:ln w="7620">
            <a:solidFill>
              <a:srgbClr val="C0C1D7"/>
            </a:solidFill>
            <a:prstDash val="solid"/>
          </a:ln>
        </p:spPr>
      </p:sp>
      <p:sp>
        <p:nvSpPr>
          <p:cNvPr id="11" name="Text 8"/>
          <p:cNvSpPr/>
          <p:nvPr/>
        </p:nvSpPr>
        <p:spPr>
          <a:xfrm>
            <a:off x="849154" y="4281249"/>
            <a:ext cx="2337911" cy="292298"/>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Economic Impact</a:t>
            </a:r>
            <a:endParaRPr lang="en-US" sz="1800" dirty="0"/>
          </a:p>
        </p:txBody>
      </p:sp>
      <p:sp>
        <p:nvSpPr>
          <p:cNvPr id="12" name="Text 9"/>
          <p:cNvSpPr/>
          <p:nvPr/>
        </p:nvSpPr>
        <p:spPr>
          <a:xfrm>
            <a:off x="849154" y="4685705"/>
            <a:ext cx="7445693" cy="299204"/>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Tweets related to financial struggles and recovery efforts.</a:t>
            </a:r>
            <a:endParaRPr lang="en-US" sz="1450" dirty="0"/>
          </a:p>
        </p:txBody>
      </p:sp>
      <p:sp>
        <p:nvSpPr>
          <p:cNvPr id="13" name="Shape 10"/>
          <p:cNvSpPr/>
          <p:nvPr/>
        </p:nvSpPr>
        <p:spPr>
          <a:xfrm>
            <a:off x="654606" y="5366385"/>
            <a:ext cx="7834789" cy="1092756"/>
          </a:xfrm>
          <a:prstGeom prst="roundRect">
            <a:avLst>
              <a:gd name="adj" fmla="val 7189"/>
            </a:avLst>
          </a:prstGeom>
          <a:solidFill>
            <a:srgbClr val="DADBF1"/>
          </a:solidFill>
          <a:ln w="7620">
            <a:solidFill>
              <a:srgbClr val="C0C1D7"/>
            </a:solidFill>
            <a:prstDash val="solid"/>
          </a:ln>
        </p:spPr>
      </p:sp>
      <p:sp>
        <p:nvSpPr>
          <p:cNvPr id="14" name="Text 11"/>
          <p:cNvSpPr/>
          <p:nvPr/>
        </p:nvSpPr>
        <p:spPr>
          <a:xfrm>
            <a:off x="849154" y="5560933"/>
            <a:ext cx="2337911" cy="292298"/>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Mental Health</a:t>
            </a:r>
            <a:endParaRPr lang="en-US" sz="1800" dirty="0"/>
          </a:p>
        </p:txBody>
      </p:sp>
      <p:sp>
        <p:nvSpPr>
          <p:cNvPr id="15" name="Text 12"/>
          <p:cNvSpPr/>
          <p:nvPr/>
        </p:nvSpPr>
        <p:spPr>
          <a:xfrm>
            <a:off x="849154" y="5965388"/>
            <a:ext cx="7445693" cy="299204"/>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Discourse on psychological well-being during the pandemic.</a:t>
            </a:r>
            <a:endParaRPr lang="en-US" sz="1450" dirty="0"/>
          </a:p>
        </p:txBody>
      </p:sp>
      <p:sp>
        <p:nvSpPr>
          <p:cNvPr id="16" name="Text 13"/>
          <p:cNvSpPr/>
          <p:nvPr/>
        </p:nvSpPr>
        <p:spPr>
          <a:xfrm>
            <a:off x="654606" y="6669524"/>
            <a:ext cx="7834789" cy="897612"/>
          </a:xfrm>
          <a:prstGeom prst="rect">
            <a:avLst/>
          </a:prstGeom>
          <a:noFill/>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Latent Dirichlet Allocation (LDA) helped identify key topics. Dominant topics included vaccine efficacy, lockdown measures, economic impact, and mental health. Topic trends shifted from initial fear to vaccine hesitancy. 85% of tweets fit within identified topics.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67972"/>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Network Analysis</a:t>
            </a:r>
            <a:endParaRPr lang="en-US" sz="4450" dirty="0"/>
          </a:p>
        </p:txBody>
      </p:sp>
      <p:sp>
        <p:nvSpPr>
          <p:cNvPr id="3" name="Text 1"/>
          <p:cNvSpPr/>
          <p:nvPr/>
        </p:nvSpPr>
        <p:spPr>
          <a:xfrm>
            <a:off x="793790" y="3143726"/>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Influential Users</a:t>
            </a:r>
            <a:endParaRPr lang="en-US" sz="2200" dirty="0"/>
          </a:p>
        </p:txBody>
      </p:sp>
      <p:sp>
        <p:nvSpPr>
          <p:cNvPr id="4" name="Text 2"/>
          <p:cNvSpPr/>
          <p:nvPr/>
        </p:nvSpPr>
        <p:spPr>
          <a:xfrm>
            <a:off x="793790" y="3724870"/>
            <a:ext cx="6244709" cy="1088708"/>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Identified using centrality measures such as degree, betweenness, and eigenvector centrality. These users were key in information dissemination.</a:t>
            </a:r>
            <a:endParaRPr lang="en-US" sz="1750" dirty="0"/>
          </a:p>
        </p:txBody>
      </p:sp>
      <p:sp>
        <p:nvSpPr>
          <p:cNvPr id="5" name="Text 3"/>
          <p:cNvSpPr/>
          <p:nvPr/>
        </p:nvSpPr>
        <p:spPr>
          <a:xfrm>
            <a:off x="7599521" y="3143726"/>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Information Spread</a:t>
            </a:r>
            <a:endParaRPr lang="en-US" sz="2200" dirty="0"/>
          </a:p>
        </p:txBody>
      </p:sp>
      <p:sp>
        <p:nvSpPr>
          <p:cNvPr id="6" name="Text 4"/>
          <p:cNvSpPr/>
          <p:nvPr/>
        </p:nvSpPr>
        <p:spPr>
          <a:xfrm>
            <a:off x="7599521" y="3724870"/>
            <a:ext cx="6244709" cy="1088708"/>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Network clusters revealed echo chambers and polarized viewpoints. The average path length was 4.5, indicating efficient information spread across the network.</a:t>
            </a:r>
            <a:endParaRPr lang="en-US" sz="1750" dirty="0"/>
          </a:p>
        </p:txBody>
      </p:sp>
      <p:sp>
        <p:nvSpPr>
          <p:cNvPr id="7" name="Text 5"/>
          <p:cNvSpPr/>
          <p:nvPr/>
        </p:nvSpPr>
        <p:spPr>
          <a:xfrm>
            <a:off x="793790" y="5272802"/>
            <a:ext cx="13042821" cy="1088708"/>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analysis identified influential users and information spread patterns. Centrality measures helped pinpoint key influencers. Network clusters showed echo chambers and polarized viewpoints. An average path length of 4.5 indicated efficient information spread.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252067"/>
          </a:xfrm>
          <a:prstGeom prst="rect">
            <a:avLst/>
          </a:prstGeom>
        </p:spPr>
      </p:pic>
      <p:sp>
        <p:nvSpPr>
          <p:cNvPr id="3" name="Text 0"/>
          <p:cNvSpPr/>
          <p:nvPr/>
        </p:nvSpPr>
        <p:spPr>
          <a:xfrm>
            <a:off x="630555" y="2748439"/>
            <a:ext cx="9251156" cy="562927"/>
          </a:xfrm>
          <a:prstGeom prst="rect">
            <a:avLst/>
          </a:prstGeom>
          <a:noFill/>
        </p:spPr>
        <p:txBody>
          <a:bodyPr wrap="none" lIns="0" tIns="0" rIns="0" bIns="0" rtlCol="0" anchor="t"/>
          <a:lstStyle/>
          <a:p>
            <a:pPr marL="0" indent="0" algn="l">
              <a:lnSpc>
                <a:spcPts val="4400"/>
              </a:lnSpc>
              <a:buNone/>
            </a:pPr>
            <a:r>
              <a:rPr lang="en-US" sz="3500" b="1" dirty="0">
                <a:solidFill>
                  <a:srgbClr val="000000"/>
                </a:solidFill>
                <a:latin typeface="Inter Bold" pitchFamily="34" charset="0"/>
                <a:ea typeface="Inter Bold" pitchFamily="34" charset="-122"/>
                <a:cs typeface="Inter Bold" pitchFamily="34" charset="-120"/>
              </a:rPr>
              <a:t>Predictive Modeling: Time Series Analysis</a:t>
            </a:r>
            <a:endParaRPr lang="en-US" sz="3500" dirty="0"/>
          </a:p>
        </p:txBody>
      </p:sp>
      <p:sp>
        <p:nvSpPr>
          <p:cNvPr id="4" name="Shape 1"/>
          <p:cNvSpPr/>
          <p:nvPr/>
        </p:nvSpPr>
        <p:spPr>
          <a:xfrm>
            <a:off x="630555" y="5267920"/>
            <a:ext cx="13369290" cy="22860"/>
          </a:xfrm>
          <a:prstGeom prst="roundRect">
            <a:avLst>
              <a:gd name="adj" fmla="val 331023"/>
            </a:avLst>
          </a:prstGeom>
          <a:solidFill>
            <a:srgbClr val="C0C1D7"/>
          </a:solidFill>
        </p:spPr>
      </p:sp>
      <p:sp>
        <p:nvSpPr>
          <p:cNvPr id="5" name="Shape 2"/>
          <p:cNvSpPr/>
          <p:nvPr/>
        </p:nvSpPr>
        <p:spPr>
          <a:xfrm>
            <a:off x="3905131" y="4727496"/>
            <a:ext cx="22860" cy="540425"/>
          </a:xfrm>
          <a:prstGeom prst="roundRect">
            <a:avLst>
              <a:gd name="adj" fmla="val 331023"/>
            </a:avLst>
          </a:prstGeom>
          <a:solidFill>
            <a:srgbClr val="C0C1D7"/>
          </a:solidFill>
        </p:spPr>
      </p:sp>
      <p:sp>
        <p:nvSpPr>
          <p:cNvPr id="6" name="Shape 3"/>
          <p:cNvSpPr/>
          <p:nvPr/>
        </p:nvSpPr>
        <p:spPr>
          <a:xfrm>
            <a:off x="3713917" y="5065276"/>
            <a:ext cx="405289" cy="405289"/>
          </a:xfrm>
          <a:prstGeom prst="roundRect">
            <a:avLst>
              <a:gd name="adj" fmla="val 18671"/>
            </a:avLst>
          </a:prstGeom>
          <a:solidFill>
            <a:srgbClr val="DADBF1"/>
          </a:solidFill>
          <a:ln w="7620">
            <a:solidFill>
              <a:srgbClr val="C0C1D7"/>
            </a:solidFill>
            <a:prstDash val="solid"/>
          </a:ln>
        </p:spPr>
      </p:sp>
      <p:pic>
        <p:nvPicPr>
          <p:cNvPr id="7" name="Image 1" descr="preencoded.png"/>
          <p:cNvPicPr>
            <a:picLocks noChangeAspect="1"/>
          </p:cNvPicPr>
          <p:nvPr/>
        </p:nvPicPr>
        <p:blipFill>
          <a:blip r:embed="rId2"/>
          <a:stretch>
            <a:fillRect/>
          </a:stretch>
        </p:blipFill>
        <p:spPr>
          <a:xfrm>
            <a:off x="3781485" y="5099030"/>
            <a:ext cx="270153" cy="337780"/>
          </a:xfrm>
          <a:prstGeom prst="rect">
            <a:avLst/>
          </a:prstGeom>
        </p:spPr>
      </p:pic>
      <p:sp>
        <p:nvSpPr>
          <p:cNvPr id="8" name="Text 4"/>
          <p:cNvSpPr/>
          <p:nvPr/>
        </p:nvSpPr>
        <p:spPr>
          <a:xfrm>
            <a:off x="2790468" y="3581519"/>
            <a:ext cx="2252067" cy="281583"/>
          </a:xfrm>
          <a:prstGeom prst="rect">
            <a:avLst/>
          </a:prstGeom>
          <a:noFill/>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ARIMA Model</a:t>
            </a:r>
            <a:endParaRPr lang="en-US" sz="1750" dirty="0"/>
          </a:p>
        </p:txBody>
      </p:sp>
      <p:sp>
        <p:nvSpPr>
          <p:cNvPr id="9" name="Text 5"/>
          <p:cNvSpPr/>
          <p:nvPr/>
        </p:nvSpPr>
        <p:spPr>
          <a:xfrm>
            <a:off x="810697" y="3971092"/>
            <a:ext cx="6211729" cy="576263"/>
          </a:xfrm>
          <a:prstGeom prst="rect">
            <a:avLst/>
          </a:prstGeom>
          <a:noFill/>
        </p:spPr>
        <p:txBody>
          <a:bodyPr wrap="square" lIns="0" tIns="0" rIns="0" bIns="0" rtlCol="0" anchor="t"/>
          <a:lstStyle/>
          <a:p>
            <a:pPr marL="0" indent="0" algn="ctr">
              <a:lnSpc>
                <a:spcPts val="2250"/>
              </a:lnSpc>
              <a:buNone/>
            </a:pPr>
            <a:r>
              <a:rPr lang="en-US" sz="1400" dirty="0">
                <a:solidFill>
                  <a:srgbClr val="272525"/>
                </a:solidFill>
                <a:latin typeface="Inter" pitchFamily="34" charset="0"/>
                <a:ea typeface="Inter" pitchFamily="34" charset="-122"/>
                <a:cs typeface="Inter" pitchFamily="34" charset="-120"/>
              </a:rPr>
              <a:t>Accurately predicted tweet volume for the next three months. Mean Absolute Percentage Error (MAPE) was 8%.</a:t>
            </a:r>
            <a:endParaRPr lang="en-US" sz="1400" dirty="0"/>
          </a:p>
        </p:txBody>
      </p:sp>
      <p:sp>
        <p:nvSpPr>
          <p:cNvPr id="10" name="Shape 6"/>
          <p:cNvSpPr/>
          <p:nvPr/>
        </p:nvSpPr>
        <p:spPr>
          <a:xfrm>
            <a:off x="7303651" y="5267920"/>
            <a:ext cx="22860" cy="540425"/>
          </a:xfrm>
          <a:prstGeom prst="roundRect">
            <a:avLst>
              <a:gd name="adj" fmla="val 331023"/>
            </a:avLst>
          </a:prstGeom>
          <a:solidFill>
            <a:srgbClr val="C0C1D7"/>
          </a:solidFill>
        </p:spPr>
      </p:sp>
      <p:sp>
        <p:nvSpPr>
          <p:cNvPr id="11" name="Shape 7"/>
          <p:cNvSpPr/>
          <p:nvPr/>
        </p:nvSpPr>
        <p:spPr>
          <a:xfrm>
            <a:off x="7112437" y="5065276"/>
            <a:ext cx="405289" cy="405289"/>
          </a:xfrm>
          <a:prstGeom prst="roundRect">
            <a:avLst>
              <a:gd name="adj" fmla="val 18671"/>
            </a:avLst>
          </a:prstGeom>
          <a:solidFill>
            <a:srgbClr val="DADBF1"/>
          </a:solidFill>
          <a:ln w="7620">
            <a:solidFill>
              <a:srgbClr val="C0C1D7"/>
            </a:solidFill>
            <a:prstDash val="solid"/>
          </a:ln>
        </p:spPr>
      </p:sp>
      <p:pic>
        <p:nvPicPr>
          <p:cNvPr id="12" name="Image 2" descr="preencoded.png"/>
          <p:cNvPicPr>
            <a:picLocks noChangeAspect="1"/>
          </p:cNvPicPr>
          <p:nvPr/>
        </p:nvPicPr>
        <p:blipFill>
          <a:blip r:embed="rId3"/>
          <a:stretch>
            <a:fillRect/>
          </a:stretch>
        </p:blipFill>
        <p:spPr>
          <a:xfrm>
            <a:off x="7180005" y="5099030"/>
            <a:ext cx="270153" cy="337780"/>
          </a:xfrm>
          <a:prstGeom prst="rect">
            <a:avLst/>
          </a:prstGeom>
        </p:spPr>
      </p:pic>
      <p:sp>
        <p:nvSpPr>
          <p:cNvPr id="13" name="Text 8"/>
          <p:cNvSpPr/>
          <p:nvPr/>
        </p:nvSpPr>
        <p:spPr>
          <a:xfrm>
            <a:off x="6189107" y="5988487"/>
            <a:ext cx="2252067" cy="281583"/>
          </a:xfrm>
          <a:prstGeom prst="rect">
            <a:avLst/>
          </a:prstGeom>
          <a:noFill/>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LSTM Model</a:t>
            </a:r>
            <a:endParaRPr lang="en-US" sz="1750" dirty="0"/>
          </a:p>
        </p:txBody>
      </p:sp>
      <p:sp>
        <p:nvSpPr>
          <p:cNvPr id="14" name="Text 9"/>
          <p:cNvSpPr/>
          <p:nvPr/>
        </p:nvSpPr>
        <p:spPr>
          <a:xfrm>
            <a:off x="4209217" y="6378059"/>
            <a:ext cx="6211848" cy="576263"/>
          </a:xfrm>
          <a:prstGeom prst="rect">
            <a:avLst/>
          </a:prstGeom>
          <a:noFill/>
        </p:spPr>
        <p:txBody>
          <a:bodyPr wrap="square" lIns="0" tIns="0" rIns="0" bIns="0" rtlCol="0" anchor="t"/>
          <a:lstStyle/>
          <a:p>
            <a:pPr marL="0" indent="0" algn="ctr">
              <a:lnSpc>
                <a:spcPts val="2250"/>
              </a:lnSpc>
              <a:buNone/>
            </a:pPr>
            <a:r>
              <a:rPr lang="en-US" sz="1400" dirty="0">
                <a:solidFill>
                  <a:srgbClr val="272525"/>
                </a:solidFill>
                <a:latin typeface="Inter" pitchFamily="34" charset="0"/>
                <a:ea typeface="Inter" pitchFamily="34" charset="-122"/>
                <a:cs typeface="Inter" pitchFamily="34" charset="-120"/>
              </a:rPr>
              <a:t>Captured sentiment polarity shifts with 82% accuracy. Demonstrated strong performance in complex pattern recognition.</a:t>
            </a:r>
            <a:endParaRPr lang="en-US" sz="1400" dirty="0"/>
          </a:p>
        </p:txBody>
      </p:sp>
      <p:sp>
        <p:nvSpPr>
          <p:cNvPr id="15" name="Shape 10"/>
          <p:cNvSpPr/>
          <p:nvPr/>
        </p:nvSpPr>
        <p:spPr>
          <a:xfrm>
            <a:off x="10702290" y="4727496"/>
            <a:ext cx="22860" cy="540425"/>
          </a:xfrm>
          <a:prstGeom prst="roundRect">
            <a:avLst>
              <a:gd name="adj" fmla="val 331023"/>
            </a:avLst>
          </a:prstGeom>
          <a:solidFill>
            <a:srgbClr val="C0C1D7"/>
          </a:solidFill>
        </p:spPr>
      </p:sp>
      <p:sp>
        <p:nvSpPr>
          <p:cNvPr id="16" name="Shape 11"/>
          <p:cNvSpPr/>
          <p:nvPr/>
        </p:nvSpPr>
        <p:spPr>
          <a:xfrm>
            <a:off x="10511076" y="5065276"/>
            <a:ext cx="405289" cy="405289"/>
          </a:xfrm>
          <a:prstGeom prst="roundRect">
            <a:avLst>
              <a:gd name="adj" fmla="val 18671"/>
            </a:avLst>
          </a:prstGeom>
          <a:solidFill>
            <a:srgbClr val="DADBF1"/>
          </a:solidFill>
          <a:ln w="7620">
            <a:solidFill>
              <a:srgbClr val="C0C1D7"/>
            </a:solidFill>
            <a:prstDash val="solid"/>
          </a:ln>
        </p:spPr>
      </p:sp>
      <p:pic>
        <p:nvPicPr>
          <p:cNvPr id="17" name="Image 3" descr="preencoded.png"/>
          <p:cNvPicPr>
            <a:picLocks noChangeAspect="1"/>
          </p:cNvPicPr>
          <p:nvPr/>
        </p:nvPicPr>
        <p:blipFill>
          <a:blip r:embed="rId4"/>
          <a:stretch>
            <a:fillRect/>
          </a:stretch>
        </p:blipFill>
        <p:spPr>
          <a:xfrm>
            <a:off x="10578644" y="5099030"/>
            <a:ext cx="270153" cy="337780"/>
          </a:xfrm>
          <a:prstGeom prst="rect">
            <a:avLst/>
          </a:prstGeom>
        </p:spPr>
      </p:pic>
      <p:sp>
        <p:nvSpPr>
          <p:cNvPr id="18" name="Text 12"/>
          <p:cNvSpPr/>
          <p:nvPr/>
        </p:nvSpPr>
        <p:spPr>
          <a:xfrm>
            <a:off x="9587746" y="3581519"/>
            <a:ext cx="2252067" cy="281583"/>
          </a:xfrm>
          <a:prstGeom prst="rect">
            <a:avLst/>
          </a:prstGeom>
          <a:noFill/>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Lag Analysis</a:t>
            </a:r>
            <a:endParaRPr lang="en-US" sz="1750" dirty="0"/>
          </a:p>
        </p:txBody>
      </p:sp>
      <p:sp>
        <p:nvSpPr>
          <p:cNvPr id="19" name="Text 13"/>
          <p:cNvSpPr/>
          <p:nvPr/>
        </p:nvSpPr>
        <p:spPr>
          <a:xfrm>
            <a:off x="7607856" y="3971092"/>
            <a:ext cx="6211848" cy="576263"/>
          </a:xfrm>
          <a:prstGeom prst="rect">
            <a:avLst/>
          </a:prstGeom>
          <a:noFill/>
        </p:spPr>
        <p:txBody>
          <a:bodyPr wrap="square" lIns="0" tIns="0" rIns="0" bIns="0" rtlCol="0" anchor="t"/>
          <a:lstStyle/>
          <a:p>
            <a:pPr marL="0" indent="0" algn="ctr">
              <a:lnSpc>
                <a:spcPts val="2250"/>
              </a:lnSpc>
              <a:buNone/>
            </a:pPr>
            <a:r>
              <a:rPr lang="en-US" sz="1400" dirty="0">
                <a:solidFill>
                  <a:srgbClr val="272525"/>
                </a:solidFill>
                <a:latin typeface="Inter" pitchFamily="34" charset="0"/>
                <a:ea typeface="Inter" pitchFamily="34" charset="-122"/>
                <a:cs typeface="Inter" pitchFamily="34" charset="-120"/>
              </a:rPr>
              <a:t>Previous month's sentiment significantly influenced current tweet volume. This reveals a temporal dependency.</a:t>
            </a:r>
            <a:endParaRPr lang="en-US" sz="1400" dirty="0"/>
          </a:p>
        </p:txBody>
      </p:sp>
      <p:sp>
        <p:nvSpPr>
          <p:cNvPr id="20" name="Text 14"/>
          <p:cNvSpPr/>
          <p:nvPr/>
        </p:nvSpPr>
        <p:spPr>
          <a:xfrm>
            <a:off x="630555" y="7156966"/>
            <a:ext cx="13369290" cy="576263"/>
          </a:xfrm>
          <a:prstGeom prst="rect">
            <a:avLst/>
          </a:prstGeom>
          <a:noFill/>
        </p:spPr>
        <p:txBody>
          <a:bodyPr wrap="squar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We used ARIMA and LSTM models to forecast tweet volume and sentiment. ARIMA accurately predicted tweet volume with an 8% MAPE. LSTM captured sentiment polarity shifts with 82% accuracy. Lag analysis showed previous month's sentiment influenced current tweet volume.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24587" y="588526"/>
            <a:ext cx="7667625" cy="1318260"/>
          </a:xfrm>
          <a:prstGeom prst="rect">
            <a:avLst/>
          </a:prstGeom>
          <a:noFill/>
        </p:spPr>
        <p:txBody>
          <a:bodyPr wrap="square" lIns="0" tIns="0" rIns="0" bIns="0" rtlCol="0" anchor="t"/>
          <a:lstStyle/>
          <a:p>
            <a:pPr marL="0" indent="0" algn="l">
              <a:lnSpc>
                <a:spcPts val="5150"/>
              </a:lnSpc>
              <a:buNone/>
            </a:pPr>
            <a:r>
              <a:rPr lang="en-US" sz="4150" b="1" dirty="0">
                <a:solidFill>
                  <a:srgbClr val="000000"/>
                </a:solidFill>
                <a:latin typeface="Inter Bold" pitchFamily="34" charset="0"/>
                <a:ea typeface="Inter Bold" pitchFamily="34" charset="-122"/>
                <a:cs typeface="Inter Bold" pitchFamily="34" charset="-120"/>
              </a:rPr>
              <a:t>Predictive Modeling: Impact of Events</a:t>
            </a:r>
            <a:endParaRPr lang="en-US" sz="4150" dirty="0"/>
          </a:p>
        </p:txBody>
      </p:sp>
      <p:sp>
        <p:nvSpPr>
          <p:cNvPr id="4" name="Shape 1"/>
          <p:cNvSpPr/>
          <p:nvPr/>
        </p:nvSpPr>
        <p:spPr>
          <a:xfrm>
            <a:off x="6224587" y="2223135"/>
            <a:ext cx="474464" cy="474464"/>
          </a:xfrm>
          <a:prstGeom prst="roundRect">
            <a:avLst>
              <a:gd name="adj" fmla="val 18671"/>
            </a:avLst>
          </a:prstGeom>
          <a:solidFill>
            <a:srgbClr val="DADBF1"/>
          </a:solidFill>
          <a:ln w="7620">
            <a:solidFill>
              <a:srgbClr val="C0C1D7"/>
            </a:solidFill>
            <a:prstDash val="solid"/>
          </a:ln>
        </p:spPr>
      </p:sp>
      <p:pic>
        <p:nvPicPr>
          <p:cNvPr id="5" name="Image 1" descr="preencoded.png"/>
          <p:cNvPicPr>
            <a:picLocks noChangeAspect="1"/>
          </p:cNvPicPr>
          <p:nvPr/>
        </p:nvPicPr>
        <p:blipFill>
          <a:blip r:embed="rId2"/>
          <a:stretch>
            <a:fillRect/>
          </a:stretch>
        </p:blipFill>
        <p:spPr>
          <a:xfrm>
            <a:off x="6303585" y="2262604"/>
            <a:ext cx="316349" cy="395407"/>
          </a:xfrm>
          <a:prstGeom prst="rect">
            <a:avLst/>
          </a:prstGeom>
        </p:spPr>
      </p:pic>
      <p:sp>
        <p:nvSpPr>
          <p:cNvPr id="6" name="Text 2"/>
          <p:cNvSpPr/>
          <p:nvPr/>
        </p:nvSpPr>
        <p:spPr>
          <a:xfrm>
            <a:off x="6909911" y="2295525"/>
            <a:ext cx="2636401" cy="32944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Vaccine Approvals</a:t>
            </a:r>
            <a:endParaRPr lang="en-US" sz="2050" dirty="0"/>
          </a:p>
        </p:txBody>
      </p:sp>
      <p:sp>
        <p:nvSpPr>
          <p:cNvPr id="7" name="Text 3"/>
          <p:cNvSpPr/>
          <p:nvPr/>
        </p:nvSpPr>
        <p:spPr>
          <a:xfrm>
            <a:off x="6909911" y="2751415"/>
            <a:ext cx="3016687" cy="1349216"/>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Led to a significant 15% increase in positive sentiment. Public reaction was largely favorable.</a:t>
            </a:r>
            <a:endParaRPr lang="en-US" sz="1650" dirty="0"/>
          </a:p>
        </p:txBody>
      </p:sp>
      <p:sp>
        <p:nvSpPr>
          <p:cNvPr id="8" name="Shape 4"/>
          <p:cNvSpPr/>
          <p:nvPr/>
        </p:nvSpPr>
        <p:spPr>
          <a:xfrm>
            <a:off x="10190202" y="2223135"/>
            <a:ext cx="474464" cy="474464"/>
          </a:xfrm>
          <a:prstGeom prst="roundRect">
            <a:avLst>
              <a:gd name="adj" fmla="val 18671"/>
            </a:avLst>
          </a:prstGeom>
          <a:solidFill>
            <a:srgbClr val="DADBF1"/>
          </a:solidFill>
          <a:ln w="7620">
            <a:solidFill>
              <a:srgbClr val="C0C1D7"/>
            </a:solidFill>
            <a:prstDash val="solid"/>
          </a:ln>
        </p:spPr>
      </p:sp>
      <p:pic>
        <p:nvPicPr>
          <p:cNvPr id="9" name="Image 2" descr="preencoded.png"/>
          <p:cNvPicPr>
            <a:picLocks noChangeAspect="1"/>
          </p:cNvPicPr>
          <p:nvPr/>
        </p:nvPicPr>
        <p:blipFill>
          <a:blip r:embed="rId3"/>
          <a:stretch>
            <a:fillRect/>
          </a:stretch>
        </p:blipFill>
        <p:spPr>
          <a:xfrm>
            <a:off x="10269200" y="2262604"/>
            <a:ext cx="316349" cy="395407"/>
          </a:xfrm>
          <a:prstGeom prst="rect">
            <a:avLst/>
          </a:prstGeom>
        </p:spPr>
      </p:pic>
      <p:sp>
        <p:nvSpPr>
          <p:cNvPr id="10" name="Text 5"/>
          <p:cNvSpPr/>
          <p:nvPr/>
        </p:nvSpPr>
        <p:spPr>
          <a:xfrm>
            <a:off x="10875526" y="2295525"/>
            <a:ext cx="3016687" cy="658892"/>
          </a:xfrm>
          <a:prstGeom prst="rect">
            <a:avLst/>
          </a:prstGeom>
          <a:noFill/>
        </p:spPr>
        <p:txBody>
          <a:bodyPr wrap="squar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Lockdown Announcements</a:t>
            </a:r>
            <a:endParaRPr lang="en-US" sz="2050" dirty="0"/>
          </a:p>
        </p:txBody>
      </p:sp>
      <p:sp>
        <p:nvSpPr>
          <p:cNvPr id="11" name="Text 6"/>
          <p:cNvSpPr/>
          <p:nvPr/>
        </p:nvSpPr>
        <p:spPr>
          <a:xfrm>
            <a:off x="10875526" y="3080861"/>
            <a:ext cx="3016687" cy="1349216"/>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Associated with a 20% spike in negative sentiment. Public sentiment reflected widespread concerns.</a:t>
            </a:r>
            <a:endParaRPr lang="en-US" sz="1650" dirty="0"/>
          </a:p>
        </p:txBody>
      </p:sp>
      <p:sp>
        <p:nvSpPr>
          <p:cNvPr id="12" name="Shape 7"/>
          <p:cNvSpPr/>
          <p:nvPr/>
        </p:nvSpPr>
        <p:spPr>
          <a:xfrm>
            <a:off x="6224587" y="4851797"/>
            <a:ext cx="474464" cy="474464"/>
          </a:xfrm>
          <a:prstGeom prst="roundRect">
            <a:avLst>
              <a:gd name="adj" fmla="val 18671"/>
            </a:avLst>
          </a:prstGeom>
          <a:solidFill>
            <a:srgbClr val="DADBF1"/>
          </a:solidFill>
          <a:ln w="7620">
            <a:solidFill>
              <a:srgbClr val="C0C1D7"/>
            </a:solidFill>
            <a:prstDash val="solid"/>
          </a:ln>
        </p:spPr>
      </p:sp>
      <p:pic>
        <p:nvPicPr>
          <p:cNvPr id="13" name="Image 3" descr="preencoded.png"/>
          <p:cNvPicPr>
            <a:picLocks noChangeAspect="1"/>
          </p:cNvPicPr>
          <p:nvPr/>
        </p:nvPicPr>
        <p:blipFill>
          <a:blip r:embed="rId4"/>
          <a:stretch>
            <a:fillRect/>
          </a:stretch>
        </p:blipFill>
        <p:spPr>
          <a:xfrm>
            <a:off x="6303585" y="4891266"/>
            <a:ext cx="316349" cy="395407"/>
          </a:xfrm>
          <a:prstGeom prst="rect">
            <a:avLst/>
          </a:prstGeom>
        </p:spPr>
      </p:pic>
      <p:sp>
        <p:nvSpPr>
          <p:cNvPr id="14" name="Text 8"/>
          <p:cNvSpPr/>
          <p:nvPr/>
        </p:nvSpPr>
        <p:spPr>
          <a:xfrm>
            <a:off x="6909911" y="4924187"/>
            <a:ext cx="2636401" cy="329446"/>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Economic Stimulus</a:t>
            </a:r>
            <a:endParaRPr lang="en-US" sz="2050" dirty="0"/>
          </a:p>
        </p:txBody>
      </p:sp>
      <p:sp>
        <p:nvSpPr>
          <p:cNvPr id="15" name="Text 9"/>
          <p:cNvSpPr/>
          <p:nvPr/>
        </p:nvSpPr>
        <p:spPr>
          <a:xfrm>
            <a:off x="6909911" y="5380077"/>
            <a:ext cx="6982301" cy="674608"/>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Correlated with a 10% decrease in negative sentiment. Financial relief improved public outlook.</a:t>
            </a:r>
            <a:endParaRPr lang="en-US" sz="1650" dirty="0"/>
          </a:p>
        </p:txBody>
      </p:sp>
      <p:sp>
        <p:nvSpPr>
          <p:cNvPr id="16" name="Text 10"/>
          <p:cNvSpPr/>
          <p:nvPr/>
        </p:nvSpPr>
        <p:spPr>
          <a:xfrm>
            <a:off x="6224587" y="6291858"/>
            <a:ext cx="7667625" cy="1349216"/>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itchFamily="34" charset="0"/>
                <a:ea typeface="Inter" pitchFamily="34" charset="-122"/>
                <a:cs typeface="Inter" pitchFamily="34" charset="-120"/>
              </a:rPr>
              <a:t>Regression analysis quantified the impact of key events on tweet sentiment. Vaccine approvals increased positive sentiment by 15%. Lockdown announcements caused a 20% spike in negative sentiment. Economic stimulus packages decreased negative sentiment by 10%.</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4229" y="700683"/>
            <a:ext cx="7178397" cy="649843"/>
          </a:xfrm>
          <a:prstGeom prst="rect">
            <a:avLst/>
          </a:prstGeom>
          <a:noFill/>
        </p:spPr>
        <p:txBody>
          <a:bodyPr wrap="none" lIns="0" tIns="0" rIns="0" bIns="0" rtlCol="0" anchor="t"/>
          <a:lstStyle/>
          <a:p>
            <a:pPr marL="0" indent="0" algn="l">
              <a:lnSpc>
                <a:spcPts val="5100"/>
              </a:lnSpc>
              <a:buNone/>
            </a:pPr>
            <a:r>
              <a:rPr lang="en-US" sz="4050" b="1" dirty="0">
                <a:solidFill>
                  <a:srgbClr val="000000"/>
                </a:solidFill>
                <a:latin typeface="Inter Bold" pitchFamily="34" charset="0"/>
                <a:ea typeface="Inter Bold" pitchFamily="34" charset="-122"/>
                <a:cs typeface="Inter Bold" pitchFamily="34" charset="-120"/>
              </a:rPr>
              <a:t>Conclusion and Implications</a:t>
            </a:r>
            <a:endParaRPr lang="en-US" sz="4050" dirty="0"/>
          </a:p>
        </p:txBody>
      </p:sp>
      <p:sp>
        <p:nvSpPr>
          <p:cNvPr id="4" name="Shape 1"/>
          <p:cNvSpPr/>
          <p:nvPr/>
        </p:nvSpPr>
        <p:spPr>
          <a:xfrm>
            <a:off x="6214229" y="1662351"/>
            <a:ext cx="155853" cy="1115020"/>
          </a:xfrm>
          <a:prstGeom prst="roundRect">
            <a:avLst>
              <a:gd name="adj" fmla="val 56041"/>
            </a:avLst>
          </a:prstGeom>
          <a:solidFill>
            <a:srgbClr val="DADBF1"/>
          </a:solidFill>
          <a:ln w="7620">
            <a:solidFill>
              <a:srgbClr val="C0C1D7"/>
            </a:solidFill>
            <a:prstDash val="solid"/>
          </a:ln>
        </p:spPr>
      </p:sp>
      <p:sp>
        <p:nvSpPr>
          <p:cNvPr id="5" name="Text 2"/>
          <p:cNvSpPr/>
          <p:nvPr/>
        </p:nvSpPr>
        <p:spPr>
          <a:xfrm>
            <a:off x="6681907" y="1662351"/>
            <a:ext cx="2599372" cy="324802"/>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Valuable Insights</a:t>
            </a:r>
            <a:endParaRPr lang="en-US" sz="2000" dirty="0"/>
          </a:p>
        </p:txBody>
      </p:sp>
      <p:sp>
        <p:nvSpPr>
          <p:cNvPr id="6" name="Text 3"/>
          <p:cNvSpPr/>
          <p:nvPr/>
        </p:nvSpPr>
        <p:spPr>
          <a:xfrm>
            <a:off x="6681907" y="2111812"/>
            <a:ext cx="7220664" cy="665559"/>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Twitter data offers insights into public perception during crises. This real-time feedback is crucial.</a:t>
            </a:r>
            <a:endParaRPr lang="en-US" sz="1600" dirty="0"/>
          </a:p>
        </p:txBody>
      </p:sp>
      <p:sp>
        <p:nvSpPr>
          <p:cNvPr id="7" name="Shape 4"/>
          <p:cNvSpPr/>
          <p:nvPr/>
        </p:nvSpPr>
        <p:spPr>
          <a:xfrm>
            <a:off x="6526054" y="2985254"/>
            <a:ext cx="155853" cy="1115020"/>
          </a:xfrm>
          <a:prstGeom prst="roundRect">
            <a:avLst>
              <a:gd name="adj" fmla="val 56041"/>
            </a:avLst>
          </a:prstGeom>
          <a:solidFill>
            <a:srgbClr val="DADBF1"/>
          </a:solidFill>
          <a:ln w="7620">
            <a:solidFill>
              <a:srgbClr val="C0C1D7"/>
            </a:solidFill>
            <a:prstDash val="solid"/>
          </a:ln>
        </p:spPr>
      </p:sp>
      <p:sp>
        <p:nvSpPr>
          <p:cNvPr id="8" name="Text 5"/>
          <p:cNvSpPr/>
          <p:nvPr/>
        </p:nvSpPr>
        <p:spPr>
          <a:xfrm>
            <a:off x="6993731" y="2985254"/>
            <a:ext cx="2599372" cy="324802"/>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Inform Public Health</a:t>
            </a:r>
            <a:endParaRPr lang="en-US" sz="2000" dirty="0"/>
          </a:p>
        </p:txBody>
      </p:sp>
      <p:sp>
        <p:nvSpPr>
          <p:cNvPr id="9" name="Text 6"/>
          <p:cNvSpPr/>
          <p:nvPr/>
        </p:nvSpPr>
        <p:spPr>
          <a:xfrm>
            <a:off x="6993731" y="3434715"/>
            <a:ext cx="6908840" cy="665559"/>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Predictive models can guide public health strategies. Communication efforts can be better targeted.</a:t>
            </a:r>
            <a:endParaRPr lang="en-US" sz="1600" dirty="0"/>
          </a:p>
        </p:txBody>
      </p:sp>
      <p:sp>
        <p:nvSpPr>
          <p:cNvPr id="10" name="Shape 7"/>
          <p:cNvSpPr/>
          <p:nvPr/>
        </p:nvSpPr>
        <p:spPr>
          <a:xfrm>
            <a:off x="6837998" y="4308158"/>
            <a:ext cx="155853" cy="1115020"/>
          </a:xfrm>
          <a:prstGeom prst="roundRect">
            <a:avLst>
              <a:gd name="adj" fmla="val 56041"/>
            </a:avLst>
          </a:prstGeom>
          <a:solidFill>
            <a:srgbClr val="DADBF1"/>
          </a:solidFill>
          <a:ln w="7620">
            <a:solidFill>
              <a:srgbClr val="C0C1D7"/>
            </a:solidFill>
            <a:prstDash val="solid"/>
          </a:ln>
        </p:spPr>
      </p:sp>
      <p:sp>
        <p:nvSpPr>
          <p:cNvPr id="11" name="Text 8"/>
          <p:cNvSpPr/>
          <p:nvPr/>
        </p:nvSpPr>
        <p:spPr>
          <a:xfrm>
            <a:off x="7305675" y="4308158"/>
            <a:ext cx="2599372" cy="324802"/>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Future Work</a:t>
            </a:r>
            <a:endParaRPr lang="en-US" sz="2000" dirty="0"/>
          </a:p>
        </p:txBody>
      </p:sp>
      <p:sp>
        <p:nvSpPr>
          <p:cNvPr id="12" name="Text 9"/>
          <p:cNvSpPr/>
          <p:nvPr/>
        </p:nvSpPr>
        <p:spPr>
          <a:xfrm>
            <a:off x="7305675" y="4757618"/>
            <a:ext cx="6596896" cy="665559"/>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Real-time monitoring and integration with other data sources are next steps. This enhances data richness.</a:t>
            </a:r>
            <a:endParaRPr lang="en-US" sz="1600" dirty="0"/>
          </a:p>
        </p:txBody>
      </p:sp>
      <p:sp>
        <p:nvSpPr>
          <p:cNvPr id="13" name="Text 10"/>
          <p:cNvSpPr/>
          <p:nvPr/>
        </p:nvSpPr>
        <p:spPr>
          <a:xfrm>
            <a:off x="6214229" y="5864900"/>
            <a:ext cx="7688342" cy="1663898"/>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Twitter data provides valuable insights into public perception during crises. Predictive models can inform public health strategies and communication efforts. However, Twitter demographics may not represent the entire population. Future work includes real-time monitoring and integration with other data sources.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4103</Words>
  <Application>WPS Presentation</Application>
  <PresentationFormat>On-screen Show (16:9)</PresentationFormat>
  <Paragraphs>109</Paragraphs>
  <Slides>8</Slides>
  <Notes>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SimSun</vt:lpstr>
      <vt:lpstr>Wingdings</vt:lpstr>
      <vt:lpstr>Inter Bold</vt:lpstr>
      <vt:lpstr>Segoe Print</vt:lpstr>
      <vt:lpstr>Inter Bold</vt:lpstr>
      <vt:lpstr>Inter Bold</vt:lpstr>
      <vt:lpstr>Inter</vt:lpstr>
      <vt:lpstr>Inter</vt:lpstr>
      <vt:lpstr>Inter</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DEVESH ALAN</cp:lastModifiedBy>
  <cp:revision>2</cp:revision>
  <dcterms:created xsi:type="dcterms:W3CDTF">2025-05-25T18:18:00Z</dcterms:created>
  <dcterms:modified xsi:type="dcterms:W3CDTF">2025-05-27T04:10:58Z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4F7431B2516B49B49109E294FB561F00_13</vt:lpwstr>
  </property>
  <property fmtid="{D5CDD505-2E9C-101B-9397-08002B2CF9AE}" pid="3" name="KSOProductBuildVer">
    <vt:lpwstr>2057-12.2.0.21183</vt:lpwstr>
  </property>
</Properties>
</file>