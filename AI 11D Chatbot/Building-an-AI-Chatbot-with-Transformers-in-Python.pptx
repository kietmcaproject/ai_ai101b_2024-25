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useoModerno Medium" panose="020B0604020202020204" charset="0"/>
      <p:regular r:id="rId13"/>
    </p:embeddedFont>
    <p:embeddedFont>
      <p:font typeface="Source Sans Pro" panose="020B0503030403020204" pitchFamily="34"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01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2282052-F7A0-FE8F-5D17-AA7EA328013D}"/>
              </a:ext>
            </a:extLst>
          </p:cNvPr>
          <p:cNvSpPr txBox="1">
            <a:spLocks/>
          </p:cNvSpPr>
          <p:nvPr/>
        </p:nvSpPr>
        <p:spPr>
          <a:xfrm>
            <a:off x="1828800" y="2487168"/>
            <a:ext cx="10972800" cy="2149069"/>
          </a:xfr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280" b="1">
                <a:latin typeface="Times New Roman" panose="02020603050405020304" pitchFamily="18" charset="0"/>
                <a:cs typeface="Times New Roman" panose="02020603050405020304" pitchFamily="18" charset="0"/>
              </a:rPr>
              <a:t>Introduction To AI </a:t>
            </a:r>
            <a:br>
              <a:rPr lang="en-IN" sz="2880" b="1">
                <a:latin typeface="Times New Roman" panose="02020603050405020304" pitchFamily="18" charset="0"/>
                <a:cs typeface="Times New Roman" panose="02020603050405020304" pitchFamily="18" charset="0"/>
              </a:rPr>
            </a:br>
            <a:r>
              <a:rPr lang="en-IN" sz="4200" b="1">
                <a:latin typeface="Times New Roman" panose="02020603050405020304" pitchFamily="18" charset="0"/>
                <a:cs typeface="Times New Roman" panose="02020603050405020304" pitchFamily="18" charset="0"/>
              </a:rPr>
              <a:t>Even Semester</a:t>
            </a:r>
            <a:br>
              <a:rPr lang="en-IN" sz="4200" b="1">
                <a:latin typeface="Times New Roman" panose="02020603050405020304" pitchFamily="18" charset="0"/>
                <a:cs typeface="Times New Roman" panose="02020603050405020304" pitchFamily="18" charset="0"/>
              </a:rPr>
            </a:br>
            <a:r>
              <a:rPr lang="en-IN" sz="4200" b="1">
                <a:latin typeface="Times New Roman" panose="02020603050405020304" pitchFamily="18" charset="0"/>
                <a:cs typeface="Times New Roman" panose="02020603050405020304" pitchFamily="18" charset="0"/>
              </a:rPr>
              <a:t>Session 2025-26</a:t>
            </a:r>
            <a:endParaRPr lang="en-US" sz="4200" b="1" dirty="0">
              <a:latin typeface="Times New Roman" panose="02020603050405020304" pitchFamily="18" charset="0"/>
              <a:cs typeface="Times New Roman" panose="02020603050405020304" pitchFamily="18" charset="0"/>
            </a:endParaRPr>
          </a:p>
        </p:txBody>
      </p:sp>
      <p:sp>
        <p:nvSpPr>
          <p:cNvPr id="9" name="Subtitle 2">
            <a:extLst>
              <a:ext uri="{FF2B5EF4-FFF2-40B4-BE49-F238E27FC236}">
                <a16:creationId xmlns:a16="http://schemas.microsoft.com/office/drawing/2014/main" id="{2F8D5F7C-BCA4-C1E8-D213-B6F62D633E5D}"/>
              </a:ext>
            </a:extLst>
          </p:cNvPr>
          <p:cNvSpPr txBox="1">
            <a:spLocks/>
          </p:cNvSpPr>
          <p:nvPr/>
        </p:nvSpPr>
        <p:spPr>
          <a:xfrm>
            <a:off x="1828800" y="4893032"/>
            <a:ext cx="10972800" cy="1206901"/>
          </a:xfr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AI Chatbot using Transformers</a:t>
            </a:r>
          </a:p>
          <a:p>
            <a:r>
              <a:rPr lang="en-US" b="1" dirty="0">
                <a:latin typeface="Times New Roman" panose="02020603050405020304" pitchFamily="18" charset="0"/>
                <a:cs typeface="Times New Roman" panose="02020603050405020304" pitchFamily="18" charset="0"/>
              </a:rPr>
              <a:t>Shashank Singh, Tarun Kumar, Ved </a:t>
            </a:r>
            <a:r>
              <a:rPr lang="en-US" b="1" dirty="0" err="1">
                <a:latin typeface="Times New Roman" panose="02020603050405020304" pitchFamily="18" charset="0"/>
                <a:cs typeface="Times New Roman" panose="02020603050405020304" pitchFamily="18" charset="0"/>
              </a:rPr>
              <a:t>Teotia</a:t>
            </a:r>
            <a:r>
              <a:rPr lang="en-US" b="1" dirty="0">
                <a:latin typeface="Times New Roman" panose="02020603050405020304" pitchFamily="18" charset="0"/>
                <a:cs typeface="Times New Roman" panose="02020603050405020304" pitchFamily="18" charset="0"/>
              </a:rPr>
              <a:t>, Vishal Dagar </a:t>
            </a:r>
          </a:p>
          <a:p>
            <a:endParaRPr lang="en-US" b="1" dirty="0">
              <a:latin typeface="Times New Roman" panose="02020603050405020304" pitchFamily="18" charset="0"/>
              <a:cs typeface="Times New Roman" panose="02020603050405020304" pitchFamily="18" charset="0"/>
            </a:endParaRPr>
          </a:p>
        </p:txBody>
      </p:sp>
      <p:sp>
        <p:nvSpPr>
          <p:cNvPr id="10" name="Subtitle 2">
            <a:extLst>
              <a:ext uri="{FF2B5EF4-FFF2-40B4-BE49-F238E27FC236}">
                <a16:creationId xmlns:a16="http://schemas.microsoft.com/office/drawing/2014/main" id="{9CF94989-858E-2D5E-B64D-251A978A13E4}"/>
              </a:ext>
            </a:extLst>
          </p:cNvPr>
          <p:cNvSpPr txBox="1">
            <a:spLocks/>
          </p:cNvSpPr>
          <p:nvPr/>
        </p:nvSpPr>
        <p:spPr>
          <a:xfrm>
            <a:off x="1828800" y="5739117"/>
            <a:ext cx="10972800" cy="915238"/>
          </a:xfrm>
          <a:prstGeom prst="rect">
            <a:avLst/>
          </a:prstGeom>
        </p:spPr>
        <p:txBody>
          <a:bodyPr vert="horz" lIns="109728" tIns="54864" rIns="109728" bIns="54864"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80" dirty="0"/>
          </a:p>
        </p:txBody>
      </p:sp>
      <p:sp>
        <p:nvSpPr>
          <p:cNvPr id="11" name="Subtitle 2">
            <a:extLst>
              <a:ext uri="{FF2B5EF4-FFF2-40B4-BE49-F238E27FC236}">
                <a16:creationId xmlns:a16="http://schemas.microsoft.com/office/drawing/2014/main" id="{4A770A5D-51C6-3499-663F-A2AB15EBFDE4}"/>
              </a:ext>
            </a:extLst>
          </p:cNvPr>
          <p:cNvSpPr txBox="1">
            <a:spLocks/>
          </p:cNvSpPr>
          <p:nvPr/>
        </p:nvSpPr>
        <p:spPr>
          <a:xfrm>
            <a:off x="9379975" y="6760846"/>
            <a:ext cx="5250426" cy="1468754"/>
          </a:xfrm>
          <a:prstGeom prst="rect">
            <a:avLst/>
          </a:prstGeom>
        </p:spPr>
        <p:txBody>
          <a:bodyPr vert="horz" lIns="109728" tIns="54864" rIns="109728" bIns="54864"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sz="2880" b="1" u="sng" dirty="0">
                <a:latin typeface="Times New Roman" panose="02020603050405020304" pitchFamily="18" charset="0"/>
                <a:cs typeface="Times New Roman" panose="02020603050405020304" pitchFamily="18" charset="0"/>
              </a:rPr>
              <a:t>Project Supervisor:</a:t>
            </a:r>
          </a:p>
          <a:p>
            <a:pPr algn="just"/>
            <a:r>
              <a:rPr lang="en-IN" sz="2880" dirty="0">
                <a:solidFill>
                  <a:srgbClr val="FF0000"/>
                </a:solidFill>
                <a:latin typeface="Times New Roman" panose="02020603050405020304" pitchFamily="18" charset="0"/>
                <a:cs typeface="Times New Roman" panose="02020603050405020304" pitchFamily="18" charset="0"/>
              </a:rPr>
              <a:t>Supervisor Name: Mr. Apoorv Jain </a:t>
            </a:r>
          </a:p>
          <a:p>
            <a:pPr algn="just"/>
            <a:r>
              <a:rPr lang="en-IN" sz="2880" dirty="0">
                <a:solidFill>
                  <a:srgbClr val="FF0000"/>
                </a:solidFill>
                <a:latin typeface="Times New Roman" panose="02020603050405020304" pitchFamily="18" charset="0"/>
                <a:cs typeface="Times New Roman" panose="02020603050405020304" pitchFamily="18" charset="0"/>
              </a:rPr>
              <a:t>Designation: Assistant Professor</a:t>
            </a:r>
          </a:p>
          <a:p>
            <a:pPr algn="just"/>
            <a:endParaRPr lang="en-IN" sz="2880" b="1" u="sng"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37BB46A-8796-C9D2-0545-6705FE995B60}"/>
              </a:ext>
            </a:extLst>
          </p:cNvPr>
          <p:cNvPicPr>
            <a:picLocks noChangeAspect="1"/>
          </p:cNvPicPr>
          <p:nvPr/>
        </p:nvPicPr>
        <p:blipFill>
          <a:blip r:embed="rId3"/>
          <a:stretch>
            <a:fillRect/>
          </a:stretch>
        </p:blipFill>
        <p:spPr>
          <a:xfrm>
            <a:off x="0" y="3012"/>
            <a:ext cx="14630400" cy="16613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47512"/>
            <a:ext cx="5827990"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Presentation Agenda</a:t>
            </a:r>
            <a:endParaRPr lang="en-US" sz="4450" dirty="0"/>
          </a:p>
        </p:txBody>
      </p:sp>
      <p:sp>
        <p:nvSpPr>
          <p:cNvPr id="4" name="Shape 1"/>
          <p:cNvSpPr/>
          <p:nvPr/>
        </p:nvSpPr>
        <p:spPr>
          <a:xfrm>
            <a:off x="6280190" y="2096453"/>
            <a:ext cx="510302" cy="510302"/>
          </a:xfrm>
          <a:prstGeom prst="roundRect">
            <a:avLst>
              <a:gd name="adj" fmla="val 6667"/>
            </a:avLst>
          </a:prstGeom>
          <a:solidFill>
            <a:srgbClr val="F3EEE3"/>
          </a:solidFill>
          <a:ln/>
        </p:spPr>
      </p:sp>
      <p:pic>
        <p:nvPicPr>
          <p:cNvPr id="5" name="Image 1" descr="preencoded.png"/>
          <p:cNvPicPr>
            <a:picLocks noChangeAspect="1"/>
          </p:cNvPicPr>
          <p:nvPr/>
        </p:nvPicPr>
        <p:blipFill>
          <a:blip r:embed="rId4"/>
          <a:stretch>
            <a:fillRect/>
          </a:stretch>
        </p:blipFill>
        <p:spPr>
          <a:xfrm>
            <a:off x="6365260" y="2138958"/>
            <a:ext cx="340162" cy="425291"/>
          </a:xfrm>
          <a:prstGeom prst="rect">
            <a:avLst/>
          </a:prstGeom>
        </p:spPr>
      </p:pic>
      <p:sp>
        <p:nvSpPr>
          <p:cNvPr id="6" name="Text 2"/>
          <p:cNvSpPr/>
          <p:nvPr/>
        </p:nvSpPr>
        <p:spPr>
          <a:xfrm>
            <a:off x="7017306" y="2174319"/>
            <a:ext cx="3887033"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Understanding Transformers</a:t>
            </a:r>
            <a:endParaRPr lang="en-US" sz="2200" dirty="0"/>
          </a:p>
        </p:txBody>
      </p:sp>
      <p:sp>
        <p:nvSpPr>
          <p:cNvPr id="7" name="Text 3"/>
          <p:cNvSpPr/>
          <p:nvPr/>
        </p:nvSpPr>
        <p:spPr>
          <a:xfrm>
            <a:off x="7017306" y="2664738"/>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Delve into the architecture that powers modern AI language models.</a:t>
            </a:r>
            <a:endParaRPr lang="en-US" sz="1750" dirty="0"/>
          </a:p>
        </p:txBody>
      </p:sp>
      <p:sp>
        <p:nvSpPr>
          <p:cNvPr id="8" name="Shape 4"/>
          <p:cNvSpPr/>
          <p:nvPr/>
        </p:nvSpPr>
        <p:spPr>
          <a:xfrm>
            <a:off x="6280190" y="3481268"/>
            <a:ext cx="510302" cy="510302"/>
          </a:xfrm>
          <a:prstGeom prst="roundRect">
            <a:avLst>
              <a:gd name="adj" fmla="val 6667"/>
            </a:avLst>
          </a:prstGeom>
          <a:solidFill>
            <a:srgbClr val="F3EEE3"/>
          </a:solidFill>
          <a:ln/>
        </p:spPr>
      </p:sp>
      <p:pic>
        <p:nvPicPr>
          <p:cNvPr id="9" name="Image 2" descr="preencoded.png"/>
          <p:cNvPicPr>
            <a:picLocks noChangeAspect="1"/>
          </p:cNvPicPr>
          <p:nvPr/>
        </p:nvPicPr>
        <p:blipFill>
          <a:blip r:embed="rId5"/>
          <a:stretch>
            <a:fillRect/>
          </a:stretch>
        </p:blipFill>
        <p:spPr>
          <a:xfrm>
            <a:off x="6365260" y="3523774"/>
            <a:ext cx="340162" cy="425291"/>
          </a:xfrm>
          <a:prstGeom prst="rect">
            <a:avLst/>
          </a:prstGeom>
        </p:spPr>
      </p:pic>
      <p:sp>
        <p:nvSpPr>
          <p:cNvPr id="10" name="Text 5"/>
          <p:cNvSpPr/>
          <p:nvPr/>
        </p:nvSpPr>
        <p:spPr>
          <a:xfrm>
            <a:off x="7017306" y="3559135"/>
            <a:ext cx="3212306"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Python &amp; Hugging Face</a:t>
            </a:r>
            <a:endParaRPr lang="en-US" sz="2200" dirty="0"/>
          </a:p>
        </p:txBody>
      </p:sp>
      <p:sp>
        <p:nvSpPr>
          <p:cNvPr id="11" name="Text 6"/>
          <p:cNvSpPr/>
          <p:nvPr/>
        </p:nvSpPr>
        <p:spPr>
          <a:xfrm>
            <a:off x="7017306" y="4049554"/>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Leverage key libraries for seamless model integration.</a:t>
            </a:r>
            <a:endParaRPr lang="en-US" sz="1750" dirty="0"/>
          </a:p>
        </p:txBody>
      </p:sp>
      <p:sp>
        <p:nvSpPr>
          <p:cNvPr id="12" name="Shape 7"/>
          <p:cNvSpPr/>
          <p:nvPr/>
        </p:nvSpPr>
        <p:spPr>
          <a:xfrm>
            <a:off x="6280190" y="4866084"/>
            <a:ext cx="510302" cy="510302"/>
          </a:xfrm>
          <a:prstGeom prst="roundRect">
            <a:avLst>
              <a:gd name="adj" fmla="val 6667"/>
            </a:avLst>
          </a:prstGeom>
          <a:solidFill>
            <a:srgbClr val="F3EEE3"/>
          </a:solidFill>
          <a:ln/>
        </p:spPr>
      </p:sp>
      <p:pic>
        <p:nvPicPr>
          <p:cNvPr id="13" name="Image 3" descr="preencoded.png"/>
          <p:cNvPicPr>
            <a:picLocks noChangeAspect="1"/>
          </p:cNvPicPr>
          <p:nvPr/>
        </p:nvPicPr>
        <p:blipFill>
          <a:blip r:embed="rId6"/>
          <a:stretch>
            <a:fillRect/>
          </a:stretch>
        </p:blipFill>
        <p:spPr>
          <a:xfrm>
            <a:off x="6365260" y="4908590"/>
            <a:ext cx="340162" cy="425291"/>
          </a:xfrm>
          <a:prstGeom prst="rect">
            <a:avLst/>
          </a:prstGeom>
        </p:spPr>
      </p:pic>
      <p:sp>
        <p:nvSpPr>
          <p:cNvPr id="14" name="Text 8"/>
          <p:cNvSpPr/>
          <p:nvPr/>
        </p:nvSpPr>
        <p:spPr>
          <a:xfrm>
            <a:off x="7017306" y="4943951"/>
            <a:ext cx="3002042"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Chatbot Development</a:t>
            </a:r>
            <a:endParaRPr lang="en-US" sz="2200" dirty="0"/>
          </a:p>
        </p:txBody>
      </p:sp>
      <p:sp>
        <p:nvSpPr>
          <p:cNvPr id="15" name="Text 9"/>
          <p:cNvSpPr/>
          <p:nvPr/>
        </p:nvSpPr>
        <p:spPr>
          <a:xfrm>
            <a:off x="7017306" y="5434370"/>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Step-by-step guide to building your conversational agent.</a:t>
            </a:r>
            <a:endParaRPr lang="en-US" sz="1750" dirty="0"/>
          </a:p>
        </p:txBody>
      </p:sp>
      <p:sp>
        <p:nvSpPr>
          <p:cNvPr id="16" name="Shape 10"/>
          <p:cNvSpPr/>
          <p:nvPr/>
        </p:nvSpPr>
        <p:spPr>
          <a:xfrm>
            <a:off x="6280190" y="6250900"/>
            <a:ext cx="510302" cy="510302"/>
          </a:xfrm>
          <a:prstGeom prst="roundRect">
            <a:avLst>
              <a:gd name="adj" fmla="val 6667"/>
            </a:avLst>
          </a:prstGeom>
          <a:solidFill>
            <a:srgbClr val="F3EEE3"/>
          </a:solidFill>
          <a:ln/>
        </p:spPr>
      </p:sp>
      <p:pic>
        <p:nvPicPr>
          <p:cNvPr id="17" name="Image 4" descr="preencoded.png"/>
          <p:cNvPicPr>
            <a:picLocks noChangeAspect="1"/>
          </p:cNvPicPr>
          <p:nvPr/>
        </p:nvPicPr>
        <p:blipFill>
          <a:blip r:embed="rId7"/>
          <a:stretch>
            <a:fillRect/>
          </a:stretch>
        </p:blipFill>
        <p:spPr>
          <a:xfrm>
            <a:off x="6365260" y="6293406"/>
            <a:ext cx="340162" cy="425291"/>
          </a:xfrm>
          <a:prstGeom prst="rect">
            <a:avLst/>
          </a:prstGeom>
        </p:spPr>
      </p:pic>
      <p:sp>
        <p:nvSpPr>
          <p:cNvPr id="18" name="Text 11"/>
          <p:cNvSpPr/>
          <p:nvPr/>
        </p:nvSpPr>
        <p:spPr>
          <a:xfrm>
            <a:off x="7017306" y="6328767"/>
            <a:ext cx="2902268"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Training &amp; Evaluation</a:t>
            </a:r>
            <a:endParaRPr lang="en-US" sz="2200" dirty="0"/>
          </a:p>
        </p:txBody>
      </p:sp>
      <p:sp>
        <p:nvSpPr>
          <p:cNvPr id="19" name="Text 12"/>
          <p:cNvSpPr/>
          <p:nvPr/>
        </p:nvSpPr>
        <p:spPr>
          <a:xfrm>
            <a:off x="7017306" y="6819186"/>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Optimize performance and assess model effectiveness.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32002"/>
            <a:ext cx="8471773"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What are Transformer Models?</a:t>
            </a:r>
            <a:endParaRPr lang="en-US" sz="4450" dirty="0"/>
          </a:p>
        </p:txBody>
      </p:sp>
      <p:sp>
        <p:nvSpPr>
          <p:cNvPr id="3" name="Text 1"/>
          <p:cNvSpPr/>
          <p:nvPr/>
        </p:nvSpPr>
        <p:spPr>
          <a:xfrm>
            <a:off x="793790" y="289440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Transformer models are neural networks designed to process sequential data, particularly natural language. They revolutionized NLP with their attention mechanisms, allowing parallel processing and long-range dependency capture.</a:t>
            </a:r>
            <a:endParaRPr lang="en-US" sz="1750" dirty="0"/>
          </a:p>
        </p:txBody>
      </p:sp>
      <p:sp>
        <p:nvSpPr>
          <p:cNvPr id="4" name="Text 2"/>
          <p:cNvSpPr/>
          <p:nvPr/>
        </p:nvSpPr>
        <p:spPr>
          <a:xfrm>
            <a:off x="793790" y="4102179"/>
            <a:ext cx="3003828"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Attention Mechanism</a:t>
            </a:r>
            <a:endParaRPr lang="en-US" sz="2200" dirty="0"/>
          </a:p>
        </p:txBody>
      </p:sp>
      <p:sp>
        <p:nvSpPr>
          <p:cNvPr id="5" name="Text 3"/>
          <p:cNvSpPr/>
          <p:nvPr/>
        </p:nvSpPr>
        <p:spPr>
          <a:xfrm>
            <a:off x="793790" y="4683323"/>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Focuses on relevant parts of the input sequence.</a:t>
            </a:r>
            <a:endParaRPr lang="en-US" sz="1750" dirty="0"/>
          </a:p>
        </p:txBody>
      </p:sp>
      <p:sp>
        <p:nvSpPr>
          <p:cNvPr id="6" name="Text 4"/>
          <p:cNvSpPr/>
          <p:nvPr/>
        </p:nvSpPr>
        <p:spPr>
          <a:xfrm>
            <a:off x="793790" y="525029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Pro" pitchFamily="34" charset="0"/>
                <a:ea typeface="Source Sans Pro" pitchFamily="34" charset="-122"/>
                <a:cs typeface="Source Sans Pro" pitchFamily="34" charset="-120"/>
              </a:rPr>
              <a:t>Self-attention computes relevance within a sequence.</a:t>
            </a:r>
            <a:endParaRPr lang="en-US" sz="1750" dirty="0"/>
          </a:p>
        </p:txBody>
      </p:sp>
      <p:sp>
        <p:nvSpPr>
          <p:cNvPr id="7" name="Text 5"/>
          <p:cNvSpPr/>
          <p:nvPr/>
        </p:nvSpPr>
        <p:spPr>
          <a:xfrm>
            <a:off x="793790" y="569249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Pro" pitchFamily="34" charset="0"/>
                <a:ea typeface="Source Sans Pro" pitchFamily="34" charset="-122"/>
                <a:cs typeface="Source Sans Pro" pitchFamily="34" charset="-120"/>
              </a:rPr>
              <a:t>Cross-attention connects encoder and decoder outputs.</a:t>
            </a:r>
            <a:endParaRPr lang="en-US" sz="1750" dirty="0"/>
          </a:p>
        </p:txBody>
      </p:sp>
      <p:sp>
        <p:nvSpPr>
          <p:cNvPr id="8" name="Text 6"/>
          <p:cNvSpPr/>
          <p:nvPr/>
        </p:nvSpPr>
        <p:spPr>
          <a:xfrm>
            <a:off x="7599521" y="4102179"/>
            <a:ext cx="3932992"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Encoder-Decoder Architecture</a:t>
            </a:r>
            <a:endParaRPr lang="en-US" sz="2200" dirty="0"/>
          </a:p>
        </p:txBody>
      </p:sp>
      <p:sp>
        <p:nvSpPr>
          <p:cNvPr id="9" name="Text 7"/>
          <p:cNvSpPr/>
          <p:nvPr/>
        </p:nvSpPr>
        <p:spPr>
          <a:xfrm>
            <a:off x="7599521" y="4683323"/>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Comprises an encoder for input understanding and a decoder for output generation.</a:t>
            </a:r>
            <a:endParaRPr lang="en-US" sz="1750" dirty="0"/>
          </a:p>
        </p:txBody>
      </p:sp>
      <p:sp>
        <p:nvSpPr>
          <p:cNvPr id="10" name="Text 8"/>
          <p:cNvSpPr/>
          <p:nvPr/>
        </p:nvSpPr>
        <p:spPr>
          <a:xfrm>
            <a:off x="7599521" y="56132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Pro" pitchFamily="34" charset="0"/>
                <a:ea typeface="Source Sans Pro" pitchFamily="34" charset="-122"/>
                <a:cs typeface="Source Sans Pro" pitchFamily="34" charset="-120"/>
              </a:rPr>
              <a:t>Encoder processes input tokens.</a:t>
            </a:r>
            <a:endParaRPr lang="en-US" sz="1750" dirty="0"/>
          </a:p>
        </p:txBody>
      </p:sp>
      <p:sp>
        <p:nvSpPr>
          <p:cNvPr id="11" name="Text 9"/>
          <p:cNvSpPr/>
          <p:nvPr/>
        </p:nvSpPr>
        <p:spPr>
          <a:xfrm>
            <a:off x="7599521" y="605540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Pro" pitchFamily="34" charset="0"/>
                <a:ea typeface="Source Sans Pro" pitchFamily="34" charset="-122"/>
                <a:cs typeface="Source Sans Pro" pitchFamily="34" charset="-120"/>
              </a:rPr>
              <a:t>Decoder generates output tokens sequentially.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7652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Key Python Libraries</a:t>
            </a:r>
            <a:endParaRPr lang="en-US" sz="4450" dirty="0"/>
          </a:p>
        </p:txBody>
      </p:sp>
      <p:sp>
        <p:nvSpPr>
          <p:cNvPr id="4" name="Text 1"/>
          <p:cNvSpPr/>
          <p:nvPr/>
        </p:nvSpPr>
        <p:spPr>
          <a:xfrm>
            <a:off x="793790" y="1825466"/>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Building AI chatbots in Python is made easier with robust libraries. Hugging Face Transformers is central, offering pre-trained models and easy-to-use APIs. PyTorch and TensorFlow provide foundational deep learning capabilities.</a:t>
            </a:r>
            <a:endParaRPr lang="en-US" sz="1750" dirty="0"/>
          </a:p>
        </p:txBody>
      </p:sp>
      <p:sp>
        <p:nvSpPr>
          <p:cNvPr id="5" name="Shape 2"/>
          <p:cNvSpPr/>
          <p:nvPr/>
        </p:nvSpPr>
        <p:spPr>
          <a:xfrm>
            <a:off x="793790" y="3169325"/>
            <a:ext cx="3664863" cy="2387084"/>
          </a:xfrm>
          <a:prstGeom prst="roundRect">
            <a:avLst>
              <a:gd name="adj" fmla="val 1425"/>
            </a:avLst>
          </a:prstGeom>
          <a:solidFill>
            <a:srgbClr val="F3EEE3"/>
          </a:solidFill>
          <a:ln/>
        </p:spPr>
      </p:sp>
      <p:sp>
        <p:nvSpPr>
          <p:cNvPr id="6" name="Text 3"/>
          <p:cNvSpPr/>
          <p:nvPr/>
        </p:nvSpPr>
        <p:spPr>
          <a:xfrm>
            <a:off x="1020604" y="3396139"/>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Hugging Face Transformers</a:t>
            </a:r>
            <a:endParaRPr lang="en-US" sz="2200" dirty="0"/>
          </a:p>
        </p:txBody>
      </p:sp>
      <p:sp>
        <p:nvSpPr>
          <p:cNvPr id="7" name="Text 4"/>
          <p:cNvSpPr/>
          <p:nvPr/>
        </p:nvSpPr>
        <p:spPr>
          <a:xfrm>
            <a:off x="1020604" y="4240887"/>
            <a:ext cx="3211235"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Access a vast collection of pre-trained transformer models and tools for fine-tuning.</a:t>
            </a:r>
            <a:endParaRPr lang="en-US" sz="1750" dirty="0"/>
          </a:p>
        </p:txBody>
      </p:sp>
      <p:sp>
        <p:nvSpPr>
          <p:cNvPr id="8" name="Shape 5"/>
          <p:cNvSpPr/>
          <p:nvPr/>
        </p:nvSpPr>
        <p:spPr>
          <a:xfrm>
            <a:off x="4685467" y="3169325"/>
            <a:ext cx="3664863" cy="2387084"/>
          </a:xfrm>
          <a:prstGeom prst="roundRect">
            <a:avLst>
              <a:gd name="adj" fmla="val 1425"/>
            </a:avLst>
          </a:prstGeom>
          <a:solidFill>
            <a:srgbClr val="F3EEE3"/>
          </a:solidFill>
          <a:ln/>
        </p:spPr>
      </p:sp>
      <p:sp>
        <p:nvSpPr>
          <p:cNvPr id="9" name="Text 6"/>
          <p:cNvSpPr/>
          <p:nvPr/>
        </p:nvSpPr>
        <p:spPr>
          <a:xfrm>
            <a:off x="4912281" y="3396139"/>
            <a:ext cx="2906316"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PyTorch / TensorFlow</a:t>
            </a:r>
            <a:endParaRPr lang="en-US" sz="2200" dirty="0"/>
          </a:p>
        </p:txBody>
      </p:sp>
      <p:sp>
        <p:nvSpPr>
          <p:cNvPr id="10" name="Text 7"/>
          <p:cNvSpPr/>
          <p:nvPr/>
        </p:nvSpPr>
        <p:spPr>
          <a:xfrm>
            <a:off x="4912281" y="3886557"/>
            <a:ext cx="3211235"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Deep learning frameworks for building and training neural networks efficiently.</a:t>
            </a:r>
            <a:endParaRPr lang="en-US" sz="1750" dirty="0"/>
          </a:p>
        </p:txBody>
      </p:sp>
      <p:sp>
        <p:nvSpPr>
          <p:cNvPr id="11" name="Shape 8"/>
          <p:cNvSpPr/>
          <p:nvPr/>
        </p:nvSpPr>
        <p:spPr>
          <a:xfrm>
            <a:off x="793790" y="5783223"/>
            <a:ext cx="7556421" cy="1669852"/>
          </a:xfrm>
          <a:prstGeom prst="roundRect">
            <a:avLst>
              <a:gd name="adj" fmla="val 2038"/>
            </a:avLst>
          </a:prstGeom>
          <a:solidFill>
            <a:srgbClr val="F3EEE3"/>
          </a:solidFill>
          <a:ln/>
        </p:spPr>
      </p:sp>
      <p:sp>
        <p:nvSpPr>
          <p:cNvPr id="12" name="Text 9"/>
          <p:cNvSpPr/>
          <p:nvPr/>
        </p:nvSpPr>
        <p:spPr>
          <a:xfrm>
            <a:off x="1020604" y="60100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NLTK / SpaCy</a:t>
            </a:r>
            <a:endParaRPr lang="en-US" sz="2200" dirty="0"/>
          </a:p>
        </p:txBody>
      </p:sp>
      <p:sp>
        <p:nvSpPr>
          <p:cNvPr id="13" name="Text 10"/>
          <p:cNvSpPr/>
          <p:nvPr/>
        </p:nvSpPr>
        <p:spPr>
          <a:xfrm>
            <a:off x="1020604" y="6500455"/>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Natural Language Toolkit and SpaCy are used for text preprocessing and analysis.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9610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Choosing a Transformer Model</a:t>
            </a:r>
            <a:endParaRPr lang="en-US" sz="4450" dirty="0"/>
          </a:p>
        </p:txBody>
      </p:sp>
      <p:sp>
        <p:nvSpPr>
          <p:cNvPr id="4" name="Text 1"/>
          <p:cNvSpPr/>
          <p:nvPr/>
        </p:nvSpPr>
        <p:spPr>
          <a:xfrm>
            <a:off x="6280190" y="2953822"/>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Selecting the right pre-trained model is crucial. BERT is excellent for understanding text, while GPT-2 and GPT-3 are powerful for text generation. T5 handles various tasks through a text-to-text format.</a:t>
            </a:r>
            <a:endParaRPr lang="en-US" sz="1750" dirty="0"/>
          </a:p>
        </p:txBody>
      </p:sp>
      <p:pic>
        <p:nvPicPr>
          <p:cNvPr id="5" name="Image 1" descr="preencoded.png"/>
          <p:cNvPicPr>
            <a:picLocks noChangeAspect="1"/>
          </p:cNvPicPr>
          <p:nvPr/>
        </p:nvPicPr>
        <p:blipFill>
          <a:blip r:embed="rId4"/>
          <a:stretch>
            <a:fillRect/>
          </a:stretch>
        </p:blipFill>
        <p:spPr>
          <a:xfrm>
            <a:off x="6280190" y="4297680"/>
            <a:ext cx="566976" cy="566976"/>
          </a:xfrm>
          <a:prstGeom prst="rect">
            <a:avLst/>
          </a:prstGeom>
        </p:spPr>
      </p:pic>
      <p:sp>
        <p:nvSpPr>
          <p:cNvPr id="6" name="Text 2"/>
          <p:cNvSpPr/>
          <p:nvPr/>
        </p:nvSpPr>
        <p:spPr>
          <a:xfrm>
            <a:off x="6280190" y="5091470"/>
            <a:ext cx="232981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BERT</a:t>
            </a:r>
            <a:endParaRPr lang="en-US" sz="2200" dirty="0"/>
          </a:p>
        </p:txBody>
      </p:sp>
      <p:sp>
        <p:nvSpPr>
          <p:cNvPr id="7" name="Text 3"/>
          <p:cNvSpPr/>
          <p:nvPr/>
        </p:nvSpPr>
        <p:spPr>
          <a:xfrm>
            <a:off x="6280190" y="5581888"/>
            <a:ext cx="2329815"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Bidirectional Encoder Representations from Transformers, ideal for understanding context.</a:t>
            </a:r>
            <a:endParaRPr lang="en-US" sz="1750" dirty="0"/>
          </a:p>
        </p:txBody>
      </p:sp>
      <p:pic>
        <p:nvPicPr>
          <p:cNvPr id="8" name="Image 2" descr="preencoded.png"/>
          <p:cNvPicPr>
            <a:picLocks noChangeAspect="1"/>
          </p:cNvPicPr>
          <p:nvPr/>
        </p:nvPicPr>
        <p:blipFill>
          <a:blip r:embed="rId5"/>
          <a:stretch>
            <a:fillRect/>
          </a:stretch>
        </p:blipFill>
        <p:spPr>
          <a:xfrm>
            <a:off x="8893493" y="4297680"/>
            <a:ext cx="566976" cy="566976"/>
          </a:xfrm>
          <a:prstGeom prst="rect">
            <a:avLst/>
          </a:prstGeom>
        </p:spPr>
      </p:pic>
      <p:sp>
        <p:nvSpPr>
          <p:cNvPr id="9" name="Text 4"/>
          <p:cNvSpPr/>
          <p:nvPr/>
        </p:nvSpPr>
        <p:spPr>
          <a:xfrm>
            <a:off x="8893493" y="5091470"/>
            <a:ext cx="232981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GPT-2/GPT-3</a:t>
            </a:r>
            <a:endParaRPr lang="en-US" sz="2200" dirty="0"/>
          </a:p>
        </p:txBody>
      </p:sp>
      <p:sp>
        <p:nvSpPr>
          <p:cNvPr id="10" name="Text 5"/>
          <p:cNvSpPr/>
          <p:nvPr/>
        </p:nvSpPr>
        <p:spPr>
          <a:xfrm>
            <a:off x="8893493" y="5581888"/>
            <a:ext cx="2329815"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Generative Pre-trained Transformers, highly effective for coherent text generation.</a:t>
            </a:r>
            <a:endParaRPr lang="en-US" sz="1750" dirty="0"/>
          </a:p>
        </p:txBody>
      </p:sp>
      <p:pic>
        <p:nvPicPr>
          <p:cNvPr id="11" name="Image 3" descr="preencoded.png"/>
          <p:cNvPicPr>
            <a:picLocks noChangeAspect="1"/>
          </p:cNvPicPr>
          <p:nvPr/>
        </p:nvPicPr>
        <p:blipFill>
          <a:blip r:embed="rId6"/>
          <a:stretch>
            <a:fillRect/>
          </a:stretch>
        </p:blipFill>
        <p:spPr>
          <a:xfrm>
            <a:off x="11506795" y="4297680"/>
            <a:ext cx="566976" cy="566976"/>
          </a:xfrm>
          <a:prstGeom prst="rect">
            <a:avLst/>
          </a:prstGeom>
        </p:spPr>
      </p:pic>
      <p:sp>
        <p:nvSpPr>
          <p:cNvPr id="12" name="Text 6"/>
          <p:cNvSpPr/>
          <p:nvPr/>
        </p:nvSpPr>
        <p:spPr>
          <a:xfrm>
            <a:off x="11506795" y="5091470"/>
            <a:ext cx="232981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T5</a:t>
            </a:r>
            <a:endParaRPr lang="en-US" sz="2200" dirty="0"/>
          </a:p>
        </p:txBody>
      </p:sp>
      <p:sp>
        <p:nvSpPr>
          <p:cNvPr id="13" name="Text 7"/>
          <p:cNvSpPr/>
          <p:nvPr/>
        </p:nvSpPr>
        <p:spPr>
          <a:xfrm>
            <a:off x="11506795" y="5581888"/>
            <a:ext cx="2329815"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Text-to-Text Transfer Transformer, good for multiple NLP tasks like summarization.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60571"/>
            <a:ext cx="8293179"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Data Preparation for Chatbots</a:t>
            </a:r>
            <a:endParaRPr lang="en-US" sz="4450" dirty="0"/>
          </a:p>
        </p:txBody>
      </p:sp>
      <p:sp>
        <p:nvSpPr>
          <p:cNvPr id="3" name="Text 1"/>
          <p:cNvSpPr/>
          <p:nvPr/>
        </p:nvSpPr>
        <p:spPr>
          <a:xfrm>
            <a:off x="793790" y="192297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High-quality data is essential for a well-performing chatbot. This involves collecting relevant conversation data, cleaning it, and tokenizing it into a format suitable for transformer models. Data diversity is key.</a:t>
            </a:r>
            <a:endParaRPr lang="en-US" sz="1750" dirty="0"/>
          </a:p>
        </p:txBody>
      </p:sp>
      <p:sp>
        <p:nvSpPr>
          <p:cNvPr id="4" name="Text 2"/>
          <p:cNvSpPr/>
          <p:nvPr/>
        </p:nvSpPr>
        <p:spPr>
          <a:xfrm>
            <a:off x="1857256" y="3533418"/>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Data Collection</a:t>
            </a:r>
            <a:endParaRPr lang="en-US" sz="2200" dirty="0"/>
          </a:p>
        </p:txBody>
      </p:sp>
      <p:sp>
        <p:nvSpPr>
          <p:cNvPr id="5" name="Text 3"/>
          <p:cNvSpPr/>
          <p:nvPr/>
        </p:nvSpPr>
        <p:spPr>
          <a:xfrm>
            <a:off x="793790" y="4023836"/>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Gather diverse conversational data sets.</a:t>
            </a:r>
            <a:endParaRPr lang="en-US" sz="1750" dirty="0"/>
          </a:p>
        </p:txBody>
      </p:sp>
      <p:pic>
        <p:nvPicPr>
          <p:cNvPr id="6" name="Image 0" descr="preencoded.png"/>
          <p:cNvPicPr>
            <a:picLocks noChangeAspect="1"/>
          </p:cNvPicPr>
          <p:nvPr/>
        </p:nvPicPr>
        <p:blipFill>
          <a:blip r:embed="rId3"/>
          <a:stretch>
            <a:fillRect/>
          </a:stretch>
        </p:blipFill>
        <p:spPr>
          <a:xfrm>
            <a:off x="5032653" y="2903934"/>
            <a:ext cx="4564975" cy="4564975"/>
          </a:xfrm>
          <a:prstGeom prst="rect">
            <a:avLst/>
          </a:prstGeom>
        </p:spPr>
      </p:pic>
      <p:pic>
        <p:nvPicPr>
          <p:cNvPr id="7" name="Image 1" descr="preencoded.png"/>
          <p:cNvPicPr>
            <a:picLocks noChangeAspect="1"/>
          </p:cNvPicPr>
          <p:nvPr/>
        </p:nvPicPr>
        <p:blipFill>
          <a:blip r:embed="rId4"/>
          <a:stretch>
            <a:fillRect/>
          </a:stretch>
        </p:blipFill>
        <p:spPr>
          <a:xfrm>
            <a:off x="6226731" y="3667006"/>
            <a:ext cx="339328" cy="424220"/>
          </a:xfrm>
          <a:prstGeom prst="rect">
            <a:avLst/>
          </a:prstGeom>
        </p:spPr>
      </p:pic>
      <p:sp>
        <p:nvSpPr>
          <p:cNvPr id="8" name="Text 4"/>
          <p:cNvSpPr/>
          <p:nvPr/>
        </p:nvSpPr>
        <p:spPr>
          <a:xfrm>
            <a:off x="9937790" y="33519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Data Cleaning</a:t>
            </a:r>
            <a:endParaRPr lang="en-US" sz="2200" dirty="0"/>
          </a:p>
        </p:txBody>
      </p:sp>
      <p:sp>
        <p:nvSpPr>
          <p:cNvPr id="9" name="Text 5"/>
          <p:cNvSpPr/>
          <p:nvPr/>
        </p:nvSpPr>
        <p:spPr>
          <a:xfrm>
            <a:off x="9937790" y="3842385"/>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Remove noise, duplicates, and irrelevant information.</a:t>
            </a:r>
            <a:endParaRPr lang="en-US" sz="1750" dirty="0"/>
          </a:p>
        </p:txBody>
      </p:sp>
      <p:pic>
        <p:nvPicPr>
          <p:cNvPr id="10" name="Image 2" descr="preencoded.png"/>
          <p:cNvPicPr>
            <a:picLocks noChangeAspect="1"/>
          </p:cNvPicPr>
          <p:nvPr/>
        </p:nvPicPr>
        <p:blipFill>
          <a:blip r:embed="rId5"/>
          <a:stretch>
            <a:fillRect/>
          </a:stretch>
        </p:blipFill>
        <p:spPr>
          <a:xfrm>
            <a:off x="5032653" y="2903934"/>
            <a:ext cx="4564975" cy="4564975"/>
          </a:xfrm>
          <a:prstGeom prst="rect">
            <a:avLst/>
          </a:prstGeom>
        </p:spPr>
      </p:pic>
      <p:pic>
        <p:nvPicPr>
          <p:cNvPr id="11" name="Image 3" descr="preencoded.png"/>
          <p:cNvPicPr>
            <a:picLocks noChangeAspect="1"/>
          </p:cNvPicPr>
          <p:nvPr/>
        </p:nvPicPr>
        <p:blipFill>
          <a:blip r:embed="rId6"/>
          <a:stretch>
            <a:fillRect/>
          </a:stretch>
        </p:blipFill>
        <p:spPr>
          <a:xfrm>
            <a:off x="8452604" y="4055507"/>
            <a:ext cx="339328" cy="424220"/>
          </a:xfrm>
          <a:prstGeom prst="rect">
            <a:avLst/>
          </a:prstGeom>
        </p:spPr>
      </p:pic>
      <p:sp>
        <p:nvSpPr>
          <p:cNvPr id="12" name="Text 6"/>
          <p:cNvSpPr/>
          <p:nvPr/>
        </p:nvSpPr>
        <p:spPr>
          <a:xfrm>
            <a:off x="9937790" y="58045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Tokenization</a:t>
            </a:r>
            <a:endParaRPr lang="en-US" sz="2200" dirty="0"/>
          </a:p>
        </p:txBody>
      </p:sp>
      <p:sp>
        <p:nvSpPr>
          <p:cNvPr id="13" name="Text 7"/>
          <p:cNvSpPr/>
          <p:nvPr/>
        </p:nvSpPr>
        <p:spPr>
          <a:xfrm>
            <a:off x="9937790" y="6294953"/>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Convert text into numerical tokens for model input.</a:t>
            </a:r>
            <a:endParaRPr lang="en-US" sz="1750" dirty="0"/>
          </a:p>
        </p:txBody>
      </p:sp>
      <p:pic>
        <p:nvPicPr>
          <p:cNvPr id="14" name="Image 4" descr="preencoded.png"/>
          <p:cNvPicPr>
            <a:picLocks noChangeAspect="1"/>
          </p:cNvPicPr>
          <p:nvPr/>
        </p:nvPicPr>
        <p:blipFill>
          <a:blip r:embed="rId7"/>
          <a:stretch>
            <a:fillRect/>
          </a:stretch>
        </p:blipFill>
        <p:spPr>
          <a:xfrm>
            <a:off x="5032653" y="2903934"/>
            <a:ext cx="4564975" cy="4564975"/>
          </a:xfrm>
          <a:prstGeom prst="rect">
            <a:avLst/>
          </a:prstGeom>
        </p:spPr>
      </p:pic>
      <p:pic>
        <p:nvPicPr>
          <p:cNvPr id="15" name="Image 5" descr="preencoded.png"/>
          <p:cNvPicPr>
            <a:picLocks noChangeAspect="1"/>
          </p:cNvPicPr>
          <p:nvPr/>
        </p:nvPicPr>
        <p:blipFill>
          <a:blip r:embed="rId8"/>
          <a:stretch>
            <a:fillRect/>
          </a:stretch>
        </p:blipFill>
        <p:spPr>
          <a:xfrm>
            <a:off x="8064103" y="6281380"/>
            <a:ext cx="339328" cy="424220"/>
          </a:xfrm>
          <a:prstGeom prst="rect">
            <a:avLst/>
          </a:prstGeom>
        </p:spPr>
      </p:pic>
      <p:sp>
        <p:nvSpPr>
          <p:cNvPr id="16" name="Text 8"/>
          <p:cNvSpPr/>
          <p:nvPr/>
        </p:nvSpPr>
        <p:spPr>
          <a:xfrm>
            <a:off x="1857256" y="5804535"/>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Dataset Formatting</a:t>
            </a:r>
            <a:endParaRPr lang="en-US" sz="2200" dirty="0"/>
          </a:p>
        </p:txBody>
      </p:sp>
      <p:sp>
        <p:nvSpPr>
          <p:cNvPr id="17" name="Text 9"/>
          <p:cNvSpPr/>
          <p:nvPr/>
        </p:nvSpPr>
        <p:spPr>
          <a:xfrm>
            <a:off x="793790" y="6294953"/>
            <a:ext cx="3898702" cy="725805"/>
          </a:xfrm>
          <a:prstGeom prst="rect">
            <a:avLst/>
          </a:prstGeom>
          <a:noFill/>
          <a:ln/>
        </p:spPr>
        <p:txBody>
          <a:bodyPr wrap="square" lIns="0" tIns="0" rIns="0" bIns="0" rtlCol="0" anchor="t"/>
          <a:lstStyle/>
          <a:p>
            <a:pPr marL="0" indent="0" algn="r">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Structure data appropriately for training and validation.</a:t>
            </a:r>
            <a:endParaRPr lang="en-US" sz="1750" dirty="0"/>
          </a:p>
        </p:txBody>
      </p:sp>
      <p:pic>
        <p:nvPicPr>
          <p:cNvPr id="18" name="Image 6" descr="preencoded.png"/>
          <p:cNvPicPr>
            <a:picLocks noChangeAspect="1"/>
          </p:cNvPicPr>
          <p:nvPr/>
        </p:nvPicPr>
        <p:blipFill>
          <a:blip r:embed="rId9"/>
          <a:stretch>
            <a:fillRect/>
          </a:stretch>
        </p:blipFill>
        <p:spPr>
          <a:xfrm>
            <a:off x="5032653" y="2903934"/>
            <a:ext cx="4564975" cy="4564975"/>
          </a:xfrm>
          <a:prstGeom prst="rect">
            <a:avLst/>
          </a:prstGeom>
        </p:spPr>
      </p:pic>
      <p:pic>
        <p:nvPicPr>
          <p:cNvPr id="19" name="Image 7" descr="preencoded.png"/>
          <p:cNvPicPr>
            <a:picLocks noChangeAspect="1"/>
          </p:cNvPicPr>
          <p:nvPr/>
        </p:nvPicPr>
        <p:blipFill>
          <a:blip r:embed="rId10"/>
          <a:stretch>
            <a:fillRect/>
          </a:stretch>
        </p:blipFill>
        <p:spPr>
          <a:xfrm>
            <a:off x="5838230" y="5892879"/>
            <a:ext cx="339328" cy="4242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4384"/>
            <a:ext cx="7407831" cy="602456"/>
          </a:xfrm>
          <a:prstGeom prst="rect">
            <a:avLst/>
          </a:prstGeom>
          <a:noFill/>
          <a:ln/>
        </p:spPr>
        <p:txBody>
          <a:bodyPr wrap="none" lIns="0" tIns="0" rIns="0" bIns="0" rtlCol="0" anchor="t"/>
          <a:lstStyle/>
          <a:p>
            <a:pPr marL="0" indent="0" algn="l">
              <a:lnSpc>
                <a:spcPts val="4700"/>
              </a:lnSpc>
              <a:buNone/>
            </a:pPr>
            <a:r>
              <a:rPr lang="en-US" sz="3750" dirty="0">
                <a:solidFill>
                  <a:srgbClr val="124E73"/>
                </a:solidFill>
                <a:latin typeface="MuseoModerno Medium" pitchFamily="34" charset="0"/>
                <a:ea typeface="MuseoModerno Medium" pitchFamily="34" charset="-122"/>
                <a:cs typeface="MuseoModerno Medium" pitchFamily="34" charset="-120"/>
              </a:rPr>
              <a:t>Building the Chatbot: Key Steps</a:t>
            </a:r>
            <a:endParaRPr lang="en-US" sz="3750" dirty="0"/>
          </a:p>
        </p:txBody>
      </p:sp>
      <p:sp>
        <p:nvSpPr>
          <p:cNvPr id="4" name="Text 1"/>
          <p:cNvSpPr/>
          <p:nvPr/>
        </p:nvSpPr>
        <p:spPr>
          <a:xfrm>
            <a:off x="793790" y="1676043"/>
            <a:ext cx="7556421" cy="925116"/>
          </a:xfrm>
          <a:prstGeom prst="rect">
            <a:avLst/>
          </a:prstGeom>
          <a:noFill/>
          <a:ln/>
        </p:spPr>
        <p:txBody>
          <a:bodyPr wrap="squar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The development process involves loading a pre-trained model, fine-tuning it with your specific dataset, and then deploying it. User feedback helps refine the model over time, ensuring continuous improvement.</a:t>
            </a:r>
            <a:endParaRPr lang="en-US" sz="1500" dirty="0"/>
          </a:p>
        </p:txBody>
      </p:sp>
      <p:pic>
        <p:nvPicPr>
          <p:cNvPr id="5" name="Image 1" descr="preencoded.png"/>
          <p:cNvPicPr>
            <a:picLocks noChangeAspect="1"/>
          </p:cNvPicPr>
          <p:nvPr/>
        </p:nvPicPr>
        <p:blipFill>
          <a:blip r:embed="rId4"/>
          <a:stretch>
            <a:fillRect/>
          </a:stretch>
        </p:blipFill>
        <p:spPr>
          <a:xfrm>
            <a:off x="793790" y="2817971"/>
            <a:ext cx="963930" cy="1156811"/>
          </a:xfrm>
          <a:prstGeom prst="rect">
            <a:avLst/>
          </a:prstGeom>
        </p:spPr>
      </p:pic>
      <p:sp>
        <p:nvSpPr>
          <p:cNvPr id="6" name="Text 2"/>
          <p:cNvSpPr/>
          <p:nvPr/>
        </p:nvSpPr>
        <p:spPr>
          <a:xfrm>
            <a:off x="2046922" y="3010733"/>
            <a:ext cx="2760583" cy="301228"/>
          </a:xfrm>
          <a:prstGeom prst="rect">
            <a:avLst/>
          </a:prstGeom>
          <a:noFill/>
          <a:ln/>
        </p:spPr>
        <p:txBody>
          <a:bodyPr wrap="none" lIns="0" tIns="0" rIns="0" bIns="0" rtlCol="0" anchor="t"/>
          <a:lstStyle/>
          <a:p>
            <a:pPr marL="0" indent="0" algn="l">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Load Pre-trained Model</a:t>
            </a:r>
            <a:endParaRPr lang="en-US" sz="1850" dirty="0"/>
          </a:p>
        </p:txBody>
      </p:sp>
      <p:sp>
        <p:nvSpPr>
          <p:cNvPr id="7" name="Text 3"/>
          <p:cNvSpPr/>
          <p:nvPr/>
        </p:nvSpPr>
        <p:spPr>
          <a:xfrm>
            <a:off x="2046922" y="3427571"/>
            <a:ext cx="6303288" cy="308372"/>
          </a:xfrm>
          <a:prstGeom prst="rect">
            <a:avLst/>
          </a:prstGeom>
          <a:noFill/>
          <a:ln/>
        </p:spPr>
        <p:txBody>
          <a:bodyPr wrap="non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Utilize Hugging Face's `AutoModelForCausalLM` or `AutoModelForSeq2Seq`.</a:t>
            </a:r>
            <a:endParaRPr lang="en-US" sz="1500" dirty="0"/>
          </a:p>
        </p:txBody>
      </p:sp>
      <p:pic>
        <p:nvPicPr>
          <p:cNvPr id="8" name="Image 2" descr="preencoded.png"/>
          <p:cNvPicPr>
            <a:picLocks noChangeAspect="1"/>
          </p:cNvPicPr>
          <p:nvPr/>
        </p:nvPicPr>
        <p:blipFill>
          <a:blip r:embed="rId5"/>
          <a:stretch>
            <a:fillRect/>
          </a:stretch>
        </p:blipFill>
        <p:spPr>
          <a:xfrm>
            <a:off x="793790" y="3974783"/>
            <a:ext cx="963930" cy="1156811"/>
          </a:xfrm>
          <a:prstGeom prst="rect">
            <a:avLst/>
          </a:prstGeom>
        </p:spPr>
      </p:pic>
      <p:sp>
        <p:nvSpPr>
          <p:cNvPr id="9" name="Text 4"/>
          <p:cNvSpPr/>
          <p:nvPr/>
        </p:nvSpPr>
        <p:spPr>
          <a:xfrm>
            <a:off x="2046922" y="4167545"/>
            <a:ext cx="3049191" cy="301228"/>
          </a:xfrm>
          <a:prstGeom prst="rect">
            <a:avLst/>
          </a:prstGeom>
          <a:noFill/>
          <a:ln/>
        </p:spPr>
        <p:txBody>
          <a:bodyPr wrap="none" lIns="0" tIns="0" rIns="0" bIns="0" rtlCol="0" anchor="t"/>
          <a:lstStyle/>
          <a:p>
            <a:pPr marL="0" indent="0" algn="l">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Fine-tune on Custom Data</a:t>
            </a:r>
            <a:endParaRPr lang="en-US" sz="1850" dirty="0"/>
          </a:p>
        </p:txBody>
      </p:sp>
      <p:sp>
        <p:nvSpPr>
          <p:cNvPr id="10" name="Text 5"/>
          <p:cNvSpPr/>
          <p:nvPr/>
        </p:nvSpPr>
        <p:spPr>
          <a:xfrm>
            <a:off x="2046922" y="4584383"/>
            <a:ext cx="6303288" cy="308372"/>
          </a:xfrm>
          <a:prstGeom prst="rect">
            <a:avLst/>
          </a:prstGeom>
          <a:noFill/>
          <a:ln/>
        </p:spPr>
        <p:txBody>
          <a:bodyPr wrap="non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Train the model with your prepared conversational dataset.</a:t>
            </a:r>
            <a:endParaRPr lang="en-US" sz="1500" dirty="0"/>
          </a:p>
        </p:txBody>
      </p:sp>
      <p:pic>
        <p:nvPicPr>
          <p:cNvPr id="11" name="Image 3" descr="preencoded.png"/>
          <p:cNvPicPr>
            <a:picLocks noChangeAspect="1"/>
          </p:cNvPicPr>
          <p:nvPr/>
        </p:nvPicPr>
        <p:blipFill>
          <a:blip r:embed="rId6"/>
          <a:stretch>
            <a:fillRect/>
          </a:stretch>
        </p:blipFill>
        <p:spPr>
          <a:xfrm>
            <a:off x="793790" y="5131594"/>
            <a:ext cx="963930" cy="1156811"/>
          </a:xfrm>
          <a:prstGeom prst="rect">
            <a:avLst/>
          </a:prstGeom>
        </p:spPr>
      </p:pic>
      <p:sp>
        <p:nvSpPr>
          <p:cNvPr id="12" name="Text 6"/>
          <p:cNvSpPr/>
          <p:nvPr/>
        </p:nvSpPr>
        <p:spPr>
          <a:xfrm>
            <a:off x="2046922" y="5324356"/>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Deploy &amp; Test</a:t>
            </a:r>
            <a:endParaRPr lang="en-US" sz="1850" dirty="0"/>
          </a:p>
        </p:txBody>
      </p:sp>
      <p:sp>
        <p:nvSpPr>
          <p:cNvPr id="13" name="Text 7"/>
          <p:cNvSpPr/>
          <p:nvPr/>
        </p:nvSpPr>
        <p:spPr>
          <a:xfrm>
            <a:off x="2046922" y="5741194"/>
            <a:ext cx="6303288" cy="308372"/>
          </a:xfrm>
          <a:prstGeom prst="rect">
            <a:avLst/>
          </a:prstGeom>
          <a:noFill/>
          <a:ln/>
        </p:spPr>
        <p:txBody>
          <a:bodyPr wrap="non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Integrate the model into an application and perform testing.</a:t>
            </a:r>
            <a:endParaRPr lang="en-US" sz="1500" dirty="0"/>
          </a:p>
        </p:txBody>
      </p:sp>
      <p:pic>
        <p:nvPicPr>
          <p:cNvPr id="14" name="Image 4" descr="preencoded.png"/>
          <p:cNvPicPr>
            <a:picLocks noChangeAspect="1"/>
          </p:cNvPicPr>
          <p:nvPr/>
        </p:nvPicPr>
        <p:blipFill>
          <a:blip r:embed="rId7"/>
          <a:stretch>
            <a:fillRect/>
          </a:stretch>
        </p:blipFill>
        <p:spPr>
          <a:xfrm>
            <a:off x="793790" y="6288405"/>
            <a:ext cx="963930" cy="1156811"/>
          </a:xfrm>
          <a:prstGeom prst="rect">
            <a:avLst/>
          </a:prstGeom>
        </p:spPr>
      </p:pic>
      <p:sp>
        <p:nvSpPr>
          <p:cNvPr id="15" name="Text 8"/>
          <p:cNvSpPr/>
          <p:nvPr/>
        </p:nvSpPr>
        <p:spPr>
          <a:xfrm>
            <a:off x="2046922" y="6481167"/>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Iterate &amp; Improve</a:t>
            </a:r>
            <a:endParaRPr lang="en-US" sz="1850" dirty="0"/>
          </a:p>
        </p:txBody>
      </p:sp>
      <p:sp>
        <p:nvSpPr>
          <p:cNvPr id="16" name="Text 9"/>
          <p:cNvSpPr/>
          <p:nvPr/>
        </p:nvSpPr>
        <p:spPr>
          <a:xfrm>
            <a:off x="2046922" y="6898005"/>
            <a:ext cx="6303288" cy="308372"/>
          </a:xfrm>
          <a:prstGeom prst="rect">
            <a:avLst/>
          </a:prstGeom>
          <a:noFill/>
          <a:ln/>
        </p:spPr>
        <p:txBody>
          <a:bodyPr wrap="non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Collect user feedback and retrain for better performance.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01886"/>
            <a:ext cx="7375565" cy="602456"/>
          </a:xfrm>
          <a:prstGeom prst="rect">
            <a:avLst/>
          </a:prstGeom>
          <a:noFill/>
          <a:ln/>
        </p:spPr>
        <p:txBody>
          <a:bodyPr wrap="none" lIns="0" tIns="0" rIns="0" bIns="0" rtlCol="0" anchor="t"/>
          <a:lstStyle/>
          <a:p>
            <a:pPr marL="0" indent="0" algn="l">
              <a:lnSpc>
                <a:spcPts val="4700"/>
              </a:lnSpc>
              <a:buNone/>
            </a:pPr>
            <a:r>
              <a:rPr lang="en-US" sz="3750" dirty="0">
                <a:solidFill>
                  <a:srgbClr val="124E73"/>
                </a:solidFill>
                <a:latin typeface="MuseoModerno Medium" pitchFamily="34" charset="0"/>
                <a:ea typeface="MuseoModerno Medium" pitchFamily="34" charset="-122"/>
                <a:cs typeface="MuseoModerno Medium" pitchFamily="34" charset="-120"/>
              </a:rPr>
              <a:t>Training and Evaluation Metrics</a:t>
            </a:r>
            <a:endParaRPr lang="en-US" sz="3750" dirty="0"/>
          </a:p>
        </p:txBody>
      </p:sp>
      <p:sp>
        <p:nvSpPr>
          <p:cNvPr id="4" name="Text 1"/>
          <p:cNvSpPr/>
          <p:nvPr/>
        </p:nvSpPr>
        <p:spPr>
          <a:xfrm>
            <a:off x="793790" y="1693545"/>
            <a:ext cx="7556421" cy="925116"/>
          </a:xfrm>
          <a:prstGeom prst="rect">
            <a:avLst/>
          </a:prstGeom>
          <a:noFill/>
          <a:ln/>
        </p:spPr>
        <p:txBody>
          <a:bodyPr wrap="square" lIns="0" tIns="0" rIns="0" bIns="0" rtlCol="0" anchor="t"/>
          <a:lstStyle/>
          <a:p>
            <a:pPr marL="0" indent="0" algn="l">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Monitoring training progress with metrics like perplexity and BLEU score is vital. Perplexity measures how well the model predicts new text. BLEU score assesses the quality of generated text against human references. Accuracy and F1-score are also relevant.</a:t>
            </a:r>
            <a:endParaRPr lang="en-US" sz="1500" dirty="0"/>
          </a:p>
        </p:txBody>
      </p:sp>
      <p:sp>
        <p:nvSpPr>
          <p:cNvPr id="5" name="Text 2"/>
          <p:cNvSpPr/>
          <p:nvPr/>
        </p:nvSpPr>
        <p:spPr>
          <a:xfrm>
            <a:off x="793790" y="2931795"/>
            <a:ext cx="3633549" cy="636151"/>
          </a:xfrm>
          <a:prstGeom prst="rect">
            <a:avLst/>
          </a:prstGeom>
          <a:noFill/>
          <a:ln/>
        </p:spPr>
        <p:txBody>
          <a:bodyPr wrap="none" lIns="0" tIns="0" rIns="0" bIns="0" rtlCol="0" anchor="t"/>
          <a:lstStyle/>
          <a:p>
            <a:pPr marL="0" indent="0" algn="ctr">
              <a:lnSpc>
                <a:spcPts val="5000"/>
              </a:lnSpc>
              <a:buNone/>
            </a:pPr>
            <a:r>
              <a:rPr lang="en-US" sz="5000" dirty="0">
                <a:solidFill>
                  <a:srgbClr val="2B4150"/>
                </a:solidFill>
                <a:latin typeface="MuseoModerno Medium" pitchFamily="34" charset="0"/>
                <a:ea typeface="MuseoModerno Medium" pitchFamily="34" charset="-122"/>
                <a:cs typeface="MuseoModerno Medium" pitchFamily="34" charset="-120"/>
              </a:rPr>
              <a:t>&lt;100</a:t>
            </a:r>
            <a:endParaRPr lang="en-US" sz="5000" dirty="0"/>
          </a:p>
        </p:txBody>
      </p:sp>
      <p:sp>
        <p:nvSpPr>
          <p:cNvPr id="6" name="Text 3"/>
          <p:cNvSpPr/>
          <p:nvPr/>
        </p:nvSpPr>
        <p:spPr>
          <a:xfrm>
            <a:off x="1405533" y="3808809"/>
            <a:ext cx="2409944" cy="301228"/>
          </a:xfrm>
          <a:prstGeom prst="rect">
            <a:avLst/>
          </a:prstGeom>
          <a:noFill/>
          <a:ln/>
        </p:spPr>
        <p:txBody>
          <a:bodyPr wrap="none" lIns="0" tIns="0" rIns="0" bIns="0" rtlCol="0" anchor="t"/>
          <a:lstStyle/>
          <a:p>
            <a:pPr marL="0" indent="0" algn="ctr">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Perplexity</a:t>
            </a:r>
            <a:endParaRPr lang="en-US" sz="1850" dirty="0"/>
          </a:p>
        </p:txBody>
      </p:sp>
      <p:sp>
        <p:nvSpPr>
          <p:cNvPr id="7" name="Text 4"/>
          <p:cNvSpPr/>
          <p:nvPr/>
        </p:nvSpPr>
        <p:spPr>
          <a:xfrm>
            <a:off x="793790" y="4225647"/>
            <a:ext cx="3633549" cy="308372"/>
          </a:xfrm>
          <a:prstGeom prst="rect">
            <a:avLst/>
          </a:prstGeom>
          <a:noFill/>
          <a:ln/>
        </p:spPr>
        <p:txBody>
          <a:bodyPr wrap="none" lIns="0" tIns="0" rIns="0" bIns="0" rtlCol="0" anchor="t"/>
          <a:lstStyle/>
          <a:p>
            <a:pPr marL="0" indent="0" algn="ctr">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Lower is better for fluent text generation.</a:t>
            </a:r>
            <a:endParaRPr lang="en-US" sz="1500" dirty="0"/>
          </a:p>
        </p:txBody>
      </p:sp>
      <p:sp>
        <p:nvSpPr>
          <p:cNvPr id="8" name="Text 5"/>
          <p:cNvSpPr/>
          <p:nvPr/>
        </p:nvSpPr>
        <p:spPr>
          <a:xfrm>
            <a:off x="4716542" y="2931795"/>
            <a:ext cx="3633668" cy="636151"/>
          </a:xfrm>
          <a:prstGeom prst="rect">
            <a:avLst/>
          </a:prstGeom>
          <a:noFill/>
          <a:ln/>
        </p:spPr>
        <p:txBody>
          <a:bodyPr wrap="none" lIns="0" tIns="0" rIns="0" bIns="0" rtlCol="0" anchor="t"/>
          <a:lstStyle/>
          <a:p>
            <a:pPr marL="0" indent="0" algn="ctr">
              <a:lnSpc>
                <a:spcPts val="5000"/>
              </a:lnSpc>
              <a:buNone/>
            </a:pPr>
            <a:r>
              <a:rPr lang="en-US" sz="5000" dirty="0">
                <a:solidFill>
                  <a:srgbClr val="2B4150"/>
                </a:solidFill>
                <a:latin typeface="MuseoModerno Medium" pitchFamily="34" charset="0"/>
                <a:ea typeface="MuseoModerno Medium" pitchFamily="34" charset="-122"/>
                <a:cs typeface="MuseoModerno Medium" pitchFamily="34" charset="-120"/>
              </a:rPr>
              <a:t>&gt;0.5</a:t>
            </a:r>
            <a:endParaRPr lang="en-US" sz="5000" dirty="0"/>
          </a:p>
        </p:txBody>
      </p:sp>
      <p:sp>
        <p:nvSpPr>
          <p:cNvPr id="9" name="Text 6"/>
          <p:cNvSpPr/>
          <p:nvPr/>
        </p:nvSpPr>
        <p:spPr>
          <a:xfrm>
            <a:off x="5328404" y="3808809"/>
            <a:ext cx="2409944" cy="301228"/>
          </a:xfrm>
          <a:prstGeom prst="rect">
            <a:avLst/>
          </a:prstGeom>
          <a:noFill/>
          <a:ln/>
        </p:spPr>
        <p:txBody>
          <a:bodyPr wrap="none" lIns="0" tIns="0" rIns="0" bIns="0" rtlCol="0" anchor="t"/>
          <a:lstStyle/>
          <a:p>
            <a:pPr marL="0" indent="0" algn="ctr">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BLEU Score</a:t>
            </a:r>
            <a:endParaRPr lang="en-US" sz="1850" dirty="0"/>
          </a:p>
        </p:txBody>
      </p:sp>
      <p:sp>
        <p:nvSpPr>
          <p:cNvPr id="10" name="Text 7"/>
          <p:cNvSpPr/>
          <p:nvPr/>
        </p:nvSpPr>
        <p:spPr>
          <a:xfrm>
            <a:off x="4716542" y="4225647"/>
            <a:ext cx="3633668" cy="616744"/>
          </a:xfrm>
          <a:prstGeom prst="rect">
            <a:avLst/>
          </a:prstGeom>
          <a:noFill/>
          <a:ln/>
        </p:spPr>
        <p:txBody>
          <a:bodyPr wrap="square" lIns="0" tIns="0" rIns="0" bIns="0" rtlCol="0" anchor="t"/>
          <a:lstStyle/>
          <a:p>
            <a:pPr marL="0" indent="0" algn="ctr">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Higher indicates better translation/generation quality.</a:t>
            </a:r>
            <a:endParaRPr lang="en-US" sz="1500" dirty="0"/>
          </a:p>
        </p:txBody>
      </p:sp>
      <p:sp>
        <p:nvSpPr>
          <p:cNvPr id="11" name="Text 8"/>
          <p:cNvSpPr/>
          <p:nvPr/>
        </p:nvSpPr>
        <p:spPr>
          <a:xfrm>
            <a:off x="2755106" y="5517118"/>
            <a:ext cx="3633668" cy="636151"/>
          </a:xfrm>
          <a:prstGeom prst="rect">
            <a:avLst/>
          </a:prstGeom>
          <a:noFill/>
          <a:ln/>
        </p:spPr>
        <p:txBody>
          <a:bodyPr wrap="none" lIns="0" tIns="0" rIns="0" bIns="0" rtlCol="0" anchor="t"/>
          <a:lstStyle/>
          <a:p>
            <a:pPr marL="0" indent="0" algn="ctr">
              <a:lnSpc>
                <a:spcPts val="5000"/>
              </a:lnSpc>
              <a:buNone/>
            </a:pPr>
            <a:r>
              <a:rPr lang="en-US" sz="5000" dirty="0">
                <a:solidFill>
                  <a:srgbClr val="2B4150"/>
                </a:solidFill>
                <a:latin typeface="MuseoModerno Medium" pitchFamily="34" charset="0"/>
                <a:ea typeface="MuseoModerno Medium" pitchFamily="34" charset="-122"/>
                <a:cs typeface="MuseoModerno Medium" pitchFamily="34" charset="-120"/>
              </a:rPr>
              <a:t>&gt;0.8</a:t>
            </a:r>
            <a:endParaRPr lang="en-US" sz="5000" dirty="0"/>
          </a:p>
        </p:txBody>
      </p:sp>
      <p:sp>
        <p:nvSpPr>
          <p:cNvPr id="12" name="Text 9"/>
          <p:cNvSpPr/>
          <p:nvPr/>
        </p:nvSpPr>
        <p:spPr>
          <a:xfrm>
            <a:off x="3366968" y="6394132"/>
            <a:ext cx="2409944" cy="301228"/>
          </a:xfrm>
          <a:prstGeom prst="rect">
            <a:avLst/>
          </a:prstGeom>
          <a:noFill/>
          <a:ln/>
        </p:spPr>
        <p:txBody>
          <a:bodyPr wrap="none" lIns="0" tIns="0" rIns="0" bIns="0" rtlCol="0" anchor="t"/>
          <a:lstStyle/>
          <a:p>
            <a:pPr marL="0" indent="0" algn="ctr">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Accuracy</a:t>
            </a:r>
            <a:endParaRPr lang="en-US" sz="1850" dirty="0"/>
          </a:p>
        </p:txBody>
      </p:sp>
      <p:sp>
        <p:nvSpPr>
          <p:cNvPr id="13" name="Text 10"/>
          <p:cNvSpPr/>
          <p:nvPr/>
        </p:nvSpPr>
        <p:spPr>
          <a:xfrm>
            <a:off x="2755106" y="6810970"/>
            <a:ext cx="3633668" cy="616744"/>
          </a:xfrm>
          <a:prstGeom prst="rect">
            <a:avLst/>
          </a:prstGeom>
          <a:noFill/>
          <a:ln/>
        </p:spPr>
        <p:txBody>
          <a:bodyPr wrap="square" lIns="0" tIns="0" rIns="0" bIns="0" rtlCol="0" anchor="t"/>
          <a:lstStyle/>
          <a:p>
            <a:pPr marL="0" indent="0" algn="ctr">
              <a:lnSpc>
                <a:spcPts val="2400"/>
              </a:lnSpc>
              <a:buNone/>
            </a:pPr>
            <a:r>
              <a:rPr lang="en-US" sz="1500" dirty="0">
                <a:solidFill>
                  <a:srgbClr val="2B4150"/>
                </a:solidFill>
                <a:latin typeface="Source Sans Pro" pitchFamily="34" charset="0"/>
                <a:ea typeface="Source Sans Pro" pitchFamily="34" charset="-122"/>
                <a:cs typeface="Source Sans Pro" pitchFamily="34" charset="-120"/>
              </a:rPr>
              <a:t>Measures correct predictions for classification tasks.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53785"/>
            <a:ext cx="7208639" cy="673418"/>
          </a:xfrm>
          <a:prstGeom prst="rect">
            <a:avLst/>
          </a:prstGeom>
          <a:noFill/>
          <a:ln/>
        </p:spPr>
        <p:txBody>
          <a:bodyPr wrap="none" lIns="0" tIns="0" rIns="0" bIns="0" rtlCol="0" anchor="t"/>
          <a:lstStyle/>
          <a:p>
            <a:pPr marL="0" indent="0" algn="l">
              <a:lnSpc>
                <a:spcPts val="5300"/>
              </a:lnSpc>
              <a:buNone/>
            </a:pPr>
            <a:r>
              <a:rPr lang="en-US" sz="4200" dirty="0">
                <a:solidFill>
                  <a:srgbClr val="124E73"/>
                </a:solidFill>
                <a:latin typeface="MuseoModerno Medium" pitchFamily="34" charset="0"/>
                <a:ea typeface="MuseoModerno Medium" pitchFamily="34" charset="-122"/>
                <a:cs typeface="MuseoModerno Medium" pitchFamily="34" charset="-120"/>
              </a:rPr>
              <a:t>Advanced Chatbot Features</a:t>
            </a:r>
            <a:endParaRPr lang="en-US" sz="4200" dirty="0"/>
          </a:p>
        </p:txBody>
      </p:sp>
      <p:sp>
        <p:nvSpPr>
          <p:cNvPr id="4" name="Text 1"/>
          <p:cNvSpPr/>
          <p:nvPr/>
        </p:nvSpPr>
        <p:spPr>
          <a:xfrm>
            <a:off x="793790" y="1750338"/>
            <a:ext cx="7556421" cy="1379220"/>
          </a:xfrm>
          <a:prstGeom prst="rect">
            <a:avLst/>
          </a:prstGeom>
          <a:noFill/>
          <a:ln/>
        </p:spPr>
        <p:txBody>
          <a:bodyPr wrap="square" lIns="0" tIns="0" rIns="0" bIns="0" rtlCol="0" anchor="t"/>
          <a:lstStyle/>
          <a:p>
            <a:pPr marL="0" indent="0" algn="l">
              <a:lnSpc>
                <a:spcPts val="2700"/>
              </a:lnSpc>
              <a:buNone/>
            </a:pPr>
            <a:r>
              <a:rPr lang="en-US" sz="1650" dirty="0">
                <a:solidFill>
                  <a:srgbClr val="2B4150"/>
                </a:solidFill>
                <a:latin typeface="Source Sans Pro" pitchFamily="34" charset="0"/>
                <a:ea typeface="Source Sans Pro" pitchFamily="34" charset="-122"/>
                <a:cs typeface="Source Sans Pro" pitchFamily="34" charset="-120"/>
              </a:rPr>
              <a:t>Enhance your chatbot with advanced capabilities. Incorporate retrieval-augmented generation (RAG) for factual accuracy. Implement sentiment analysis to understand user emotion. Add knowledge graphs for structured data interaction, and use few-shot learning for rapid adaptation.</a:t>
            </a:r>
            <a:endParaRPr lang="en-US" sz="1650" dirty="0"/>
          </a:p>
        </p:txBody>
      </p:sp>
      <p:sp>
        <p:nvSpPr>
          <p:cNvPr id="5" name="Shape 2"/>
          <p:cNvSpPr/>
          <p:nvPr/>
        </p:nvSpPr>
        <p:spPr>
          <a:xfrm>
            <a:off x="793790" y="3371969"/>
            <a:ext cx="161568" cy="810577"/>
          </a:xfrm>
          <a:prstGeom prst="roundRect">
            <a:avLst>
              <a:gd name="adj" fmla="val 20006"/>
            </a:avLst>
          </a:prstGeom>
          <a:solidFill>
            <a:srgbClr val="F3EEE3"/>
          </a:solidFill>
          <a:ln/>
        </p:spPr>
      </p:sp>
      <p:sp>
        <p:nvSpPr>
          <p:cNvPr id="6" name="Text 3"/>
          <p:cNvSpPr/>
          <p:nvPr/>
        </p:nvSpPr>
        <p:spPr>
          <a:xfrm>
            <a:off x="1278493" y="3371969"/>
            <a:ext cx="5169456" cy="336590"/>
          </a:xfrm>
          <a:prstGeom prst="rect">
            <a:avLst/>
          </a:prstGeom>
          <a:noFill/>
          <a:ln/>
        </p:spPr>
        <p:txBody>
          <a:bodyPr wrap="none" lIns="0" tIns="0" rIns="0" bIns="0" rtlCol="0" anchor="t"/>
          <a:lstStyle/>
          <a:p>
            <a:pPr marL="0" indent="0" algn="l">
              <a:lnSpc>
                <a:spcPts val="2650"/>
              </a:lnSpc>
              <a:buNone/>
            </a:pPr>
            <a:r>
              <a:rPr lang="en-US" sz="2100" dirty="0">
                <a:solidFill>
                  <a:srgbClr val="2B4150"/>
                </a:solidFill>
                <a:latin typeface="MuseoModerno Medium" pitchFamily="34" charset="0"/>
                <a:ea typeface="MuseoModerno Medium" pitchFamily="34" charset="-122"/>
                <a:cs typeface="MuseoModerno Medium" pitchFamily="34" charset="-120"/>
              </a:rPr>
              <a:t>Retrieval-Augmented Generation (RAG)</a:t>
            </a:r>
            <a:endParaRPr lang="en-US" sz="2100" dirty="0"/>
          </a:p>
        </p:txBody>
      </p:sp>
      <p:sp>
        <p:nvSpPr>
          <p:cNvPr id="7" name="Text 4"/>
          <p:cNvSpPr/>
          <p:nvPr/>
        </p:nvSpPr>
        <p:spPr>
          <a:xfrm>
            <a:off x="1278493" y="3837742"/>
            <a:ext cx="7071717" cy="344805"/>
          </a:xfrm>
          <a:prstGeom prst="rect">
            <a:avLst/>
          </a:prstGeom>
          <a:noFill/>
          <a:ln/>
        </p:spPr>
        <p:txBody>
          <a:bodyPr wrap="none" lIns="0" tIns="0" rIns="0" bIns="0" rtlCol="0" anchor="t"/>
          <a:lstStyle/>
          <a:p>
            <a:pPr marL="0" indent="0" algn="l">
              <a:lnSpc>
                <a:spcPts val="2700"/>
              </a:lnSpc>
              <a:buNone/>
            </a:pPr>
            <a:r>
              <a:rPr lang="en-US" sz="1650" dirty="0">
                <a:solidFill>
                  <a:srgbClr val="2B4150"/>
                </a:solidFill>
                <a:latin typeface="Source Sans Pro" pitchFamily="34" charset="0"/>
                <a:ea typeface="Source Sans Pro" pitchFamily="34" charset="-122"/>
                <a:cs typeface="Source Sans Pro" pitchFamily="34" charset="-120"/>
              </a:rPr>
              <a:t>Combine retrieval systems with generative models for grounded responses.</a:t>
            </a:r>
            <a:endParaRPr lang="en-US" sz="1650" dirty="0"/>
          </a:p>
        </p:txBody>
      </p:sp>
      <p:sp>
        <p:nvSpPr>
          <p:cNvPr id="8" name="Shape 5"/>
          <p:cNvSpPr/>
          <p:nvPr/>
        </p:nvSpPr>
        <p:spPr>
          <a:xfrm>
            <a:off x="1116925" y="4397931"/>
            <a:ext cx="161568" cy="810577"/>
          </a:xfrm>
          <a:prstGeom prst="roundRect">
            <a:avLst>
              <a:gd name="adj" fmla="val 20006"/>
            </a:avLst>
          </a:prstGeom>
          <a:solidFill>
            <a:srgbClr val="F3EEE3"/>
          </a:solidFill>
          <a:ln/>
        </p:spPr>
      </p:sp>
      <p:sp>
        <p:nvSpPr>
          <p:cNvPr id="9" name="Text 6"/>
          <p:cNvSpPr/>
          <p:nvPr/>
        </p:nvSpPr>
        <p:spPr>
          <a:xfrm>
            <a:off x="1601629" y="4397931"/>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2B4150"/>
                </a:solidFill>
                <a:latin typeface="MuseoModerno Medium" pitchFamily="34" charset="0"/>
                <a:ea typeface="MuseoModerno Medium" pitchFamily="34" charset="-122"/>
                <a:cs typeface="MuseoModerno Medium" pitchFamily="34" charset="-120"/>
              </a:rPr>
              <a:t>Sentiment Analysis</a:t>
            </a:r>
            <a:endParaRPr lang="en-US" sz="2100" dirty="0"/>
          </a:p>
        </p:txBody>
      </p:sp>
      <p:sp>
        <p:nvSpPr>
          <p:cNvPr id="10" name="Text 7"/>
          <p:cNvSpPr/>
          <p:nvPr/>
        </p:nvSpPr>
        <p:spPr>
          <a:xfrm>
            <a:off x="1601629" y="4863703"/>
            <a:ext cx="6748582" cy="344805"/>
          </a:xfrm>
          <a:prstGeom prst="rect">
            <a:avLst/>
          </a:prstGeom>
          <a:noFill/>
          <a:ln/>
        </p:spPr>
        <p:txBody>
          <a:bodyPr wrap="none" lIns="0" tIns="0" rIns="0" bIns="0" rtlCol="0" anchor="t"/>
          <a:lstStyle/>
          <a:p>
            <a:pPr marL="0" indent="0" algn="l">
              <a:lnSpc>
                <a:spcPts val="2700"/>
              </a:lnSpc>
              <a:buNone/>
            </a:pPr>
            <a:r>
              <a:rPr lang="en-US" sz="1650" dirty="0">
                <a:solidFill>
                  <a:srgbClr val="2B4150"/>
                </a:solidFill>
                <a:latin typeface="Source Sans Pro" pitchFamily="34" charset="0"/>
                <a:ea typeface="Source Sans Pro" pitchFamily="34" charset="-122"/>
                <a:cs typeface="Source Sans Pro" pitchFamily="34" charset="-120"/>
              </a:rPr>
              <a:t>Understand and respond to the emotional tone of user inputs.</a:t>
            </a:r>
            <a:endParaRPr lang="en-US" sz="1650" dirty="0"/>
          </a:p>
        </p:txBody>
      </p:sp>
      <p:sp>
        <p:nvSpPr>
          <p:cNvPr id="11" name="Shape 8"/>
          <p:cNvSpPr/>
          <p:nvPr/>
        </p:nvSpPr>
        <p:spPr>
          <a:xfrm>
            <a:off x="1440180" y="5423892"/>
            <a:ext cx="161568" cy="810577"/>
          </a:xfrm>
          <a:prstGeom prst="roundRect">
            <a:avLst>
              <a:gd name="adj" fmla="val 20006"/>
            </a:avLst>
          </a:prstGeom>
          <a:solidFill>
            <a:srgbClr val="F3EEE3"/>
          </a:solidFill>
          <a:ln/>
        </p:spPr>
      </p:sp>
      <p:sp>
        <p:nvSpPr>
          <p:cNvPr id="12" name="Text 9"/>
          <p:cNvSpPr/>
          <p:nvPr/>
        </p:nvSpPr>
        <p:spPr>
          <a:xfrm>
            <a:off x="1924883" y="5423892"/>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2B4150"/>
                </a:solidFill>
                <a:latin typeface="MuseoModerno Medium" pitchFamily="34" charset="0"/>
                <a:ea typeface="MuseoModerno Medium" pitchFamily="34" charset="-122"/>
                <a:cs typeface="MuseoModerno Medium" pitchFamily="34" charset="-120"/>
              </a:rPr>
              <a:t>Knowledge Graphs</a:t>
            </a:r>
            <a:endParaRPr lang="en-US" sz="2100" dirty="0"/>
          </a:p>
        </p:txBody>
      </p:sp>
      <p:sp>
        <p:nvSpPr>
          <p:cNvPr id="13" name="Text 10"/>
          <p:cNvSpPr/>
          <p:nvPr/>
        </p:nvSpPr>
        <p:spPr>
          <a:xfrm>
            <a:off x="1924883" y="5889665"/>
            <a:ext cx="6425327" cy="344805"/>
          </a:xfrm>
          <a:prstGeom prst="rect">
            <a:avLst/>
          </a:prstGeom>
          <a:noFill/>
          <a:ln/>
        </p:spPr>
        <p:txBody>
          <a:bodyPr wrap="none" lIns="0" tIns="0" rIns="0" bIns="0" rtlCol="0" anchor="t"/>
          <a:lstStyle/>
          <a:p>
            <a:pPr marL="0" indent="0" algn="l">
              <a:lnSpc>
                <a:spcPts val="2700"/>
              </a:lnSpc>
              <a:buNone/>
            </a:pPr>
            <a:r>
              <a:rPr lang="en-US" sz="1650" dirty="0">
                <a:solidFill>
                  <a:srgbClr val="2B4150"/>
                </a:solidFill>
                <a:latin typeface="Source Sans Pro" pitchFamily="34" charset="0"/>
                <a:ea typeface="Source Sans Pro" pitchFamily="34" charset="-122"/>
                <a:cs typeface="Source Sans Pro" pitchFamily="34" charset="-120"/>
              </a:rPr>
              <a:t>Integrate structured information for more informed conversations.</a:t>
            </a:r>
            <a:endParaRPr lang="en-US" sz="1650" dirty="0"/>
          </a:p>
        </p:txBody>
      </p:sp>
      <p:sp>
        <p:nvSpPr>
          <p:cNvPr id="14" name="Shape 11"/>
          <p:cNvSpPr/>
          <p:nvPr/>
        </p:nvSpPr>
        <p:spPr>
          <a:xfrm>
            <a:off x="1763435" y="6449854"/>
            <a:ext cx="161568" cy="810577"/>
          </a:xfrm>
          <a:prstGeom prst="roundRect">
            <a:avLst>
              <a:gd name="adj" fmla="val 20006"/>
            </a:avLst>
          </a:prstGeom>
          <a:solidFill>
            <a:srgbClr val="F3EEE3"/>
          </a:solidFill>
          <a:ln/>
        </p:spPr>
      </p:sp>
      <p:sp>
        <p:nvSpPr>
          <p:cNvPr id="15" name="Text 12"/>
          <p:cNvSpPr/>
          <p:nvPr/>
        </p:nvSpPr>
        <p:spPr>
          <a:xfrm>
            <a:off x="2248138" y="6449854"/>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2B4150"/>
                </a:solidFill>
                <a:latin typeface="MuseoModerno Medium" pitchFamily="34" charset="0"/>
                <a:ea typeface="MuseoModerno Medium" pitchFamily="34" charset="-122"/>
                <a:cs typeface="MuseoModerno Medium" pitchFamily="34" charset="-120"/>
              </a:rPr>
              <a:t>Few-Shot Learning</a:t>
            </a:r>
            <a:endParaRPr lang="en-US" sz="2100" dirty="0"/>
          </a:p>
        </p:txBody>
      </p:sp>
      <p:sp>
        <p:nvSpPr>
          <p:cNvPr id="16" name="Text 13"/>
          <p:cNvSpPr/>
          <p:nvPr/>
        </p:nvSpPr>
        <p:spPr>
          <a:xfrm>
            <a:off x="2248138" y="6915626"/>
            <a:ext cx="6102072" cy="344805"/>
          </a:xfrm>
          <a:prstGeom prst="rect">
            <a:avLst/>
          </a:prstGeom>
          <a:noFill/>
          <a:ln/>
        </p:spPr>
        <p:txBody>
          <a:bodyPr wrap="none" lIns="0" tIns="0" rIns="0" bIns="0" rtlCol="0" anchor="t"/>
          <a:lstStyle/>
          <a:p>
            <a:pPr marL="0" indent="0" algn="l">
              <a:lnSpc>
                <a:spcPts val="2700"/>
              </a:lnSpc>
              <a:buNone/>
            </a:pPr>
            <a:r>
              <a:rPr lang="en-US" sz="1650" dirty="0">
                <a:solidFill>
                  <a:srgbClr val="2B4150"/>
                </a:solidFill>
                <a:latin typeface="Source Sans Pro" pitchFamily="34" charset="0"/>
                <a:ea typeface="Source Sans Pro" pitchFamily="34" charset="-122"/>
                <a:cs typeface="Source Sans Pro" pitchFamily="34" charset="-120"/>
              </a:rPr>
              <a:t>Enable rapid adaptation to new tasks with minimal examples.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52982"/>
            <a:ext cx="8203049"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Key Takeaways &amp; Next Steps</a:t>
            </a:r>
            <a:endParaRPr lang="en-US" sz="4450" dirty="0"/>
          </a:p>
        </p:txBody>
      </p:sp>
      <p:sp>
        <p:nvSpPr>
          <p:cNvPr id="3" name="Text 1"/>
          <p:cNvSpPr/>
          <p:nvPr/>
        </p:nvSpPr>
        <p:spPr>
          <a:xfrm>
            <a:off x="793790" y="311538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Transformer models offer powerful capabilities for AI chatbots. Python with Hugging Face simplifies development. Continuous iteration and advanced features lead to sophisticated conversational AI. Explore open-source models and contribute to the community.</a:t>
            </a:r>
            <a:endParaRPr lang="en-US" sz="1750" dirty="0"/>
          </a:p>
        </p:txBody>
      </p:sp>
      <p:pic>
        <p:nvPicPr>
          <p:cNvPr id="4" name="Image 0" descr="preencoded.png"/>
          <p:cNvPicPr>
            <a:picLocks noChangeAspect="1"/>
          </p:cNvPicPr>
          <p:nvPr/>
        </p:nvPicPr>
        <p:blipFill>
          <a:blip r:embed="rId3"/>
          <a:stretch>
            <a:fillRect/>
          </a:stretch>
        </p:blipFill>
        <p:spPr>
          <a:xfrm>
            <a:off x="4960382" y="4242316"/>
            <a:ext cx="1448872" cy="907256"/>
          </a:xfrm>
          <a:prstGeom prst="rect">
            <a:avLst/>
          </a:prstGeom>
        </p:spPr>
      </p:pic>
      <p:pic>
        <p:nvPicPr>
          <p:cNvPr id="5" name="Image 1" descr="preencoded.png"/>
          <p:cNvPicPr>
            <a:picLocks noChangeAspect="1"/>
          </p:cNvPicPr>
          <p:nvPr/>
        </p:nvPicPr>
        <p:blipFill>
          <a:blip r:embed="rId4"/>
          <a:stretch>
            <a:fillRect/>
          </a:stretch>
        </p:blipFill>
        <p:spPr>
          <a:xfrm>
            <a:off x="6590705" y="4242316"/>
            <a:ext cx="1448872" cy="907256"/>
          </a:xfrm>
          <a:prstGeom prst="rect">
            <a:avLst/>
          </a:prstGeom>
        </p:spPr>
      </p:pic>
      <p:pic>
        <p:nvPicPr>
          <p:cNvPr id="6" name="Image 2" descr="preencoded.png"/>
          <p:cNvPicPr>
            <a:picLocks noChangeAspect="1"/>
          </p:cNvPicPr>
          <p:nvPr/>
        </p:nvPicPr>
        <p:blipFill>
          <a:blip r:embed="rId5"/>
          <a:stretch>
            <a:fillRect/>
          </a:stretch>
        </p:blipFill>
        <p:spPr>
          <a:xfrm>
            <a:off x="8221028" y="4242316"/>
            <a:ext cx="1448872" cy="907256"/>
          </a:xfrm>
          <a:prstGeom prst="rect">
            <a:avLst/>
          </a:prstGeom>
        </p:spPr>
      </p:pic>
      <p:sp>
        <p:nvSpPr>
          <p:cNvPr id="7" name="Text 2"/>
          <p:cNvSpPr/>
          <p:nvPr/>
        </p:nvSpPr>
        <p:spPr>
          <a:xfrm>
            <a:off x="793790" y="555069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Continue learning by experimenting with different models and datasets. The AI community is growing, and your contributions can help advance the field.</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750</Words>
  <Application>Microsoft Office PowerPoint</Application>
  <PresentationFormat>Custom</PresentationFormat>
  <Paragraphs>95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MuseoModerno Medium</vt:lpstr>
      <vt:lpstr>Source Sans Pro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Tarun kumar</cp:lastModifiedBy>
  <cp:revision>2</cp:revision>
  <dcterms:created xsi:type="dcterms:W3CDTF">2025-05-27T08:07:47Z</dcterms:created>
  <dcterms:modified xsi:type="dcterms:W3CDTF">2025-05-27T08:12:47Z</dcterms:modified>
</cp:coreProperties>
</file>