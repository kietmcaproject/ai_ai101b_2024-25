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Alexandria Semi Bold" panose="020B0604020202020204" charset="-78"/>
      <p:regular r:id="rId13"/>
    </p:embeddedFont>
    <p:embeddedFont>
      <p:font typeface="Sora Light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1843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6859" y="985956"/>
            <a:ext cx="7627382" cy="1734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800" dirty="0">
                <a:solidFill>
                  <a:srgbClr val="1F1E1E"/>
                </a:solidFill>
                <a:latin typeface="Arial" panose="020B0604020202020204" pitchFamily="34" charset="0"/>
                <a:ea typeface="Alexandria Semi Bold" pitchFamily="34" charset="-122"/>
                <a:cs typeface="Arial" panose="020B0604020202020204" pitchFamily="34" charset="0"/>
              </a:rPr>
              <a:t>Object Detection in Images using YOLOv5</a:t>
            </a:r>
            <a:endParaRPr 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1083231" y="3429714"/>
            <a:ext cx="7302460" cy="312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This mini project explores object detection using the YOLOv5 model.
Presented By- TechnoGeeks
Kiran Yadav (202410116100102)
Gulshan Kumari (202410116100078)
Dolly Prajapati(202410116100069)
Khushi Kumari (202410116100101)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758309" y="3185993"/>
            <a:ext cx="30480" cy="3607832"/>
          </a:xfrm>
          <a:prstGeom prst="rect">
            <a:avLst/>
          </a:prstGeom>
          <a:solidFill>
            <a:srgbClr val="1A2D7A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1259205"/>
            <a:ext cx="7534632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What is Object Detection?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58309" y="2296835"/>
            <a:ext cx="3705463" cy="2330887"/>
          </a:xfrm>
          <a:prstGeom prst="roundRect">
            <a:avLst>
              <a:gd name="adj" fmla="val 3904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82504" y="2521029"/>
            <a:ext cx="3257074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400" b="1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Key Computer Vision Task</a:t>
            </a:r>
            <a:endParaRPr lang="en-US" sz="2400" b="1" dirty="0"/>
          </a:p>
        </p:txBody>
      </p:sp>
      <p:sp>
        <p:nvSpPr>
          <p:cNvPr id="6" name="Text 3"/>
          <p:cNvSpPr/>
          <p:nvPr/>
        </p:nvSpPr>
        <p:spPr>
          <a:xfrm>
            <a:off x="982504" y="3363397"/>
            <a:ext cx="3257074" cy="751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+mj-lt"/>
                <a:ea typeface="Sora Light" pitchFamily="34" charset="-122"/>
                <a:cs typeface="Arial" panose="020B0604020202020204" pitchFamily="34" charset="0"/>
              </a:rPr>
              <a:t>Detects and locates objects in images with bounding boxes</a:t>
            </a:r>
            <a:r>
              <a:rPr lang="en-US" sz="2000" dirty="0">
                <a:solidFill>
                  <a:srgbClr val="3B3535"/>
                </a:solidFill>
                <a:latin typeface="+mj-lt"/>
                <a:ea typeface="Sora Light" pitchFamily="34" charset="-122"/>
                <a:cs typeface="Sora Light" pitchFamily="34" charset="-120"/>
              </a:rPr>
              <a:t>.</a:t>
            </a:r>
            <a:endParaRPr lang="en-US" sz="2000" dirty="0">
              <a:latin typeface="+mj-lt"/>
            </a:endParaRPr>
          </a:p>
        </p:txBody>
      </p:sp>
      <p:sp>
        <p:nvSpPr>
          <p:cNvPr id="7" name="Shape 4"/>
          <p:cNvSpPr/>
          <p:nvPr/>
        </p:nvSpPr>
        <p:spPr>
          <a:xfrm>
            <a:off x="4680347" y="2296835"/>
            <a:ext cx="3705463" cy="2330887"/>
          </a:xfrm>
          <a:prstGeom prst="roundRect">
            <a:avLst>
              <a:gd name="adj" fmla="val 3904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04542" y="2521029"/>
            <a:ext cx="2991445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Object Identification</a:t>
            </a:r>
            <a:endParaRPr lang="en-US" sz="2200" b="1" dirty="0"/>
          </a:p>
        </p:txBody>
      </p:sp>
      <p:sp>
        <p:nvSpPr>
          <p:cNvPr id="9" name="Text 6"/>
          <p:cNvSpPr/>
          <p:nvPr/>
        </p:nvSpPr>
        <p:spPr>
          <a:xfrm>
            <a:off x="4904542" y="3007162"/>
            <a:ext cx="3257074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+mj-lt"/>
                <a:ea typeface="Sora Light" pitchFamily="34" charset="-122"/>
                <a:cs typeface="Sora Light" pitchFamily="34" charset="-120"/>
              </a:rPr>
              <a:t>Determines what objects are present in the scene.</a:t>
            </a:r>
            <a:endParaRPr lang="en-US" sz="2000" dirty="0">
              <a:latin typeface="+mj-lt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758309" y="4844296"/>
            <a:ext cx="7627382" cy="2126099"/>
          </a:xfrm>
          <a:prstGeom prst="roundRect">
            <a:avLst>
              <a:gd name="adj" fmla="val 4280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82504" y="5068491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Use Cases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82504" y="5554623"/>
            <a:ext cx="717899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2000" dirty="0">
                <a:solidFill>
                  <a:srgbClr val="3B3535"/>
                </a:solidFill>
                <a:latin typeface="+mj-lt"/>
                <a:ea typeface="Sora Light" pitchFamily="34" charset="-122"/>
                <a:cs typeface="Sora Light" pitchFamily="34" charset="-120"/>
              </a:rPr>
              <a:t>Self-driving cars</a:t>
            </a:r>
            <a:endParaRPr lang="en-US" sz="2000" dirty="0">
              <a:latin typeface="+mj-lt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982504" y="5977057"/>
            <a:ext cx="717899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2000" dirty="0">
                <a:solidFill>
                  <a:srgbClr val="3B3535"/>
                </a:solidFill>
                <a:latin typeface="+mj-lt"/>
                <a:ea typeface="Sora Light" pitchFamily="34" charset="-122"/>
                <a:cs typeface="Sora Light" pitchFamily="34" charset="-120"/>
              </a:rPr>
              <a:t>Security systems</a:t>
            </a:r>
            <a:endParaRPr lang="en-US" sz="2000" dirty="0">
              <a:latin typeface="+mj-lt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982504" y="6399490"/>
            <a:ext cx="717899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2000" dirty="0">
                <a:solidFill>
                  <a:srgbClr val="3B3535"/>
                </a:solidFill>
                <a:latin typeface="+mj-lt"/>
                <a:ea typeface="Sora Light" pitchFamily="34" charset="-122"/>
                <a:cs typeface="Sora Light" pitchFamily="34" charset="-120"/>
              </a:rPr>
              <a:t>Medical imaging</a:t>
            </a:r>
            <a:endParaRPr lang="en-US" sz="2000" dirty="0">
              <a:latin typeface="+mj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106334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4924" y="1305640"/>
            <a:ext cx="697027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ea typeface="Alexandria Semi Bold" pitchFamily="34" charset="-122"/>
                <a:cs typeface="Alexandria Semi Bold" pitchFamily="34" charset="-120"/>
              </a:rPr>
              <a:t>Technologies &amp; Libraries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472559" y="5363764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800" b="1" dirty="0">
                <a:solidFill>
                  <a:schemeClr val="accent1"/>
                </a:solidFill>
                <a:latin typeface="+mj-lt"/>
                <a:cs typeface="Arial" panose="020B0604020202020204" pitchFamily="34" charset="0"/>
              </a:rPr>
              <a:t>Data set</a:t>
            </a:r>
          </a:p>
        </p:txBody>
      </p:sp>
      <p:sp>
        <p:nvSpPr>
          <p:cNvPr id="5" name="Text 2"/>
          <p:cNvSpPr/>
          <p:nvPr/>
        </p:nvSpPr>
        <p:spPr>
          <a:xfrm>
            <a:off x="605790" y="3368128"/>
            <a:ext cx="3436501" cy="1209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+mj-lt"/>
                <a:ea typeface="Sora Light" pitchFamily="34" charset="-122"/>
                <a:cs typeface="Arial" panose="020B0604020202020204" pitchFamily="34" charset="0"/>
              </a:rPr>
              <a:t>Cloud platform to run Python code seamlessly.</a:t>
            </a:r>
            <a:endParaRPr lang="en-US" sz="2200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4537025" y="2709683"/>
            <a:ext cx="4269165" cy="5920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800" b="1" dirty="0">
                <a:solidFill>
                  <a:schemeClr val="accent1"/>
                </a:solidFill>
                <a:latin typeface="+mj-lt"/>
                <a:ea typeface="Alexandria Semi Bold" pitchFamily="34" charset="-122"/>
                <a:cs typeface="Arial" panose="020B0604020202020204" pitchFamily="34" charset="0"/>
              </a:rPr>
              <a:t>Automation Tools </a:t>
            </a:r>
          </a:p>
          <a:p>
            <a:pPr marL="0" indent="0" algn="l">
              <a:lnSpc>
                <a:spcPts val="2800"/>
              </a:lnSpc>
              <a:buNone/>
            </a:pPr>
            <a:r>
              <a:rPr lang="en-US" sz="2800" b="1" dirty="0">
                <a:solidFill>
                  <a:schemeClr val="accent1"/>
                </a:solidFill>
                <a:latin typeface="+mj-lt"/>
                <a:ea typeface="Alexandria Semi Bold" pitchFamily="34" charset="-122"/>
                <a:cs typeface="Arial" panose="020B0604020202020204" pitchFamily="34" charset="0"/>
              </a:rPr>
              <a:t> </a:t>
            </a:r>
            <a:endParaRPr lang="en-US" sz="2800" b="1" dirty="0">
              <a:solidFill>
                <a:schemeClr val="accent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4471392" y="3421380"/>
            <a:ext cx="3499604" cy="1687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dirty="0">
                <a:solidFill>
                  <a:srgbClr val="3B3535"/>
                </a:solidFill>
                <a:latin typeface="+mj-lt"/>
                <a:ea typeface="Sora Light" pitchFamily="34" charset="-122"/>
                <a:cs typeface="Arial" panose="020B0604020202020204" pitchFamily="34" charset="0"/>
              </a:rPr>
              <a:t>YOLOv5 Toolkit (from </a:t>
            </a:r>
            <a:r>
              <a:rPr lang="en-US" sz="2200" dirty="0" err="1">
                <a:solidFill>
                  <a:srgbClr val="3B3535"/>
                </a:solidFill>
                <a:latin typeface="+mj-lt"/>
                <a:ea typeface="Sora Light" pitchFamily="34" charset="-122"/>
                <a:cs typeface="Arial" panose="020B0604020202020204" pitchFamily="34" charset="0"/>
              </a:rPr>
              <a:t>Ultralytics</a:t>
            </a:r>
            <a:r>
              <a:rPr lang="en-US" sz="2200" dirty="0">
                <a:solidFill>
                  <a:srgbClr val="3B3535"/>
                </a:solidFill>
                <a:latin typeface="+mj-lt"/>
                <a:ea typeface="Sora Light" pitchFamily="34" charset="-122"/>
                <a:cs typeface="Arial" panose="020B0604020202020204" pitchFamily="34" charset="0"/>
              </a:rPr>
              <a:t>) -Official GitHub codebase for the YOLOv5 model.</a:t>
            </a:r>
            <a:endParaRPr lang="en-US" sz="2200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9867543" y="2649497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800" b="1" dirty="0">
                <a:solidFill>
                  <a:schemeClr val="accent1"/>
                </a:solidFill>
                <a:latin typeface="+mj-lt"/>
                <a:ea typeface="Alexandria Semi Bold" pitchFamily="34" charset="-122"/>
                <a:cs typeface="Arial" panose="020B0604020202020204" pitchFamily="34" charset="0"/>
              </a:rPr>
              <a:t>Python Libraries</a:t>
            </a:r>
            <a:endParaRPr lang="en-US" sz="2800" b="1" dirty="0">
              <a:solidFill>
                <a:schemeClr val="accent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9867543" y="3248024"/>
            <a:ext cx="4157067" cy="769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2400" dirty="0">
                <a:solidFill>
                  <a:srgbClr val="3B3535"/>
                </a:solidFill>
                <a:latin typeface="+mj-lt"/>
                <a:ea typeface="Sora Light" pitchFamily="34" charset="-122"/>
                <a:cs typeface="Arial" panose="020B0604020202020204" pitchFamily="34" charset="0"/>
              </a:rPr>
              <a:t>torch: Deep learning framework</a:t>
            </a:r>
            <a:endParaRPr lang="en-US" sz="2400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9867543" y="3692366"/>
            <a:ext cx="4374237" cy="844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2400" dirty="0">
                <a:solidFill>
                  <a:srgbClr val="3B3535"/>
                </a:solidFill>
                <a:latin typeface="+mj-lt"/>
                <a:ea typeface="Sora Light" pitchFamily="34" charset="-122"/>
                <a:cs typeface="Arial" panose="020B0604020202020204" pitchFamily="34" charset="0"/>
              </a:rPr>
              <a:t>opencv: Image processing</a:t>
            </a:r>
            <a:endParaRPr lang="en-US" sz="2400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9867541" y="4204813"/>
            <a:ext cx="4018359" cy="422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2400" dirty="0">
                <a:solidFill>
                  <a:srgbClr val="3B3535"/>
                </a:solidFill>
                <a:latin typeface="+mj-lt"/>
                <a:ea typeface="Sora Light" pitchFamily="34" charset="-122"/>
                <a:cs typeface="Arial" panose="020B0604020202020204" pitchFamily="34" charset="0"/>
              </a:rPr>
              <a:t>pathlib, os: File management</a:t>
            </a:r>
            <a:endParaRPr lang="en-US" sz="2400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9867543" y="4690466"/>
            <a:ext cx="4018359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2400" dirty="0">
                <a:solidFill>
                  <a:srgbClr val="3B3535"/>
                </a:solidFill>
                <a:latin typeface="+mj-lt"/>
                <a:ea typeface="Sora Light" pitchFamily="34" charset="-122"/>
                <a:cs typeface="Arial" panose="020B0604020202020204" pitchFamily="34" charset="0"/>
              </a:rPr>
              <a:t>IPython.display: Display outputs</a:t>
            </a:r>
            <a:endParaRPr lang="en-US" sz="2400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9867542" y="5190409"/>
            <a:ext cx="4018359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2400" dirty="0">
                <a:solidFill>
                  <a:srgbClr val="3B3535"/>
                </a:solidFill>
                <a:latin typeface="+mj-lt"/>
                <a:ea typeface="Sora Light" pitchFamily="34" charset="-122"/>
                <a:cs typeface="Arial" panose="020B0604020202020204" pitchFamily="34" charset="0"/>
              </a:rPr>
              <a:t>google.colab.files: Image uploads</a:t>
            </a:r>
            <a:endParaRPr lang="en-US" sz="2400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F52B9492-B557-7A4D-302F-4629A478DFF2}"/>
              </a:ext>
            </a:extLst>
          </p:cNvPr>
          <p:cNvSpPr/>
          <p:nvPr/>
        </p:nvSpPr>
        <p:spPr>
          <a:xfrm>
            <a:off x="624959" y="2817554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800" b="1" dirty="0">
                <a:solidFill>
                  <a:schemeClr val="accent1"/>
                </a:solidFill>
                <a:latin typeface="+mj-lt"/>
                <a:ea typeface="Alexandria Semi Bold" pitchFamily="34" charset="-122"/>
                <a:cs typeface="Arial" panose="020B0604020202020204" pitchFamily="34" charset="0"/>
              </a:rPr>
              <a:t>Google Colab</a:t>
            </a:r>
            <a:endParaRPr lang="en-US" sz="2800" b="1" dirty="0">
              <a:solidFill>
                <a:schemeClr val="accent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15" name="Text 2">
            <a:extLst>
              <a:ext uri="{FF2B5EF4-FFF2-40B4-BE49-F238E27FC236}">
                <a16:creationId xmlns:a16="http://schemas.microsoft.com/office/drawing/2014/main" id="{6C99CB01-2041-36FB-668C-69E2E3286E6A}"/>
              </a:ext>
            </a:extLst>
          </p:cNvPr>
          <p:cNvSpPr/>
          <p:nvPr/>
        </p:nvSpPr>
        <p:spPr>
          <a:xfrm>
            <a:off x="472559" y="5901035"/>
            <a:ext cx="3436501" cy="1209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3B3535"/>
                </a:solidFill>
                <a:latin typeface="+mj-lt"/>
                <a:ea typeface="Sora Light" pitchFamily="34" charset="-122"/>
                <a:cs typeface="Arial" panose="020B0604020202020204" pitchFamily="34" charset="0"/>
              </a:rPr>
              <a:t>C</a:t>
            </a:r>
            <a:r>
              <a:rPr lang="en-US" sz="2200" dirty="0">
                <a:solidFill>
                  <a:srgbClr val="3B3535"/>
                </a:solidFill>
                <a:latin typeface="+mj-lt"/>
                <a:ea typeface="Sora Light" pitchFamily="34" charset="-122"/>
                <a:cs typeface="Arial" panose="020B0604020202020204" pitchFamily="34" charset="0"/>
              </a:rPr>
              <a:t>OCO Dataset (Common Objects in Context)</a:t>
            </a:r>
          </a:p>
          <a:p>
            <a:pPr marL="0" indent="0" algn="l">
              <a:lnSpc>
                <a:spcPct val="150000"/>
              </a:lnSpc>
              <a:buNone/>
            </a:pPr>
            <a:endParaRPr lang="en-US" sz="2400" dirty="0">
              <a:latin typeface="+mj-lt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8279" y="657106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What is YOLOv5?</a:t>
            </a:r>
            <a:endParaRPr lang="en-US" sz="4450" b="1" dirty="0"/>
          </a:p>
        </p:txBody>
      </p:sp>
      <p:sp>
        <p:nvSpPr>
          <p:cNvPr id="4" name="Shape 1"/>
          <p:cNvSpPr/>
          <p:nvPr/>
        </p:nvSpPr>
        <p:spPr>
          <a:xfrm>
            <a:off x="589954" y="1920240"/>
            <a:ext cx="487442" cy="261342"/>
          </a:xfrm>
          <a:prstGeom prst="roundRect">
            <a:avLst>
              <a:gd name="adj" fmla="val 18669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293971" y="1920240"/>
            <a:ext cx="3001447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400" b="1" dirty="0">
                <a:solidFill>
                  <a:srgbClr val="3B3535"/>
                </a:solidFill>
                <a:latin typeface="+mj-lt"/>
                <a:ea typeface="Alexandria Semi Bold" pitchFamily="34" charset="-122"/>
                <a:cs typeface="Alexandria Semi Bold" pitchFamily="34" charset="-120"/>
              </a:rPr>
              <a:t>Unified Detection Model</a:t>
            </a:r>
            <a:endParaRPr lang="en-US" sz="2400" b="1" dirty="0">
              <a:latin typeface="+mj-lt"/>
            </a:endParaRPr>
          </a:p>
        </p:txBody>
      </p:sp>
      <p:sp>
        <p:nvSpPr>
          <p:cNvPr id="6" name="Text 3"/>
          <p:cNvSpPr/>
          <p:nvPr/>
        </p:nvSpPr>
        <p:spPr>
          <a:xfrm>
            <a:off x="1241940" y="2448639"/>
            <a:ext cx="3001447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B3535"/>
                </a:solidFill>
                <a:latin typeface="+mj-lt"/>
                <a:ea typeface="Sora Light" pitchFamily="34" charset="-122"/>
                <a:cs typeface="Sora Light" pitchFamily="34" charset="-120"/>
              </a:rPr>
              <a:t>Detects objects in one forward pass for real-time speed.</a:t>
            </a:r>
            <a:endParaRPr lang="en-US" sz="2400" dirty="0">
              <a:latin typeface="+mj-lt"/>
            </a:endParaRPr>
          </a:p>
        </p:txBody>
      </p:sp>
      <p:sp>
        <p:nvSpPr>
          <p:cNvPr id="7" name="Shape 4"/>
          <p:cNvSpPr/>
          <p:nvPr/>
        </p:nvSpPr>
        <p:spPr>
          <a:xfrm>
            <a:off x="4716899" y="1920239"/>
            <a:ext cx="336710" cy="356235"/>
          </a:xfrm>
          <a:prstGeom prst="roundRect">
            <a:avLst>
              <a:gd name="adj" fmla="val 18669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216008" y="1920240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400" b="1" dirty="0">
                <a:solidFill>
                  <a:srgbClr val="3B3535"/>
                </a:solidFill>
                <a:latin typeface="+mj-lt"/>
                <a:ea typeface="Alexandria Semi Bold" pitchFamily="34" charset="-122"/>
                <a:cs typeface="Alexandria Semi Bold" pitchFamily="34" charset="-120"/>
              </a:rPr>
              <a:t>Lightweight &amp; Fast</a:t>
            </a:r>
            <a:endParaRPr lang="en-US" sz="2400" b="1" dirty="0">
              <a:latin typeface="+mj-lt"/>
            </a:endParaRPr>
          </a:p>
        </p:txBody>
      </p:sp>
      <p:sp>
        <p:nvSpPr>
          <p:cNvPr id="9" name="Text 6"/>
          <p:cNvSpPr/>
          <p:nvPr/>
        </p:nvSpPr>
        <p:spPr>
          <a:xfrm>
            <a:off x="5216008" y="2406372"/>
            <a:ext cx="3001447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B3535"/>
                </a:solidFill>
                <a:latin typeface="+mj-lt"/>
                <a:ea typeface="Sora Light" pitchFamily="34" charset="-122"/>
                <a:cs typeface="Sora Light" pitchFamily="34" charset="-120"/>
              </a:rPr>
              <a:t>Efficient architecture making it easy to deploy.</a:t>
            </a:r>
            <a:endParaRPr lang="en-US" sz="2400" dirty="0">
              <a:latin typeface="+mj-lt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589954" y="4263033"/>
            <a:ext cx="487442" cy="261342"/>
          </a:xfrm>
          <a:prstGeom prst="roundRect">
            <a:avLst>
              <a:gd name="adj" fmla="val 18669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346001" y="4252436"/>
            <a:ext cx="2897386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400" b="1" dirty="0">
                <a:solidFill>
                  <a:srgbClr val="3B3535"/>
                </a:solidFill>
                <a:latin typeface="+mj-lt"/>
                <a:ea typeface="Alexandria Semi Bold" pitchFamily="34" charset="-122"/>
                <a:cs typeface="Alexandria Semi Bold" pitchFamily="34" charset="-120"/>
              </a:rPr>
              <a:t>Pretrained on COCO</a:t>
            </a:r>
            <a:endParaRPr lang="en-US" sz="2400" b="1" dirty="0">
              <a:latin typeface="+mj-lt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293971" y="4749165"/>
            <a:ext cx="692336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B3535"/>
                </a:solidFill>
                <a:latin typeface="+mj-lt"/>
                <a:ea typeface="Sora Light" pitchFamily="34" charset="-122"/>
                <a:cs typeface="Sora Light" pitchFamily="34" charset="-120"/>
              </a:rPr>
              <a:t>Recognizes 80+ common objects from a large dataset.</a:t>
            </a:r>
            <a:endParaRPr lang="en-US" sz="2400" dirty="0">
              <a:latin typeface="+mj-l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430D9D-3203-7721-ED23-32B59881B982}"/>
              </a:ext>
            </a:extLst>
          </p:cNvPr>
          <p:cNvSpPr txBox="1"/>
          <p:nvPr/>
        </p:nvSpPr>
        <p:spPr>
          <a:xfrm>
            <a:off x="335459" y="5478066"/>
            <a:ext cx="855708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+mj-lt"/>
              </a:rPr>
              <a:t>YOLOv5 breaks the image into grid cells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+mj-lt"/>
              </a:rPr>
              <a:t>Each grid cell is responsible for detecting objects whose center falls  in that cell.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5315" y="484823"/>
            <a:ext cx="6233279" cy="578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YOLOv5 Internal Workflow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15" y="1414701"/>
            <a:ext cx="879158" cy="105501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58196" y="1590437"/>
            <a:ext cx="2313623" cy="289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000" dirty="0">
                <a:solidFill>
                  <a:srgbClr val="3B3535"/>
                </a:solidFill>
                <a:ea typeface="Alexandria Semi Bold" pitchFamily="34" charset="-122"/>
                <a:cs typeface="Alexandria Semi Bold" pitchFamily="34" charset="-120"/>
              </a:rPr>
              <a:t>Image Input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758196" y="1985010"/>
            <a:ext cx="12256889" cy="281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dirty="0">
                <a:solidFill>
                  <a:srgbClr val="3B3535"/>
                </a:solidFill>
                <a:latin typeface="+mj-lt"/>
                <a:ea typeface="Sora Light" pitchFamily="34" charset="-122"/>
                <a:cs typeface="Sora Light" pitchFamily="34" charset="-120"/>
              </a:rPr>
              <a:t>Resized to 640x640 pixels</a:t>
            </a:r>
            <a:endParaRPr lang="en-US" dirty="0">
              <a:latin typeface="+mj-lt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315" y="2469713"/>
            <a:ext cx="879158" cy="105501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758196" y="2645450"/>
            <a:ext cx="2313623" cy="289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000" dirty="0">
                <a:solidFill>
                  <a:srgbClr val="3B3535"/>
                </a:solidFill>
                <a:ea typeface="Alexandria Semi Bold" pitchFamily="34" charset="-122"/>
                <a:cs typeface="Alexandria Semi Bold" pitchFamily="34" charset="-120"/>
              </a:rPr>
              <a:t>Feature Extraction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1758196" y="3047582"/>
            <a:ext cx="12256889" cy="281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dirty="0">
                <a:solidFill>
                  <a:srgbClr val="3B3535"/>
                </a:solidFill>
                <a:latin typeface="+mj-lt"/>
                <a:ea typeface="Sora Light" pitchFamily="34" charset="-122"/>
                <a:cs typeface="Sora Light" pitchFamily="34" charset="-120"/>
              </a:rPr>
              <a:t>Backbone extracts important features</a:t>
            </a:r>
            <a:endParaRPr lang="en-US" dirty="0">
              <a:latin typeface="+mj-lt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315" y="3524726"/>
            <a:ext cx="879158" cy="105501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758196" y="3700463"/>
            <a:ext cx="2616756" cy="289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000" dirty="0">
                <a:solidFill>
                  <a:srgbClr val="3B3535"/>
                </a:solidFill>
                <a:ea typeface="Alexandria Semi Bold" pitchFamily="34" charset="-122"/>
                <a:cs typeface="Alexandria Semi Bold" pitchFamily="34" charset="-120"/>
              </a:rPr>
              <a:t>Feature Enhancement</a:t>
            </a:r>
            <a:endParaRPr lang="en-US" sz="2000" dirty="0"/>
          </a:p>
        </p:txBody>
      </p:sp>
      <p:sp>
        <p:nvSpPr>
          <p:cNvPr id="11" name="Text 6"/>
          <p:cNvSpPr/>
          <p:nvPr/>
        </p:nvSpPr>
        <p:spPr>
          <a:xfrm>
            <a:off x="1758196" y="4095036"/>
            <a:ext cx="12256889" cy="281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dirty="0">
                <a:solidFill>
                  <a:srgbClr val="3B3535"/>
                </a:solidFill>
                <a:latin typeface="+mj-lt"/>
                <a:ea typeface="Sora Light" pitchFamily="34" charset="-122"/>
                <a:cs typeface="Sora Light" pitchFamily="34" charset="-120"/>
              </a:rPr>
              <a:t>Neck refines multi-scale feature maps</a:t>
            </a:r>
            <a:endParaRPr lang="en-US" dirty="0">
              <a:latin typeface="+mj-lt"/>
            </a:endParaRP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315" y="4579739"/>
            <a:ext cx="879158" cy="105501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758196" y="4755475"/>
            <a:ext cx="2313623" cy="289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000" dirty="0">
                <a:solidFill>
                  <a:srgbClr val="3B3535"/>
                </a:solidFill>
                <a:ea typeface="Alexandria Semi Bold" pitchFamily="34" charset="-122"/>
                <a:cs typeface="Alexandria Semi Bold" pitchFamily="34" charset="-120"/>
              </a:rPr>
              <a:t>Prediction Head</a:t>
            </a:r>
            <a:endParaRPr lang="en-US" sz="2000" dirty="0"/>
          </a:p>
        </p:txBody>
      </p:sp>
      <p:sp>
        <p:nvSpPr>
          <p:cNvPr id="14" name="Text 8"/>
          <p:cNvSpPr/>
          <p:nvPr/>
        </p:nvSpPr>
        <p:spPr>
          <a:xfrm>
            <a:off x="1758196" y="5150048"/>
            <a:ext cx="12256889" cy="281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dirty="0">
                <a:solidFill>
                  <a:srgbClr val="3B3535"/>
                </a:solidFill>
                <a:ea typeface="Sora Light" pitchFamily="34" charset="-122"/>
                <a:cs typeface="Sora Light" pitchFamily="34" charset="-120"/>
              </a:rPr>
              <a:t>Outputs bounding boxes, classes, and confidence</a:t>
            </a:r>
            <a:endParaRPr lang="en-US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5315" y="5634752"/>
            <a:ext cx="879158" cy="105501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758196" y="5810488"/>
            <a:ext cx="2313623" cy="289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000" dirty="0">
                <a:solidFill>
                  <a:srgbClr val="3B3535"/>
                </a:solidFill>
                <a:ea typeface="Alexandria Semi Bold" pitchFamily="34" charset="-122"/>
                <a:cs typeface="Alexandria Semi Bold" pitchFamily="34" charset="-120"/>
              </a:rPr>
              <a:t>Post-processing</a:t>
            </a:r>
            <a:endParaRPr lang="en-US" sz="2000" dirty="0"/>
          </a:p>
        </p:txBody>
      </p:sp>
      <p:sp>
        <p:nvSpPr>
          <p:cNvPr id="17" name="Text 10"/>
          <p:cNvSpPr/>
          <p:nvPr/>
        </p:nvSpPr>
        <p:spPr>
          <a:xfrm>
            <a:off x="1758196" y="6205061"/>
            <a:ext cx="12256889" cy="281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dirty="0">
                <a:solidFill>
                  <a:srgbClr val="3B3535"/>
                </a:solidFill>
                <a:latin typeface="+mj-lt"/>
                <a:ea typeface="Sora Light" pitchFamily="34" charset="-122"/>
                <a:cs typeface="Sora Light" pitchFamily="34" charset="-120"/>
              </a:rPr>
              <a:t>NMS removes overlapping duplicates</a:t>
            </a:r>
            <a:endParaRPr lang="en-US" dirty="0">
              <a:latin typeface="+mj-lt"/>
            </a:endParaRPr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5315" y="6689765"/>
            <a:ext cx="879158" cy="1055013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758196" y="6865501"/>
            <a:ext cx="2313623" cy="289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000" dirty="0">
                <a:solidFill>
                  <a:srgbClr val="3B3535"/>
                </a:solidFill>
                <a:ea typeface="Alexandria Semi Bold" pitchFamily="34" charset="-122"/>
                <a:cs typeface="Alexandria Semi Bold" pitchFamily="34" charset="-120"/>
              </a:rPr>
              <a:t>Final Output</a:t>
            </a:r>
            <a:endParaRPr lang="en-US" sz="2000" dirty="0"/>
          </a:p>
        </p:txBody>
      </p:sp>
      <p:sp>
        <p:nvSpPr>
          <p:cNvPr id="20" name="Text 12"/>
          <p:cNvSpPr/>
          <p:nvPr/>
        </p:nvSpPr>
        <p:spPr>
          <a:xfrm>
            <a:off x="1758196" y="7260074"/>
            <a:ext cx="12256889" cy="281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dirty="0">
                <a:solidFill>
                  <a:srgbClr val="3B3535"/>
                </a:solidFill>
                <a:latin typeface="+mj-lt"/>
                <a:ea typeface="Sora Light" pitchFamily="34" charset="-122"/>
                <a:cs typeface="Sora Light" pitchFamily="34" charset="-120"/>
              </a:rPr>
              <a:t>Objects detected and labeled on image</a:t>
            </a:r>
            <a:endParaRPr lang="en-US" dirty="0">
              <a:latin typeface="+mj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86366" y="294321"/>
            <a:ext cx="6266822" cy="832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YOLOv5 Model Architecture</a:t>
            </a:r>
            <a:endParaRPr lang="en-US" sz="3200" b="1" dirty="0"/>
          </a:p>
        </p:txBody>
      </p:sp>
      <p:sp>
        <p:nvSpPr>
          <p:cNvPr id="4" name="Shape 1"/>
          <p:cNvSpPr/>
          <p:nvPr/>
        </p:nvSpPr>
        <p:spPr>
          <a:xfrm>
            <a:off x="762907" y="1260396"/>
            <a:ext cx="15240" cy="5057299"/>
          </a:xfrm>
          <a:prstGeom prst="roundRect">
            <a:avLst>
              <a:gd name="adj" fmla="val 383294"/>
            </a:avLst>
          </a:prstGeom>
          <a:solidFill>
            <a:srgbClr val="BBC2DC"/>
          </a:solidFill>
          <a:ln/>
        </p:spPr>
      </p:sp>
      <p:sp>
        <p:nvSpPr>
          <p:cNvPr id="5" name="Shape 2"/>
          <p:cNvSpPr/>
          <p:nvPr/>
        </p:nvSpPr>
        <p:spPr>
          <a:xfrm>
            <a:off x="904115" y="1565672"/>
            <a:ext cx="417195" cy="15240"/>
          </a:xfrm>
          <a:prstGeom prst="roundRect">
            <a:avLst>
              <a:gd name="adj" fmla="val 383294"/>
            </a:avLst>
          </a:prstGeom>
          <a:solidFill>
            <a:srgbClr val="BBC2DC"/>
          </a:solidFill>
          <a:ln/>
        </p:spPr>
      </p:sp>
      <p:sp>
        <p:nvSpPr>
          <p:cNvPr id="6" name="Shape 3"/>
          <p:cNvSpPr/>
          <p:nvPr/>
        </p:nvSpPr>
        <p:spPr>
          <a:xfrm>
            <a:off x="606458" y="1416844"/>
            <a:ext cx="312896" cy="312896"/>
          </a:xfrm>
          <a:prstGeom prst="roundRect">
            <a:avLst>
              <a:gd name="adj" fmla="val 18669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3131" y="1436072"/>
            <a:ext cx="219551" cy="2744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2000" b="1" dirty="0">
                <a:solidFill>
                  <a:srgbClr val="3B3535"/>
                </a:solidFill>
                <a:latin typeface="Arial" panose="020B0604020202020204" pitchFamily="34" charset="0"/>
                <a:ea typeface="Alexandria Semi Bold" pitchFamily="34" charset="-122"/>
                <a:cs typeface="Arial" panose="020B0604020202020204" pitchFamily="34" charset="0"/>
              </a:rPr>
              <a:t>1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458232" y="1399461"/>
            <a:ext cx="2217896" cy="22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2000" b="1" dirty="0">
                <a:solidFill>
                  <a:srgbClr val="3B3535"/>
                </a:solidFill>
                <a:latin typeface="Arial" panose="020B0604020202020204" pitchFamily="34" charset="0"/>
                <a:ea typeface="Alexandria Semi Bold" pitchFamily="34" charset="-122"/>
                <a:cs typeface="Arial" panose="020B0604020202020204" pitchFamily="34" charset="0"/>
              </a:rPr>
              <a:t>Backbone (CSPDarknet)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1201579" y="1768770"/>
            <a:ext cx="12805172" cy="222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6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Extracts </a:t>
            </a:r>
            <a:r>
              <a:rPr lang="en-US" sz="1600" b="1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basic visual features</a:t>
            </a:r>
            <a:r>
              <a:rPr lang="en-US" sz="16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 from the input image (like edges, shapes, textures).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201579" y="2182891"/>
            <a:ext cx="12805172" cy="222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6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Think of it like </a:t>
            </a:r>
            <a:r>
              <a:rPr lang="en-US" sz="1600" b="1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a visual scanner</a:t>
            </a:r>
            <a:r>
              <a:rPr lang="en-US" sz="16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 that looks at the image and converts it into useful data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904115" y="3157954"/>
            <a:ext cx="417195" cy="15240"/>
          </a:xfrm>
          <a:prstGeom prst="roundRect">
            <a:avLst>
              <a:gd name="adj" fmla="val 383294"/>
            </a:avLst>
          </a:prstGeom>
          <a:solidFill>
            <a:srgbClr val="BBC2DC"/>
          </a:solidFill>
          <a:ln/>
        </p:spPr>
      </p:sp>
      <p:sp>
        <p:nvSpPr>
          <p:cNvPr id="12" name="Shape 9"/>
          <p:cNvSpPr/>
          <p:nvPr/>
        </p:nvSpPr>
        <p:spPr>
          <a:xfrm>
            <a:off x="606458" y="3009126"/>
            <a:ext cx="312896" cy="312896"/>
          </a:xfrm>
          <a:prstGeom prst="roundRect">
            <a:avLst>
              <a:gd name="adj" fmla="val 18669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3131" y="3028354"/>
            <a:ext cx="219551" cy="2744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2000" b="1" dirty="0">
                <a:solidFill>
                  <a:srgbClr val="3B3535"/>
                </a:solidFill>
                <a:latin typeface="Arial" panose="020B0604020202020204" pitchFamily="34" charset="0"/>
                <a:ea typeface="Alexandria Semi Bold" pitchFamily="34" charset="-122"/>
                <a:cs typeface="Arial" panose="020B0604020202020204" pitchFamily="34" charset="0"/>
              </a:rPr>
              <a:t>2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1458232" y="2991742"/>
            <a:ext cx="1829991" cy="22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2000" b="1" dirty="0">
                <a:solidFill>
                  <a:srgbClr val="3B3535"/>
                </a:solidFill>
                <a:latin typeface="Arial" panose="020B0604020202020204" pitchFamily="34" charset="0"/>
                <a:ea typeface="Alexandria Semi Bold" pitchFamily="34" charset="-122"/>
                <a:cs typeface="Arial" panose="020B0604020202020204" pitchFamily="34" charset="0"/>
              </a:rPr>
              <a:t>Neck (PANet)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1201579" y="3358158"/>
            <a:ext cx="12805172" cy="222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6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Helps the model understand </a:t>
            </a:r>
            <a:r>
              <a:rPr lang="en-US" sz="1600" b="1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features at multiple scales</a:t>
            </a:r>
            <a:r>
              <a:rPr lang="en-US" sz="16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 (small, medium, large objects).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1699800" y="5027949"/>
            <a:ext cx="12805172" cy="222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904115" y="4390192"/>
            <a:ext cx="417195" cy="15240"/>
          </a:xfrm>
          <a:prstGeom prst="roundRect">
            <a:avLst>
              <a:gd name="adj" fmla="val 383294"/>
            </a:avLst>
          </a:prstGeom>
          <a:solidFill>
            <a:srgbClr val="BBC2DC"/>
          </a:solidFill>
          <a:ln/>
        </p:spPr>
      </p:sp>
      <p:sp>
        <p:nvSpPr>
          <p:cNvPr id="18" name="Shape 15"/>
          <p:cNvSpPr/>
          <p:nvPr/>
        </p:nvSpPr>
        <p:spPr>
          <a:xfrm>
            <a:off x="606458" y="4241363"/>
            <a:ext cx="312896" cy="312896"/>
          </a:xfrm>
          <a:prstGeom prst="roundRect">
            <a:avLst>
              <a:gd name="adj" fmla="val 18669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53131" y="4260592"/>
            <a:ext cx="219551" cy="2744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2000" b="1" dirty="0">
                <a:solidFill>
                  <a:srgbClr val="3B3535"/>
                </a:solidFill>
                <a:latin typeface="Arial" panose="020B0604020202020204" pitchFamily="34" charset="0"/>
                <a:ea typeface="Alexandria Semi Bold" pitchFamily="34" charset="-122"/>
                <a:cs typeface="Arial" panose="020B0604020202020204" pitchFamily="34" charset="0"/>
              </a:rPr>
              <a:t>3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1321310" y="4304706"/>
            <a:ext cx="1829991" cy="22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2000" b="1" dirty="0">
                <a:solidFill>
                  <a:srgbClr val="3B3535"/>
                </a:solidFill>
                <a:latin typeface="Arial" panose="020B0604020202020204" pitchFamily="34" charset="0"/>
                <a:ea typeface="Alexandria Semi Bold" pitchFamily="34" charset="-122"/>
                <a:cs typeface="Arial" panose="020B0604020202020204" pitchFamily="34" charset="0"/>
              </a:rPr>
              <a:t>Head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1201579" y="4691300"/>
            <a:ext cx="12805172" cy="222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Takes the output from the neck and </a:t>
            </a:r>
            <a:r>
              <a:rPr lang="en-US" sz="1600" b="1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makes predictions</a:t>
            </a: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: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1230539" y="5009198"/>
            <a:ext cx="12805172" cy="222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600" b="1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Bounding boxes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1338501" y="6261497"/>
            <a:ext cx="12805172" cy="222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1172800" y="5663029"/>
            <a:ext cx="12805172" cy="222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600" b="1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Confidence scores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935548" y="6422925"/>
            <a:ext cx="417195" cy="15240"/>
          </a:xfrm>
          <a:prstGeom prst="roundRect">
            <a:avLst>
              <a:gd name="adj" fmla="val 383294"/>
            </a:avLst>
          </a:prstGeom>
          <a:solidFill>
            <a:srgbClr val="BBC2DC"/>
          </a:solidFill>
          <a:ln/>
        </p:spPr>
      </p:sp>
      <p:sp>
        <p:nvSpPr>
          <p:cNvPr id="26" name="Shape 23"/>
          <p:cNvSpPr/>
          <p:nvPr/>
        </p:nvSpPr>
        <p:spPr>
          <a:xfrm>
            <a:off x="637891" y="6274097"/>
            <a:ext cx="312896" cy="312896"/>
          </a:xfrm>
          <a:prstGeom prst="roundRect">
            <a:avLst>
              <a:gd name="adj" fmla="val 18669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84564" y="6293326"/>
            <a:ext cx="219551" cy="2744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2000" b="1" dirty="0">
                <a:solidFill>
                  <a:srgbClr val="3B3535"/>
                </a:solidFill>
                <a:latin typeface="Arial" panose="020B0604020202020204" pitchFamily="34" charset="0"/>
                <a:ea typeface="Alexandria Semi Bold" pitchFamily="34" charset="-122"/>
                <a:cs typeface="Arial" panose="020B0604020202020204" pitchFamily="34" charset="0"/>
              </a:rPr>
              <a:t>4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1291829" y="6323805"/>
            <a:ext cx="1829991" cy="22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2000" b="1" dirty="0">
                <a:solidFill>
                  <a:srgbClr val="3B3535"/>
                </a:solidFill>
                <a:latin typeface="Arial" panose="020B0604020202020204" pitchFamily="34" charset="0"/>
                <a:ea typeface="Alexandria Semi Bold" pitchFamily="34" charset="-122"/>
                <a:cs typeface="Arial" panose="020B0604020202020204" pitchFamily="34" charset="0"/>
              </a:rPr>
              <a:t>Output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1291829" y="6777455"/>
            <a:ext cx="12805172" cy="222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Final detections with labels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54F8125-5E61-CFA6-469D-AA1273BDDA10}"/>
              </a:ext>
            </a:extLst>
          </p:cNvPr>
          <p:cNvSpPr txBox="1"/>
          <p:nvPr/>
        </p:nvSpPr>
        <p:spPr>
          <a:xfrm>
            <a:off x="1112712" y="3693418"/>
            <a:ext cx="9896997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8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Combines </a:t>
            </a:r>
            <a:r>
              <a:rPr lang="en-US" sz="1800" b="1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low-level details</a:t>
            </a:r>
            <a:r>
              <a:rPr lang="en-US" sz="18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 (edges, colors) with </a:t>
            </a:r>
            <a:r>
              <a:rPr lang="en-US" sz="1800" b="1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high-level concepts</a:t>
            </a:r>
            <a:r>
              <a:rPr lang="en-US" sz="18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 (shapes, objects).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687C1F7-B8F4-DA1C-F0EB-BDA4E3FA7AA3}"/>
              </a:ext>
            </a:extLst>
          </p:cNvPr>
          <p:cNvSpPr txBox="1"/>
          <p:nvPr/>
        </p:nvSpPr>
        <p:spPr>
          <a:xfrm>
            <a:off x="1112712" y="5302241"/>
            <a:ext cx="73152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800" b="1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Class labels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671274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Project Workflow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299960" y="1817251"/>
            <a:ext cx="30480" cy="5740956"/>
          </a:xfrm>
          <a:prstGeom prst="roundRect">
            <a:avLst>
              <a:gd name="adj" fmla="val 298550"/>
            </a:avLst>
          </a:prstGeom>
          <a:solidFill>
            <a:srgbClr val="BBC2DC"/>
          </a:solidFill>
          <a:ln/>
        </p:spPr>
      </p:sp>
      <p:sp>
        <p:nvSpPr>
          <p:cNvPr id="4" name="Shape 2"/>
          <p:cNvSpPr/>
          <p:nvPr/>
        </p:nvSpPr>
        <p:spPr>
          <a:xfrm>
            <a:off x="6451997" y="2289453"/>
            <a:ext cx="649962" cy="30480"/>
          </a:xfrm>
          <a:prstGeom prst="roundRect">
            <a:avLst>
              <a:gd name="adj" fmla="val 298550"/>
            </a:avLst>
          </a:prstGeom>
          <a:solidFill>
            <a:srgbClr val="BBC2DC"/>
          </a:solidFill>
          <a:ln/>
        </p:spPr>
      </p:sp>
      <p:sp>
        <p:nvSpPr>
          <p:cNvPr id="5" name="Shape 3"/>
          <p:cNvSpPr/>
          <p:nvPr/>
        </p:nvSpPr>
        <p:spPr>
          <a:xfrm>
            <a:off x="7071479" y="2060972"/>
            <a:ext cx="487442" cy="487442"/>
          </a:xfrm>
          <a:prstGeom prst="roundRect">
            <a:avLst>
              <a:gd name="adj" fmla="val 18669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44167" y="2090916"/>
            <a:ext cx="342067" cy="427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1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3381256" y="2033826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Clone Repository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58309" y="2519958"/>
            <a:ext cx="547366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Get YOLOv5 code from GitHub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528441" y="3372564"/>
            <a:ext cx="649962" cy="30480"/>
          </a:xfrm>
          <a:prstGeom prst="roundRect">
            <a:avLst>
              <a:gd name="adj" fmla="val 298550"/>
            </a:avLst>
          </a:prstGeom>
          <a:solidFill>
            <a:srgbClr val="BBC2DC"/>
          </a:solidFill>
          <a:ln/>
        </p:spPr>
      </p:sp>
      <p:sp>
        <p:nvSpPr>
          <p:cNvPr id="10" name="Shape 8"/>
          <p:cNvSpPr/>
          <p:nvPr/>
        </p:nvSpPr>
        <p:spPr>
          <a:xfrm>
            <a:off x="7071479" y="3144083"/>
            <a:ext cx="487442" cy="487442"/>
          </a:xfrm>
          <a:prstGeom prst="roundRect">
            <a:avLst>
              <a:gd name="adj" fmla="val 18669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44167" y="3174028"/>
            <a:ext cx="342067" cy="427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2</a:t>
            </a:r>
            <a:endParaRPr lang="en-US" sz="2650" dirty="0"/>
          </a:p>
        </p:txBody>
      </p:sp>
      <p:sp>
        <p:nvSpPr>
          <p:cNvPr id="12" name="Text 10"/>
          <p:cNvSpPr/>
          <p:nvPr/>
        </p:nvSpPr>
        <p:spPr>
          <a:xfrm>
            <a:off x="8398431" y="3116937"/>
            <a:ext cx="3030022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Install Dependencies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398431" y="3603069"/>
            <a:ext cx="547366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Set up required libraries and tools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451997" y="4347448"/>
            <a:ext cx="649962" cy="30480"/>
          </a:xfrm>
          <a:prstGeom prst="roundRect">
            <a:avLst>
              <a:gd name="adj" fmla="val 298550"/>
            </a:avLst>
          </a:prstGeom>
          <a:solidFill>
            <a:srgbClr val="BBC2DC"/>
          </a:solidFill>
          <a:ln/>
        </p:spPr>
      </p:sp>
      <p:sp>
        <p:nvSpPr>
          <p:cNvPr id="15" name="Shape 13"/>
          <p:cNvSpPr/>
          <p:nvPr/>
        </p:nvSpPr>
        <p:spPr>
          <a:xfrm>
            <a:off x="7071479" y="4118967"/>
            <a:ext cx="487442" cy="487442"/>
          </a:xfrm>
          <a:prstGeom prst="roundRect">
            <a:avLst>
              <a:gd name="adj" fmla="val 18669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44167" y="4148911"/>
            <a:ext cx="342067" cy="427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3</a:t>
            </a:r>
            <a:endParaRPr lang="en-US" sz="2650" dirty="0"/>
          </a:p>
        </p:txBody>
      </p:sp>
      <p:sp>
        <p:nvSpPr>
          <p:cNvPr id="17" name="Text 15"/>
          <p:cNvSpPr/>
          <p:nvPr/>
        </p:nvSpPr>
        <p:spPr>
          <a:xfrm>
            <a:off x="3381256" y="4091821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Upload Image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58309" y="4577953"/>
            <a:ext cx="547366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Provide image for detection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7528441" y="5322332"/>
            <a:ext cx="649962" cy="30480"/>
          </a:xfrm>
          <a:prstGeom prst="roundRect">
            <a:avLst>
              <a:gd name="adj" fmla="val 298550"/>
            </a:avLst>
          </a:prstGeom>
          <a:solidFill>
            <a:srgbClr val="BBC2DC"/>
          </a:solidFill>
          <a:ln/>
        </p:spPr>
      </p:sp>
      <p:sp>
        <p:nvSpPr>
          <p:cNvPr id="20" name="Shape 18"/>
          <p:cNvSpPr/>
          <p:nvPr/>
        </p:nvSpPr>
        <p:spPr>
          <a:xfrm>
            <a:off x="7071479" y="5093851"/>
            <a:ext cx="487442" cy="487442"/>
          </a:xfrm>
          <a:prstGeom prst="roundRect">
            <a:avLst>
              <a:gd name="adj" fmla="val 18669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44167" y="5123795"/>
            <a:ext cx="342067" cy="427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4</a:t>
            </a:r>
            <a:endParaRPr lang="en-US" sz="2650" dirty="0"/>
          </a:p>
        </p:txBody>
      </p:sp>
      <p:sp>
        <p:nvSpPr>
          <p:cNvPr id="22" name="Text 20"/>
          <p:cNvSpPr/>
          <p:nvPr/>
        </p:nvSpPr>
        <p:spPr>
          <a:xfrm>
            <a:off x="8398431" y="506670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Run Detection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398431" y="5552837"/>
            <a:ext cx="547366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Execute detect.py with model weights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451997" y="6297216"/>
            <a:ext cx="649962" cy="30480"/>
          </a:xfrm>
          <a:prstGeom prst="roundRect">
            <a:avLst>
              <a:gd name="adj" fmla="val 298550"/>
            </a:avLst>
          </a:prstGeom>
          <a:solidFill>
            <a:srgbClr val="BBC2DC"/>
          </a:solidFill>
          <a:ln/>
        </p:spPr>
      </p:sp>
      <p:sp>
        <p:nvSpPr>
          <p:cNvPr id="25" name="Shape 23"/>
          <p:cNvSpPr/>
          <p:nvPr/>
        </p:nvSpPr>
        <p:spPr>
          <a:xfrm>
            <a:off x="7071479" y="6068735"/>
            <a:ext cx="487442" cy="487442"/>
          </a:xfrm>
          <a:prstGeom prst="roundRect">
            <a:avLst>
              <a:gd name="adj" fmla="val 18669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44167" y="6098679"/>
            <a:ext cx="342067" cy="427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5</a:t>
            </a:r>
            <a:endParaRPr lang="en-US" sz="2650" dirty="0"/>
          </a:p>
        </p:txBody>
      </p:sp>
      <p:sp>
        <p:nvSpPr>
          <p:cNvPr id="27" name="Text 25"/>
          <p:cNvSpPr/>
          <p:nvPr/>
        </p:nvSpPr>
        <p:spPr>
          <a:xfrm>
            <a:off x="3381256" y="604158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Display Output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58309" y="6527721"/>
            <a:ext cx="547366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View detected objects with bounding boxes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2109" y="535900"/>
            <a:ext cx="7077551" cy="884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950"/>
              </a:lnSpc>
              <a:buNone/>
            </a:pPr>
            <a:r>
              <a:rPr lang="en-US" sz="55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OUTPUT</a:t>
            </a:r>
            <a:endParaRPr lang="en-US" sz="5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0861" y="1936671"/>
            <a:ext cx="2185154" cy="2923342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1868" y="1936671"/>
            <a:ext cx="4227552" cy="2923342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1133" y="5172313"/>
            <a:ext cx="4128135" cy="233862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708660"/>
            <a:ext cx="7051834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Real-World Applications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44709" y="1746290"/>
            <a:ext cx="7627382" cy="1281232"/>
          </a:xfrm>
          <a:prstGeom prst="roundRect">
            <a:avLst>
              <a:gd name="adj" fmla="val 7102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68904" y="1970484"/>
            <a:ext cx="3151465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Autonomous Vehicles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468904" y="2456617"/>
            <a:ext cx="717899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Pedestrian and obstacle detection for safety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244709" y="3244096"/>
            <a:ext cx="7627382" cy="1281232"/>
          </a:xfrm>
          <a:prstGeom prst="roundRect">
            <a:avLst>
              <a:gd name="adj" fmla="val 7102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68904" y="3468291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Security Systems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468904" y="3954423"/>
            <a:ext cx="717899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Facial recognition and anomaly detection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244709" y="4741902"/>
            <a:ext cx="7627382" cy="1281232"/>
          </a:xfrm>
          <a:prstGeom prst="roundRect">
            <a:avLst>
              <a:gd name="adj" fmla="val 7102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68904" y="4966097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Retail Analytics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468904" y="5452229"/>
            <a:ext cx="717899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Counting people and products in stores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6244709" y="6239708"/>
            <a:ext cx="7627382" cy="1281232"/>
          </a:xfrm>
          <a:prstGeom prst="roundRect">
            <a:avLst>
              <a:gd name="adj" fmla="val 7102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68904" y="646390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Medical Imaging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6468904" y="6950035"/>
            <a:ext cx="717899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Identifying conditions from scans automatically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DE42175-6E33-F0C3-784B-DC363DDEEC31}"/>
              </a:ext>
            </a:extLst>
          </p:cNvPr>
          <p:cNvSpPr txBox="1"/>
          <p:nvPr/>
        </p:nvSpPr>
        <p:spPr>
          <a:xfrm>
            <a:off x="3714750" y="3326130"/>
            <a:ext cx="74637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  <a:endParaRPr lang="en-IN" sz="7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9631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457</Words>
  <Application>Microsoft Office PowerPoint</Application>
  <PresentationFormat>Custom</PresentationFormat>
  <Paragraphs>101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Sora Light</vt:lpstr>
      <vt:lpstr>Alexandria Semi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SHUBHAM YADAV</cp:lastModifiedBy>
  <cp:revision>4</cp:revision>
  <dcterms:created xsi:type="dcterms:W3CDTF">2025-04-19T13:40:31Z</dcterms:created>
  <dcterms:modified xsi:type="dcterms:W3CDTF">2025-05-27T01:06:09Z</dcterms:modified>
</cp:coreProperties>
</file>