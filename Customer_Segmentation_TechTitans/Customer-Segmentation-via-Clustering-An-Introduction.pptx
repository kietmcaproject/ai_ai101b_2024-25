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65" r:id="rId2"/>
    <p:sldId id="256" r:id="rId3"/>
    <p:sldId id="257" r:id="rId4"/>
    <p:sldId id="258" r:id="rId5"/>
    <p:sldId id="259" r:id="rId6"/>
    <p:sldId id="266" r:id="rId7"/>
    <p:sldId id="260" r:id="rId8"/>
    <p:sldId id="261" r:id="rId9"/>
    <p:sldId id="262" r:id="rId10"/>
    <p:sldId id="263" r:id="rId11"/>
    <p:sldId id="264" r:id="rId12"/>
  </p:sldIdLst>
  <p:sldSz cx="14630400" cy="8229600"/>
  <p:notesSz cx="8229600" cy="14630400"/>
  <p:embeddedFontLst>
    <p:embeddedFont>
      <p:font typeface="Montserrat Bold" panose="020B0604020202020204" charset="0"/>
      <p:bold r:id="rId14"/>
    </p:embeddedFont>
    <p:embeddedFont>
      <p:font typeface="Source Sans Pro" panose="020B050303040302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881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CCD79E-BDAF-F5AE-4B07-DEEC02A99956}"/>
              </a:ext>
            </a:extLst>
          </p:cNvPr>
          <p:cNvSpPr/>
          <p:nvPr/>
        </p:nvSpPr>
        <p:spPr>
          <a:xfrm flipV="1">
            <a:off x="12733867" y="8229600"/>
            <a:ext cx="2015066"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Image 0">
            <a:extLst>
              <a:ext uri="{FF2B5EF4-FFF2-40B4-BE49-F238E27FC236}">
                <a16:creationId xmlns:a16="http://schemas.microsoft.com/office/drawing/2014/main" id="{0413F17A-832C-C7D6-E0BC-0A9C42371B96}"/>
              </a:ext>
            </a:extLst>
          </p:cNvPr>
          <p:cNvPicPr>
            <a:picLocks noChangeAspect="1"/>
          </p:cNvPicPr>
          <p:nvPr/>
        </p:nvPicPr>
        <p:blipFill>
          <a:blip r:embed="rId2"/>
          <a:stretch>
            <a:fillRect/>
          </a:stretch>
        </p:blipFill>
        <p:spPr>
          <a:xfrm>
            <a:off x="793790" y="299719"/>
            <a:ext cx="13042821" cy="1957495"/>
          </a:xfrm>
          <a:prstGeom prst="rect">
            <a:avLst/>
          </a:prstGeom>
        </p:spPr>
      </p:pic>
      <p:sp>
        <p:nvSpPr>
          <p:cNvPr id="6" name="TextBox 5">
            <a:extLst>
              <a:ext uri="{FF2B5EF4-FFF2-40B4-BE49-F238E27FC236}">
                <a16:creationId xmlns:a16="http://schemas.microsoft.com/office/drawing/2014/main" id="{7DA97917-B1D2-B034-9F1D-304E4DF7F08E}"/>
              </a:ext>
            </a:extLst>
          </p:cNvPr>
          <p:cNvSpPr txBox="1"/>
          <p:nvPr/>
        </p:nvSpPr>
        <p:spPr>
          <a:xfrm>
            <a:off x="3979334" y="2679720"/>
            <a:ext cx="8229600" cy="584775"/>
          </a:xfrm>
          <a:prstGeom prst="rect">
            <a:avLst/>
          </a:prstGeom>
          <a:noFill/>
        </p:spPr>
        <p:txBody>
          <a:bodyPr wrap="square">
            <a:spAutoFit/>
          </a:bodyPr>
          <a:lstStyle/>
          <a:p>
            <a:r>
              <a:rPr lang="en-IN" sz="3200" b="1" dirty="0"/>
              <a:t>Customer Segmentation Using Cluster </a:t>
            </a:r>
          </a:p>
        </p:txBody>
      </p:sp>
      <p:sp>
        <p:nvSpPr>
          <p:cNvPr id="8" name="TextBox 7">
            <a:extLst>
              <a:ext uri="{FF2B5EF4-FFF2-40B4-BE49-F238E27FC236}">
                <a16:creationId xmlns:a16="http://schemas.microsoft.com/office/drawing/2014/main" id="{D296917A-0595-1345-CD26-E7A6D44FDA6B}"/>
              </a:ext>
            </a:extLst>
          </p:cNvPr>
          <p:cNvSpPr txBox="1"/>
          <p:nvPr/>
        </p:nvSpPr>
        <p:spPr>
          <a:xfrm>
            <a:off x="5367868" y="3266178"/>
            <a:ext cx="7755465" cy="830997"/>
          </a:xfrm>
          <a:prstGeom prst="rect">
            <a:avLst/>
          </a:prstGeom>
          <a:noFill/>
        </p:spPr>
        <p:txBody>
          <a:bodyPr wrap="square">
            <a:spAutoFit/>
          </a:bodyPr>
          <a:lstStyle/>
          <a:p>
            <a:r>
              <a:rPr lang="en-US" sz="2000" b="1" u="sng" dirty="0">
                <a:latin typeface="Instrument Sans Medium" pitchFamily="34" charset="0"/>
                <a:ea typeface="Instrument Sans Medium" pitchFamily="34" charset="-122"/>
                <a:cs typeface="Instrument Sans Medium" pitchFamily="34" charset="-120"/>
              </a:rPr>
              <a:t> </a:t>
            </a:r>
            <a:r>
              <a:rPr lang="en-US" sz="2400" b="1" u="sng" dirty="0">
                <a:latin typeface="Instrument Sans Medium" pitchFamily="34" charset="0"/>
                <a:ea typeface="Instrument Sans Medium" pitchFamily="34" charset="-122"/>
                <a:cs typeface="Instrument Sans Medium" pitchFamily="34" charset="-120"/>
              </a:rPr>
              <a:t>Artificial Intelligence(AI101B) </a:t>
            </a:r>
            <a:r>
              <a:rPr lang="en-US" sz="2400" dirty="0">
                <a:latin typeface="Instrument Sans Medium" pitchFamily="34" charset="0"/>
                <a:ea typeface="Instrument Sans Medium" pitchFamily="34" charset="-122"/>
                <a:cs typeface="Instrument Sans Medium" pitchFamily="34" charset="-120"/>
              </a:rPr>
              <a:t>
</a:t>
            </a:r>
            <a:r>
              <a:rPr lang="en-US" sz="2400" b="1" dirty="0">
                <a:latin typeface="Instrument Sans Medium" pitchFamily="34" charset="0"/>
                <a:ea typeface="Instrument Sans Medium" pitchFamily="34" charset="-122"/>
                <a:cs typeface="Instrument Sans Medium" pitchFamily="34" charset="-120"/>
              </a:rPr>
              <a:t>Even Semester  Session 2024-25</a:t>
            </a:r>
            <a:endParaRPr lang="en-IN" sz="2400" dirty="0"/>
          </a:p>
        </p:txBody>
      </p:sp>
      <p:sp>
        <p:nvSpPr>
          <p:cNvPr id="10" name="TextBox 9">
            <a:extLst>
              <a:ext uri="{FF2B5EF4-FFF2-40B4-BE49-F238E27FC236}">
                <a16:creationId xmlns:a16="http://schemas.microsoft.com/office/drawing/2014/main" id="{58B3CF0C-507A-24EC-8165-4EB163F29170}"/>
              </a:ext>
            </a:extLst>
          </p:cNvPr>
          <p:cNvSpPr txBox="1"/>
          <p:nvPr/>
        </p:nvSpPr>
        <p:spPr>
          <a:xfrm>
            <a:off x="5588001" y="4629515"/>
            <a:ext cx="4521200" cy="2246769"/>
          </a:xfrm>
          <a:prstGeom prst="rect">
            <a:avLst/>
          </a:prstGeom>
          <a:noFill/>
        </p:spPr>
        <p:txBody>
          <a:bodyPr wrap="square">
            <a:spAutoFit/>
          </a:bodyPr>
          <a:lstStyle/>
          <a:p>
            <a:r>
              <a:rPr lang="en-US" sz="2000" b="1" dirty="0">
                <a:latin typeface="Instrument Sans Medium" pitchFamily="34" charset="0"/>
                <a:ea typeface="Instrument Sans Medium" pitchFamily="34" charset="-122"/>
                <a:cs typeface="Instrument Sans Medium" pitchFamily="34" charset="-120"/>
              </a:rPr>
              <a:t> </a:t>
            </a:r>
            <a:r>
              <a:rPr lang="en-US" sz="2000" b="1" dirty="0" err="1">
                <a:latin typeface="Instrument Sans Medium" pitchFamily="34" charset="0"/>
                <a:ea typeface="Instrument Sans Medium" pitchFamily="34" charset="-122"/>
                <a:cs typeface="Instrument Sans Medium" pitchFamily="34" charset="-120"/>
              </a:rPr>
              <a:t>Tannoo</a:t>
            </a:r>
            <a:r>
              <a:rPr lang="en-US" sz="2000" b="1" dirty="0">
                <a:latin typeface="Instrument Sans Medium" pitchFamily="34" charset="0"/>
                <a:ea typeface="Instrument Sans Medium" pitchFamily="34" charset="-122"/>
                <a:cs typeface="Instrument Sans Medium" pitchFamily="34" charset="-120"/>
              </a:rPr>
              <a:t> Shukla (202410116100220)</a:t>
            </a:r>
          </a:p>
          <a:p>
            <a:endParaRPr lang="en-US" sz="2000" b="1" dirty="0">
              <a:latin typeface="Instrument Sans Medium" pitchFamily="34" charset="0"/>
              <a:ea typeface="Instrument Sans Medium" pitchFamily="34" charset="-122"/>
              <a:cs typeface="Instrument Sans Medium" pitchFamily="34" charset="-120"/>
            </a:endParaRPr>
          </a:p>
          <a:p>
            <a:r>
              <a:rPr lang="en-US" sz="2000" b="1" dirty="0">
                <a:latin typeface="Instrument Sans Medium" pitchFamily="34" charset="0"/>
                <a:ea typeface="Instrument Sans Medium" pitchFamily="34" charset="-122"/>
                <a:cs typeface="Instrument Sans Medium" pitchFamily="34" charset="-120"/>
              </a:rPr>
              <a:t> Tanya Singh (202410116100222)</a:t>
            </a:r>
          </a:p>
          <a:p>
            <a:endParaRPr lang="en-US" sz="2000" b="1" dirty="0">
              <a:latin typeface="Instrument Sans Medium" pitchFamily="34" charset="0"/>
              <a:ea typeface="Instrument Sans Medium" pitchFamily="34" charset="-122"/>
              <a:cs typeface="Instrument Sans Medium" pitchFamily="34" charset="-120"/>
            </a:endParaRPr>
          </a:p>
          <a:p>
            <a:r>
              <a:rPr lang="en-US" sz="2000" b="1" dirty="0">
                <a:latin typeface="Instrument Sans Medium" pitchFamily="34" charset="0"/>
                <a:ea typeface="Instrument Sans Medium" pitchFamily="34" charset="-122"/>
                <a:cs typeface="Instrument Sans Medium" pitchFamily="34" charset="-120"/>
              </a:rPr>
              <a:t> Tannu </a:t>
            </a:r>
            <a:r>
              <a:rPr lang="en-US" sz="2000" b="1" dirty="0" err="1">
                <a:latin typeface="Instrument Sans Medium" pitchFamily="34" charset="0"/>
                <a:ea typeface="Instrument Sans Medium" pitchFamily="34" charset="-122"/>
                <a:cs typeface="Instrument Sans Medium" pitchFamily="34" charset="-120"/>
              </a:rPr>
              <a:t>Modanwal</a:t>
            </a:r>
            <a:r>
              <a:rPr lang="en-US" sz="2000" b="1" dirty="0">
                <a:latin typeface="Instrument Sans Medium" pitchFamily="34" charset="0"/>
                <a:ea typeface="Instrument Sans Medium" pitchFamily="34" charset="-122"/>
                <a:cs typeface="Instrument Sans Medium" pitchFamily="34" charset="-120"/>
              </a:rPr>
              <a:t> (202410116100221)</a:t>
            </a:r>
          </a:p>
          <a:p>
            <a:endParaRPr lang="en-US" sz="2000" b="1" dirty="0">
              <a:latin typeface="Instrument Sans Medium" pitchFamily="34" charset="0"/>
              <a:ea typeface="Instrument Sans Medium" pitchFamily="34" charset="-122"/>
              <a:cs typeface="Instrument Sans Medium" pitchFamily="34" charset="-120"/>
            </a:endParaRPr>
          </a:p>
          <a:p>
            <a:r>
              <a:rPr lang="en-US" sz="2000" b="1" dirty="0">
                <a:latin typeface="Instrument Sans Medium" pitchFamily="34" charset="0"/>
                <a:ea typeface="Instrument Sans Medium" pitchFamily="34" charset="-122"/>
                <a:cs typeface="Instrument Sans Medium" pitchFamily="34" charset="-120"/>
              </a:rPr>
              <a:t> </a:t>
            </a:r>
            <a:r>
              <a:rPr lang="en-US" sz="2000" b="1" dirty="0" err="1">
                <a:latin typeface="Instrument Sans Medium" pitchFamily="34" charset="0"/>
                <a:ea typeface="Instrument Sans Medium" pitchFamily="34" charset="-122"/>
                <a:cs typeface="Instrument Sans Medium" pitchFamily="34" charset="-120"/>
              </a:rPr>
              <a:t>Trapti</a:t>
            </a:r>
            <a:r>
              <a:rPr lang="en-US" sz="2000" b="1" dirty="0">
                <a:latin typeface="Instrument Sans Medium" pitchFamily="34" charset="0"/>
                <a:ea typeface="Instrument Sans Medium" pitchFamily="34" charset="-122"/>
                <a:cs typeface="Instrument Sans Medium" pitchFamily="34" charset="-120"/>
              </a:rPr>
              <a:t> Rajput (202410116100224)</a:t>
            </a:r>
            <a:endParaRPr lang="en-IN" sz="2000" b="1" dirty="0"/>
          </a:p>
        </p:txBody>
      </p:sp>
      <p:sp>
        <p:nvSpPr>
          <p:cNvPr id="3" name="TextBox 2">
            <a:extLst>
              <a:ext uri="{FF2B5EF4-FFF2-40B4-BE49-F238E27FC236}">
                <a16:creationId xmlns:a16="http://schemas.microsoft.com/office/drawing/2014/main" id="{1CC41CBA-45F5-646D-A3EB-711E8CC68E46}"/>
              </a:ext>
            </a:extLst>
          </p:cNvPr>
          <p:cNvSpPr txBox="1"/>
          <p:nvPr/>
        </p:nvSpPr>
        <p:spPr>
          <a:xfrm>
            <a:off x="12733867" y="7620000"/>
            <a:ext cx="1896533" cy="609600"/>
          </a:xfrm>
          <a:prstGeom prst="rect">
            <a:avLst/>
          </a:prstGeom>
          <a:solidFill>
            <a:schemeClr val="bg1"/>
          </a:solidFill>
          <a:ln>
            <a:noFill/>
          </a:ln>
        </p:spPr>
        <p:txBody>
          <a:bodyPr wrap="square" rtlCol="0">
            <a:spAutoFit/>
          </a:bodyPr>
          <a:lstStyle/>
          <a:p>
            <a:endParaRPr lang="en-IN" dirty="0"/>
          </a:p>
        </p:txBody>
      </p:sp>
    </p:spTree>
    <p:extLst>
      <p:ext uri="{BB962C8B-B14F-4D97-AF65-F5344CB8AC3E}">
        <p14:creationId xmlns:p14="http://schemas.microsoft.com/office/powerpoint/2010/main" val="1897748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1212056"/>
            <a:ext cx="7416403" cy="2103834"/>
          </a:xfrm>
          <a:prstGeom prst="rect">
            <a:avLst/>
          </a:prstGeom>
          <a:noFill/>
          <a:ln/>
        </p:spPr>
        <p:txBody>
          <a:bodyPr wrap="squar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Customer Segmentation via Clustering: An Introduction</a:t>
            </a:r>
            <a:endParaRPr lang="en-US" sz="4400" dirty="0"/>
          </a:p>
        </p:txBody>
      </p:sp>
      <p:sp>
        <p:nvSpPr>
          <p:cNvPr id="4" name="Text 1"/>
          <p:cNvSpPr/>
          <p:nvPr/>
        </p:nvSpPr>
        <p:spPr>
          <a:xfrm>
            <a:off x="863798" y="3686056"/>
            <a:ext cx="7416403" cy="3331488"/>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Customer segmentation is a powerful marketing strategy that groups customers into homogenous segments based on shared characteristics. These groups allow businesses to tailor marketing efforts, increase product relevance, and ultimately enhance customer satisfaction. This project leverages unsupervised machine learning, primarily clustering algorithms, to analyze complex customer data and uncover natural groupings without pre-labeled categories. By doing so, we aim to reveal actionable insights for more effective customer engagement and business growth.</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7696" y="830461"/>
            <a:ext cx="7461409" cy="1365647"/>
          </a:xfrm>
          <a:prstGeom prst="rect">
            <a:avLst/>
          </a:prstGeom>
          <a:noFill/>
          <a:ln/>
        </p:spPr>
        <p:txBody>
          <a:bodyPr wrap="square" lIns="0" tIns="0" rIns="0" bIns="0" rtlCol="0" anchor="t"/>
          <a:lstStyle/>
          <a:p>
            <a:pPr marL="0" indent="0" algn="l">
              <a:lnSpc>
                <a:spcPts val="5350"/>
              </a:lnSpc>
              <a:buNone/>
            </a:pPr>
            <a:r>
              <a:rPr lang="en-US" sz="4300" b="1" dirty="0">
                <a:solidFill>
                  <a:srgbClr val="000000"/>
                </a:solidFill>
                <a:latin typeface="Montserrat Bold" pitchFamily="34" charset="0"/>
                <a:ea typeface="Montserrat Bold" pitchFamily="34" charset="-122"/>
                <a:cs typeface="Montserrat Bold" pitchFamily="34" charset="-120"/>
              </a:rPr>
              <a:t>The Importance of Customer Segmentation</a:t>
            </a:r>
            <a:endParaRPr lang="en-US" sz="4300" dirty="0"/>
          </a:p>
        </p:txBody>
      </p:sp>
      <p:sp>
        <p:nvSpPr>
          <p:cNvPr id="4" name="Shape 1"/>
          <p:cNvSpPr/>
          <p:nvPr/>
        </p:nvSpPr>
        <p:spPr>
          <a:xfrm>
            <a:off x="6327696" y="2556629"/>
            <a:ext cx="540782" cy="540782"/>
          </a:xfrm>
          <a:prstGeom prst="roundRect">
            <a:avLst>
              <a:gd name="adj" fmla="val 6667"/>
            </a:avLst>
          </a:prstGeom>
          <a:solidFill>
            <a:srgbClr val="F2EEEE"/>
          </a:solidFill>
          <a:ln/>
        </p:spPr>
        <p:txBody>
          <a:bodyPr/>
          <a:lstStyle/>
          <a:p>
            <a:endParaRPr lang="en-IN"/>
          </a:p>
        </p:txBody>
      </p:sp>
      <p:sp>
        <p:nvSpPr>
          <p:cNvPr id="5" name="Text 2"/>
          <p:cNvSpPr/>
          <p:nvPr/>
        </p:nvSpPr>
        <p:spPr>
          <a:xfrm>
            <a:off x="6434197" y="2622173"/>
            <a:ext cx="327779" cy="409694"/>
          </a:xfrm>
          <a:prstGeom prst="rect">
            <a:avLst/>
          </a:prstGeom>
          <a:noFill/>
          <a:ln/>
        </p:spPr>
        <p:txBody>
          <a:bodyPr wrap="none" lIns="0" tIns="0" rIns="0" bIns="0" rtlCol="0" anchor="t"/>
          <a:lstStyle/>
          <a:p>
            <a:pPr marL="0" indent="0" algn="ctr">
              <a:lnSpc>
                <a:spcPts val="2550"/>
              </a:lnSpc>
              <a:buNone/>
            </a:pPr>
            <a:r>
              <a:rPr lang="en-US" sz="2550" b="1" dirty="0">
                <a:solidFill>
                  <a:srgbClr val="3D3838"/>
                </a:solidFill>
                <a:latin typeface="Montserrat Bold" pitchFamily="34" charset="0"/>
                <a:ea typeface="Montserrat Bold" pitchFamily="34" charset="-122"/>
                <a:cs typeface="Montserrat Bold" pitchFamily="34" charset="-120"/>
              </a:rPr>
              <a:t>1</a:t>
            </a:r>
            <a:endParaRPr lang="en-US" sz="2550" dirty="0"/>
          </a:p>
        </p:txBody>
      </p:sp>
      <p:sp>
        <p:nvSpPr>
          <p:cNvPr id="6" name="Text 3"/>
          <p:cNvSpPr/>
          <p:nvPr/>
        </p:nvSpPr>
        <p:spPr>
          <a:xfrm>
            <a:off x="7108746" y="2639258"/>
            <a:ext cx="2799517" cy="682704"/>
          </a:xfrm>
          <a:prstGeom prst="rect">
            <a:avLst/>
          </a:prstGeom>
          <a:noFill/>
          <a:ln/>
        </p:spPr>
        <p:txBody>
          <a:bodyPr wrap="square" lIns="0" tIns="0" rIns="0" bIns="0" rtlCol="0" anchor="t"/>
          <a:lstStyle/>
          <a:p>
            <a:pPr marL="0" indent="0" algn="l">
              <a:lnSpc>
                <a:spcPts val="2650"/>
              </a:lnSpc>
              <a:buNone/>
            </a:pPr>
            <a:r>
              <a:rPr lang="en-US" sz="2150" b="1" dirty="0">
                <a:solidFill>
                  <a:srgbClr val="3D3838"/>
                </a:solidFill>
                <a:latin typeface="Montserrat Bold" pitchFamily="34" charset="0"/>
                <a:ea typeface="Montserrat Bold" pitchFamily="34" charset="-122"/>
                <a:cs typeface="Montserrat Bold" pitchFamily="34" charset="-120"/>
              </a:rPr>
              <a:t>Improved Targeting Precision</a:t>
            </a:r>
            <a:endParaRPr lang="en-US" sz="2150" dirty="0"/>
          </a:p>
        </p:txBody>
      </p:sp>
      <p:sp>
        <p:nvSpPr>
          <p:cNvPr id="7" name="Text 4"/>
          <p:cNvSpPr/>
          <p:nvPr/>
        </p:nvSpPr>
        <p:spPr>
          <a:xfrm>
            <a:off x="7108746" y="3466148"/>
            <a:ext cx="2799517" cy="2163128"/>
          </a:xfrm>
          <a:prstGeom prst="rect">
            <a:avLst/>
          </a:prstGeom>
          <a:noFill/>
          <a:ln/>
        </p:spPr>
        <p:txBody>
          <a:bodyPr wrap="square" lIns="0" tIns="0" rIns="0" bIns="0" rtlCol="0" anchor="t"/>
          <a:lstStyle/>
          <a:p>
            <a:pPr marL="0" indent="0" algn="l">
              <a:lnSpc>
                <a:spcPts val="2800"/>
              </a:lnSpc>
              <a:buNone/>
            </a:pPr>
            <a:r>
              <a:rPr lang="en-US" sz="1850" dirty="0">
                <a:solidFill>
                  <a:srgbClr val="3D3838"/>
                </a:solidFill>
                <a:latin typeface="Source Sans Pro" pitchFamily="34" charset="0"/>
                <a:ea typeface="Source Sans Pro" pitchFamily="34" charset="-122"/>
                <a:cs typeface="Source Sans Pro" pitchFamily="34" charset="-120"/>
              </a:rPr>
              <a:t>By segmenting customers, businesses achieve 40% better targeting accuracy, allowing campaigns to focus on relevant audiences.</a:t>
            </a:r>
            <a:endParaRPr lang="en-US" sz="1850" dirty="0"/>
          </a:p>
        </p:txBody>
      </p:sp>
      <p:sp>
        <p:nvSpPr>
          <p:cNvPr id="8" name="Shape 5"/>
          <p:cNvSpPr/>
          <p:nvPr/>
        </p:nvSpPr>
        <p:spPr>
          <a:xfrm>
            <a:off x="10208657" y="2556629"/>
            <a:ext cx="540782" cy="540782"/>
          </a:xfrm>
          <a:prstGeom prst="roundRect">
            <a:avLst>
              <a:gd name="adj" fmla="val 6667"/>
            </a:avLst>
          </a:prstGeom>
          <a:solidFill>
            <a:srgbClr val="F2EEEE"/>
          </a:solidFill>
          <a:ln/>
        </p:spPr>
        <p:txBody>
          <a:bodyPr/>
          <a:lstStyle/>
          <a:p>
            <a:endParaRPr lang="en-IN"/>
          </a:p>
        </p:txBody>
      </p:sp>
      <p:sp>
        <p:nvSpPr>
          <p:cNvPr id="9" name="Text 6"/>
          <p:cNvSpPr/>
          <p:nvPr/>
        </p:nvSpPr>
        <p:spPr>
          <a:xfrm>
            <a:off x="10315158" y="2622173"/>
            <a:ext cx="327779" cy="409694"/>
          </a:xfrm>
          <a:prstGeom prst="rect">
            <a:avLst/>
          </a:prstGeom>
          <a:noFill/>
          <a:ln/>
        </p:spPr>
        <p:txBody>
          <a:bodyPr wrap="none" lIns="0" tIns="0" rIns="0" bIns="0" rtlCol="0" anchor="t"/>
          <a:lstStyle/>
          <a:p>
            <a:pPr marL="0" indent="0" algn="ctr">
              <a:lnSpc>
                <a:spcPts val="2550"/>
              </a:lnSpc>
              <a:buNone/>
            </a:pPr>
            <a:r>
              <a:rPr lang="en-US" sz="2550" b="1" dirty="0">
                <a:solidFill>
                  <a:srgbClr val="3D3838"/>
                </a:solidFill>
                <a:latin typeface="Montserrat Bold" pitchFamily="34" charset="0"/>
                <a:ea typeface="Montserrat Bold" pitchFamily="34" charset="-122"/>
                <a:cs typeface="Montserrat Bold" pitchFamily="34" charset="-120"/>
              </a:rPr>
              <a:t>2</a:t>
            </a:r>
            <a:endParaRPr lang="en-US" sz="2550" dirty="0"/>
          </a:p>
        </p:txBody>
      </p:sp>
      <p:sp>
        <p:nvSpPr>
          <p:cNvPr id="10" name="Text 7"/>
          <p:cNvSpPr/>
          <p:nvPr/>
        </p:nvSpPr>
        <p:spPr>
          <a:xfrm>
            <a:off x="10989707" y="2639258"/>
            <a:ext cx="2799517" cy="682704"/>
          </a:xfrm>
          <a:prstGeom prst="rect">
            <a:avLst/>
          </a:prstGeom>
          <a:noFill/>
          <a:ln/>
        </p:spPr>
        <p:txBody>
          <a:bodyPr wrap="square" lIns="0" tIns="0" rIns="0" bIns="0" rtlCol="0" anchor="t"/>
          <a:lstStyle/>
          <a:p>
            <a:pPr marL="0" indent="0" algn="l">
              <a:lnSpc>
                <a:spcPts val="2650"/>
              </a:lnSpc>
              <a:buNone/>
            </a:pPr>
            <a:r>
              <a:rPr lang="en-US" sz="2150" b="1" dirty="0">
                <a:solidFill>
                  <a:srgbClr val="3D3838"/>
                </a:solidFill>
                <a:latin typeface="Montserrat Bold" pitchFamily="34" charset="0"/>
                <a:ea typeface="Montserrat Bold" pitchFamily="34" charset="-122"/>
                <a:cs typeface="Montserrat Bold" pitchFamily="34" charset="-120"/>
              </a:rPr>
              <a:t>Increased Marketing ROI</a:t>
            </a:r>
            <a:endParaRPr lang="en-US" sz="2150" dirty="0"/>
          </a:p>
        </p:txBody>
      </p:sp>
      <p:sp>
        <p:nvSpPr>
          <p:cNvPr id="11" name="Text 8"/>
          <p:cNvSpPr/>
          <p:nvPr/>
        </p:nvSpPr>
        <p:spPr>
          <a:xfrm>
            <a:off x="10989707" y="3466148"/>
            <a:ext cx="2799517" cy="1802606"/>
          </a:xfrm>
          <a:prstGeom prst="rect">
            <a:avLst/>
          </a:prstGeom>
          <a:noFill/>
          <a:ln/>
        </p:spPr>
        <p:txBody>
          <a:bodyPr wrap="square" lIns="0" tIns="0" rIns="0" bIns="0" rtlCol="0" anchor="t"/>
          <a:lstStyle/>
          <a:p>
            <a:pPr marL="0" indent="0" algn="l">
              <a:lnSpc>
                <a:spcPts val="2800"/>
              </a:lnSpc>
              <a:buNone/>
            </a:pPr>
            <a:r>
              <a:rPr lang="en-US" sz="1850" dirty="0">
                <a:solidFill>
                  <a:srgbClr val="3D3838"/>
                </a:solidFill>
                <a:latin typeface="Source Sans Pro" pitchFamily="34" charset="0"/>
                <a:ea typeface="Source Sans Pro" pitchFamily="34" charset="-122"/>
                <a:cs typeface="Source Sans Pro" pitchFamily="34" charset="-120"/>
              </a:rPr>
              <a:t>Personalized and segment-focused marketing efforts lead to a 25% increase in return on investment from campaigns.</a:t>
            </a:r>
            <a:endParaRPr lang="en-US" sz="1850" dirty="0"/>
          </a:p>
        </p:txBody>
      </p:sp>
      <p:sp>
        <p:nvSpPr>
          <p:cNvPr id="12" name="Shape 9"/>
          <p:cNvSpPr/>
          <p:nvPr/>
        </p:nvSpPr>
        <p:spPr>
          <a:xfrm>
            <a:off x="6327696" y="6109930"/>
            <a:ext cx="540782" cy="540782"/>
          </a:xfrm>
          <a:prstGeom prst="roundRect">
            <a:avLst>
              <a:gd name="adj" fmla="val 6667"/>
            </a:avLst>
          </a:prstGeom>
          <a:solidFill>
            <a:srgbClr val="F2EEEE"/>
          </a:solidFill>
          <a:ln/>
        </p:spPr>
        <p:txBody>
          <a:bodyPr/>
          <a:lstStyle/>
          <a:p>
            <a:endParaRPr lang="en-IN"/>
          </a:p>
        </p:txBody>
      </p:sp>
      <p:sp>
        <p:nvSpPr>
          <p:cNvPr id="13" name="Text 10"/>
          <p:cNvSpPr/>
          <p:nvPr/>
        </p:nvSpPr>
        <p:spPr>
          <a:xfrm>
            <a:off x="6434197" y="6175474"/>
            <a:ext cx="327779" cy="409694"/>
          </a:xfrm>
          <a:prstGeom prst="rect">
            <a:avLst/>
          </a:prstGeom>
          <a:noFill/>
          <a:ln/>
        </p:spPr>
        <p:txBody>
          <a:bodyPr wrap="none" lIns="0" tIns="0" rIns="0" bIns="0" rtlCol="0" anchor="t"/>
          <a:lstStyle/>
          <a:p>
            <a:pPr marL="0" indent="0" algn="ctr">
              <a:lnSpc>
                <a:spcPts val="2550"/>
              </a:lnSpc>
              <a:buNone/>
            </a:pPr>
            <a:r>
              <a:rPr lang="en-US" sz="2550" b="1" dirty="0">
                <a:solidFill>
                  <a:srgbClr val="3D3838"/>
                </a:solidFill>
                <a:latin typeface="Montserrat Bold" pitchFamily="34" charset="0"/>
                <a:ea typeface="Montserrat Bold" pitchFamily="34" charset="-122"/>
                <a:cs typeface="Montserrat Bold" pitchFamily="34" charset="-120"/>
              </a:rPr>
              <a:t>3</a:t>
            </a:r>
            <a:endParaRPr lang="en-US" sz="2550" dirty="0"/>
          </a:p>
        </p:txBody>
      </p:sp>
      <p:sp>
        <p:nvSpPr>
          <p:cNvPr id="14" name="Text 11"/>
          <p:cNvSpPr/>
          <p:nvPr/>
        </p:nvSpPr>
        <p:spPr>
          <a:xfrm>
            <a:off x="7108746" y="6192560"/>
            <a:ext cx="3576757" cy="341352"/>
          </a:xfrm>
          <a:prstGeom prst="rect">
            <a:avLst/>
          </a:prstGeom>
          <a:noFill/>
          <a:ln/>
        </p:spPr>
        <p:txBody>
          <a:bodyPr wrap="none" lIns="0" tIns="0" rIns="0" bIns="0" rtlCol="0" anchor="t"/>
          <a:lstStyle/>
          <a:p>
            <a:pPr marL="0" indent="0" algn="l">
              <a:lnSpc>
                <a:spcPts val="2650"/>
              </a:lnSpc>
              <a:buNone/>
            </a:pPr>
            <a:r>
              <a:rPr lang="en-US" sz="2150" b="1" dirty="0">
                <a:solidFill>
                  <a:srgbClr val="3D3838"/>
                </a:solidFill>
                <a:latin typeface="Montserrat Bold" pitchFamily="34" charset="0"/>
                <a:ea typeface="Montserrat Bold" pitchFamily="34" charset="-122"/>
                <a:cs typeface="Montserrat Bold" pitchFamily="34" charset="-120"/>
              </a:rPr>
              <a:t>Enhanced Lifetime Value</a:t>
            </a:r>
            <a:endParaRPr lang="en-US" sz="2150" dirty="0"/>
          </a:p>
        </p:txBody>
      </p:sp>
      <p:sp>
        <p:nvSpPr>
          <p:cNvPr id="15" name="Text 12"/>
          <p:cNvSpPr/>
          <p:nvPr/>
        </p:nvSpPr>
        <p:spPr>
          <a:xfrm>
            <a:off x="7108746" y="6678097"/>
            <a:ext cx="6680359" cy="721043"/>
          </a:xfrm>
          <a:prstGeom prst="rect">
            <a:avLst/>
          </a:prstGeom>
          <a:noFill/>
          <a:ln/>
        </p:spPr>
        <p:txBody>
          <a:bodyPr wrap="square" lIns="0" tIns="0" rIns="0" bIns="0" rtlCol="0" anchor="t"/>
          <a:lstStyle/>
          <a:p>
            <a:pPr marL="0" indent="0" algn="l">
              <a:lnSpc>
                <a:spcPts val="2800"/>
              </a:lnSpc>
              <a:buNone/>
            </a:pPr>
            <a:r>
              <a:rPr lang="en-US" sz="1850" dirty="0">
                <a:solidFill>
                  <a:srgbClr val="3D3838"/>
                </a:solidFill>
                <a:latin typeface="Source Sans Pro" pitchFamily="34" charset="0"/>
                <a:ea typeface="Source Sans Pro" pitchFamily="34" charset="-122"/>
                <a:cs typeface="Source Sans Pro" pitchFamily="34" charset="-120"/>
              </a:rPr>
              <a:t>Segment-specific strategies boost customer lifetime value by 15%, encouraging long-term loyalty and repeat purchases.</a:t>
            </a:r>
            <a:endParaRPr lang="en-US" sz="1850" dirty="0"/>
          </a:p>
        </p:txBody>
      </p:sp>
      <p:sp>
        <p:nvSpPr>
          <p:cNvPr id="16" name="TextBox 15">
            <a:extLst>
              <a:ext uri="{FF2B5EF4-FFF2-40B4-BE49-F238E27FC236}">
                <a16:creationId xmlns:a16="http://schemas.microsoft.com/office/drawing/2014/main" id="{C18F0630-2ABF-0281-3405-288A4A099EDD}"/>
              </a:ext>
            </a:extLst>
          </p:cNvPr>
          <p:cNvSpPr txBox="1"/>
          <p:nvPr/>
        </p:nvSpPr>
        <p:spPr>
          <a:xfrm>
            <a:off x="12225866" y="7738532"/>
            <a:ext cx="2404534" cy="491067"/>
          </a:xfrm>
          <a:prstGeom prst="rect">
            <a:avLst/>
          </a:prstGeom>
          <a:solidFill>
            <a:schemeClr val="bg1"/>
          </a:solidFill>
          <a:ln>
            <a:noFill/>
          </a:ln>
        </p:spPr>
        <p:txBody>
          <a:bodyPr wrap="square" rtlCol="0">
            <a:spAutoFit/>
          </a:bodyPr>
          <a:lstStyle/>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58058" y="518279"/>
            <a:ext cx="7827883" cy="1068229"/>
          </a:xfrm>
          <a:prstGeom prst="rect">
            <a:avLst/>
          </a:prstGeom>
          <a:noFill/>
          <a:ln/>
        </p:spPr>
        <p:txBody>
          <a:bodyPr wrap="square" lIns="0" tIns="0" rIns="0" bIns="0" rtlCol="0" anchor="t"/>
          <a:lstStyle/>
          <a:p>
            <a:pPr marL="0" indent="0" algn="l">
              <a:lnSpc>
                <a:spcPts val="4200"/>
              </a:lnSpc>
              <a:buNone/>
            </a:pPr>
            <a:r>
              <a:rPr lang="en-US" sz="3350" b="1" dirty="0">
                <a:solidFill>
                  <a:srgbClr val="000000"/>
                </a:solidFill>
                <a:latin typeface="Montserrat Bold" pitchFamily="34" charset="0"/>
                <a:ea typeface="Montserrat Bold" pitchFamily="34" charset="-122"/>
                <a:cs typeface="Montserrat Bold" pitchFamily="34" charset="-120"/>
              </a:rPr>
              <a:t>Methodology: Clustering Algorithms</a:t>
            </a:r>
            <a:endParaRPr lang="en-US" sz="3350" dirty="0"/>
          </a:p>
        </p:txBody>
      </p:sp>
      <p:sp>
        <p:nvSpPr>
          <p:cNvPr id="4" name="Shape 1"/>
          <p:cNvSpPr/>
          <p:nvPr/>
        </p:nvSpPr>
        <p:spPr>
          <a:xfrm>
            <a:off x="658058" y="1868448"/>
            <a:ext cx="7827883" cy="1319689"/>
          </a:xfrm>
          <a:prstGeom prst="roundRect">
            <a:avLst>
              <a:gd name="adj" fmla="val 2137"/>
            </a:avLst>
          </a:prstGeom>
          <a:solidFill>
            <a:srgbClr val="F2EEEE"/>
          </a:solidFill>
          <a:ln/>
        </p:spPr>
        <p:txBody>
          <a:bodyPr/>
          <a:lstStyle/>
          <a:p>
            <a:endParaRPr lang="en-IN"/>
          </a:p>
        </p:txBody>
      </p:sp>
      <p:sp>
        <p:nvSpPr>
          <p:cNvPr id="5" name="Text 2"/>
          <p:cNvSpPr/>
          <p:nvPr/>
        </p:nvSpPr>
        <p:spPr>
          <a:xfrm>
            <a:off x="846058" y="2056448"/>
            <a:ext cx="2177058" cy="267057"/>
          </a:xfrm>
          <a:prstGeom prst="rect">
            <a:avLst/>
          </a:prstGeom>
          <a:noFill/>
          <a:ln/>
        </p:spPr>
        <p:txBody>
          <a:bodyPr wrap="none" lIns="0" tIns="0" rIns="0" bIns="0" rtlCol="0" anchor="t"/>
          <a:lstStyle/>
          <a:p>
            <a:pPr marL="0" indent="0" algn="l">
              <a:lnSpc>
                <a:spcPts val="2100"/>
              </a:lnSpc>
              <a:buNone/>
            </a:pPr>
            <a:r>
              <a:rPr lang="en-US" sz="1650" b="1" dirty="0">
                <a:solidFill>
                  <a:srgbClr val="3D3838"/>
                </a:solidFill>
                <a:latin typeface="Montserrat Bold" pitchFamily="34" charset="0"/>
                <a:ea typeface="Montserrat Bold" pitchFamily="34" charset="-122"/>
                <a:cs typeface="Montserrat Bold" pitchFamily="34" charset="-120"/>
              </a:rPr>
              <a:t>K-Means Clustering</a:t>
            </a:r>
            <a:endParaRPr lang="en-US" sz="1650" dirty="0"/>
          </a:p>
        </p:txBody>
      </p:sp>
      <p:sp>
        <p:nvSpPr>
          <p:cNvPr id="6" name="Text 3"/>
          <p:cNvSpPr/>
          <p:nvPr/>
        </p:nvSpPr>
        <p:spPr>
          <a:xfrm>
            <a:off x="846058" y="2436257"/>
            <a:ext cx="7451884" cy="563880"/>
          </a:xfrm>
          <a:prstGeom prst="rect">
            <a:avLst/>
          </a:prstGeom>
          <a:noFill/>
          <a:ln/>
        </p:spPr>
        <p:txBody>
          <a:bodyPr wrap="square" lIns="0" tIns="0" rIns="0" bIns="0" rtlCol="0" anchor="t"/>
          <a:lstStyle/>
          <a:p>
            <a:pPr marL="0" indent="0" algn="l">
              <a:lnSpc>
                <a:spcPts val="2200"/>
              </a:lnSpc>
              <a:buNone/>
            </a:pPr>
            <a:r>
              <a:rPr lang="en-US" sz="1450" dirty="0">
                <a:solidFill>
                  <a:srgbClr val="3D3838"/>
                </a:solidFill>
                <a:latin typeface="Source Sans Pro" pitchFamily="34" charset="0"/>
                <a:ea typeface="Source Sans Pro" pitchFamily="34" charset="-122"/>
                <a:cs typeface="Source Sans Pro" pitchFamily="34" charset="-120"/>
              </a:rPr>
              <a:t>Partitions data into k distinct clusters by minimizing distance to cluster centroids for effective grouping.</a:t>
            </a:r>
            <a:endParaRPr lang="en-US" sz="1450" dirty="0"/>
          </a:p>
        </p:txBody>
      </p:sp>
      <p:sp>
        <p:nvSpPr>
          <p:cNvPr id="7" name="Shape 4"/>
          <p:cNvSpPr/>
          <p:nvPr/>
        </p:nvSpPr>
        <p:spPr>
          <a:xfrm>
            <a:off x="658058" y="3376136"/>
            <a:ext cx="7827883" cy="1319689"/>
          </a:xfrm>
          <a:prstGeom prst="roundRect">
            <a:avLst>
              <a:gd name="adj" fmla="val 2137"/>
            </a:avLst>
          </a:prstGeom>
          <a:solidFill>
            <a:srgbClr val="F2EEEE"/>
          </a:solidFill>
          <a:ln/>
        </p:spPr>
        <p:txBody>
          <a:bodyPr/>
          <a:lstStyle/>
          <a:p>
            <a:endParaRPr lang="en-IN"/>
          </a:p>
        </p:txBody>
      </p:sp>
      <p:sp>
        <p:nvSpPr>
          <p:cNvPr id="8" name="Text 5"/>
          <p:cNvSpPr/>
          <p:nvPr/>
        </p:nvSpPr>
        <p:spPr>
          <a:xfrm>
            <a:off x="846058" y="3564136"/>
            <a:ext cx="2552581" cy="267057"/>
          </a:xfrm>
          <a:prstGeom prst="rect">
            <a:avLst/>
          </a:prstGeom>
          <a:noFill/>
          <a:ln/>
        </p:spPr>
        <p:txBody>
          <a:bodyPr wrap="none" lIns="0" tIns="0" rIns="0" bIns="0" rtlCol="0" anchor="t"/>
          <a:lstStyle/>
          <a:p>
            <a:pPr marL="0" indent="0" algn="l">
              <a:lnSpc>
                <a:spcPts val="2100"/>
              </a:lnSpc>
              <a:buNone/>
            </a:pPr>
            <a:r>
              <a:rPr lang="en-US" sz="1650" b="1" dirty="0">
                <a:solidFill>
                  <a:srgbClr val="3D3838"/>
                </a:solidFill>
                <a:latin typeface="Montserrat Bold" pitchFamily="34" charset="0"/>
                <a:ea typeface="Montserrat Bold" pitchFamily="34" charset="-122"/>
                <a:cs typeface="Montserrat Bold" pitchFamily="34" charset="-120"/>
              </a:rPr>
              <a:t>Hierarchical Clustering</a:t>
            </a:r>
            <a:endParaRPr lang="en-US" sz="1650" dirty="0"/>
          </a:p>
        </p:txBody>
      </p:sp>
      <p:sp>
        <p:nvSpPr>
          <p:cNvPr id="9" name="Text 6"/>
          <p:cNvSpPr/>
          <p:nvPr/>
        </p:nvSpPr>
        <p:spPr>
          <a:xfrm>
            <a:off x="846058" y="3943945"/>
            <a:ext cx="7451884" cy="563880"/>
          </a:xfrm>
          <a:prstGeom prst="rect">
            <a:avLst/>
          </a:prstGeom>
          <a:noFill/>
          <a:ln/>
        </p:spPr>
        <p:txBody>
          <a:bodyPr wrap="square" lIns="0" tIns="0" rIns="0" bIns="0" rtlCol="0" anchor="t"/>
          <a:lstStyle/>
          <a:p>
            <a:pPr marL="0" indent="0" algn="l">
              <a:lnSpc>
                <a:spcPts val="2200"/>
              </a:lnSpc>
              <a:buNone/>
            </a:pPr>
            <a:r>
              <a:rPr lang="en-US" sz="1450" dirty="0">
                <a:solidFill>
                  <a:srgbClr val="3D3838"/>
                </a:solidFill>
                <a:latin typeface="Source Sans Pro" pitchFamily="34" charset="0"/>
                <a:ea typeface="Source Sans Pro" pitchFamily="34" charset="-122"/>
                <a:cs typeface="Source Sans Pro" pitchFamily="34" charset="-120"/>
              </a:rPr>
              <a:t>Forms a nested tree of clusters, either by merging or splitting, enabling multi-level grouping insights.</a:t>
            </a:r>
            <a:endParaRPr lang="en-US" sz="1450" dirty="0"/>
          </a:p>
        </p:txBody>
      </p:sp>
      <p:sp>
        <p:nvSpPr>
          <p:cNvPr id="10" name="Shape 7"/>
          <p:cNvSpPr/>
          <p:nvPr/>
        </p:nvSpPr>
        <p:spPr>
          <a:xfrm>
            <a:off x="658058" y="4883825"/>
            <a:ext cx="7827883" cy="1319689"/>
          </a:xfrm>
          <a:prstGeom prst="roundRect">
            <a:avLst>
              <a:gd name="adj" fmla="val 2137"/>
            </a:avLst>
          </a:prstGeom>
          <a:solidFill>
            <a:srgbClr val="F2EEEE"/>
          </a:solidFill>
          <a:ln/>
        </p:spPr>
        <p:txBody>
          <a:bodyPr/>
          <a:lstStyle/>
          <a:p>
            <a:endParaRPr lang="en-IN"/>
          </a:p>
        </p:txBody>
      </p:sp>
      <p:sp>
        <p:nvSpPr>
          <p:cNvPr id="11" name="Text 8"/>
          <p:cNvSpPr/>
          <p:nvPr/>
        </p:nvSpPr>
        <p:spPr>
          <a:xfrm>
            <a:off x="846058" y="5071824"/>
            <a:ext cx="2136577" cy="267057"/>
          </a:xfrm>
          <a:prstGeom prst="rect">
            <a:avLst/>
          </a:prstGeom>
          <a:noFill/>
          <a:ln/>
        </p:spPr>
        <p:txBody>
          <a:bodyPr wrap="none" lIns="0" tIns="0" rIns="0" bIns="0" rtlCol="0" anchor="t"/>
          <a:lstStyle/>
          <a:p>
            <a:pPr marL="0" indent="0" algn="l">
              <a:lnSpc>
                <a:spcPts val="2100"/>
              </a:lnSpc>
              <a:buNone/>
            </a:pPr>
            <a:r>
              <a:rPr lang="en-US" sz="1650" b="1" dirty="0">
                <a:solidFill>
                  <a:srgbClr val="3D3838"/>
                </a:solidFill>
                <a:latin typeface="Montserrat Bold" pitchFamily="34" charset="0"/>
                <a:ea typeface="Montserrat Bold" pitchFamily="34" charset="-122"/>
                <a:cs typeface="Montserrat Bold" pitchFamily="34" charset="-120"/>
              </a:rPr>
              <a:t>DBSCAN</a:t>
            </a:r>
            <a:endParaRPr lang="en-US" sz="1650" dirty="0"/>
          </a:p>
        </p:txBody>
      </p:sp>
      <p:sp>
        <p:nvSpPr>
          <p:cNvPr id="12" name="Text 9"/>
          <p:cNvSpPr/>
          <p:nvPr/>
        </p:nvSpPr>
        <p:spPr>
          <a:xfrm>
            <a:off x="846058" y="5451634"/>
            <a:ext cx="7451884" cy="563880"/>
          </a:xfrm>
          <a:prstGeom prst="rect">
            <a:avLst/>
          </a:prstGeom>
          <a:noFill/>
          <a:ln/>
        </p:spPr>
        <p:txBody>
          <a:bodyPr wrap="square" lIns="0" tIns="0" rIns="0" bIns="0" rtlCol="0" anchor="t"/>
          <a:lstStyle/>
          <a:p>
            <a:pPr marL="0" indent="0" algn="l">
              <a:lnSpc>
                <a:spcPts val="2200"/>
              </a:lnSpc>
              <a:buNone/>
            </a:pPr>
            <a:r>
              <a:rPr lang="en-US" sz="1450" dirty="0">
                <a:solidFill>
                  <a:srgbClr val="3D3838"/>
                </a:solidFill>
                <a:latin typeface="Source Sans Pro" pitchFamily="34" charset="0"/>
                <a:ea typeface="Source Sans Pro" pitchFamily="34" charset="-122"/>
                <a:cs typeface="Source Sans Pro" pitchFamily="34" charset="-120"/>
              </a:rPr>
              <a:t>Identifies clusters based on data density, robustly handling noise and outliers in customer data distribution.</a:t>
            </a:r>
            <a:endParaRPr lang="en-US" sz="1450" dirty="0"/>
          </a:p>
        </p:txBody>
      </p:sp>
      <p:sp>
        <p:nvSpPr>
          <p:cNvPr id="13" name="Shape 10"/>
          <p:cNvSpPr/>
          <p:nvPr/>
        </p:nvSpPr>
        <p:spPr>
          <a:xfrm>
            <a:off x="658058" y="6391513"/>
            <a:ext cx="7827883" cy="1319689"/>
          </a:xfrm>
          <a:prstGeom prst="roundRect">
            <a:avLst>
              <a:gd name="adj" fmla="val 2137"/>
            </a:avLst>
          </a:prstGeom>
          <a:solidFill>
            <a:srgbClr val="F2EEEE"/>
          </a:solidFill>
          <a:ln/>
        </p:spPr>
        <p:txBody>
          <a:bodyPr/>
          <a:lstStyle/>
          <a:p>
            <a:endParaRPr lang="en-IN"/>
          </a:p>
        </p:txBody>
      </p:sp>
      <p:sp>
        <p:nvSpPr>
          <p:cNvPr id="14" name="Text 11"/>
          <p:cNvSpPr/>
          <p:nvPr/>
        </p:nvSpPr>
        <p:spPr>
          <a:xfrm>
            <a:off x="846058" y="6579513"/>
            <a:ext cx="2136577" cy="267057"/>
          </a:xfrm>
          <a:prstGeom prst="rect">
            <a:avLst/>
          </a:prstGeom>
          <a:noFill/>
          <a:ln/>
        </p:spPr>
        <p:txBody>
          <a:bodyPr wrap="none" lIns="0" tIns="0" rIns="0" bIns="0" rtlCol="0" anchor="t"/>
          <a:lstStyle/>
          <a:p>
            <a:pPr marL="0" indent="0" algn="l">
              <a:lnSpc>
                <a:spcPts val="2100"/>
              </a:lnSpc>
              <a:buNone/>
            </a:pPr>
            <a:r>
              <a:rPr lang="en-US" sz="1650" b="1" dirty="0">
                <a:solidFill>
                  <a:srgbClr val="3D3838"/>
                </a:solidFill>
                <a:latin typeface="Montserrat Bold" pitchFamily="34" charset="0"/>
                <a:ea typeface="Montserrat Bold" pitchFamily="34" charset="-122"/>
                <a:cs typeface="Montserrat Bold" pitchFamily="34" charset="-120"/>
              </a:rPr>
              <a:t>Evaluation Metrics</a:t>
            </a:r>
            <a:endParaRPr lang="en-US" sz="1650" dirty="0"/>
          </a:p>
        </p:txBody>
      </p:sp>
      <p:sp>
        <p:nvSpPr>
          <p:cNvPr id="15" name="Text 12"/>
          <p:cNvSpPr/>
          <p:nvPr/>
        </p:nvSpPr>
        <p:spPr>
          <a:xfrm>
            <a:off x="846058" y="6959322"/>
            <a:ext cx="7451884" cy="563880"/>
          </a:xfrm>
          <a:prstGeom prst="rect">
            <a:avLst/>
          </a:prstGeom>
          <a:noFill/>
          <a:ln/>
        </p:spPr>
        <p:txBody>
          <a:bodyPr wrap="square" lIns="0" tIns="0" rIns="0" bIns="0" rtlCol="0" anchor="t"/>
          <a:lstStyle/>
          <a:p>
            <a:pPr marL="0" indent="0" algn="l">
              <a:lnSpc>
                <a:spcPts val="2200"/>
              </a:lnSpc>
              <a:buNone/>
            </a:pPr>
            <a:r>
              <a:rPr lang="en-US" sz="1450" dirty="0">
                <a:solidFill>
                  <a:srgbClr val="3D3838"/>
                </a:solidFill>
                <a:latin typeface="Source Sans Pro" pitchFamily="34" charset="0"/>
                <a:ea typeface="Source Sans Pro" pitchFamily="34" charset="-122"/>
                <a:cs typeface="Source Sans Pro" pitchFamily="34" charset="-120"/>
              </a:rPr>
              <a:t>Algorithms are compared using Silhouette scores and Calinski-Harabasz indices to validate cluster quality.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2102048"/>
            <a:ext cx="10163056" cy="701278"/>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Data Collection and Preprocessing</a:t>
            </a:r>
            <a:endParaRPr lang="en-US" sz="4400" dirty="0"/>
          </a:p>
        </p:txBody>
      </p:sp>
      <p:sp>
        <p:nvSpPr>
          <p:cNvPr id="3" name="Text 1"/>
          <p:cNvSpPr/>
          <p:nvPr/>
        </p:nvSpPr>
        <p:spPr>
          <a:xfrm>
            <a:off x="863798" y="3420308"/>
            <a:ext cx="3163491" cy="350639"/>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Sources and Features</a:t>
            </a:r>
            <a:endParaRPr lang="en-US" sz="2200" dirty="0"/>
          </a:p>
        </p:txBody>
      </p:sp>
      <p:sp>
        <p:nvSpPr>
          <p:cNvPr id="4" name="Text 2"/>
          <p:cNvSpPr/>
          <p:nvPr/>
        </p:nvSpPr>
        <p:spPr>
          <a:xfrm>
            <a:off x="863798" y="4017764"/>
            <a:ext cx="6150293" cy="370165"/>
          </a:xfrm>
          <a:prstGeom prst="rect">
            <a:avLst/>
          </a:prstGeom>
          <a:noFill/>
          <a:ln/>
        </p:spPr>
        <p:txBody>
          <a:bodyPr wrap="none" lIns="0" tIns="0" rIns="0" bIns="0" rtlCol="0" anchor="t"/>
          <a:lstStyle/>
          <a:p>
            <a:pPr marL="342900"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CRM systems, transaction histories, web analytics</a:t>
            </a:r>
            <a:endParaRPr lang="en-US" sz="1900" dirty="0"/>
          </a:p>
        </p:txBody>
      </p:sp>
      <p:sp>
        <p:nvSpPr>
          <p:cNvPr id="5" name="Text 3"/>
          <p:cNvSpPr/>
          <p:nvPr/>
        </p:nvSpPr>
        <p:spPr>
          <a:xfrm>
            <a:off x="863798" y="4474250"/>
            <a:ext cx="6150293" cy="740331"/>
          </a:xfrm>
          <a:prstGeom prst="rect">
            <a:avLst/>
          </a:prstGeom>
          <a:noFill/>
          <a:ln/>
        </p:spPr>
        <p:txBody>
          <a:bodyPr wrap="square" lIns="0" tIns="0" rIns="0" bIns="0" rtlCol="0" anchor="t"/>
          <a:lstStyle/>
          <a:p>
            <a:pPr marL="342900"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Demographic details, purchase behavior, service interactions</a:t>
            </a:r>
            <a:endParaRPr lang="en-US" sz="1900" dirty="0"/>
          </a:p>
        </p:txBody>
      </p:sp>
      <p:sp>
        <p:nvSpPr>
          <p:cNvPr id="6" name="Text 4"/>
          <p:cNvSpPr/>
          <p:nvPr/>
        </p:nvSpPr>
        <p:spPr>
          <a:xfrm>
            <a:off x="7623929" y="3420308"/>
            <a:ext cx="4246840" cy="350639"/>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Data Cleaning &amp; Engineering</a:t>
            </a:r>
            <a:endParaRPr lang="en-US" sz="2200" dirty="0"/>
          </a:p>
        </p:txBody>
      </p:sp>
      <p:sp>
        <p:nvSpPr>
          <p:cNvPr id="7" name="Text 5"/>
          <p:cNvSpPr/>
          <p:nvPr/>
        </p:nvSpPr>
        <p:spPr>
          <a:xfrm>
            <a:off x="7623929" y="4017764"/>
            <a:ext cx="6150293" cy="370165"/>
          </a:xfrm>
          <a:prstGeom prst="rect">
            <a:avLst/>
          </a:prstGeom>
          <a:noFill/>
          <a:ln/>
        </p:spPr>
        <p:txBody>
          <a:bodyPr wrap="none" lIns="0" tIns="0" rIns="0" bIns="0" rtlCol="0" anchor="t"/>
          <a:lstStyle/>
          <a:p>
            <a:pPr marL="342900"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Removed duplicates, handled missing values gracefully</a:t>
            </a:r>
            <a:endParaRPr lang="en-US" sz="1900" dirty="0"/>
          </a:p>
        </p:txBody>
      </p:sp>
      <p:sp>
        <p:nvSpPr>
          <p:cNvPr id="8" name="Text 6"/>
          <p:cNvSpPr/>
          <p:nvPr/>
        </p:nvSpPr>
        <p:spPr>
          <a:xfrm>
            <a:off x="7623929" y="4474250"/>
            <a:ext cx="6150293" cy="740331"/>
          </a:xfrm>
          <a:prstGeom prst="rect">
            <a:avLst/>
          </a:prstGeom>
          <a:noFill/>
          <a:ln/>
        </p:spPr>
        <p:txBody>
          <a:bodyPr wrap="square" lIns="0" tIns="0" rIns="0" bIns="0" rtlCol="0" anchor="t"/>
          <a:lstStyle/>
          <a:p>
            <a:pPr marL="342900"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Created RFM (Recency, Frequency, Monetary) metrics for segmentation</a:t>
            </a:r>
            <a:endParaRPr lang="en-US" sz="1900" dirty="0"/>
          </a:p>
        </p:txBody>
      </p:sp>
      <p:sp>
        <p:nvSpPr>
          <p:cNvPr id="9" name="Text 7"/>
          <p:cNvSpPr/>
          <p:nvPr/>
        </p:nvSpPr>
        <p:spPr>
          <a:xfrm>
            <a:off x="7623929" y="5300901"/>
            <a:ext cx="6150293" cy="740331"/>
          </a:xfrm>
          <a:prstGeom prst="rect">
            <a:avLst/>
          </a:prstGeom>
          <a:noFill/>
          <a:ln/>
        </p:spPr>
        <p:txBody>
          <a:bodyPr wrap="square" lIns="0" tIns="0" rIns="0" bIns="0" rtlCol="0" anchor="t"/>
          <a:lstStyle/>
          <a:p>
            <a:pPr marL="342900"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Applied PCA reducing dimensionality while preserving 95% variance</a:t>
            </a:r>
            <a:endParaRPr lang="en-US" sz="1900" dirty="0"/>
          </a:p>
        </p:txBody>
      </p:sp>
      <p:sp>
        <p:nvSpPr>
          <p:cNvPr id="10" name="TextBox 9">
            <a:extLst>
              <a:ext uri="{FF2B5EF4-FFF2-40B4-BE49-F238E27FC236}">
                <a16:creationId xmlns:a16="http://schemas.microsoft.com/office/drawing/2014/main" id="{02B9A3BC-4188-7503-A032-3261A82DCC4D}"/>
              </a:ext>
            </a:extLst>
          </p:cNvPr>
          <p:cNvSpPr txBox="1"/>
          <p:nvPr/>
        </p:nvSpPr>
        <p:spPr>
          <a:xfrm>
            <a:off x="12666133" y="7755467"/>
            <a:ext cx="1964267" cy="474133"/>
          </a:xfrm>
          <a:prstGeom prst="rect">
            <a:avLst/>
          </a:prstGeom>
          <a:solidFill>
            <a:schemeClr val="bg1"/>
          </a:solidFill>
          <a:ln>
            <a:noFill/>
          </a:ln>
        </p:spPr>
        <p:txBody>
          <a:bodyPr wrap="square" rtlCol="0">
            <a:spAutoFit/>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911806-97C2-084C-A09F-1400C889CC22}"/>
              </a:ext>
            </a:extLst>
          </p:cNvPr>
          <p:cNvSpPr txBox="1"/>
          <p:nvPr/>
        </p:nvSpPr>
        <p:spPr>
          <a:xfrm>
            <a:off x="948267" y="791739"/>
            <a:ext cx="7890933" cy="707886"/>
          </a:xfrm>
          <a:prstGeom prst="rect">
            <a:avLst/>
          </a:prstGeom>
          <a:noFill/>
        </p:spPr>
        <p:txBody>
          <a:bodyPr wrap="square">
            <a:spAutoFit/>
          </a:bodyPr>
          <a:lstStyle/>
          <a:p>
            <a:r>
              <a:rPr lang="en-US" sz="4000" b="1" dirty="0">
                <a:solidFill>
                  <a:srgbClr val="000000"/>
                </a:solidFill>
                <a:latin typeface="Montserrat Bold" pitchFamily="34" charset="0"/>
                <a:ea typeface="Montserrat Bold" pitchFamily="34" charset="-122"/>
                <a:cs typeface="Montserrat Bold" pitchFamily="34" charset="-120"/>
              </a:rPr>
              <a:t>Graphs: </a:t>
            </a:r>
          </a:p>
        </p:txBody>
      </p:sp>
      <p:pic>
        <p:nvPicPr>
          <p:cNvPr id="5" name="Picture 4">
            <a:extLst>
              <a:ext uri="{FF2B5EF4-FFF2-40B4-BE49-F238E27FC236}">
                <a16:creationId xmlns:a16="http://schemas.microsoft.com/office/drawing/2014/main" id="{8ECD9AB0-F0DB-587E-32E8-C0F3DEDE2680}"/>
              </a:ext>
            </a:extLst>
          </p:cNvPr>
          <p:cNvPicPr>
            <a:picLocks noChangeAspect="1"/>
          </p:cNvPicPr>
          <p:nvPr/>
        </p:nvPicPr>
        <p:blipFill>
          <a:blip r:embed="rId2"/>
          <a:stretch>
            <a:fillRect/>
          </a:stretch>
        </p:blipFill>
        <p:spPr>
          <a:xfrm>
            <a:off x="307817" y="2502661"/>
            <a:ext cx="5757334" cy="4359466"/>
          </a:xfrm>
          <a:prstGeom prst="rect">
            <a:avLst/>
          </a:prstGeom>
        </p:spPr>
      </p:pic>
      <p:pic>
        <p:nvPicPr>
          <p:cNvPr id="7" name="Picture 6">
            <a:extLst>
              <a:ext uri="{FF2B5EF4-FFF2-40B4-BE49-F238E27FC236}">
                <a16:creationId xmlns:a16="http://schemas.microsoft.com/office/drawing/2014/main" id="{35B141CA-27D8-03C3-15FD-8A82F6E29735}"/>
              </a:ext>
            </a:extLst>
          </p:cNvPr>
          <p:cNvPicPr>
            <a:picLocks noChangeAspect="1"/>
          </p:cNvPicPr>
          <p:nvPr/>
        </p:nvPicPr>
        <p:blipFill>
          <a:blip r:embed="rId3"/>
          <a:stretch>
            <a:fillRect/>
          </a:stretch>
        </p:blipFill>
        <p:spPr>
          <a:xfrm>
            <a:off x="6369951" y="2893258"/>
            <a:ext cx="7606201" cy="4359466"/>
          </a:xfrm>
          <a:prstGeom prst="rect">
            <a:avLst/>
          </a:prstGeom>
        </p:spPr>
      </p:pic>
      <p:pic>
        <p:nvPicPr>
          <p:cNvPr id="9" name="Picture 8">
            <a:extLst>
              <a:ext uri="{FF2B5EF4-FFF2-40B4-BE49-F238E27FC236}">
                <a16:creationId xmlns:a16="http://schemas.microsoft.com/office/drawing/2014/main" id="{90ED85DB-DBE6-ADF6-AA24-765F8D806542}"/>
              </a:ext>
            </a:extLst>
          </p:cNvPr>
          <p:cNvPicPr>
            <a:picLocks noChangeAspect="1"/>
          </p:cNvPicPr>
          <p:nvPr/>
        </p:nvPicPr>
        <p:blipFill>
          <a:blip r:embed="rId4"/>
          <a:stretch>
            <a:fillRect/>
          </a:stretch>
        </p:blipFill>
        <p:spPr>
          <a:xfrm>
            <a:off x="10549468" y="133126"/>
            <a:ext cx="3683202" cy="2743199"/>
          </a:xfrm>
          <a:prstGeom prst="rect">
            <a:avLst/>
          </a:prstGeom>
        </p:spPr>
      </p:pic>
      <p:sp>
        <p:nvSpPr>
          <p:cNvPr id="2" name="TextBox 1">
            <a:extLst>
              <a:ext uri="{FF2B5EF4-FFF2-40B4-BE49-F238E27FC236}">
                <a16:creationId xmlns:a16="http://schemas.microsoft.com/office/drawing/2014/main" id="{DE57854E-F35F-98EC-409F-158958C9FD25}"/>
              </a:ext>
            </a:extLst>
          </p:cNvPr>
          <p:cNvSpPr txBox="1"/>
          <p:nvPr/>
        </p:nvSpPr>
        <p:spPr>
          <a:xfrm>
            <a:off x="12530667" y="7653867"/>
            <a:ext cx="2099733" cy="575733"/>
          </a:xfrm>
          <a:prstGeom prst="rect">
            <a:avLst/>
          </a:prstGeom>
          <a:solidFill>
            <a:schemeClr val="bg1"/>
          </a:solidFill>
          <a:ln>
            <a:noFill/>
          </a:ln>
        </p:spPr>
        <p:txBody>
          <a:bodyPr wrap="square" rtlCol="0">
            <a:spAutoFit/>
          </a:bodyPr>
          <a:lstStyle/>
          <a:p>
            <a:endParaRPr lang="en-IN" dirty="0"/>
          </a:p>
        </p:txBody>
      </p:sp>
    </p:spTree>
    <p:extLst>
      <p:ext uri="{BB962C8B-B14F-4D97-AF65-F5344CB8AC3E}">
        <p14:creationId xmlns:p14="http://schemas.microsoft.com/office/powerpoint/2010/main" val="631906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1945124"/>
            <a:ext cx="10551200" cy="701278"/>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Results: Customer Segment Profiles</a:t>
            </a:r>
            <a:endParaRPr lang="en-US" sz="4400" dirty="0"/>
          </a:p>
        </p:txBody>
      </p:sp>
      <p:sp>
        <p:nvSpPr>
          <p:cNvPr id="3" name="Text 1"/>
          <p:cNvSpPr/>
          <p:nvPr/>
        </p:nvSpPr>
        <p:spPr>
          <a:xfrm>
            <a:off x="863798" y="3263384"/>
            <a:ext cx="2774037" cy="701278"/>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High-Value Customers</a:t>
            </a:r>
            <a:endParaRPr lang="en-US" sz="2200" dirty="0"/>
          </a:p>
        </p:txBody>
      </p:sp>
      <p:sp>
        <p:nvSpPr>
          <p:cNvPr id="4" name="Text 2"/>
          <p:cNvSpPr/>
          <p:nvPr/>
        </p:nvSpPr>
        <p:spPr>
          <a:xfrm>
            <a:off x="863798" y="4211479"/>
            <a:ext cx="2774037" cy="1850827"/>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This top 20% generate the majority of revenue, exhibit frequent purchases, and show low risk of churn.</a:t>
            </a:r>
            <a:endParaRPr lang="en-US" sz="1900" dirty="0"/>
          </a:p>
        </p:txBody>
      </p:sp>
      <p:sp>
        <p:nvSpPr>
          <p:cNvPr id="5" name="Text 3"/>
          <p:cNvSpPr/>
          <p:nvPr/>
        </p:nvSpPr>
        <p:spPr>
          <a:xfrm>
            <a:off x="4247674" y="3263384"/>
            <a:ext cx="2774037" cy="350639"/>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Potential Loyalists</a:t>
            </a:r>
            <a:endParaRPr lang="en-US" sz="2200" dirty="0"/>
          </a:p>
        </p:txBody>
      </p:sp>
      <p:sp>
        <p:nvSpPr>
          <p:cNvPr id="6" name="Text 4"/>
          <p:cNvSpPr/>
          <p:nvPr/>
        </p:nvSpPr>
        <p:spPr>
          <a:xfrm>
            <a:off x="4247674" y="3860840"/>
            <a:ext cx="2774037" cy="1850827"/>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They spend moderately with improving purchase frequency, representing promising future loyalty among 30% of the base.</a:t>
            </a:r>
            <a:endParaRPr lang="en-US" sz="1900" dirty="0"/>
          </a:p>
        </p:txBody>
      </p:sp>
      <p:sp>
        <p:nvSpPr>
          <p:cNvPr id="7" name="Text 5"/>
          <p:cNvSpPr/>
          <p:nvPr/>
        </p:nvSpPr>
        <p:spPr>
          <a:xfrm>
            <a:off x="7631549" y="3263384"/>
            <a:ext cx="2774037" cy="701278"/>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Price-Sensitive Shoppers</a:t>
            </a:r>
            <a:endParaRPr lang="en-US" sz="2200" dirty="0"/>
          </a:p>
        </p:txBody>
      </p:sp>
      <p:sp>
        <p:nvSpPr>
          <p:cNvPr id="8" name="Text 6"/>
          <p:cNvSpPr/>
          <p:nvPr/>
        </p:nvSpPr>
        <p:spPr>
          <a:xfrm>
            <a:off x="7631549" y="4211479"/>
            <a:ext cx="2774037" cy="1850827"/>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Making infrequent, low-value purchases and at a high risk of leaving, constituting 25% who require targeted retention.</a:t>
            </a:r>
            <a:endParaRPr lang="en-US" sz="1900" dirty="0"/>
          </a:p>
        </p:txBody>
      </p:sp>
      <p:sp>
        <p:nvSpPr>
          <p:cNvPr id="9" name="Text 7"/>
          <p:cNvSpPr/>
          <p:nvPr/>
        </p:nvSpPr>
        <p:spPr>
          <a:xfrm>
            <a:off x="11015424" y="3263384"/>
            <a:ext cx="2774037" cy="350639"/>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New Customers</a:t>
            </a:r>
            <a:endParaRPr lang="en-US" sz="2200" dirty="0"/>
          </a:p>
        </p:txBody>
      </p:sp>
      <p:sp>
        <p:nvSpPr>
          <p:cNvPr id="10" name="Text 8"/>
          <p:cNvSpPr/>
          <p:nvPr/>
        </p:nvSpPr>
        <p:spPr>
          <a:xfrm>
            <a:off x="11015424" y="3860840"/>
            <a:ext cx="2774037" cy="1850827"/>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Recent acquisitions with limited historical data, covering 25%, offering opportunities for early engagement.</a:t>
            </a:r>
            <a:endParaRPr lang="en-US" sz="1900" dirty="0"/>
          </a:p>
        </p:txBody>
      </p:sp>
      <p:sp>
        <p:nvSpPr>
          <p:cNvPr id="11" name="TextBox 10">
            <a:extLst>
              <a:ext uri="{FF2B5EF4-FFF2-40B4-BE49-F238E27FC236}">
                <a16:creationId xmlns:a16="http://schemas.microsoft.com/office/drawing/2014/main" id="{54CE2B58-8DF4-8B85-5C9A-62220D7DCF12}"/>
              </a:ext>
            </a:extLst>
          </p:cNvPr>
          <p:cNvSpPr txBox="1"/>
          <p:nvPr/>
        </p:nvSpPr>
        <p:spPr>
          <a:xfrm>
            <a:off x="12908928" y="7787574"/>
            <a:ext cx="1693333" cy="369332"/>
          </a:xfrm>
          <a:prstGeom prst="rect">
            <a:avLst/>
          </a:prstGeom>
          <a:solidFill>
            <a:schemeClr val="bg1"/>
          </a:solidFill>
          <a:ln>
            <a:noFill/>
          </a:ln>
        </p:spPr>
        <p:txBody>
          <a:bodyPr wrap="square" rtlCol="0">
            <a:spAutoFit/>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1310759"/>
            <a:ext cx="7416403" cy="1402556"/>
          </a:xfrm>
          <a:prstGeom prst="rect">
            <a:avLst/>
          </a:prstGeom>
          <a:noFill/>
          <a:ln/>
        </p:spPr>
        <p:txBody>
          <a:bodyPr wrap="squar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Visualization: Segment Distribution</a:t>
            </a:r>
            <a:endParaRPr lang="en-US" sz="4400" dirty="0"/>
          </a:p>
        </p:txBody>
      </p:sp>
      <p:pic>
        <p:nvPicPr>
          <p:cNvPr id="4" name="Image 1" descr="preencoded.png"/>
          <p:cNvPicPr>
            <a:picLocks noChangeAspect="1"/>
          </p:cNvPicPr>
          <p:nvPr/>
        </p:nvPicPr>
        <p:blipFill>
          <a:blip r:embed="rId4"/>
          <a:stretch>
            <a:fillRect/>
          </a:stretch>
        </p:blipFill>
        <p:spPr>
          <a:xfrm>
            <a:off x="863798" y="3083481"/>
            <a:ext cx="1234083" cy="2102763"/>
          </a:xfrm>
          <a:prstGeom prst="rect">
            <a:avLst/>
          </a:prstGeom>
        </p:spPr>
      </p:pic>
      <p:sp>
        <p:nvSpPr>
          <p:cNvPr id="5" name="Text 1"/>
          <p:cNvSpPr/>
          <p:nvPr/>
        </p:nvSpPr>
        <p:spPr>
          <a:xfrm>
            <a:off x="2468047" y="3330297"/>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3D Scatter Plot</a:t>
            </a:r>
            <a:endParaRPr lang="en-US" sz="2200" dirty="0"/>
          </a:p>
        </p:txBody>
      </p:sp>
      <p:sp>
        <p:nvSpPr>
          <p:cNvPr id="6" name="Text 2"/>
          <p:cNvSpPr/>
          <p:nvPr/>
        </p:nvSpPr>
        <p:spPr>
          <a:xfrm>
            <a:off x="2468047" y="3828931"/>
            <a:ext cx="5812155"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Displays clusters with axes representing recency, frequency, and monetary value, color-coded by segment.</a:t>
            </a:r>
            <a:endParaRPr lang="en-US" sz="1900" dirty="0"/>
          </a:p>
        </p:txBody>
      </p:sp>
      <p:pic>
        <p:nvPicPr>
          <p:cNvPr id="7" name="Image 2" descr="preencoded.png"/>
          <p:cNvPicPr>
            <a:picLocks noChangeAspect="1"/>
          </p:cNvPicPr>
          <p:nvPr/>
        </p:nvPicPr>
        <p:blipFill>
          <a:blip r:embed="rId5"/>
          <a:stretch>
            <a:fillRect/>
          </a:stretch>
        </p:blipFill>
        <p:spPr>
          <a:xfrm>
            <a:off x="863798" y="5186243"/>
            <a:ext cx="1234083" cy="1732598"/>
          </a:xfrm>
          <a:prstGeom prst="rect">
            <a:avLst/>
          </a:prstGeom>
        </p:spPr>
      </p:pic>
      <p:sp>
        <p:nvSpPr>
          <p:cNvPr id="8" name="Text 3"/>
          <p:cNvSpPr/>
          <p:nvPr/>
        </p:nvSpPr>
        <p:spPr>
          <a:xfrm>
            <a:off x="2468047" y="5433060"/>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Radar Charts</a:t>
            </a:r>
            <a:endParaRPr lang="en-US" sz="2200" dirty="0"/>
          </a:p>
        </p:txBody>
      </p:sp>
      <p:sp>
        <p:nvSpPr>
          <p:cNvPr id="9" name="Text 4"/>
          <p:cNvSpPr/>
          <p:nvPr/>
        </p:nvSpPr>
        <p:spPr>
          <a:xfrm>
            <a:off x="2468047" y="5931694"/>
            <a:ext cx="5812155"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Illustrate average feature values of each segment, highlighting unique behaviors and spending patterns.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54630"/>
          </a:xfrm>
          <a:prstGeom prst="rect">
            <a:avLst/>
          </a:prstGeom>
        </p:spPr>
      </p:pic>
      <p:sp>
        <p:nvSpPr>
          <p:cNvPr id="3" name="Text 0"/>
          <p:cNvSpPr/>
          <p:nvPr/>
        </p:nvSpPr>
        <p:spPr>
          <a:xfrm>
            <a:off x="771287" y="3524250"/>
            <a:ext cx="5770959" cy="626031"/>
          </a:xfrm>
          <a:prstGeom prst="rect">
            <a:avLst/>
          </a:prstGeom>
          <a:noFill/>
          <a:ln/>
        </p:spPr>
        <p:txBody>
          <a:bodyPr wrap="none" lIns="0" tIns="0" rIns="0" bIns="0" rtlCol="0" anchor="t"/>
          <a:lstStyle/>
          <a:p>
            <a:pPr marL="0" indent="0" algn="l">
              <a:lnSpc>
                <a:spcPts val="4900"/>
              </a:lnSpc>
              <a:buNone/>
            </a:pPr>
            <a:r>
              <a:rPr lang="en-US" sz="3900" b="1" dirty="0">
                <a:solidFill>
                  <a:srgbClr val="000000"/>
                </a:solidFill>
                <a:latin typeface="Montserrat Bold" pitchFamily="34" charset="0"/>
                <a:ea typeface="Montserrat Bold" pitchFamily="34" charset="-122"/>
                <a:cs typeface="Montserrat Bold" pitchFamily="34" charset="-120"/>
              </a:rPr>
              <a:t>Business Applications</a:t>
            </a:r>
            <a:endParaRPr lang="en-US" sz="3900" dirty="0"/>
          </a:p>
        </p:txBody>
      </p:sp>
      <p:sp>
        <p:nvSpPr>
          <p:cNvPr id="4" name="Shape 1"/>
          <p:cNvSpPr/>
          <p:nvPr/>
        </p:nvSpPr>
        <p:spPr>
          <a:xfrm>
            <a:off x="771287" y="5472470"/>
            <a:ext cx="3024068" cy="220266"/>
          </a:xfrm>
          <a:prstGeom prst="roundRect">
            <a:avLst>
              <a:gd name="adj" fmla="val 15008"/>
            </a:avLst>
          </a:prstGeom>
          <a:solidFill>
            <a:srgbClr val="F2EEEE"/>
          </a:solidFill>
          <a:ln/>
        </p:spPr>
        <p:txBody>
          <a:bodyPr/>
          <a:lstStyle/>
          <a:p>
            <a:endParaRPr lang="en-IN"/>
          </a:p>
        </p:txBody>
      </p:sp>
      <p:sp>
        <p:nvSpPr>
          <p:cNvPr id="5" name="Text 2"/>
          <p:cNvSpPr/>
          <p:nvPr/>
        </p:nvSpPr>
        <p:spPr>
          <a:xfrm>
            <a:off x="771287" y="6023253"/>
            <a:ext cx="2598539" cy="312896"/>
          </a:xfrm>
          <a:prstGeom prst="rect">
            <a:avLst/>
          </a:prstGeom>
          <a:noFill/>
          <a:ln/>
        </p:spPr>
        <p:txBody>
          <a:bodyPr wrap="none" lIns="0" tIns="0" rIns="0" bIns="0" rtlCol="0" anchor="t"/>
          <a:lstStyle/>
          <a:p>
            <a:pPr marL="0" indent="0" algn="l">
              <a:lnSpc>
                <a:spcPts val="2450"/>
              </a:lnSpc>
              <a:buNone/>
            </a:pPr>
            <a:r>
              <a:rPr lang="en-US" sz="1950" b="1" dirty="0">
                <a:solidFill>
                  <a:srgbClr val="3D3838"/>
                </a:solidFill>
                <a:latin typeface="Montserrat Bold" pitchFamily="34" charset="0"/>
                <a:ea typeface="Montserrat Bold" pitchFamily="34" charset="-122"/>
                <a:cs typeface="Montserrat Bold" pitchFamily="34" charset="-120"/>
              </a:rPr>
              <a:t>Targeted Marketing</a:t>
            </a:r>
            <a:endParaRPr lang="en-US" sz="1950" dirty="0"/>
          </a:p>
        </p:txBody>
      </p:sp>
      <p:sp>
        <p:nvSpPr>
          <p:cNvPr id="6" name="Text 3"/>
          <p:cNvSpPr/>
          <p:nvPr/>
        </p:nvSpPr>
        <p:spPr>
          <a:xfrm>
            <a:off x="771287" y="6468308"/>
            <a:ext cx="3024068" cy="991553"/>
          </a:xfrm>
          <a:prstGeom prst="rect">
            <a:avLst/>
          </a:prstGeom>
          <a:noFill/>
          <a:ln/>
        </p:spPr>
        <p:txBody>
          <a:bodyPr wrap="square" lIns="0" tIns="0" rIns="0" bIns="0" rtlCol="0" anchor="t"/>
          <a:lstStyle/>
          <a:p>
            <a:pPr marL="0" indent="0" algn="l">
              <a:lnSpc>
                <a:spcPts val="2600"/>
              </a:lnSpc>
              <a:buNone/>
            </a:pPr>
            <a:r>
              <a:rPr lang="en-US" sz="1700" dirty="0">
                <a:solidFill>
                  <a:srgbClr val="3D3838"/>
                </a:solidFill>
                <a:latin typeface="Source Sans Pro" pitchFamily="34" charset="0"/>
                <a:ea typeface="Source Sans Pro" pitchFamily="34" charset="-122"/>
                <a:cs typeface="Source Sans Pro" pitchFamily="34" charset="-120"/>
              </a:rPr>
              <a:t>Create personalized campaigns tailored to segment preferences across email and digital ads.</a:t>
            </a:r>
            <a:endParaRPr lang="en-US" sz="1700" dirty="0"/>
          </a:p>
        </p:txBody>
      </p:sp>
      <p:sp>
        <p:nvSpPr>
          <p:cNvPr id="7" name="Shape 4"/>
          <p:cNvSpPr/>
          <p:nvPr/>
        </p:nvSpPr>
        <p:spPr>
          <a:xfrm>
            <a:off x="4125873" y="5141833"/>
            <a:ext cx="3024068" cy="220266"/>
          </a:xfrm>
          <a:prstGeom prst="roundRect">
            <a:avLst>
              <a:gd name="adj" fmla="val 15008"/>
            </a:avLst>
          </a:prstGeom>
          <a:solidFill>
            <a:srgbClr val="F2EEEE"/>
          </a:solidFill>
          <a:ln/>
        </p:spPr>
        <p:txBody>
          <a:bodyPr/>
          <a:lstStyle/>
          <a:p>
            <a:endParaRPr lang="en-IN"/>
          </a:p>
        </p:txBody>
      </p:sp>
      <p:sp>
        <p:nvSpPr>
          <p:cNvPr id="8" name="Text 5"/>
          <p:cNvSpPr/>
          <p:nvPr/>
        </p:nvSpPr>
        <p:spPr>
          <a:xfrm>
            <a:off x="4125873" y="5692616"/>
            <a:ext cx="2907506" cy="312896"/>
          </a:xfrm>
          <a:prstGeom prst="rect">
            <a:avLst/>
          </a:prstGeom>
          <a:noFill/>
          <a:ln/>
        </p:spPr>
        <p:txBody>
          <a:bodyPr wrap="none" lIns="0" tIns="0" rIns="0" bIns="0" rtlCol="0" anchor="t"/>
          <a:lstStyle/>
          <a:p>
            <a:pPr marL="0" indent="0" algn="l">
              <a:lnSpc>
                <a:spcPts val="2450"/>
              </a:lnSpc>
              <a:buNone/>
            </a:pPr>
            <a:r>
              <a:rPr lang="en-US" sz="1950" b="1" dirty="0">
                <a:solidFill>
                  <a:srgbClr val="3D3838"/>
                </a:solidFill>
                <a:latin typeface="Montserrat Bold" pitchFamily="34" charset="0"/>
                <a:ea typeface="Montserrat Bold" pitchFamily="34" charset="-122"/>
                <a:cs typeface="Montserrat Bold" pitchFamily="34" charset="-120"/>
              </a:rPr>
              <a:t>Product Development</a:t>
            </a:r>
            <a:endParaRPr lang="en-US" sz="1950" dirty="0"/>
          </a:p>
        </p:txBody>
      </p:sp>
      <p:sp>
        <p:nvSpPr>
          <p:cNvPr id="9" name="Text 6"/>
          <p:cNvSpPr/>
          <p:nvPr/>
        </p:nvSpPr>
        <p:spPr>
          <a:xfrm>
            <a:off x="4125873" y="6137672"/>
            <a:ext cx="3024068" cy="1322070"/>
          </a:xfrm>
          <a:prstGeom prst="rect">
            <a:avLst/>
          </a:prstGeom>
          <a:noFill/>
          <a:ln/>
        </p:spPr>
        <p:txBody>
          <a:bodyPr wrap="square" lIns="0" tIns="0" rIns="0" bIns="0" rtlCol="0" anchor="t"/>
          <a:lstStyle/>
          <a:p>
            <a:pPr marL="0" indent="0" algn="l">
              <a:lnSpc>
                <a:spcPts val="2600"/>
              </a:lnSpc>
              <a:buNone/>
            </a:pPr>
            <a:r>
              <a:rPr lang="en-US" sz="1700" dirty="0">
                <a:solidFill>
                  <a:srgbClr val="3D3838"/>
                </a:solidFill>
                <a:latin typeface="Source Sans Pro" pitchFamily="34" charset="0"/>
                <a:ea typeface="Source Sans Pro" pitchFamily="34" charset="-122"/>
                <a:cs typeface="Source Sans Pro" pitchFamily="34" charset="-120"/>
              </a:rPr>
              <a:t>Design products addressing unique needs of distinct segments to boost adoption and satisfaction.</a:t>
            </a:r>
            <a:endParaRPr lang="en-US" sz="1700" dirty="0"/>
          </a:p>
        </p:txBody>
      </p:sp>
      <p:sp>
        <p:nvSpPr>
          <p:cNvPr id="10" name="Shape 7"/>
          <p:cNvSpPr/>
          <p:nvPr/>
        </p:nvSpPr>
        <p:spPr>
          <a:xfrm>
            <a:off x="7480459" y="4811316"/>
            <a:ext cx="3024068" cy="220266"/>
          </a:xfrm>
          <a:prstGeom prst="roundRect">
            <a:avLst>
              <a:gd name="adj" fmla="val 15008"/>
            </a:avLst>
          </a:prstGeom>
          <a:solidFill>
            <a:srgbClr val="F2EEEE"/>
          </a:solidFill>
          <a:ln/>
        </p:spPr>
        <p:txBody>
          <a:bodyPr/>
          <a:lstStyle/>
          <a:p>
            <a:endParaRPr lang="en-IN"/>
          </a:p>
        </p:txBody>
      </p:sp>
      <p:sp>
        <p:nvSpPr>
          <p:cNvPr id="11" name="Text 8"/>
          <p:cNvSpPr/>
          <p:nvPr/>
        </p:nvSpPr>
        <p:spPr>
          <a:xfrm>
            <a:off x="7480459" y="5362099"/>
            <a:ext cx="3024068" cy="625793"/>
          </a:xfrm>
          <a:prstGeom prst="rect">
            <a:avLst/>
          </a:prstGeom>
          <a:noFill/>
          <a:ln/>
        </p:spPr>
        <p:txBody>
          <a:bodyPr wrap="square" lIns="0" tIns="0" rIns="0" bIns="0" rtlCol="0" anchor="t"/>
          <a:lstStyle/>
          <a:p>
            <a:pPr marL="0" indent="0" algn="l">
              <a:lnSpc>
                <a:spcPts val="2450"/>
              </a:lnSpc>
              <a:buNone/>
            </a:pPr>
            <a:r>
              <a:rPr lang="en-US" sz="1950" b="1" dirty="0">
                <a:solidFill>
                  <a:srgbClr val="3D3838"/>
                </a:solidFill>
                <a:latin typeface="Montserrat Bold" pitchFamily="34" charset="0"/>
                <a:ea typeface="Montserrat Bold" pitchFamily="34" charset="-122"/>
                <a:cs typeface="Montserrat Bold" pitchFamily="34" charset="-120"/>
              </a:rPr>
              <a:t>Customer Service Prioritization</a:t>
            </a:r>
            <a:endParaRPr lang="en-US" sz="1950" dirty="0"/>
          </a:p>
        </p:txBody>
      </p:sp>
      <p:sp>
        <p:nvSpPr>
          <p:cNvPr id="12" name="Text 9"/>
          <p:cNvSpPr/>
          <p:nvPr/>
        </p:nvSpPr>
        <p:spPr>
          <a:xfrm>
            <a:off x="7480459" y="6120051"/>
            <a:ext cx="3024068" cy="991553"/>
          </a:xfrm>
          <a:prstGeom prst="rect">
            <a:avLst/>
          </a:prstGeom>
          <a:noFill/>
          <a:ln/>
        </p:spPr>
        <p:txBody>
          <a:bodyPr wrap="square" lIns="0" tIns="0" rIns="0" bIns="0" rtlCol="0" anchor="t"/>
          <a:lstStyle/>
          <a:p>
            <a:pPr marL="0" indent="0" algn="l">
              <a:lnSpc>
                <a:spcPts val="2600"/>
              </a:lnSpc>
              <a:buNone/>
            </a:pPr>
            <a:r>
              <a:rPr lang="en-US" sz="1700" dirty="0">
                <a:solidFill>
                  <a:srgbClr val="3D3838"/>
                </a:solidFill>
                <a:latin typeface="Source Sans Pro" pitchFamily="34" charset="0"/>
                <a:ea typeface="Source Sans Pro" pitchFamily="34" charset="-122"/>
                <a:cs typeface="Source Sans Pro" pitchFamily="34" charset="-120"/>
              </a:rPr>
              <a:t>Focus resources on high-value customers to maximize retention and loyalty.</a:t>
            </a:r>
            <a:endParaRPr lang="en-US" sz="1700" dirty="0"/>
          </a:p>
        </p:txBody>
      </p:sp>
      <p:sp>
        <p:nvSpPr>
          <p:cNvPr id="13" name="Shape 10"/>
          <p:cNvSpPr/>
          <p:nvPr/>
        </p:nvSpPr>
        <p:spPr>
          <a:xfrm>
            <a:off x="10835045" y="4480798"/>
            <a:ext cx="3024068" cy="220266"/>
          </a:xfrm>
          <a:prstGeom prst="roundRect">
            <a:avLst>
              <a:gd name="adj" fmla="val 15008"/>
            </a:avLst>
          </a:prstGeom>
          <a:solidFill>
            <a:srgbClr val="F2EEEE"/>
          </a:solidFill>
          <a:ln/>
        </p:spPr>
        <p:txBody>
          <a:bodyPr/>
          <a:lstStyle/>
          <a:p>
            <a:endParaRPr lang="en-IN"/>
          </a:p>
        </p:txBody>
      </p:sp>
      <p:sp>
        <p:nvSpPr>
          <p:cNvPr id="14" name="Text 11"/>
          <p:cNvSpPr/>
          <p:nvPr/>
        </p:nvSpPr>
        <p:spPr>
          <a:xfrm>
            <a:off x="10835045" y="5031581"/>
            <a:ext cx="2504242" cy="312896"/>
          </a:xfrm>
          <a:prstGeom prst="rect">
            <a:avLst/>
          </a:prstGeom>
          <a:noFill/>
          <a:ln/>
        </p:spPr>
        <p:txBody>
          <a:bodyPr wrap="none" lIns="0" tIns="0" rIns="0" bIns="0" rtlCol="0" anchor="t"/>
          <a:lstStyle/>
          <a:p>
            <a:pPr marL="0" indent="0" algn="l">
              <a:lnSpc>
                <a:spcPts val="2450"/>
              </a:lnSpc>
              <a:buNone/>
            </a:pPr>
            <a:r>
              <a:rPr lang="en-US" sz="1950" b="1" dirty="0">
                <a:solidFill>
                  <a:srgbClr val="3D3838"/>
                </a:solidFill>
                <a:latin typeface="Montserrat Bold" pitchFamily="34" charset="0"/>
                <a:ea typeface="Montserrat Bold" pitchFamily="34" charset="-122"/>
                <a:cs typeface="Montserrat Bold" pitchFamily="34" charset="-120"/>
              </a:rPr>
              <a:t>Pricing Strategies</a:t>
            </a:r>
            <a:endParaRPr lang="en-US" sz="1950" dirty="0"/>
          </a:p>
        </p:txBody>
      </p:sp>
      <p:sp>
        <p:nvSpPr>
          <p:cNvPr id="15" name="Text 12"/>
          <p:cNvSpPr/>
          <p:nvPr/>
        </p:nvSpPr>
        <p:spPr>
          <a:xfrm>
            <a:off x="10835045" y="5476637"/>
            <a:ext cx="3024068" cy="991553"/>
          </a:xfrm>
          <a:prstGeom prst="rect">
            <a:avLst/>
          </a:prstGeom>
          <a:noFill/>
          <a:ln/>
        </p:spPr>
        <p:txBody>
          <a:bodyPr wrap="square" lIns="0" tIns="0" rIns="0" bIns="0" rtlCol="0" anchor="t"/>
          <a:lstStyle/>
          <a:p>
            <a:pPr marL="0" indent="0" algn="l">
              <a:lnSpc>
                <a:spcPts val="2600"/>
              </a:lnSpc>
              <a:buNone/>
            </a:pPr>
            <a:r>
              <a:rPr lang="en-US" sz="1700" dirty="0">
                <a:solidFill>
                  <a:srgbClr val="3D3838"/>
                </a:solidFill>
                <a:latin typeface="Source Sans Pro" pitchFamily="34" charset="0"/>
                <a:ea typeface="Source Sans Pro" pitchFamily="34" charset="-122"/>
                <a:cs typeface="Source Sans Pro" pitchFamily="34" charset="-120"/>
              </a:rPr>
              <a:t>Adjust prices based on price sensitivity for optimized revenue and competitiveness.</a:t>
            </a:r>
            <a:endParaRPr lang="en-US" sz="1700" dirty="0"/>
          </a:p>
        </p:txBody>
      </p:sp>
      <p:sp>
        <p:nvSpPr>
          <p:cNvPr id="16" name="TextBox 15">
            <a:extLst>
              <a:ext uri="{FF2B5EF4-FFF2-40B4-BE49-F238E27FC236}">
                <a16:creationId xmlns:a16="http://schemas.microsoft.com/office/drawing/2014/main" id="{E9B92373-3BA7-3FEE-8E60-7CF3FDB3D15D}"/>
              </a:ext>
            </a:extLst>
          </p:cNvPr>
          <p:cNvSpPr txBox="1"/>
          <p:nvPr/>
        </p:nvSpPr>
        <p:spPr>
          <a:xfrm>
            <a:off x="12666133" y="7620000"/>
            <a:ext cx="1964267" cy="609600"/>
          </a:xfrm>
          <a:prstGeom prst="rect">
            <a:avLst/>
          </a:prstGeom>
          <a:solidFill>
            <a:schemeClr val="bg1"/>
          </a:solidFill>
          <a:ln>
            <a:noFill/>
          </a:ln>
        </p:spPr>
        <p:txBody>
          <a:bodyPr wrap="square" rtlCol="0">
            <a:spAutoFit/>
          </a:bodyPr>
          <a:lstStyle/>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92215" y="1141214"/>
            <a:ext cx="7532370" cy="1308021"/>
          </a:xfrm>
          <a:prstGeom prst="rect">
            <a:avLst/>
          </a:prstGeom>
          <a:noFill/>
          <a:ln/>
        </p:spPr>
        <p:txBody>
          <a:bodyPr wrap="square" lIns="0" tIns="0" rIns="0" bIns="0" rtlCol="0" anchor="t"/>
          <a:lstStyle/>
          <a:p>
            <a:pPr marL="0" indent="0" algn="l">
              <a:lnSpc>
                <a:spcPts val="5150"/>
              </a:lnSpc>
              <a:buNone/>
            </a:pPr>
            <a:r>
              <a:rPr lang="en-US" sz="4100" b="1" dirty="0">
                <a:solidFill>
                  <a:srgbClr val="000000"/>
                </a:solidFill>
                <a:latin typeface="Montserrat Bold" pitchFamily="34" charset="0"/>
                <a:ea typeface="Montserrat Bold" pitchFamily="34" charset="-122"/>
                <a:cs typeface="Montserrat Bold" pitchFamily="34" charset="-120"/>
              </a:rPr>
              <a:t>Conclusion: Driving Value with Segmentation</a:t>
            </a:r>
            <a:endParaRPr lang="en-US" sz="4100" dirty="0"/>
          </a:p>
        </p:txBody>
      </p:sp>
      <p:sp>
        <p:nvSpPr>
          <p:cNvPr id="4" name="Shape 1"/>
          <p:cNvSpPr/>
          <p:nvPr/>
        </p:nvSpPr>
        <p:spPr>
          <a:xfrm>
            <a:off x="6292215" y="2794516"/>
            <a:ext cx="518041" cy="518041"/>
          </a:xfrm>
          <a:prstGeom prst="roundRect">
            <a:avLst>
              <a:gd name="adj" fmla="val 6667"/>
            </a:avLst>
          </a:prstGeom>
          <a:solidFill>
            <a:srgbClr val="F2EEEE"/>
          </a:solidFill>
          <a:ln/>
        </p:spPr>
        <p:txBody>
          <a:bodyPr/>
          <a:lstStyle/>
          <a:p>
            <a:endParaRPr lang="en-IN"/>
          </a:p>
        </p:txBody>
      </p:sp>
      <p:sp>
        <p:nvSpPr>
          <p:cNvPr id="5" name="Text 2"/>
          <p:cNvSpPr/>
          <p:nvPr/>
        </p:nvSpPr>
        <p:spPr>
          <a:xfrm>
            <a:off x="7040404" y="2873573"/>
            <a:ext cx="2874169" cy="654129"/>
          </a:xfrm>
          <a:prstGeom prst="rect">
            <a:avLst/>
          </a:prstGeom>
          <a:noFill/>
          <a:ln/>
        </p:spPr>
        <p:txBody>
          <a:bodyPr wrap="square" lIns="0" tIns="0" rIns="0" bIns="0" rtlCol="0" anchor="t"/>
          <a:lstStyle/>
          <a:p>
            <a:pPr marL="0" indent="0" algn="l">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Actionable Insights from Clustering</a:t>
            </a:r>
            <a:endParaRPr lang="en-US" sz="2050" dirty="0"/>
          </a:p>
        </p:txBody>
      </p:sp>
      <p:sp>
        <p:nvSpPr>
          <p:cNvPr id="6" name="Text 3"/>
          <p:cNvSpPr/>
          <p:nvPr/>
        </p:nvSpPr>
        <p:spPr>
          <a:xfrm>
            <a:off x="7040404" y="3665815"/>
            <a:ext cx="2874169" cy="1727002"/>
          </a:xfrm>
          <a:prstGeom prst="rect">
            <a:avLst/>
          </a:prstGeom>
          <a:noFill/>
          <a:ln/>
        </p:spPr>
        <p:txBody>
          <a:bodyPr wrap="square" lIns="0" tIns="0" rIns="0" bIns="0" rtlCol="0" anchor="t"/>
          <a:lstStyle/>
          <a:p>
            <a:pPr marL="0" indent="0" algn="l">
              <a:lnSpc>
                <a:spcPts val="2700"/>
              </a:lnSpc>
              <a:buNone/>
            </a:pPr>
            <a:r>
              <a:rPr lang="en-US" sz="1800" dirty="0">
                <a:solidFill>
                  <a:srgbClr val="3D3838"/>
                </a:solidFill>
                <a:latin typeface="Source Sans Pro" pitchFamily="34" charset="0"/>
                <a:ea typeface="Source Sans Pro" pitchFamily="34" charset="-122"/>
                <a:cs typeface="Source Sans Pro" pitchFamily="34" charset="-120"/>
              </a:rPr>
              <a:t>Our use of clustering algorithms reveals meaningful segments that can inform strategic decisions.</a:t>
            </a:r>
            <a:endParaRPr lang="en-US" sz="1800" dirty="0"/>
          </a:p>
        </p:txBody>
      </p:sp>
      <p:sp>
        <p:nvSpPr>
          <p:cNvPr id="7" name="Shape 4"/>
          <p:cNvSpPr/>
          <p:nvPr/>
        </p:nvSpPr>
        <p:spPr>
          <a:xfrm>
            <a:off x="10202347" y="2794516"/>
            <a:ext cx="518041" cy="518041"/>
          </a:xfrm>
          <a:prstGeom prst="roundRect">
            <a:avLst>
              <a:gd name="adj" fmla="val 6667"/>
            </a:avLst>
          </a:prstGeom>
          <a:solidFill>
            <a:srgbClr val="F2EEEE"/>
          </a:solidFill>
          <a:ln/>
        </p:spPr>
        <p:txBody>
          <a:bodyPr/>
          <a:lstStyle/>
          <a:p>
            <a:endParaRPr lang="en-IN"/>
          </a:p>
        </p:txBody>
      </p:sp>
      <p:sp>
        <p:nvSpPr>
          <p:cNvPr id="8" name="Text 5"/>
          <p:cNvSpPr/>
          <p:nvPr/>
        </p:nvSpPr>
        <p:spPr>
          <a:xfrm>
            <a:off x="10950535" y="2873573"/>
            <a:ext cx="2874169" cy="981194"/>
          </a:xfrm>
          <a:prstGeom prst="rect">
            <a:avLst/>
          </a:prstGeom>
          <a:noFill/>
          <a:ln/>
        </p:spPr>
        <p:txBody>
          <a:bodyPr wrap="square" lIns="0" tIns="0" rIns="0" bIns="0" rtlCol="0" anchor="t"/>
          <a:lstStyle/>
          <a:p>
            <a:pPr marL="0" indent="0" algn="l">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Enhancing Customer Engagement</a:t>
            </a:r>
            <a:endParaRPr lang="en-US" sz="2050" dirty="0"/>
          </a:p>
        </p:txBody>
      </p:sp>
      <p:sp>
        <p:nvSpPr>
          <p:cNvPr id="9" name="Text 6"/>
          <p:cNvSpPr/>
          <p:nvPr/>
        </p:nvSpPr>
        <p:spPr>
          <a:xfrm>
            <a:off x="10950535" y="3992880"/>
            <a:ext cx="2874169" cy="1381601"/>
          </a:xfrm>
          <a:prstGeom prst="rect">
            <a:avLst/>
          </a:prstGeom>
          <a:noFill/>
          <a:ln/>
        </p:spPr>
        <p:txBody>
          <a:bodyPr wrap="square" lIns="0" tIns="0" rIns="0" bIns="0" rtlCol="0" anchor="t"/>
          <a:lstStyle/>
          <a:p>
            <a:pPr marL="0" indent="0" algn="l">
              <a:lnSpc>
                <a:spcPts val="2700"/>
              </a:lnSpc>
              <a:buNone/>
            </a:pPr>
            <a:r>
              <a:rPr lang="en-US" sz="1800" dirty="0">
                <a:solidFill>
                  <a:srgbClr val="3D3838"/>
                </a:solidFill>
                <a:latin typeface="Source Sans Pro" pitchFamily="34" charset="0"/>
                <a:ea typeface="Source Sans Pro" pitchFamily="34" charset="-122"/>
                <a:cs typeface="Source Sans Pro" pitchFamily="34" charset="-120"/>
              </a:rPr>
              <a:t>Segment-specific marketing and development increase personalization, customer satisfaction, and profitability.</a:t>
            </a:r>
            <a:endParaRPr lang="en-US" sz="1800" dirty="0"/>
          </a:p>
        </p:txBody>
      </p:sp>
      <p:sp>
        <p:nvSpPr>
          <p:cNvPr id="10" name="Shape 7"/>
          <p:cNvSpPr/>
          <p:nvPr/>
        </p:nvSpPr>
        <p:spPr>
          <a:xfrm>
            <a:off x="6292215" y="5853232"/>
            <a:ext cx="518041" cy="518041"/>
          </a:xfrm>
          <a:prstGeom prst="roundRect">
            <a:avLst>
              <a:gd name="adj" fmla="val 6667"/>
            </a:avLst>
          </a:prstGeom>
          <a:solidFill>
            <a:srgbClr val="F2EEEE"/>
          </a:solidFill>
          <a:ln/>
        </p:spPr>
        <p:txBody>
          <a:bodyPr/>
          <a:lstStyle/>
          <a:p>
            <a:endParaRPr lang="en-IN"/>
          </a:p>
        </p:txBody>
      </p:sp>
      <p:sp>
        <p:nvSpPr>
          <p:cNvPr id="11" name="Text 8"/>
          <p:cNvSpPr/>
          <p:nvPr/>
        </p:nvSpPr>
        <p:spPr>
          <a:xfrm>
            <a:off x="7040404" y="5932289"/>
            <a:ext cx="3145869" cy="327065"/>
          </a:xfrm>
          <a:prstGeom prst="rect">
            <a:avLst/>
          </a:prstGeom>
          <a:noFill/>
          <a:ln/>
        </p:spPr>
        <p:txBody>
          <a:bodyPr wrap="none" lIns="0" tIns="0" rIns="0" bIns="0" rtlCol="0" anchor="t"/>
          <a:lstStyle/>
          <a:p>
            <a:pPr marL="0" indent="0" algn="l">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Ongoing Improvement</a:t>
            </a:r>
            <a:endParaRPr lang="en-US" sz="2050" dirty="0"/>
          </a:p>
        </p:txBody>
      </p:sp>
      <p:sp>
        <p:nvSpPr>
          <p:cNvPr id="12" name="Text 9"/>
          <p:cNvSpPr/>
          <p:nvPr/>
        </p:nvSpPr>
        <p:spPr>
          <a:xfrm>
            <a:off x="7040404" y="6397466"/>
            <a:ext cx="6784181" cy="690801"/>
          </a:xfrm>
          <a:prstGeom prst="rect">
            <a:avLst/>
          </a:prstGeom>
          <a:noFill/>
          <a:ln/>
        </p:spPr>
        <p:txBody>
          <a:bodyPr wrap="square" lIns="0" tIns="0" rIns="0" bIns="0" rtlCol="0" anchor="t"/>
          <a:lstStyle/>
          <a:p>
            <a:pPr marL="0" indent="0" algn="l">
              <a:lnSpc>
                <a:spcPts val="2700"/>
              </a:lnSpc>
              <a:buNone/>
            </a:pPr>
            <a:r>
              <a:rPr lang="en-US" sz="1800" dirty="0">
                <a:solidFill>
                  <a:srgbClr val="3D3838"/>
                </a:solidFill>
                <a:latin typeface="Source Sans Pro" pitchFamily="34" charset="0"/>
                <a:ea typeface="Source Sans Pro" pitchFamily="34" charset="-122"/>
                <a:cs typeface="Source Sans Pro" pitchFamily="34" charset="-120"/>
              </a:rPr>
              <a:t>Continuous monitoring and refinement ensure sustained business success and adapting to evolving customer behaviors.</a:t>
            </a:r>
            <a:endParaRPr lang="en-US" sz="1800" dirty="0"/>
          </a:p>
        </p:txBody>
      </p:sp>
      <p:sp>
        <p:nvSpPr>
          <p:cNvPr id="13" name="TextBox 12">
            <a:extLst>
              <a:ext uri="{FF2B5EF4-FFF2-40B4-BE49-F238E27FC236}">
                <a16:creationId xmlns:a16="http://schemas.microsoft.com/office/drawing/2014/main" id="{E29CF0FD-CBB2-B292-20AE-29326C2A3C21}"/>
              </a:ext>
            </a:extLst>
          </p:cNvPr>
          <p:cNvSpPr txBox="1"/>
          <p:nvPr/>
        </p:nvSpPr>
        <p:spPr>
          <a:xfrm>
            <a:off x="12598400" y="7802998"/>
            <a:ext cx="2032000" cy="389467"/>
          </a:xfrm>
          <a:prstGeom prst="rect">
            <a:avLst/>
          </a:prstGeom>
          <a:solidFill>
            <a:schemeClr val="bg1"/>
          </a:solidFill>
          <a:ln>
            <a:noFill/>
          </a:ln>
        </p:spPr>
        <p:txBody>
          <a:bodyPr wrap="square" rtlCol="0">
            <a:spAutoFit/>
          </a:bodyPr>
          <a:lstStyle/>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1778556"/>
            <a:ext cx="5609749" cy="701278"/>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                 </a:t>
            </a:r>
            <a:endParaRPr lang="en-US" sz="4400" dirty="0"/>
          </a:p>
        </p:txBody>
      </p:sp>
      <p:sp>
        <p:nvSpPr>
          <p:cNvPr id="3" name="Text 1"/>
          <p:cNvSpPr/>
          <p:nvPr/>
        </p:nvSpPr>
        <p:spPr>
          <a:xfrm>
            <a:off x="863798" y="2973467"/>
            <a:ext cx="12902803" cy="370165"/>
          </a:xfrm>
          <a:prstGeom prst="rect">
            <a:avLst/>
          </a:prstGeom>
          <a:noFill/>
          <a:ln/>
        </p:spPr>
        <p:txBody>
          <a:bodyPr wrap="none" lIns="0" tIns="0" rIns="0" bIns="0" rtlCol="0" anchor="t"/>
          <a:lstStyle/>
          <a:p>
            <a:pPr marL="0" indent="0" algn="l">
              <a:lnSpc>
                <a:spcPts val="2900"/>
              </a:lnSpc>
              <a:buNone/>
            </a:pPr>
            <a:endParaRPr lang="en-US" sz="1900" dirty="0"/>
          </a:p>
        </p:txBody>
      </p:sp>
      <p:sp>
        <p:nvSpPr>
          <p:cNvPr id="4" name="Text 2"/>
          <p:cNvSpPr/>
          <p:nvPr/>
        </p:nvSpPr>
        <p:spPr>
          <a:xfrm>
            <a:off x="863798" y="3713798"/>
            <a:ext cx="8489394" cy="701278"/>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                                Thank You</a:t>
            </a:r>
            <a:endParaRPr lang="en-US" sz="4400" dirty="0"/>
          </a:p>
        </p:txBody>
      </p:sp>
      <p:sp>
        <p:nvSpPr>
          <p:cNvPr id="5" name="Text 3"/>
          <p:cNvSpPr/>
          <p:nvPr/>
        </p:nvSpPr>
        <p:spPr>
          <a:xfrm>
            <a:off x="863798" y="4785241"/>
            <a:ext cx="12902803" cy="370165"/>
          </a:xfrm>
          <a:prstGeom prst="rect">
            <a:avLst/>
          </a:prstGeom>
          <a:noFill/>
          <a:ln/>
        </p:spPr>
        <p:txBody>
          <a:bodyPr wrap="none" lIns="0" tIns="0" rIns="0" bIns="0" rtlCol="0" anchor="t"/>
          <a:lstStyle/>
          <a:p>
            <a:pPr marL="0" indent="0" algn="l">
              <a:lnSpc>
                <a:spcPts val="2900"/>
              </a:lnSpc>
              <a:buNone/>
            </a:pPr>
            <a:endParaRPr lang="en-US" sz="1900" dirty="0"/>
          </a:p>
        </p:txBody>
      </p:sp>
      <p:sp>
        <p:nvSpPr>
          <p:cNvPr id="6" name="Text 4"/>
          <p:cNvSpPr/>
          <p:nvPr/>
        </p:nvSpPr>
        <p:spPr>
          <a:xfrm>
            <a:off x="863798" y="5433060"/>
            <a:ext cx="12902803" cy="370165"/>
          </a:xfrm>
          <a:prstGeom prst="rect">
            <a:avLst/>
          </a:prstGeom>
          <a:noFill/>
          <a:ln/>
        </p:spPr>
        <p:txBody>
          <a:bodyPr wrap="none" lIns="0" tIns="0" rIns="0" bIns="0" rtlCol="0" anchor="t"/>
          <a:lstStyle/>
          <a:p>
            <a:pPr marL="0" indent="0" algn="l">
              <a:lnSpc>
                <a:spcPts val="2900"/>
              </a:lnSpc>
              <a:buNone/>
            </a:pPr>
            <a:endParaRPr lang="en-US" sz="1900" dirty="0"/>
          </a:p>
        </p:txBody>
      </p:sp>
      <p:sp>
        <p:nvSpPr>
          <p:cNvPr id="7" name="Text 5"/>
          <p:cNvSpPr/>
          <p:nvPr/>
        </p:nvSpPr>
        <p:spPr>
          <a:xfrm>
            <a:off x="863798" y="6080879"/>
            <a:ext cx="12902803" cy="370165"/>
          </a:xfrm>
          <a:prstGeom prst="rect">
            <a:avLst/>
          </a:prstGeom>
          <a:noFill/>
          <a:ln/>
        </p:spPr>
        <p:txBody>
          <a:bodyPr wrap="none" lIns="0" tIns="0" rIns="0" bIns="0" rtlCol="0" anchor="t"/>
          <a:lstStyle/>
          <a:p>
            <a:pPr marL="0" indent="0" algn="l">
              <a:lnSpc>
                <a:spcPts val="2900"/>
              </a:lnSpc>
              <a:buNone/>
            </a:pPr>
            <a:endParaRPr lang="en-US" sz="1900" dirty="0"/>
          </a:p>
        </p:txBody>
      </p:sp>
      <p:sp>
        <p:nvSpPr>
          <p:cNvPr id="8" name="TextBox 7">
            <a:extLst>
              <a:ext uri="{FF2B5EF4-FFF2-40B4-BE49-F238E27FC236}">
                <a16:creationId xmlns:a16="http://schemas.microsoft.com/office/drawing/2014/main" id="{C7C9A53F-0708-4A29-8326-28D286CBF095}"/>
              </a:ext>
            </a:extLst>
          </p:cNvPr>
          <p:cNvSpPr txBox="1"/>
          <p:nvPr/>
        </p:nvSpPr>
        <p:spPr>
          <a:xfrm>
            <a:off x="12716933" y="7501467"/>
            <a:ext cx="1913467" cy="728133"/>
          </a:xfrm>
          <a:prstGeom prst="rect">
            <a:avLst/>
          </a:prstGeom>
          <a:solidFill>
            <a:schemeClr val="bg1"/>
          </a:solidFill>
          <a:ln>
            <a:noFill/>
          </a:ln>
        </p:spPr>
        <p:txBody>
          <a:bodyPr wrap="square" rtlCol="0">
            <a:spAutoFit/>
          </a:bodyPr>
          <a:lstStyle/>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592</Words>
  <Application>Microsoft Office PowerPoint</Application>
  <PresentationFormat>Custom</PresentationFormat>
  <Paragraphs>80</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Instrument Sans Medium</vt:lpstr>
      <vt:lpstr>Montserrat Bold</vt:lpstr>
      <vt:lpstr>Arial</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TANYA SINGH</cp:lastModifiedBy>
  <cp:revision>4</cp:revision>
  <dcterms:created xsi:type="dcterms:W3CDTF">2025-05-26T16:45:43Z</dcterms:created>
  <dcterms:modified xsi:type="dcterms:W3CDTF">2025-05-27T08:05:07Z</dcterms:modified>
</cp:coreProperties>
</file>