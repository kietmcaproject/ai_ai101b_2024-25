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1430000" cy="6438900"/>
  <p:notesSz cx="6858000" cy="9144000"/>
  <p:embeddedFontLst>
    <p:embeddedFont>
      <p:font typeface="IBM Plex Sans Bold" charset="1" panose="020B0803050203000203"/>
      <p:regular r:id="rId14"/>
    </p:embeddedFont>
    <p:embeddedFont>
      <p:font typeface="Source Sans Pro" charset="1" panose="020B0503030403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3.jpe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20.jpe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26.jpe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1"/>
            <a:ext cx="11430000" cy="6438900"/>
            <a:chOff x="0" y="0"/>
            <a:chExt cx="11430000" cy="643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0" y="257"/>
            <a:ext cx="4286250" cy="6438643"/>
          </a:xfrm>
          <a:custGeom>
            <a:avLst/>
            <a:gdLst/>
            <a:ahLst/>
            <a:cxnLst/>
            <a:rect r="r" b="b" t="t" l="l"/>
            <a:pathLst>
              <a:path h="6438643" w="4286250">
                <a:moveTo>
                  <a:pt x="0" y="0"/>
                </a:moveTo>
                <a:lnTo>
                  <a:pt x="4286250" y="0"/>
                </a:lnTo>
                <a:lnTo>
                  <a:pt x="428625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" t="-3" r="-7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924425" y="4143375"/>
            <a:ext cx="295275" cy="285750"/>
          </a:xfrm>
          <a:custGeom>
            <a:avLst/>
            <a:gdLst/>
            <a:ahLst/>
            <a:cxnLst/>
            <a:rect r="r" b="b" t="t" l="l"/>
            <a:pathLst>
              <a:path h="285750" w="295275">
                <a:moveTo>
                  <a:pt x="0" y="0"/>
                </a:moveTo>
                <a:lnTo>
                  <a:pt x="295275" y="0"/>
                </a:lnTo>
                <a:lnTo>
                  <a:pt x="295275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23825" y="1974666"/>
            <a:ext cx="5654088" cy="1908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6"/>
              </a:lnSpc>
            </a:pPr>
            <a:r>
              <a:rPr lang="en-US" b="true" sz="3375" spc="-30">
                <a:solidFill>
                  <a:srgbClr val="D73AD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Revolutionizing Stock Price Prediction with LSTMs</a:t>
            </a:r>
          </a:p>
          <a:p>
            <a:pPr algn="l">
              <a:lnSpc>
                <a:spcPts val="2249"/>
              </a:lnSpc>
            </a:pPr>
            <a:r>
              <a:rPr lang="en-US" sz="1434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Leveraging deep learning to navigate volatile markets. Improving forecasting accuracy with advanced models like LSTM.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1"/>
            <a:ext cx="11430000" cy="6438900"/>
            <a:chOff x="0" y="0"/>
            <a:chExt cx="11430000" cy="643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143750" y="257"/>
            <a:ext cx="4286250" cy="6438643"/>
          </a:xfrm>
          <a:custGeom>
            <a:avLst/>
            <a:gdLst/>
            <a:ahLst/>
            <a:cxnLst/>
            <a:rect r="r" b="b" t="t" l="l"/>
            <a:pathLst>
              <a:path h="6438643" w="4286250">
                <a:moveTo>
                  <a:pt x="0" y="0"/>
                </a:moveTo>
                <a:lnTo>
                  <a:pt x="4286250" y="0"/>
                </a:lnTo>
                <a:lnTo>
                  <a:pt x="428625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" t="-3" r="-7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74672" y="2393947"/>
            <a:ext cx="2965447" cy="1765297"/>
          </a:xfrm>
          <a:custGeom>
            <a:avLst/>
            <a:gdLst/>
            <a:ahLst/>
            <a:cxnLst/>
            <a:rect r="r" b="b" t="t" l="l"/>
            <a:pathLst>
              <a:path h="1765297" w="2965447">
                <a:moveTo>
                  <a:pt x="0" y="0"/>
                </a:moveTo>
                <a:lnTo>
                  <a:pt x="2965447" y="0"/>
                </a:lnTo>
                <a:lnTo>
                  <a:pt x="2965447" y="1765297"/>
                </a:lnTo>
                <a:lnTo>
                  <a:pt x="0" y="176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74672" y="4213222"/>
            <a:ext cx="5994397" cy="1174747"/>
          </a:xfrm>
          <a:custGeom>
            <a:avLst/>
            <a:gdLst/>
            <a:ahLst/>
            <a:cxnLst/>
            <a:rect r="r" b="b" t="t" l="l"/>
            <a:pathLst>
              <a:path h="1174747" w="5994397">
                <a:moveTo>
                  <a:pt x="0" y="0"/>
                </a:moveTo>
                <a:lnTo>
                  <a:pt x="5994397" y="0"/>
                </a:lnTo>
                <a:lnTo>
                  <a:pt x="5994397" y="1174747"/>
                </a:lnTo>
                <a:lnTo>
                  <a:pt x="0" y="11747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603622" y="2393947"/>
            <a:ext cx="2965447" cy="1765297"/>
          </a:xfrm>
          <a:custGeom>
            <a:avLst/>
            <a:gdLst/>
            <a:ahLst/>
            <a:cxnLst/>
            <a:rect r="r" b="b" t="t" l="l"/>
            <a:pathLst>
              <a:path h="1765297" w="2965447">
                <a:moveTo>
                  <a:pt x="0" y="0"/>
                </a:moveTo>
                <a:lnTo>
                  <a:pt x="2965447" y="0"/>
                </a:lnTo>
                <a:lnTo>
                  <a:pt x="2965447" y="1765297"/>
                </a:lnTo>
                <a:lnTo>
                  <a:pt x="0" y="17652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37575" y="1107891"/>
            <a:ext cx="5497468" cy="275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3375" spc="-30">
                <a:solidFill>
                  <a:srgbClr val="D73AD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Challenge of Stock Price Prediction</a:t>
            </a:r>
          </a:p>
          <a:p>
            <a:pPr algn="l">
              <a:lnSpc>
                <a:spcPts val="2362"/>
              </a:lnSpc>
            </a:pPr>
            <a:r>
              <a:rPr lang="en-US" b="true" sz="1687" spc="-15">
                <a:solidFill>
                  <a:srgbClr val="272525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Market Volatility</a:t>
            </a:r>
          </a:p>
          <a:p>
            <a:pPr algn="l">
              <a:lnSpc>
                <a:spcPts val="2300"/>
              </a:lnSpc>
            </a:pPr>
            <a:r>
              <a:rPr lang="en-US" sz="1434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Stock prices are inherently volatile and non-linear, complicating predictions.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9275" y="4435383"/>
            <a:ext cx="5561190" cy="66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5">
                <a:solidFill>
                  <a:srgbClr val="272525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Need for Innovation</a:t>
            </a:r>
          </a:p>
          <a:p>
            <a:pPr algn="l">
              <a:lnSpc>
                <a:spcPts val="2007"/>
              </a:lnSpc>
            </a:pPr>
            <a:r>
              <a:rPr lang="en-US" sz="1434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Advanced techniques are essential to better model temporal dependencies.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54653" y="2616108"/>
            <a:ext cx="2396804" cy="125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5">
                <a:solidFill>
                  <a:srgbClr val="272525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Model Limitations</a:t>
            </a:r>
          </a:p>
          <a:p>
            <a:pPr algn="l">
              <a:lnSpc>
                <a:spcPts val="2300"/>
              </a:lnSpc>
            </a:pPr>
            <a:r>
              <a:rPr lang="en-US" sz="1434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Traditional econometric models often fail to capture complex market patterns.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63503" y="-63503"/>
            <a:ext cx="11556997" cy="6565897"/>
            <a:chOff x="0" y="0"/>
            <a:chExt cx="11557000" cy="6565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39775" y="3768725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2926"/>
                    <a:pt x="2159" y="39497"/>
                  </a:cubicBezTo>
                  <a:cubicBezTo>
                    <a:pt x="635" y="36068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27252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39775" y="4130675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272525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045200" y="3768725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2926"/>
                    <a:pt x="2159" y="39497"/>
                  </a:cubicBezTo>
                  <a:cubicBezTo>
                    <a:pt x="635" y="36068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272525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045200" y="4130675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272525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37575" y="2079441"/>
            <a:ext cx="6335878" cy="58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 spc="-30">
                <a:solidFill>
                  <a:srgbClr val="D73AD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Limitations of Traditional Models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7575" y="3101883"/>
            <a:ext cx="1432046" cy="28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5">
                <a:solidFill>
                  <a:srgbClr val="D73AD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ARIMA Models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46724" y="3101883"/>
            <a:ext cx="1452810" cy="28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5">
                <a:solidFill>
                  <a:srgbClr val="D73AD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GARCH Models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8840" y="3514506"/>
            <a:ext cx="3362173" cy="687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434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Struggle with non-linear stock price dynamics Limited long-term dependency capture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37989" y="3514506"/>
            <a:ext cx="2729294" cy="687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434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Focus mostly on volatility forecasting Insufficient for price level prediction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1"/>
            <a:ext cx="11430000" cy="6438900"/>
            <a:chOff x="0" y="0"/>
            <a:chExt cx="11430000" cy="643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143750" y="257"/>
            <a:ext cx="4286250" cy="6438643"/>
          </a:xfrm>
          <a:custGeom>
            <a:avLst/>
            <a:gdLst/>
            <a:ahLst/>
            <a:cxnLst/>
            <a:rect r="r" b="b" t="t" l="l"/>
            <a:pathLst>
              <a:path h="6438643" w="4286250">
                <a:moveTo>
                  <a:pt x="0" y="0"/>
                </a:moveTo>
                <a:lnTo>
                  <a:pt x="4286250" y="0"/>
                </a:lnTo>
                <a:lnTo>
                  <a:pt x="428625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" t="-3" r="-7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74672" y="2489197"/>
            <a:ext cx="536572" cy="536572"/>
          </a:xfrm>
          <a:custGeom>
            <a:avLst/>
            <a:gdLst/>
            <a:ahLst/>
            <a:cxnLst/>
            <a:rect r="r" b="b" t="t" l="l"/>
            <a:pathLst>
              <a:path h="536572" w="536572">
                <a:moveTo>
                  <a:pt x="0" y="0"/>
                </a:moveTo>
                <a:lnTo>
                  <a:pt x="536572" y="0"/>
                </a:lnTo>
                <a:lnTo>
                  <a:pt x="536572" y="536572"/>
                </a:lnTo>
                <a:lnTo>
                  <a:pt x="0" y="5365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74672" y="4432297"/>
            <a:ext cx="536572" cy="536572"/>
          </a:xfrm>
          <a:custGeom>
            <a:avLst/>
            <a:gdLst/>
            <a:ahLst/>
            <a:cxnLst/>
            <a:rect r="r" b="b" t="t" l="l"/>
            <a:pathLst>
              <a:path h="536572" w="536572">
                <a:moveTo>
                  <a:pt x="0" y="0"/>
                </a:moveTo>
                <a:lnTo>
                  <a:pt x="536572" y="0"/>
                </a:lnTo>
                <a:lnTo>
                  <a:pt x="536572" y="536572"/>
                </a:lnTo>
                <a:lnTo>
                  <a:pt x="0" y="5365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622672" y="2489197"/>
            <a:ext cx="536572" cy="536572"/>
          </a:xfrm>
          <a:custGeom>
            <a:avLst/>
            <a:gdLst/>
            <a:ahLst/>
            <a:cxnLst/>
            <a:rect r="r" b="b" t="t" l="l"/>
            <a:pathLst>
              <a:path h="536572" w="536572">
                <a:moveTo>
                  <a:pt x="0" y="0"/>
                </a:moveTo>
                <a:lnTo>
                  <a:pt x="536572" y="0"/>
                </a:lnTo>
                <a:lnTo>
                  <a:pt x="536572" y="536572"/>
                </a:lnTo>
                <a:lnTo>
                  <a:pt x="0" y="5365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37575" y="1203141"/>
            <a:ext cx="4671050" cy="1062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3375" spc="-30">
                <a:solidFill>
                  <a:srgbClr val="D73AD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LSTM Networks: A Deep Learning Solution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9620" y="4530633"/>
            <a:ext cx="4663754" cy="671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5">
                <a:solidFill>
                  <a:srgbClr val="272525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Better Predictions</a:t>
            </a:r>
          </a:p>
          <a:p>
            <a:pPr algn="l">
              <a:lnSpc>
                <a:spcPts val="2007"/>
              </a:lnSpc>
            </a:pPr>
            <a:r>
              <a:rPr lang="en-US" sz="1434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Excels in modeling complex, non-linear stock price movements.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9620" y="2616108"/>
            <a:ext cx="2166518" cy="149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687" spc="-15">
                <a:solidFill>
                  <a:srgbClr val="272525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Recurrent Neural Ne</a:t>
            </a:r>
            <a:r>
              <a:rPr lang="en-US" b="true" sz="1687" spc="-15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687" spc="-15">
                <a:solidFill>
                  <a:srgbClr val="272525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</a:t>
            </a:r>
            <a:r>
              <a:rPr lang="en-US" b="true" sz="1687" spc="-15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687" spc="-15">
                <a:solidFill>
                  <a:srgbClr val="272525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wo</a:t>
            </a:r>
            <a:r>
              <a:rPr lang="en-US" b="true" sz="1687" spc="-15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687" spc="-15">
                <a:solidFill>
                  <a:srgbClr val="272525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rk</a:t>
            </a:r>
          </a:p>
          <a:p>
            <a:pPr algn="l">
              <a:lnSpc>
                <a:spcPts val="2324"/>
              </a:lnSpc>
            </a:pPr>
            <a:r>
              <a:rPr lang="en-US" sz="1434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Captures sequential patterns and temporal dependencies effectively.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77763" y="2587533"/>
            <a:ext cx="2132362" cy="124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5">
                <a:solidFill>
                  <a:srgbClr val="272525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Long-Term Learning</a:t>
            </a:r>
          </a:p>
          <a:p>
            <a:pPr algn="l">
              <a:lnSpc>
                <a:spcPts val="2274"/>
              </a:lnSpc>
            </a:pPr>
            <a:r>
              <a:rPr lang="en-US" sz="1434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Designed to overcome vanishing gradients, enables long sequence memory.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1"/>
            <a:ext cx="11430000" cy="6438900"/>
            <a:chOff x="0" y="0"/>
            <a:chExt cx="11430000" cy="643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37575" y="2060391"/>
            <a:ext cx="7448550" cy="58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 spc="-30">
                <a:solidFill>
                  <a:srgbClr val="D73AD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LSTM Architecture for Stock Prediction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7575" y="3082833"/>
            <a:ext cx="2545423" cy="1033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5">
                <a:solidFill>
                  <a:srgbClr val="D73AD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Inputs</a:t>
            </a:r>
          </a:p>
          <a:p>
            <a:pPr algn="l">
              <a:lnSpc>
                <a:spcPts val="2324"/>
              </a:lnSpc>
            </a:pPr>
            <a:r>
              <a:rPr lang="en-US" sz="1434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Historical prices, market data, and technical indicators.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79684" y="3082833"/>
            <a:ext cx="3093434" cy="1033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5">
                <a:solidFill>
                  <a:srgbClr val="D73AD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LSTM Layers</a:t>
            </a:r>
          </a:p>
          <a:p>
            <a:pPr algn="l">
              <a:lnSpc>
                <a:spcPts val="2324"/>
              </a:lnSpc>
            </a:pPr>
            <a:r>
              <a:rPr lang="en-US" sz="1434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Process sequences, extract features, learn temporal relations.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21803" y="3082833"/>
            <a:ext cx="2788148" cy="1033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5">
                <a:solidFill>
                  <a:srgbClr val="D73AD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Output</a:t>
            </a:r>
          </a:p>
          <a:p>
            <a:pPr algn="l">
              <a:lnSpc>
                <a:spcPts val="2324"/>
              </a:lnSpc>
            </a:pPr>
            <a:r>
              <a:rPr lang="en-US" sz="1434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Next period predicted stock prices via backpropagation through time.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1"/>
            <a:ext cx="11430000" cy="6438900"/>
            <a:chOff x="0" y="0"/>
            <a:chExt cx="11430000" cy="643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0" y="257"/>
            <a:ext cx="4286250" cy="6438643"/>
          </a:xfrm>
          <a:custGeom>
            <a:avLst/>
            <a:gdLst/>
            <a:ahLst/>
            <a:cxnLst/>
            <a:rect r="r" b="b" t="t" l="l"/>
            <a:pathLst>
              <a:path h="6438643" w="4286250">
                <a:moveTo>
                  <a:pt x="0" y="0"/>
                </a:moveTo>
                <a:lnTo>
                  <a:pt x="4286250" y="0"/>
                </a:lnTo>
                <a:lnTo>
                  <a:pt x="428625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" t="-3" r="-7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60922" y="2393947"/>
            <a:ext cx="2965447" cy="1765297"/>
          </a:xfrm>
          <a:custGeom>
            <a:avLst/>
            <a:gdLst/>
            <a:ahLst/>
            <a:cxnLst/>
            <a:rect r="r" b="b" t="t" l="l"/>
            <a:pathLst>
              <a:path h="1765297" w="2965447">
                <a:moveTo>
                  <a:pt x="0" y="0"/>
                </a:moveTo>
                <a:lnTo>
                  <a:pt x="2965447" y="0"/>
                </a:lnTo>
                <a:lnTo>
                  <a:pt x="2965447" y="1765297"/>
                </a:lnTo>
                <a:lnTo>
                  <a:pt x="0" y="176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860922" y="4213222"/>
            <a:ext cx="5994397" cy="1174747"/>
          </a:xfrm>
          <a:custGeom>
            <a:avLst/>
            <a:gdLst/>
            <a:ahLst/>
            <a:cxnLst/>
            <a:rect r="r" b="b" t="t" l="l"/>
            <a:pathLst>
              <a:path h="1174747" w="5994397">
                <a:moveTo>
                  <a:pt x="0" y="0"/>
                </a:moveTo>
                <a:lnTo>
                  <a:pt x="5994397" y="0"/>
                </a:lnTo>
                <a:lnTo>
                  <a:pt x="5994397" y="1174747"/>
                </a:lnTo>
                <a:lnTo>
                  <a:pt x="0" y="11747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889872" y="2393947"/>
            <a:ext cx="2965447" cy="1765297"/>
          </a:xfrm>
          <a:custGeom>
            <a:avLst/>
            <a:gdLst/>
            <a:ahLst/>
            <a:cxnLst/>
            <a:rect r="r" b="b" t="t" l="l"/>
            <a:pathLst>
              <a:path h="1765297" w="2965447">
                <a:moveTo>
                  <a:pt x="0" y="0"/>
                </a:moveTo>
                <a:lnTo>
                  <a:pt x="2965447" y="0"/>
                </a:lnTo>
                <a:lnTo>
                  <a:pt x="2965447" y="1765297"/>
                </a:lnTo>
                <a:lnTo>
                  <a:pt x="0" y="17652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923825" y="1107891"/>
            <a:ext cx="5459825" cy="1062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3375" spc="-30">
                <a:solidFill>
                  <a:srgbClr val="D73AD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Results: Enhanced Accuracy and Performance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15525" y="2616108"/>
            <a:ext cx="2422160" cy="125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5">
                <a:solidFill>
                  <a:srgbClr val="272525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Improved Accuracy</a:t>
            </a:r>
          </a:p>
          <a:p>
            <a:pPr algn="l">
              <a:lnSpc>
                <a:spcPts val="2300"/>
              </a:lnSpc>
            </a:pPr>
            <a:r>
              <a:rPr lang="en-US" sz="1434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LSTM models outperform ARIMA and GARCH by 15-20% on key metrics.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15525" y="4435383"/>
            <a:ext cx="3760746" cy="66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5">
                <a:solidFill>
                  <a:srgbClr val="272525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Performance Metrics</a:t>
            </a:r>
          </a:p>
          <a:p>
            <a:pPr algn="l">
              <a:lnSpc>
                <a:spcPts val="2007"/>
              </a:lnSpc>
            </a:pPr>
            <a:r>
              <a:rPr lang="en-US" sz="1434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Measured by MAE and RMSE for reliable evaluation.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40903" y="2616108"/>
            <a:ext cx="2134486" cy="125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5">
                <a:solidFill>
                  <a:srgbClr val="272525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Extensive Testing</a:t>
            </a:r>
          </a:p>
          <a:p>
            <a:pPr algn="l">
              <a:lnSpc>
                <a:spcPts val="2300"/>
              </a:lnSpc>
            </a:pPr>
            <a:r>
              <a:rPr lang="en-US" sz="1434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Validated on S&amp;P 500 and NASDAQ stocks from 2010 to 2023.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1"/>
            <a:ext cx="11430000" cy="6438900"/>
            <a:chOff x="0" y="0"/>
            <a:chExt cx="11430000" cy="643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37575" y="1927041"/>
            <a:ext cx="3554863" cy="2051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 spc="-30">
                <a:solidFill>
                  <a:srgbClr val="D73AD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Evaluation Metrics</a:t>
            </a:r>
          </a:p>
          <a:p>
            <a:pPr algn="l">
              <a:lnSpc>
                <a:spcPts val="2362"/>
              </a:lnSpc>
            </a:pPr>
            <a:r>
              <a:rPr lang="en-US" b="true" sz="1687" spc="-15">
                <a:solidFill>
                  <a:srgbClr val="D73AD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Mean Absolute Error (MAE)</a:t>
            </a:r>
          </a:p>
          <a:p>
            <a:pPr algn="l">
              <a:lnSpc>
                <a:spcPts val="2324"/>
              </a:lnSpc>
            </a:pPr>
            <a:r>
              <a:rPr lang="en-US" sz="1434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Average absolute prediction error magnitude.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79684" y="2978058"/>
            <a:ext cx="2739885" cy="1271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687" spc="-15">
                <a:solidFill>
                  <a:srgbClr val="D73AD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Root Mean Squared Error (RMSE)</a:t>
            </a:r>
          </a:p>
          <a:p>
            <a:pPr algn="l">
              <a:lnSpc>
                <a:spcPts val="2249"/>
              </a:lnSpc>
            </a:pPr>
            <a:r>
              <a:rPr lang="en-US" sz="1434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Measures squared error magnitudes, emphasizing larger errors.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21803" y="2949483"/>
            <a:ext cx="2742305" cy="1033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5">
                <a:solidFill>
                  <a:srgbClr val="D73AD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R-squared</a:t>
            </a:r>
          </a:p>
          <a:p>
            <a:pPr algn="l">
              <a:lnSpc>
                <a:spcPts val="2324"/>
              </a:lnSpc>
            </a:pPr>
            <a:r>
              <a:rPr lang="en-US" sz="1434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Proportion variance explained; LSTM achieved 0.85-0.90.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1"/>
            <a:ext cx="11430000" cy="6438900"/>
            <a:chOff x="0" y="0"/>
            <a:chExt cx="11430000" cy="643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143750" y="257"/>
            <a:ext cx="4286250" cy="6438643"/>
          </a:xfrm>
          <a:custGeom>
            <a:avLst/>
            <a:gdLst/>
            <a:ahLst/>
            <a:cxnLst/>
            <a:rect r="r" b="b" t="t" l="l"/>
            <a:pathLst>
              <a:path h="6438643" w="4286250">
                <a:moveTo>
                  <a:pt x="0" y="0"/>
                </a:moveTo>
                <a:lnTo>
                  <a:pt x="4286250" y="0"/>
                </a:lnTo>
                <a:lnTo>
                  <a:pt x="428625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" t="-3" r="-7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8985" y="2178415"/>
            <a:ext cx="1049217" cy="3422561"/>
          </a:xfrm>
          <a:custGeom>
            <a:avLst/>
            <a:gdLst/>
            <a:ahLst/>
            <a:cxnLst/>
            <a:rect r="r" b="b" t="t" l="l"/>
            <a:pathLst>
              <a:path h="3422561" w="1049217">
                <a:moveTo>
                  <a:pt x="0" y="0"/>
                </a:moveTo>
                <a:lnTo>
                  <a:pt x="1049217" y="0"/>
                </a:lnTo>
                <a:lnTo>
                  <a:pt x="1049217" y="3422561"/>
                </a:lnTo>
                <a:lnTo>
                  <a:pt x="0" y="34225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37575" y="888816"/>
            <a:ext cx="5294871" cy="2175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6"/>
              </a:lnSpc>
            </a:pPr>
            <a:r>
              <a:rPr lang="en-US" b="true" sz="3375" spc="-30">
                <a:solidFill>
                  <a:srgbClr val="D73AD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Conclusion: The Future of Financial Forecasting</a:t>
            </a:r>
          </a:p>
          <a:p>
            <a:pPr algn="l">
              <a:lnSpc>
                <a:spcPts val="2362"/>
              </a:lnSpc>
            </a:pPr>
            <a:r>
              <a:rPr lang="en-US" b="true" sz="1687" spc="-15">
                <a:solidFill>
                  <a:srgbClr val="272525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Promise of LSTM</a:t>
            </a:r>
          </a:p>
          <a:p>
            <a:pPr algn="l">
              <a:lnSpc>
                <a:spcPts val="2007"/>
              </a:lnSpc>
            </a:pPr>
            <a:r>
              <a:rPr lang="en-US" sz="1434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Advanced models improve accuracy in volatile markets.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4680" y="2353342"/>
            <a:ext cx="144894" cy="59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7"/>
              </a:lnSpc>
            </a:pPr>
            <a:r>
              <a:rPr lang="en-US" b="true" sz="2151" spc="-19">
                <a:solidFill>
                  <a:srgbClr val="272525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4680" y="3448717"/>
            <a:ext cx="144894" cy="59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7"/>
              </a:lnSpc>
            </a:pPr>
            <a:r>
              <a:rPr lang="en-US" b="true" sz="2151" spc="-19">
                <a:solidFill>
                  <a:srgbClr val="272525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4680" y="4544092"/>
            <a:ext cx="144894" cy="59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7"/>
              </a:lnSpc>
            </a:pPr>
            <a:r>
              <a:rPr lang="en-US" b="true" sz="2151" spc="-19">
                <a:solidFill>
                  <a:srgbClr val="272525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21656" y="4587783"/>
            <a:ext cx="4665050" cy="671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5">
                <a:solidFill>
                  <a:srgbClr val="272525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Future Research</a:t>
            </a:r>
          </a:p>
          <a:p>
            <a:pPr algn="l">
              <a:lnSpc>
                <a:spcPts val="2007"/>
              </a:lnSpc>
            </a:pPr>
            <a:r>
              <a:rPr lang="en-US" sz="1434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Focus on model robustness and interpretability enhancements.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21656" y="3492408"/>
            <a:ext cx="3886972" cy="671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5">
                <a:solidFill>
                  <a:srgbClr val="272525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Integration Potential</a:t>
            </a:r>
          </a:p>
          <a:p>
            <a:pPr algn="l">
              <a:lnSpc>
                <a:spcPts val="2007"/>
              </a:lnSpc>
            </a:pPr>
            <a:r>
              <a:rPr lang="en-US" sz="1434">
                <a:solidFill>
                  <a:srgbClr val="27252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Can combine with alternative data for richer insights.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DAGonk_Ejw0</dc:identifier>
  <dcterms:modified xsi:type="dcterms:W3CDTF">2011-08-01T06:04:30Z</dcterms:modified>
  <cp:revision>1</cp:revision>
  <dc:title>Revolutionizing-Stock-Price-Prediction-with-LSTMs.pdf</dc:title>
</cp:coreProperties>
</file>