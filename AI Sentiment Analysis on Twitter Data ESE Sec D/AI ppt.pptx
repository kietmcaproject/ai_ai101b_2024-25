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4" r:id="rId7"/>
    <p:sldId id="261" r:id="rId8"/>
    <p:sldId id="262" r:id="rId9"/>
    <p:sldId id="263" r:id="rId10"/>
    <p:sldId id="265" r:id="rId11"/>
  </p:sldIdLst>
  <p:sldSz cx="14630400" cy="8229600"/>
  <p:notesSz cx="8229600" cy="14630400"/>
  <p:embeddedFontLst>
    <p:embeddedFont>
      <p:font typeface="Barlow Bold" panose="020B0604020202020204" charset="0"/>
      <p:bold r:id="rId13"/>
    </p:embeddedFont>
    <p:embeddedFont>
      <p:font typeface="Inter Medium" panose="020B0604020202020204" charset="0"/>
      <p:regular r:id="rId14"/>
    </p:embeddedFont>
    <p:embeddedFont>
      <p:font typeface="Montserrat" panose="00000500000000000000" pitchFamily="2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92">
          <p15:clr>
            <a:srgbClr val="A4A3A4"/>
          </p15:clr>
        </p15:guide>
        <p15:guide id="2" pos="460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>
        <p:guide orient="horz" pos="2592"/>
        <p:guide pos="460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060202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1151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44709" y="635620"/>
            <a:ext cx="7627382" cy="1694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             AI PROJECT </a:t>
            </a:r>
          </a:p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Sentiment Analysis on Twitter Data</a:t>
            </a:r>
          </a:p>
          <a:p>
            <a:pPr marL="0" indent="0" algn="l">
              <a:lnSpc>
                <a:spcPts val="5600"/>
              </a:lnSpc>
              <a:buNone/>
            </a:pP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44709" y="3055434"/>
            <a:ext cx="762738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Understand public opinion in real-time. Leverage social media for actionable insights. Discover knowledge from vast data.</a:t>
            </a:r>
          </a:p>
          <a:p>
            <a:pPr marL="0" indent="0" algn="l">
              <a:lnSpc>
                <a:spcPts val="2700"/>
              </a:lnSpc>
              <a:buNone/>
            </a:pPr>
            <a:endParaRPr lang="en-US" sz="1700" dirty="0">
              <a:solidFill>
                <a:srgbClr val="384653"/>
              </a:solidFill>
              <a:latin typeface="Montserrat" pitchFamily="34" charset="0"/>
            </a:endParaRPr>
          </a:p>
          <a:p>
            <a:pPr marL="0" indent="0" algn="l">
              <a:lnSpc>
                <a:spcPts val="2700"/>
              </a:lnSpc>
              <a:buNone/>
            </a:pPr>
            <a:endParaRPr lang="en-US" sz="1700" dirty="0">
              <a:solidFill>
                <a:srgbClr val="384653"/>
              </a:solidFill>
              <a:latin typeface="Montserrat" pitchFamily="34" charset="0"/>
            </a:endParaRPr>
          </a:p>
          <a:p>
            <a:pPr marL="0" indent="0" algn="l">
              <a:lnSpc>
                <a:spcPts val="2700"/>
              </a:lnSpc>
              <a:buNone/>
            </a:pPr>
            <a:endParaRPr lang="en-US" sz="1700" dirty="0">
              <a:solidFill>
                <a:srgbClr val="384653"/>
              </a:solidFill>
              <a:latin typeface="Montserrat" pitchFamily="34" charset="0"/>
            </a:endParaRPr>
          </a:p>
          <a:p>
            <a:pPr marL="0" indent="0" algn="l">
              <a:lnSpc>
                <a:spcPts val="2700"/>
              </a:lnSpc>
              <a:buNone/>
            </a:pPr>
            <a:endParaRPr lang="en-US" sz="1700" dirty="0">
              <a:solidFill>
                <a:srgbClr val="384653"/>
              </a:solidFill>
              <a:latin typeface="Montserrat" pitchFamily="34" charset="0"/>
            </a:endParaRPr>
          </a:p>
          <a:p>
            <a:pPr marL="0" indent="0" algn="l">
              <a:lnSpc>
                <a:spcPts val="2700"/>
              </a:lnSpc>
              <a:buNone/>
            </a:pPr>
            <a:endParaRPr lang="en-US" sz="1700" dirty="0">
              <a:solidFill>
                <a:srgbClr val="384653"/>
              </a:solidFill>
              <a:latin typeface="Montserrat" pitchFamily="34" charset="0"/>
            </a:endParaRPr>
          </a:p>
          <a:p>
            <a:pPr marL="0" indent="0" algn="l">
              <a:lnSpc>
                <a:spcPts val="2700"/>
              </a:lnSpc>
              <a:buNone/>
            </a:pPr>
            <a:endParaRPr lang="en-US" sz="1700" dirty="0">
              <a:solidFill>
                <a:srgbClr val="384653"/>
              </a:solidFill>
              <a:latin typeface="Montserrat" pitchFamily="34" charset="0"/>
            </a:endParaRPr>
          </a:p>
          <a:p>
            <a:pPr marL="0" indent="0" algn="l">
              <a:lnSpc>
                <a:spcPts val="2700"/>
              </a:lnSpc>
              <a:buNone/>
            </a:pPr>
            <a:endParaRPr lang="en-US" sz="1700" dirty="0">
              <a:solidFill>
                <a:srgbClr val="384653"/>
              </a:solidFill>
              <a:latin typeface="Montserrat" pitchFamily="34" charset="0"/>
            </a:endParaRPr>
          </a:p>
          <a:p>
            <a:pPr marL="0" indent="0" algn="l">
              <a:lnSpc>
                <a:spcPts val="2700"/>
              </a:lnSpc>
              <a:buNone/>
            </a:pPr>
            <a:r>
              <a:rPr lang="en-US" sz="16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                                                                              </a:t>
            </a:r>
            <a:r>
              <a:rPr lang="en-US" sz="160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Simran Tyagi(202410116100208)</a:t>
            </a:r>
          </a:p>
          <a:p>
            <a:pPr marL="0" indent="0" algn="l">
              <a:lnSpc>
                <a:spcPts val="2700"/>
              </a:lnSpc>
              <a:buNone/>
            </a:pPr>
            <a:r>
              <a:rPr lang="en-US" sz="16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                                                                             </a:t>
            </a:r>
            <a:r>
              <a:rPr lang="en-US" sz="160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Shefali Yadav(202410116100195)</a:t>
            </a:r>
          </a:p>
          <a:p>
            <a:pPr marL="0" indent="0" algn="l">
              <a:lnSpc>
                <a:spcPts val="2700"/>
              </a:lnSpc>
              <a:buNone/>
            </a:pPr>
            <a:r>
              <a:rPr lang="en-US" sz="160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                                                                               Tanisha Jain(202410116100217)</a:t>
            </a:r>
          </a:p>
          <a:p>
            <a:pPr marL="0" indent="0" algn="l">
              <a:lnSpc>
                <a:spcPts val="2700"/>
              </a:lnSpc>
              <a:buNone/>
            </a:pPr>
            <a:r>
              <a:rPr lang="en-US" sz="16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                                                                      </a:t>
            </a:r>
            <a:r>
              <a:rPr lang="en-US" sz="160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Vishal Chaturvedi(202410116100248)</a:t>
            </a:r>
            <a:endParaRPr lang="en-US" sz="1700" b="1" dirty="0">
              <a:solidFill>
                <a:srgbClr val="384653"/>
              </a:solidFill>
              <a:latin typeface="Montserrat" pitchFamily="34" charset="0"/>
              <a:ea typeface="Inter Medium" pitchFamily="34" charset="-122"/>
              <a:cs typeface="Inter Medium" pitchFamily="34" charset="-120"/>
            </a:endParaRPr>
          </a:p>
          <a:p>
            <a:pPr marL="0" indent="0" algn="l">
              <a:lnSpc>
                <a:spcPts val="2700"/>
              </a:lnSpc>
              <a:buNone/>
            </a:pPr>
            <a:endParaRPr lang="en-US" sz="1700" dirty="0"/>
          </a:p>
        </p:txBody>
      </p:sp>
      <p:sp>
        <p:nvSpPr>
          <p:cNvPr id="5" name="TextBox 4"/>
          <p:cNvSpPr txBox="1"/>
          <p:nvPr/>
        </p:nvSpPr>
        <p:spPr>
          <a:xfrm>
            <a:off x="12811991" y="7730836"/>
            <a:ext cx="1714500" cy="36933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44709" y="1004173"/>
            <a:ext cx="714934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What is Sentiment Analysis?</a:t>
            </a:r>
            <a:endParaRPr lang="en-US" sz="4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4709" y="2041803"/>
            <a:ext cx="1083231" cy="129992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652861" y="2258378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Identify Opinions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7652861" y="2744510"/>
            <a:ext cx="6219230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Categorize emotions within text.</a:t>
            </a:r>
            <a:endParaRPr lang="en-US" sz="17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4709" y="3341727"/>
            <a:ext cx="1083231" cy="129992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652861" y="3558302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Three Categories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7652861" y="4044434"/>
            <a:ext cx="6219230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Positive, negative, or neutral sentiment.</a:t>
            </a:r>
            <a:endParaRPr lang="en-US" sz="17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4709" y="4641652"/>
            <a:ext cx="1083231" cy="129992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652861" y="4858226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Fine-Grained Analysis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7652861" y="5344358"/>
            <a:ext cx="6219230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Detailed sentiment levels like very positive.</a:t>
            </a:r>
            <a:endParaRPr lang="en-US" sz="1700" dirty="0"/>
          </a:p>
        </p:txBody>
      </p:sp>
      <p:sp>
        <p:nvSpPr>
          <p:cNvPr id="13" name="Text 7"/>
          <p:cNvSpPr/>
          <p:nvPr/>
        </p:nvSpPr>
        <p:spPr>
          <a:xfrm>
            <a:off x="6244709" y="6185297"/>
            <a:ext cx="7627382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Sentiment analysis identifies and categorizes opinions. It ranges from broad categories to fine-grained emotions. This technique applies across various industries.</a:t>
            </a:r>
            <a:endParaRPr lang="en-US" sz="1700" dirty="0"/>
          </a:p>
        </p:txBody>
      </p:sp>
      <p:sp>
        <p:nvSpPr>
          <p:cNvPr id="14" name="TextBox 13"/>
          <p:cNvSpPr txBox="1"/>
          <p:nvPr/>
        </p:nvSpPr>
        <p:spPr>
          <a:xfrm>
            <a:off x="12811990" y="7637317"/>
            <a:ext cx="1704109" cy="48837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02918" y="563404"/>
            <a:ext cx="5387340" cy="673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Why Twitter Data?</a:t>
            </a:r>
            <a:endParaRPr lang="en-US" sz="4200" dirty="0"/>
          </a:p>
        </p:txBody>
      </p:sp>
      <p:sp>
        <p:nvSpPr>
          <p:cNvPr id="4" name="Text 1"/>
          <p:cNvSpPr/>
          <p:nvPr/>
        </p:nvSpPr>
        <p:spPr>
          <a:xfrm>
            <a:off x="6202918" y="1646158"/>
            <a:ext cx="3701891" cy="6755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300"/>
              </a:lnSpc>
              <a:buNone/>
            </a:pPr>
            <a:r>
              <a:rPr lang="en-US" sz="53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500M</a:t>
            </a:r>
            <a:endParaRPr lang="en-US" sz="5300" dirty="0"/>
          </a:p>
        </p:txBody>
      </p:sp>
      <p:sp>
        <p:nvSpPr>
          <p:cNvPr id="5" name="Text 2"/>
          <p:cNvSpPr/>
          <p:nvPr/>
        </p:nvSpPr>
        <p:spPr>
          <a:xfrm>
            <a:off x="6707029" y="2577465"/>
            <a:ext cx="2693670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Tweets Daily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6202918" y="3036808"/>
            <a:ext cx="3701891" cy="654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Massive volume for comprehensive analysis.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0211872" y="1646158"/>
            <a:ext cx="3702010" cy="6755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300"/>
              </a:lnSpc>
              <a:buNone/>
            </a:pPr>
            <a:r>
              <a:rPr lang="en-US" sz="53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Real-Time</a:t>
            </a:r>
            <a:endParaRPr lang="en-US" sz="5300" dirty="0"/>
          </a:p>
        </p:txBody>
      </p:sp>
      <p:sp>
        <p:nvSpPr>
          <p:cNvPr id="8" name="Text 5"/>
          <p:cNvSpPr/>
          <p:nvPr/>
        </p:nvSpPr>
        <p:spPr>
          <a:xfrm>
            <a:off x="10715982" y="2577465"/>
            <a:ext cx="2693670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Immediate Feedback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10211872" y="3036808"/>
            <a:ext cx="3702010" cy="654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Insights reflect current events and trends.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207335" y="4408051"/>
            <a:ext cx="3702010" cy="6755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300"/>
              </a:lnSpc>
              <a:buNone/>
            </a:pPr>
            <a:r>
              <a:rPr lang="en-US" sz="53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Diverse</a:t>
            </a:r>
            <a:endParaRPr lang="en-US" sz="5300" dirty="0"/>
          </a:p>
        </p:txBody>
      </p:sp>
      <p:sp>
        <p:nvSpPr>
          <p:cNvPr id="11" name="Text 8"/>
          <p:cNvSpPr/>
          <p:nvPr/>
        </p:nvSpPr>
        <p:spPr>
          <a:xfrm>
            <a:off x="8711446" y="5339358"/>
            <a:ext cx="2693670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Broad Opinions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8207335" y="5798701"/>
            <a:ext cx="3702010" cy="654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Represents a wide demographic spectrum.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202918" y="6683812"/>
            <a:ext cx="7710964" cy="9822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Twitter provides real-time, vast, and diverse data. With millions of public tweets daily, it's a rich source. This accessibility enables comprehensive public opinion analysis.</a:t>
            </a:r>
            <a:endParaRPr lang="en-US" sz="1600" dirty="0"/>
          </a:p>
        </p:txBody>
      </p:sp>
      <p:sp>
        <p:nvSpPr>
          <p:cNvPr id="14" name="TextBox 13"/>
          <p:cNvSpPr txBox="1"/>
          <p:nvPr/>
        </p:nvSpPr>
        <p:spPr>
          <a:xfrm>
            <a:off x="12780818" y="7772400"/>
            <a:ext cx="1745673" cy="36933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963579"/>
            <a:ext cx="8003262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Methods for Sentiment Analysis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58309" y="3217783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Lexicon-Based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58309" y="3790593"/>
            <a:ext cx="4018359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Uses sentiment word dictionaries.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58309" y="4559737"/>
            <a:ext cx="4018359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Simple and transparent approach.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312926" y="3217783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Machine Learning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312926" y="3790593"/>
            <a:ext cx="4018359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Trains models on labeled datasets.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312926" y="4559737"/>
            <a:ext cx="4018359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Learns patterns from examples.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867543" y="3217783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Deep Learning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867543" y="3790593"/>
            <a:ext cx="4018359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Utilizes transformers and neural networks.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867543" y="4559737"/>
            <a:ext cx="4018359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Achieves up to 90% accuracy.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58309" y="5572601"/>
            <a:ext cx="13113782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Methods range from simple lexicon-based systems to advanced deep learning. Hybrid approaches combine techniques. Accuracy can reach 90%, depending on data and chosen method.</a:t>
            </a:r>
            <a:endParaRPr lang="en-US" sz="1700" dirty="0"/>
          </a:p>
        </p:txBody>
      </p:sp>
      <p:sp>
        <p:nvSpPr>
          <p:cNvPr id="13" name="TextBox 12"/>
          <p:cNvSpPr txBox="1"/>
          <p:nvPr/>
        </p:nvSpPr>
        <p:spPr>
          <a:xfrm>
            <a:off x="12822382" y="7803573"/>
            <a:ext cx="1808018" cy="369332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8309" y="1078587"/>
            <a:ext cx="5862638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Tools and Technologies</a:t>
            </a:r>
            <a:endParaRPr lang="en-US" sz="4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309" y="2154079"/>
            <a:ext cx="541615" cy="54161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516499" y="2244804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NLTK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1516499" y="2730937"/>
            <a:ext cx="686919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Natural Language Toolkit for processing text.</a:t>
            </a:r>
            <a:endParaRPr lang="en-US" sz="17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309" y="3548777"/>
            <a:ext cx="541615" cy="54161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516499" y="3639503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Transformers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1516499" y="4125635"/>
            <a:ext cx="686919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Models like BERT for advanced understanding.</a:t>
            </a:r>
            <a:endParaRPr lang="en-US" sz="17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8309" y="4943475"/>
            <a:ext cx="541615" cy="54161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516499" y="5034201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Text Classification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1516499" y="5520333"/>
            <a:ext cx="686919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Assigning categories to text data.</a:t>
            </a:r>
            <a:endParaRPr lang="en-US" sz="1700" dirty="0"/>
          </a:p>
        </p:txBody>
      </p:sp>
      <p:sp>
        <p:nvSpPr>
          <p:cNvPr id="13" name="Text 7"/>
          <p:cNvSpPr/>
          <p:nvPr/>
        </p:nvSpPr>
        <p:spPr>
          <a:xfrm>
            <a:off x="758309" y="6110764"/>
            <a:ext cx="7627382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tools include NLTK for foundational tasks. Transformers like BERT power deep learning models. Text classification and cleaning techniques are essential steps.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941FA48-C60E-EF33-8AB5-B0792806DA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8174" y="1360449"/>
            <a:ext cx="6703045" cy="603281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710D665-C09C-605E-4881-4F101B927B30}"/>
              </a:ext>
            </a:extLst>
          </p:cNvPr>
          <p:cNvSpPr txBox="1"/>
          <p:nvPr/>
        </p:nvSpPr>
        <p:spPr>
          <a:xfrm>
            <a:off x="535258" y="1164302"/>
            <a:ext cx="3289610" cy="703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ts val="5300"/>
              </a:lnSpc>
              <a:buNone/>
            </a:pPr>
            <a:r>
              <a:rPr lang="en-US" sz="3000" b="1" dirty="0"/>
              <a:t>Flow Chart</a:t>
            </a:r>
          </a:p>
        </p:txBody>
      </p:sp>
    </p:spTree>
    <p:extLst>
      <p:ext uri="{BB962C8B-B14F-4D97-AF65-F5344CB8AC3E}">
        <p14:creationId xmlns:p14="http://schemas.microsoft.com/office/powerpoint/2010/main" val="1146723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70343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20923" y="3141345"/>
            <a:ext cx="8706326" cy="6775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Challenges in Analyzing Twitter Data</a:t>
            </a:r>
            <a:endParaRPr lang="en-US" sz="4250" dirty="0"/>
          </a:p>
        </p:txBody>
      </p:sp>
      <p:sp>
        <p:nvSpPr>
          <p:cNvPr id="4" name="Shape 1"/>
          <p:cNvSpPr/>
          <p:nvPr/>
        </p:nvSpPr>
        <p:spPr>
          <a:xfrm>
            <a:off x="720923" y="4127897"/>
            <a:ext cx="6491288" cy="1219081"/>
          </a:xfrm>
          <a:prstGeom prst="roundRect">
            <a:avLst>
              <a:gd name="adj" fmla="val 25345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34522" y="4341495"/>
            <a:ext cx="2710220" cy="338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Informal Text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934522" y="4803815"/>
            <a:ext cx="6064091" cy="329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Slang, abbreviations, and emojis present challenges.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418189" y="4127897"/>
            <a:ext cx="6491288" cy="1219081"/>
          </a:xfrm>
          <a:prstGeom prst="roundRect">
            <a:avLst>
              <a:gd name="adj" fmla="val 25345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631787" y="4341495"/>
            <a:ext cx="2710220" cy="338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Sarcasm/Irony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7631787" y="4803815"/>
            <a:ext cx="6064091" cy="329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Difficult for models to detect accurately.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20923" y="5552956"/>
            <a:ext cx="6491288" cy="1219081"/>
          </a:xfrm>
          <a:prstGeom prst="roundRect">
            <a:avLst>
              <a:gd name="adj" fmla="val 25345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34522" y="5766554"/>
            <a:ext cx="2710220" cy="338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Contextual Nuance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934522" y="6228874"/>
            <a:ext cx="6064091" cy="329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Requires deep understanding of language.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418189" y="5552956"/>
            <a:ext cx="6491288" cy="1219081"/>
          </a:xfrm>
          <a:prstGeom prst="roundRect">
            <a:avLst>
              <a:gd name="adj" fmla="val 25345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631787" y="5766554"/>
            <a:ext cx="2710220" cy="338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Spam/Bots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7631787" y="6228874"/>
            <a:ext cx="6064091" cy="329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Filtering irrelevant data is crucial.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720923" y="7003733"/>
            <a:ext cx="13188553" cy="659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Twitter data poses challenges due to informal text and limited character count. Sarcasm, irony, and contextual nuances are hard to interpret. Filtering spam and bots is also necessary.</a:t>
            </a:r>
            <a:endParaRPr lang="en-US" sz="1600" dirty="0"/>
          </a:p>
        </p:txBody>
      </p:sp>
      <p:sp>
        <p:nvSpPr>
          <p:cNvPr id="17" name="TextBox 16"/>
          <p:cNvSpPr txBox="1"/>
          <p:nvPr/>
        </p:nvSpPr>
        <p:spPr>
          <a:xfrm>
            <a:off x="12760036" y="7662863"/>
            <a:ext cx="1870364" cy="36933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12967855" y="7787554"/>
            <a:ext cx="1662545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9" name="TextBox 18"/>
          <p:cNvSpPr txBox="1"/>
          <p:nvPr/>
        </p:nvSpPr>
        <p:spPr>
          <a:xfrm>
            <a:off x="12863945" y="7826769"/>
            <a:ext cx="1662545" cy="369332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9140" y="581144"/>
            <a:ext cx="5557480" cy="694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50"/>
              </a:lnSpc>
              <a:buNone/>
            </a:pPr>
            <a:r>
              <a:rPr lang="en-US" sz="43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Use Cases</a:t>
            </a:r>
            <a:endParaRPr lang="en-US" sz="4350" dirty="0"/>
          </a:p>
        </p:txBody>
      </p:sp>
      <p:sp>
        <p:nvSpPr>
          <p:cNvPr id="4" name="Shape 1"/>
          <p:cNvSpPr/>
          <p:nvPr/>
        </p:nvSpPr>
        <p:spPr>
          <a:xfrm>
            <a:off x="739140" y="1592580"/>
            <a:ext cx="475059" cy="475059"/>
          </a:xfrm>
          <a:prstGeom prst="roundRect">
            <a:avLst>
              <a:gd name="adj" fmla="val 66682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982" y="1621750"/>
            <a:ext cx="333375" cy="416719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425297" y="1665089"/>
            <a:ext cx="2778681" cy="347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Brand Monitoring</a:t>
            </a:r>
            <a:endParaRPr lang="en-US" sz="2150" dirty="0"/>
          </a:p>
        </p:txBody>
      </p:sp>
      <p:sp>
        <p:nvSpPr>
          <p:cNvPr id="7" name="Text 3"/>
          <p:cNvSpPr/>
          <p:nvPr/>
        </p:nvSpPr>
        <p:spPr>
          <a:xfrm>
            <a:off x="1425297" y="2139077"/>
            <a:ext cx="6979563" cy="337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Track customer opinions on products.</a:t>
            </a:r>
            <a:endParaRPr lang="en-US" sz="1650" dirty="0"/>
          </a:p>
        </p:txBody>
      </p:sp>
      <p:sp>
        <p:nvSpPr>
          <p:cNvPr id="8" name="Shape 4"/>
          <p:cNvSpPr/>
          <p:nvPr/>
        </p:nvSpPr>
        <p:spPr>
          <a:xfrm>
            <a:off x="739140" y="2899291"/>
            <a:ext cx="475059" cy="475059"/>
          </a:xfrm>
          <a:prstGeom prst="roundRect">
            <a:avLst>
              <a:gd name="adj" fmla="val 66682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982" y="2928461"/>
            <a:ext cx="333375" cy="41671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425297" y="2971800"/>
            <a:ext cx="2778681" cy="347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Financial Markets</a:t>
            </a:r>
            <a:endParaRPr lang="en-US" sz="2150" dirty="0"/>
          </a:p>
        </p:txBody>
      </p:sp>
      <p:sp>
        <p:nvSpPr>
          <p:cNvPr id="11" name="Text 6"/>
          <p:cNvSpPr/>
          <p:nvPr/>
        </p:nvSpPr>
        <p:spPr>
          <a:xfrm>
            <a:off x="1425297" y="3445788"/>
            <a:ext cx="6979563" cy="337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Predict stock prices from news sentiment.</a:t>
            </a:r>
            <a:endParaRPr lang="en-US" sz="1650" dirty="0"/>
          </a:p>
        </p:txBody>
      </p:sp>
      <p:sp>
        <p:nvSpPr>
          <p:cNvPr id="12" name="Shape 7"/>
          <p:cNvSpPr/>
          <p:nvPr/>
        </p:nvSpPr>
        <p:spPr>
          <a:xfrm>
            <a:off x="739140" y="4206002"/>
            <a:ext cx="475059" cy="475059"/>
          </a:xfrm>
          <a:prstGeom prst="roundRect">
            <a:avLst>
              <a:gd name="adj" fmla="val 66682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982" y="4235172"/>
            <a:ext cx="333375" cy="416719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425297" y="4278511"/>
            <a:ext cx="2778681" cy="347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Public Health</a:t>
            </a:r>
            <a:endParaRPr lang="en-US" sz="2150" dirty="0"/>
          </a:p>
        </p:txBody>
      </p:sp>
      <p:sp>
        <p:nvSpPr>
          <p:cNvPr id="15" name="Text 9"/>
          <p:cNvSpPr/>
          <p:nvPr/>
        </p:nvSpPr>
        <p:spPr>
          <a:xfrm>
            <a:off x="1425297" y="4752499"/>
            <a:ext cx="6979563" cy="337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Track sentiment for health campaigns.</a:t>
            </a:r>
            <a:endParaRPr lang="en-US" sz="1650" dirty="0"/>
          </a:p>
        </p:txBody>
      </p:sp>
      <p:sp>
        <p:nvSpPr>
          <p:cNvPr id="16" name="Shape 10"/>
          <p:cNvSpPr/>
          <p:nvPr/>
        </p:nvSpPr>
        <p:spPr>
          <a:xfrm>
            <a:off x="739140" y="5512713"/>
            <a:ext cx="475059" cy="475059"/>
          </a:xfrm>
          <a:prstGeom prst="roundRect">
            <a:avLst>
              <a:gd name="adj" fmla="val 66682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9982" y="5541883"/>
            <a:ext cx="333375" cy="416719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425297" y="5585222"/>
            <a:ext cx="2778681" cy="347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Crisis Management</a:t>
            </a:r>
            <a:endParaRPr lang="en-US" sz="2150" dirty="0"/>
          </a:p>
        </p:txBody>
      </p:sp>
      <p:sp>
        <p:nvSpPr>
          <p:cNvPr id="19" name="Text 12"/>
          <p:cNvSpPr/>
          <p:nvPr/>
        </p:nvSpPr>
        <p:spPr>
          <a:xfrm>
            <a:off x="1425297" y="6059210"/>
            <a:ext cx="6979563" cy="337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Identify and respond to emergencies.</a:t>
            </a:r>
            <a:endParaRPr lang="en-US" sz="1650" dirty="0"/>
          </a:p>
        </p:txBody>
      </p:sp>
      <p:sp>
        <p:nvSpPr>
          <p:cNvPr id="20" name="Text 13"/>
          <p:cNvSpPr/>
          <p:nvPr/>
        </p:nvSpPr>
        <p:spPr>
          <a:xfrm>
            <a:off x="739140" y="6634639"/>
            <a:ext cx="7665720" cy="1013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Sentiment analysis supports brand monitoring and political analysis. It helps predict financial markets and manage crises. Public health campaigns also benefit from sentiment tracking.</a:t>
            </a:r>
            <a:endParaRPr lang="en-US" sz="1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3782" y="577810"/>
            <a:ext cx="7227213" cy="689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Conclusion and Future Trends</a:t>
            </a:r>
            <a:endParaRPr lang="en-US" sz="4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9925" y="1686758"/>
            <a:ext cx="1628894" cy="12252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76913" y="2267426"/>
            <a:ext cx="294799" cy="368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700"/>
              </a:lnSpc>
              <a:buNone/>
            </a:pPr>
            <a:r>
              <a:rPr lang="en-US" sz="23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1</a:t>
            </a:r>
            <a:endParaRPr lang="en-US" sz="2300" dirty="0"/>
          </a:p>
        </p:txBody>
      </p:sp>
      <p:sp>
        <p:nvSpPr>
          <p:cNvPr id="5" name="Text 2"/>
          <p:cNvSpPr/>
          <p:nvPr/>
        </p:nvSpPr>
        <p:spPr>
          <a:xfrm>
            <a:off x="5048488" y="1896428"/>
            <a:ext cx="2758797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Valuable Insights</a:t>
            </a:r>
            <a:endParaRPr lang="en-US" sz="2150" dirty="0"/>
          </a:p>
        </p:txBody>
      </p:sp>
      <p:sp>
        <p:nvSpPr>
          <p:cNvPr id="6" name="Text 3"/>
          <p:cNvSpPr/>
          <p:nvPr/>
        </p:nvSpPr>
        <p:spPr>
          <a:xfrm>
            <a:off x="5048488" y="2366962"/>
            <a:ext cx="4884420" cy="335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Sentiment analysis offers deep understanding.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4891207" y="2928699"/>
            <a:ext cx="8953024" cy="11430"/>
          </a:xfrm>
          <a:prstGeom prst="roundRect">
            <a:avLst>
              <a:gd name="adj" fmla="val 2751616"/>
            </a:avLst>
          </a:prstGeom>
          <a:solidFill>
            <a:srgbClr val="BACFDD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95538" y="2964418"/>
            <a:ext cx="3257788" cy="122527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877032" y="3392805"/>
            <a:ext cx="294799" cy="368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700"/>
              </a:lnSpc>
              <a:buNone/>
            </a:pPr>
            <a:r>
              <a:rPr lang="en-US" sz="23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2</a:t>
            </a:r>
            <a:endParaRPr lang="en-US" sz="2300" dirty="0"/>
          </a:p>
        </p:txBody>
      </p:sp>
      <p:sp>
        <p:nvSpPr>
          <p:cNvPr id="10" name="Text 6"/>
          <p:cNvSpPr/>
          <p:nvPr/>
        </p:nvSpPr>
        <p:spPr>
          <a:xfrm>
            <a:off x="5862995" y="3174087"/>
            <a:ext cx="2758797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Improved Accuracy</a:t>
            </a:r>
            <a:endParaRPr lang="en-US" sz="2150" dirty="0"/>
          </a:p>
        </p:txBody>
      </p:sp>
      <p:sp>
        <p:nvSpPr>
          <p:cNvPr id="11" name="Text 7"/>
          <p:cNvSpPr/>
          <p:nvPr/>
        </p:nvSpPr>
        <p:spPr>
          <a:xfrm>
            <a:off x="5862995" y="3644622"/>
            <a:ext cx="3412808" cy="335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Deep learning advances models.</a:t>
            </a:r>
            <a:endParaRPr lang="en-US" sz="1650" dirty="0"/>
          </a:p>
        </p:txBody>
      </p:sp>
      <p:sp>
        <p:nvSpPr>
          <p:cNvPr id="12" name="Shape 8"/>
          <p:cNvSpPr/>
          <p:nvPr/>
        </p:nvSpPr>
        <p:spPr>
          <a:xfrm>
            <a:off x="5705713" y="4206359"/>
            <a:ext cx="8138517" cy="11430"/>
          </a:xfrm>
          <a:prstGeom prst="roundRect">
            <a:avLst>
              <a:gd name="adj" fmla="val 2751616"/>
            </a:avLst>
          </a:prstGeom>
          <a:solidFill>
            <a:srgbClr val="BACFDD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1031" y="4242078"/>
            <a:ext cx="4886682" cy="122527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876913" y="4670465"/>
            <a:ext cx="294799" cy="368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700"/>
              </a:lnSpc>
              <a:buNone/>
            </a:pPr>
            <a:r>
              <a:rPr lang="en-US" sz="23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3</a:t>
            </a:r>
            <a:endParaRPr lang="en-US" sz="2300" dirty="0"/>
          </a:p>
        </p:txBody>
      </p:sp>
      <p:sp>
        <p:nvSpPr>
          <p:cNvPr id="15" name="Text 10"/>
          <p:cNvSpPr/>
          <p:nvPr/>
        </p:nvSpPr>
        <p:spPr>
          <a:xfrm>
            <a:off x="6677382" y="4451747"/>
            <a:ext cx="2758797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Ethical Considerations</a:t>
            </a:r>
            <a:endParaRPr lang="en-US" sz="2150" dirty="0"/>
          </a:p>
        </p:txBody>
      </p:sp>
      <p:sp>
        <p:nvSpPr>
          <p:cNvPr id="16" name="Text 11"/>
          <p:cNvSpPr/>
          <p:nvPr/>
        </p:nvSpPr>
        <p:spPr>
          <a:xfrm>
            <a:off x="6677382" y="4922282"/>
            <a:ext cx="3901202" cy="335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Address privacy and algorithmic bias.</a:t>
            </a:r>
            <a:endParaRPr lang="en-US" sz="1650" dirty="0"/>
          </a:p>
        </p:txBody>
      </p:sp>
      <p:sp>
        <p:nvSpPr>
          <p:cNvPr id="17" name="Shape 12"/>
          <p:cNvSpPr/>
          <p:nvPr/>
        </p:nvSpPr>
        <p:spPr>
          <a:xfrm>
            <a:off x="6520101" y="5484019"/>
            <a:ext cx="7324130" cy="11430"/>
          </a:xfrm>
          <a:prstGeom prst="roundRect">
            <a:avLst>
              <a:gd name="adj" fmla="val 2751616"/>
            </a:avLst>
          </a:prstGeom>
          <a:solidFill>
            <a:srgbClr val="BACFDD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6643" y="5519738"/>
            <a:ext cx="6515576" cy="122527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3877032" y="5948124"/>
            <a:ext cx="294799" cy="368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700"/>
              </a:lnSpc>
              <a:buNone/>
            </a:pPr>
            <a:r>
              <a:rPr lang="en-US" sz="23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4</a:t>
            </a:r>
            <a:endParaRPr lang="en-US" sz="2300" dirty="0"/>
          </a:p>
        </p:txBody>
      </p:sp>
      <p:sp>
        <p:nvSpPr>
          <p:cNvPr id="20" name="Text 14"/>
          <p:cNvSpPr/>
          <p:nvPr/>
        </p:nvSpPr>
        <p:spPr>
          <a:xfrm>
            <a:off x="7491889" y="5729407"/>
            <a:ext cx="2758797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Multimodal Analysis</a:t>
            </a:r>
            <a:endParaRPr lang="en-US" sz="2150" dirty="0"/>
          </a:p>
        </p:txBody>
      </p:sp>
      <p:sp>
        <p:nvSpPr>
          <p:cNvPr id="21" name="Text 15"/>
          <p:cNvSpPr/>
          <p:nvPr/>
        </p:nvSpPr>
        <p:spPr>
          <a:xfrm>
            <a:off x="7491889" y="6199942"/>
            <a:ext cx="3708916" cy="335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Combining text, images, and audio.</a:t>
            </a:r>
            <a:endParaRPr lang="en-US" sz="1650" dirty="0"/>
          </a:p>
        </p:txBody>
      </p:sp>
      <p:sp>
        <p:nvSpPr>
          <p:cNvPr id="22" name="Text 16"/>
          <p:cNvSpPr/>
          <p:nvPr/>
        </p:nvSpPr>
        <p:spPr>
          <a:xfrm>
            <a:off x="733782" y="6980872"/>
            <a:ext cx="13162836" cy="670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Sentiment analysis delivers valuable insights, continuously improving with deep learning. Future trends include multilingual and multimodal analysis. Ethical considerations like privacy and bias remain critical.</a:t>
            </a:r>
            <a:endParaRPr lang="en-US" sz="1650" dirty="0"/>
          </a:p>
        </p:txBody>
      </p:sp>
      <p:sp>
        <p:nvSpPr>
          <p:cNvPr id="23" name="TextBox 22"/>
          <p:cNvSpPr txBox="1"/>
          <p:nvPr/>
        </p:nvSpPr>
        <p:spPr>
          <a:xfrm>
            <a:off x="12884727" y="7651670"/>
            <a:ext cx="1641764" cy="57793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EF7DA61-6DD4-2E5D-5824-5552F67169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5796" y="2040672"/>
            <a:ext cx="8240750" cy="4493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25234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508</Words>
  <Application>Microsoft Office PowerPoint</Application>
  <PresentationFormat>Custom</PresentationFormat>
  <Paragraphs>95</Paragraphs>
  <Slides>10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Barlow Bold</vt:lpstr>
      <vt:lpstr>Inter Medium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Shefali Yadav</cp:lastModifiedBy>
  <cp:revision>5</cp:revision>
  <dcterms:created xsi:type="dcterms:W3CDTF">2025-05-27T05:32:51Z</dcterms:created>
  <dcterms:modified xsi:type="dcterms:W3CDTF">2025-05-27T08:11:13Z</dcterms:modified>
</cp:coreProperties>
</file>