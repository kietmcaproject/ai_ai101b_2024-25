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70" r:id="rId2"/>
    <p:sldMasterId id="2147483676" r:id="rId3"/>
  </p:sldMasterIdLst>
  <p:notesMasterIdLst>
    <p:notesMasterId r:id="rId17"/>
  </p:notesMasterIdLst>
  <p:sldIdLst>
    <p:sldId id="259" r:id="rId4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</p:sldIdLst>
  <p:sldSz cx="14630400" cy="8229600"/>
  <p:notesSz cx="6858000" cy="9144000"/>
  <p:embeddedFontLst>
    <p:embeddedFont>
      <p:font typeface="DM Sans" pitchFamily="2" charset="0"/>
      <p:regular r:id="rId18"/>
      <p:bold r:id="rId19"/>
    </p:embeddedFont>
    <p:embeddedFont>
      <p:font typeface="Libre Baskerville" panose="02000000000000000000" pitchFamily="2" charset="0"/>
      <p:regular r:id="rId20"/>
    </p:embeddedFont>
  </p:embeddedFontLst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 varScale="1">
        <p:scale>
          <a:sx n="58" d="100"/>
          <a:sy n="58" d="100"/>
        </p:scale>
        <p:origin x="5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56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17261D-4D92-401E-B3F5-2EF48B7740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0C0C8E4-D067-46B5-81B6-2033A81595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69CCFCE-6FD9-4EB7-920D-9A24617292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0EE1F79-777F-4376-855E-CBF295793D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4876F23-2BDB-4E77-968F-A910471B196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E568D2C-BA6D-41CC-85CB-D0EFC34F1EE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35B77D5-D719-4956-AECA-B22EC610084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DBFAC0B-839A-48A0-8F24-7B7CD58849D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A53BB99-857F-4D2B-9F56-5FCA25D5503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FAEF24F-D8FF-4531-9CD4-0564D703F92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875FB08-3F5B-441E-8F0F-201C373DA85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/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/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/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  <p:txBody>
          <a:bodyPr/>
          <a:lstStyle/>
          <a:p>
            <a:endParaRPr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2765172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Credit Card Fraud Detection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4486337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Machine Learning and Anomaly Detection</a:t>
            </a:r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6357308" y="6568344"/>
            <a:ext cx="7556421" cy="12530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by: 	Preksha Ruhela (202410116100148),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</a:rPr>
              <a:t>		Nikhil</a:t>
            </a: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(202410116100132),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		Priyakant Tyagi (202410116100151)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6280190" y="57391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5FA62A-DA4A-709E-4A51-B90CAD514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46853"/>
            <a:ext cx="991933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 to Credit Card Fraud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793790" y="5395793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028224" y="5630228"/>
            <a:ext cx="39465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Credit Card Fraud?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028224" y="6120646"/>
            <a:ext cx="593919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Unauthorized use of credit card info for financial gain.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7428667" y="5395793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63101" y="5630228"/>
            <a:ext cx="453342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Importance of Fraud Detection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7663101" y="6120646"/>
            <a:ext cx="593919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users and financial institutions from losses.</a:t>
            </a:r>
            <a:endParaRPr lang="en-US" sz="17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982F2E-EBCD-B152-C47B-2A5B7FD94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6090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793790" y="54098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530906" y="5487710"/>
            <a:ext cx="294001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Rising Online Fraud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530906" y="5978128"/>
            <a:ext cx="56426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Increased digital transactions lead to higher fraud rates.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7457003" y="54098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194119" y="548771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Detection Goal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8194119" y="5978128"/>
            <a:ext cx="56426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Accurately identify fraudulent transactions in real time.</a:t>
            </a:r>
            <a:endParaRPr lang="en-US" sz="17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287C24-072B-48CD-2E3D-39B9608EC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00620"/>
            <a:ext cx="570440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Description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149560"/>
            <a:ext cx="7556421" cy="2979420"/>
          </a:xfrm>
          <a:prstGeom prst="roundRect">
            <a:avLst>
              <a:gd name="adj" fmla="val 3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287810" y="315718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514624" y="3300889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10289024" y="3300889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Kaggle Dataset</a:t>
            </a:r>
            <a:endParaRPr lang="en-US" sz="1750"/>
          </a:p>
        </p:txBody>
      </p:sp>
      <p:sp>
        <p:nvSpPr>
          <p:cNvPr id="8" name="Shape 5"/>
          <p:cNvSpPr/>
          <p:nvPr/>
        </p:nvSpPr>
        <p:spPr>
          <a:xfrm>
            <a:off x="6287810" y="380750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514624" y="3951208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Records</a:t>
            </a:r>
            <a:endParaRPr lang="en-US" sz="1750"/>
          </a:p>
        </p:txBody>
      </p:sp>
      <p:sp>
        <p:nvSpPr>
          <p:cNvPr id="10" name="Text 7"/>
          <p:cNvSpPr/>
          <p:nvPr/>
        </p:nvSpPr>
        <p:spPr>
          <a:xfrm>
            <a:off x="10289024" y="3951208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284,807</a:t>
            </a:r>
            <a:endParaRPr lang="en-US" sz="1750"/>
          </a:p>
        </p:txBody>
      </p:sp>
      <p:sp>
        <p:nvSpPr>
          <p:cNvPr id="11" name="Shape 8"/>
          <p:cNvSpPr/>
          <p:nvPr/>
        </p:nvSpPr>
        <p:spPr>
          <a:xfrm>
            <a:off x="6287810" y="4457819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14624" y="4601528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Cases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10289024" y="4601528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492 (Highly imbalanced)</a:t>
            </a:r>
            <a:endParaRPr lang="en-US" sz="1750"/>
          </a:p>
        </p:txBody>
      </p:sp>
      <p:sp>
        <p:nvSpPr>
          <p:cNvPr id="14" name="Shape 11"/>
          <p:cNvSpPr/>
          <p:nvPr/>
        </p:nvSpPr>
        <p:spPr>
          <a:xfrm>
            <a:off x="6287810" y="5108138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514624" y="5251847"/>
            <a:ext cx="33131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1750"/>
          </a:p>
        </p:txBody>
      </p:sp>
      <p:sp>
        <p:nvSpPr>
          <p:cNvPr id="16" name="Text 13"/>
          <p:cNvSpPr/>
          <p:nvPr/>
        </p:nvSpPr>
        <p:spPr>
          <a:xfrm>
            <a:off x="10289024" y="5251847"/>
            <a:ext cx="331315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Time, Amount, V1-V28, Class Label</a:t>
            </a:r>
            <a:endParaRPr lang="en-US" sz="17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DCB351-F494-10B5-3623-9C7C1BCF8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0127"/>
            <a:ext cx="726305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Preprocessing Steps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01906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790373" y="30190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6790373" y="3509486"/>
            <a:ext cx="704623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Checked dataset; none found.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6620351" y="409920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130534" y="409920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Normalization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7130534" y="4589621"/>
            <a:ext cx="6706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Normalized 'Amount' to improve model performance.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6960632" y="517933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470815" y="51793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Split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7470815" y="5669756"/>
            <a:ext cx="636579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Divided data into 80% training and 20% testing sets.</a:t>
            </a:r>
            <a:endParaRPr lang="en-US" sz="17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C1040C-5406-584C-7D8C-27A722B7A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4247"/>
            <a:ext cx="750391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820001"/>
            <a:ext cx="357187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 Distribution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93790" y="4401145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Majority are non-fraudulent; fraud cases are rare.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5332928" y="3820001"/>
            <a:ext cx="3978116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 vs Amount Scatter Plot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5332928" y="4755475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Patterns show unusual transaction amounts at odd times.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9872067" y="382000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Observations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9872067" y="4401145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Anomalies detected in timing and transaction amounts.</a:t>
            </a:r>
            <a:endParaRPr lang="en-US" sz="17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A53654-9D55-80E2-6F99-284819FE2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7225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Building Techniques</a:t>
            </a:r>
            <a:endParaRPr lang="en-US" sz="44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62997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23767"/>
            <a:ext cx="232981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Logistic Regression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6280190" y="5268516"/>
            <a:ext cx="23298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 classifier with probabilistic outputs.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362997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4423767"/>
            <a:ext cx="23298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</a:t>
            </a:r>
            <a:endParaRPr lang="en-US" sz="2200"/>
          </a:p>
        </p:txBody>
      </p:sp>
      <p:sp>
        <p:nvSpPr>
          <p:cNvPr id="9" name="Text 4"/>
          <p:cNvSpPr/>
          <p:nvPr/>
        </p:nvSpPr>
        <p:spPr>
          <a:xfrm>
            <a:off x="8893493" y="4914186"/>
            <a:ext cx="23298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Ensemble method improving prediction accuracy.</a:t>
            </a:r>
            <a:endParaRPr lang="en-US" sz="17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362997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4423767"/>
            <a:ext cx="23298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Isolation Forest</a:t>
            </a:r>
            <a:endParaRPr lang="en-US" sz="2200"/>
          </a:p>
        </p:txBody>
      </p:sp>
      <p:sp>
        <p:nvSpPr>
          <p:cNvPr id="12" name="Text 6"/>
          <p:cNvSpPr/>
          <p:nvPr/>
        </p:nvSpPr>
        <p:spPr>
          <a:xfrm>
            <a:off x="11506795" y="4914186"/>
            <a:ext cx="23298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Anomaly detection to isolate fraud patterns.</a:t>
            </a:r>
            <a:endParaRPr lang="en-US" sz="17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24C686-E1F9-C709-3F0B-5567303D22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9642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Confusion Matrix &amp; Performance Metrics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6541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017306" y="373201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True Positives (TP)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7017306" y="4222433"/>
            <a:ext cx="289941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detected correctly.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10200203" y="36541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937319" y="373201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False Positives (FP)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0937319" y="4222433"/>
            <a:ext cx="28994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 transactions flagged as fraud.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6280190" y="5401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017306" y="547973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Precision &amp; Recall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7017306" y="5970151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accuracy and completeness of detection.</a:t>
            </a:r>
            <a:endParaRPr lang="en-US" sz="17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F424A2-F8B7-C342-7B6A-36423FA14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ROC Curve &amp; Model Comparison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ROC curve evaluates true positive rate vs. false positive rate.</a:t>
            </a:r>
            <a:endParaRPr lang="en-US" sz="175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AUC scores help compare model effectiveness in distinguishing fraud.</a:t>
            </a:r>
            <a:endParaRPr lang="en-US" sz="175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02118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Credit Card Fraud Detection: Anomaly Visualization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93790" y="4168616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plot shows transaction amount over time. Normal transactions are in blue, frauds in red.</a:t>
            </a:r>
            <a:endParaRPr lang="en-US" sz="1750"/>
          </a:p>
        </p:txBody>
      </p:sp>
      <p:sp>
        <p:nvSpPr>
          <p:cNvPr id="5" name="Text 2"/>
          <p:cNvSpPr/>
          <p:nvPr/>
        </p:nvSpPr>
        <p:spPr>
          <a:xfrm>
            <a:off x="793790" y="5149572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Forest helped us detect outliers effectively. Fraud transactions tend to have higher amounts and appear sparsely.</a:t>
            </a:r>
            <a:endParaRPr lang="en-US" sz="1750"/>
          </a:p>
        </p:txBody>
      </p:sp>
      <p:sp>
        <p:nvSpPr>
          <p:cNvPr id="6" name="Shape 3"/>
          <p:cNvSpPr/>
          <p:nvPr/>
        </p:nvSpPr>
        <p:spPr>
          <a:xfrm>
            <a:off x="793790" y="614743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600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Results and Evaluation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1637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017306" y="324159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Logistic Regression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7017306" y="3732014"/>
            <a:ext cx="28994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accuracy, but lower recall on fraud cases.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10200203" y="31637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937319" y="324159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0937319" y="3732014"/>
            <a:ext cx="28994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Balanced performance with better precision and recall.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6280190" y="4911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017306" y="498931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Isolation Forest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7017306" y="5479733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at detecting fraud with highest recall and F1-score.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6280190" y="6097786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and Isolation Forest outperformed Logistic Regression due to handling class imbalance well.</a:t>
            </a:r>
            <a:endParaRPr lang="en-US" sz="17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780075-C987-1BC9-3F8C-FC89EEE4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01353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2350294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514624" y="258472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Preprocessing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6514624" y="3075146"/>
            <a:ext cx="31959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Handled missing values, normalized features, and addressed imbalance.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10171867" y="2350294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406301" y="258472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Building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0406301" y="3075146"/>
            <a:ext cx="31959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Logistic Regression, Random Forest, and Isolation Forest models.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6280190" y="4625102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514624" y="4859536"/>
            <a:ext cx="353794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Fraud Detection Success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6514624" y="5349954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Forest identified fraud with strong accuracy.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6280190" y="6202442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work: Real-time detection and deep learning to improve accuracy further.</a:t>
            </a:r>
            <a:endParaRPr lang="en-US" sz="17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FC39F4-BFD9-7A74-B746-A8E0F1176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51746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 !!</a:t>
            </a:r>
            <a:endParaRPr lang="en-US" sz="4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7592E-C853-2F81-BA84-44B19F7C5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035" y="7743912"/>
            <a:ext cx="2391109" cy="381053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9"/>
  <p:tag name="AS_OS" val="Unix 5.4.0.212"/>
  <p:tag name="AS_RELEASE_DATE" val="2024.02.14"/>
  <p:tag name="AS_TITLE" val="Aspose.Slides for .NET6"/>
  <p:tag name="AS_VERSION" val="2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Custom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Libre Baskerville</vt:lpstr>
      <vt:lpstr>Arial</vt:lpstr>
      <vt:lpstr>DM Sans</vt:lpstr>
      <vt:lpstr>Calibri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Preksha Ruhela</cp:lastModifiedBy>
  <cp:revision>2</cp:revision>
  <cp:lastPrinted>2025-05-27T07:11:56Z</cp:lastPrinted>
  <dcterms:created xsi:type="dcterms:W3CDTF">2025-05-27T07:11:56Z</dcterms:created>
  <dcterms:modified xsi:type="dcterms:W3CDTF">2025-05-27T07:13:22Z</dcterms:modified>
</cp:coreProperties>
</file>