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gerian" panose="04020705040A02060702" pitchFamily="8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atrick Hand" panose="020F0502020204030204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0" d="100"/>
          <a:sy n="30" d="100"/>
        </p:scale>
        <p:origin x="3016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6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107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396014"/>
            <a:ext cx="7189113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3600" b="1" dirty="0"/>
              <a:t> </a:t>
            </a:r>
            <a:r>
              <a:rPr lang="en-US" sz="3200" b="1" dirty="0">
                <a:latin typeface="Algerian" panose="04020705040A02060702" pitchFamily="82" charset="0"/>
              </a:rPr>
              <a:t>Introduction to AI (AI101B) </a:t>
            </a:r>
          </a:p>
          <a:p>
            <a:r>
              <a:rPr lang="en-US" sz="3200" b="1" dirty="0">
                <a:latin typeface="Algerian" panose="04020705040A02060702" pitchFamily="82" charset="0"/>
              </a:rPr>
              <a:t>                  Session (2024-25)</a:t>
            </a:r>
            <a:endParaRPr lang="en-US" sz="3600" dirty="0">
              <a:solidFill>
                <a:srgbClr val="383838"/>
              </a:solidFill>
              <a:latin typeface="Algerian" panose="04020705040A02060702" pitchFamily="82" charset="0"/>
              <a:ea typeface="Patrick Hand" pitchFamily="34" charset="-122"/>
              <a:cs typeface="Patrick Hand" pitchFamily="34" charset="-120"/>
            </a:endParaRPr>
          </a:p>
          <a:p>
            <a:pPr marL="0" indent="0" algn="l">
              <a:lnSpc>
                <a:spcPts val="4850"/>
              </a:lnSpc>
              <a:buNone/>
            </a:pPr>
            <a:endParaRPr lang="en-US" sz="385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buNone/>
            </a:pPr>
            <a:r>
              <a:rPr lang="sv-SE" sz="2000" dirty="0"/>
              <a:t>Satyjeet Kumar 202410116100187 </a:t>
            </a:r>
          </a:p>
          <a:p>
            <a:pPr marL="0" indent="0" algn="ctr">
              <a:buNone/>
            </a:pPr>
            <a:r>
              <a:rPr lang="sv-SE" sz="2000" dirty="0"/>
              <a:t>Saurabh Kumar 202410116100188 </a:t>
            </a:r>
          </a:p>
          <a:p>
            <a:pPr marL="0" indent="0" algn="ctr">
              <a:buNone/>
            </a:pPr>
            <a:r>
              <a:rPr lang="sv-SE" sz="2000" dirty="0"/>
              <a:t>Priyam Sharma 202410116100152 </a:t>
            </a:r>
            <a:endParaRPr lang="en-US" sz="2000" dirty="0">
              <a:solidFill>
                <a:srgbClr val="383838"/>
              </a:solidFill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buNone/>
            </a:pPr>
            <a:endParaRPr lang="en-US" sz="20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buNone/>
            </a:pPr>
            <a:endParaRPr lang="en-US" sz="385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0" indent="0" algn="ctr"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Mental Health Prediction on Social Media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214473" y="641107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Leveraging Data Science for Early Detection and Awareness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405610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437" y="472880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868716" y="5401508"/>
            <a:ext cx="2039303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C9A49-D1EE-95B4-A075-38AD1A483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1" y="-142964"/>
            <a:ext cx="14709998" cy="1670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27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7606" y="3895368"/>
            <a:ext cx="8147685" cy="605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Introduction: The Growing Mental Health Crisis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847606" y="4864060"/>
            <a:ext cx="4150281" cy="2497217"/>
          </a:xfrm>
          <a:prstGeom prst="roundRect">
            <a:avLst>
              <a:gd name="adj" fmla="val 407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399" y="5113853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Global Impact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97399" y="5561767"/>
            <a:ext cx="3650694" cy="154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Mental health disorders affect one in eight people worldwide, as reported by the WHO. The prevalence is rising steadily, indicating an urgent public health issue.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0060" y="4864060"/>
            <a:ext cx="4150281" cy="2497217"/>
          </a:xfrm>
          <a:prstGeom prst="roundRect">
            <a:avLst>
              <a:gd name="adj" fmla="val 407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9853" y="5113853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Social Media as a Window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9853" y="5561767"/>
            <a:ext cx="3650694" cy="154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With 4.9 billion users in 2024, social platforms reflect individual thoughts, feelings, and behaviors, presenting valuable data for mental health insights.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2513" y="4864060"/>
            <a:ext cx="4150281" cy="2497217"/>
          </a:xfrm>
          <a:prstGeom prst="roundRect">
            <a:avLst>
              <a:gd name="adj" fmla="val 407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82307" y="5113853"/>
            <a:ext cx="2678430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Opportunities for Intervention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882307" y="5561767"/>
            <a:ext cx="3650694" cy="154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rise in anxiety and depression since 2020 underscores the need for innovative ways to detect and support individuals early through online signals.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318742"/>
            <a:ext cx="813458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Statement: Untreated Mental Illness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55294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Resource Limitations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108371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Many individuals lack access to affordable and timely mental health care, creating delays in diagnosis and treatment that worsen outcomes.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55294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Stigma and Underreporting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695" y="4108371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Only 47.2% of U.S. adults with mental illness received treatment in 2021 due to societal stigma and reluctance in seeking help.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5294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Missed Social Signals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4108371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Indicators of mental distress often appear in social media posts but remain unnoticed or unaddressed by traditional healthcare systems.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0781" y="600551"/>
            <a:ext cx="6939082" cy="546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Objectives: Proactive Mental Health Support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81" y="1474113"/>
            <a:ext cx="1092041" cy="1539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0363" y="1692473"/>
            <a:ext cx="2184083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Early Risk Detection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670363" y="2096333"/>
            <a:ext cx="6195655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Build systems that identify potential mental health risks early based on social media data patterns.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81" y="3013353"/>
            <a:ext cx="1092041" cy="1539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0363" y="3231713"/>
            <a:ext cx="239399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Awareness &amp; Stigma Reduction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670363" y="3635573"/>
            <a:ext cx="6195655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data insights to inform public campaigns that normalize treatment and encourage help-seeking behaviors.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781" y="4552593"/>
            <a:ext cx="1092041" cy="15392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0363" y="4770953"/>
            <a:ext cx="2184083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Timely Support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670363" y="5174813"/>
            <a:ext cx="6195655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Facilitate connections between individuals showing risk signs and available mental health resources promptly.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781" y="6091833"/>
            <a:ext cx="1092041" cy="15392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70363" y="6310193"/>
            <a:ext cx="2184083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Optimize Care Services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7670363" y="6714053"/>
            <a:ext cx="6195655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Enhance mental health service efficiency through predictive analytics and resource allocation.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603415"/>
            <a:ext cx="641246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Sources: Mining Social Insights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590800"/>
            <a:ext cx="566499" cy="5664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437" y="3404116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Twitter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350437" y="3860840"/>
            <a:ext cx="2266236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Analyzing public tweets and hashtags for linguistic cues, behavior trends, and emotional expressions related to anxiety and depression.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282" y="2590800"/>
            <a:ext cx="566499" cy="5664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25282" y="3404116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Reddit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925282" y="3860840"/>
            <a:ext cx="2266236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Mining mental health subreddits like r/depression for sentiment and topical discussions, offering rich textual and contextual data.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0128" y="2590800"/>
            <a:ext cx="566499" cy="5664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0128" y="3404116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Privacy &amp; Ethics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1500128" y="3860840"/>
            <a:ext cx="2266236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Ensuring ethical data collection respecting user privacy, consent, and compliance with legal frameworks such as GDPR.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24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813" y="3627120"/>
            <a:ext cx="6215539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Techniques: Machine Learning and NLP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0813" y="4530923"/>
            <a:ext cx="508397" cy="508397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25072" y="4608552"/>
            <a:ext cx="235196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Natural Language Processing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525072" y="5026462"/>
            <a:ext cx="3427095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Employing sentiment analysis, topic modeling, and emotion detection with tools like NLTK, spaCy, and BERT transformers to decode textual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4583" y="4530923"/>
            <a:ext cx="508397" cy="508397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8841" y="4608552"/>
            <a:ext cx="225956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Machine Learning Models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968841" y="5026462"/>
            <a:ext cx="3427095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Using classification algorithms such as SVM and Random Forest, as well as deep learning methods like LSTMs to predict mental health risks from patterns.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8353" y="4530923"/>
            <a:ext cx="508397" cy="508397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2611" y="4608552"/>
            <a:ext cx="236660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Sentiment Analysis Accuracy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412611" y="5026462"/>
            <a:ext cx="3427095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Benchmark methods like VADER provide 80-85% accuracy, contributing to reliable sentiment scoring in social media content.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813" y="6726555"/>
            <a:ext cx="13048774" cy="700326"/>
          </a:xfrm>
          <a:prstGeom prst="roundRect">
            <a:avLst>
              <a:gd name="adj" fmla="val 13552"/>
            </a:avLst>
          </a:prstGeom>
          <a:solidFill>
            <a:srgbClr val="E6E6E6"/>
          </a:solidFill>
          <a:ln/>
        </p:spPr>
      </p:sp>
      <p:sp>
        <p:nvSpPr>
          <p:cNvPr id="14" name="Shape 11"/>
          <p:cNvSpPr/>
          <p:nvPr/>
        </p:nvSpPr>
        <p:spPr>
          <a:xfrm>
            <a:off x="779621" y="6726555"/>
            <a:ext cx="13071158" cy="700326"/>
          </a:xfrm>
          <a:prstGeom prst="roundRect">
            <a:avLst>
              <a:gd name="adj" fmla="val 4840"/>
            </a:avLst>
          </a:prstGeom>
          <a:solidFill>
            <a:srgbClr val="E6E6E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483" y="6895981"/>
            <a:ext cx="1261943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E6E6E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sentiment_score = positive_words - negative_words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339447"/>
            <a:ext cx="304680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Workflow: From Data to Prediction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84979" y="956548"/>
            <a:ext cx="123444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Steps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84979" y="1234202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Collect raw social media text data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84979" y="1474827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Preprocess: clean, tokenize, remove noise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4979" y="1715453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Extract meaningful features (e.g., keywords, sentiments)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73196" y="956548"/>
            <a:ext cx="123444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&amp; Evaluation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73196" y="1234202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Train predictive models on labeled datasets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73196" y="1474827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Evaluate using precision, recall, and F1-score metrics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73196" y="1715453"/>
            <a:ext cx="637960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Generate predictions for mental health risk assessment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79" y="2094905"/>
            <a:ext cx="9381649" cy="6419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588" y="552093"/>
            <a:ext cx="5637609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Challenges: Privacy, Sarcasm, and Bias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702588" y="1355050"/>
            <a:ext cx="7738824" cy="1430179"/>
          </a:xfrm>
          <a:prstGeom prst="roundRect">
            <a:avLst>
              <a:gd name="adj" fmla="val 589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0947" y="1563410"/>
            <a:ext cx="2007632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Privacy Concerns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0947" y="1934647"/>
            <a:ext cx="7322106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Protecting individual data rights while performing analysis demands strict adherence to regulations like GDPR and ethical data use policies.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2588" y="2985968"/>
            <a:ext cx="7738824" cy="1430179"/>
          </a:xfrm>
          <a:prstGeom prst="roundRect">
            <a:avLst>
              <a:gd name="adj" fmla="val 589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0947" y="3194328"/>
            <a:ext cx="2007632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Sarcasm Detection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0947" y="3565565"/>
            <a:ext cx="7322106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Interpreting ironic or sarcastic posts is complex, as they often invert literal meanings, posing challenges to sentiment analysis tools.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2588" y="4616887"/>
            <a:ext cx="7738824" cy="1430179"/>
          </a:xfrm>
          <a:prstGeom prst="roundRect">
            <a:avLst>
              <a:gd name="adj" fmla="val 589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0947" y="4825246"/>
            <a:ext cx="2007632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Bias in Data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0947" y="5196483"/>
            <a:ext cx="7322106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Algorithms can inherit demographic biases from training data, which may affect fairness and inclusivity of mental health predictions.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2588" y="6247805"/>
            <a:ext cx="7738824" cy="1430179"/>
          </a:xfrm>
          <a:prstGeom prst="roundRect">
            <a:avLst>
              <a:gd name="adj" fmla="val 589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0947" y="6456164"/>
            <a:ext cx="2007632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Mitigation Strategies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0947" y="6827401"/>
            <a:ext cx="7322106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Applying differential privacy, context-aware modeling, and bias detection helps improve reliability and respect user sensitivity.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03" y="629603"/>
            <a:ext cx="6986349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Applications: Empowering Support Systems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03" y="1526143"/>
            <a:ext cx="560308" cy="5603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4503" y="2310527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Professional Tools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84503" y="2725102"/>
            <a:ext cx="2338149" cy="179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Assist psychologists and clinicians with early detection alerts generated from social media monitoring.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806" y="1526143"/>
            <a:ext cx="560308" cy="5603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2806" y="2310527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Personalized Support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3402806" y="2725102"/>
            <a:ext cx="2338268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Deliver tailored resource recommendations and coping strategies based on individual online behavior.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229" y="1526143"/>
            <a:ext cx="560308" cy="5603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1229" y="2310527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Crisis Detection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21229" y="2725102"/>
            <a:ext cx="2338268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Identify anomalies signaling potential mental health crises for timely intervention.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03" y="4966454"/>
            <a:ext cx="560308" cy="5603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84503" y="5750838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Public Health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84503" y="6165413"/>
            <a:ext cx="2338149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Enable large-scale mental health trend monitoring and targeted awareness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60" y="558760"/>
            <a:ext cx="7721679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Conclusion: A Future of Early Detection and Awareness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711160" y="1879283"/>
            <a:ext cx="152281" cy="1026081"/>
          </a:xfrm>
          <a:prstGeom prst="roundRect">
            <a:avLst>
              <a:gd name="adj" fmla="val 5604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68122" y="1879283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Early Detection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68122" y="2255044"/>
            <a:ext cx="7264718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Timely identification of mental health risks enables more effective interventions and better outcomes.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841" y="3108484"/>
            <a:ext cx="152281" cy="1026081"/>
          </a:xfrm>
          <a:prstGeom prst="roundRect">
            <a:avLst>
              <a:gd name="adj" fmla="val 5604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72803" y="3108484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Raising Awareness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72803" y="3484245"/>
            <a:ext cx="6960037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Leveraging data to reduce stigma and encourage open conversations about mental health challenges.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320641" y="4337685"/>
            <a:ext cx="152281" cy="1026081"/>
          </a:xfrm>
          <a:prstGeom prst="roundRect">
            <a:avLst>
              <a:gd name="adj" fmla="val 5604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77603" y="4337685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Ethics &amp; Collaboration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777603" y="4713446"/>
            <a:ext cx="6655237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Prioritizing ethical frameworks and partnerships between technologists, clinicians, and policymakers is critical.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625441" y="5566886"/>
            <a:ext cx="152281" cy="1026081"/>
          </a:xfrm>
          <a:prstGeom prst="roundRect">
            <a:avLst>
              <a:gd name="adj" fmla="val 5604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82403" y="5566886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Directions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82403" y="5942648"/>
            <a:ext cx="6350437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Longitudinal research, personalized treatment models, and improved analytical accuracy will expand impact.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11160" y="7024568"/>
            <a:ext cx="772167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Let’s work together to build a supportive society that harnesses technology responsibly to improve mental health for all.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779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Consolas</vt:lpstr>
      <vt:lpstr>Patrick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Antra Prakash</cp:lastModifiedBy>
  <cp:revision>3</cp:revision>
  <dcterms:created xsi:type="dcterms:W3CDTF">2025-05-27T01:53:10Z</dcterms:created>
  <dcterms:modified xsi:type="dcterms:W3CDTF">2025-05-27T07:23:46Z</dcterms:modified>
</cp:coreProperties>
</file>