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aira Bold" charset="1" panose="00000800000000000000"/>
      <p:regular r:id="rId16"/>
    </p:embeddedFont>
    <p:embeddedFont>
      <p:font typeface="Calibri (MS) Bold" charset="1" panose="020F0702030404030204"/>
      <p:regular r:id="rId17"/>
    </p:embeddedFont>
    <p:embeddedFont>
      <p:font typeface="Times New Roman Bold" charset="1" panose="02030802070405020303"/>
      <p:regular r:id="rId18"/>
    </p:embeddedFont>
    <p:embeddedFont>
      <p:font typeface="Calibri (MS)" charset="1" panose="020F0502020204030204"/>
      <p:regular r:id="rId19"/>
    </p:embeddedFont>
    <p:embeddedFont>
      <p:font typeface="Times New Roman" charset="1" panose="02030502070405020303"/>
      <p:regular r:id="rId20"/>
    </p:embeddedFont>
    <p:embeddedFont>
      <p:font typeface="Saira Medium" charset="1" panose="00000600000000000000"/>
      <p:regular r:id="rId24"/>
    </p:embeddedFont>
    <p:embeddedFont>
      <p:font typeface="Roboto" charset="1" panose="02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https://gamma.app/?utm_source=made-with-gamma" TargetMode="External" Type="http://schemas.openxmlformats.org/officeDocument/2006/relationships/hyperlink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https://gamma.app/?utm_source=made-with-gamma" TargetMode="External" Type="http://schemas.openxmlformats.org/officeDocument/2006/relationships/hyperlink"/><Relationship Id="rId6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2663031"/>
            <a:ext cx="15719425" cy="4385469"/>
            <a:chOff x="0" y="0"/>
            <a:chExt cx="20959233" cy="5847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59234" cy="5847292"/>
            </a:xfrm>
            <a:custGeom>
              <a:avLst/>
              <a:gdLst/>
              <a:ahLst/>
              <a:cxnLst/>
              <a:rect r="r" b="b" t="t" l="l"/>
              <a:pathLst>
                <a:path h="5847292" w="20959234">
                  <a:moveTo>
                    <a:pt x="0" y="0"/>
                  </a:moveTo>
                  <a:lnTo>
                    <a:pt x="20959234" y="0"/>
                  </a:lnTo>
                  <a:lnTo>
                    <a:pt x="20959234" y="5847292"/>
                  </a:lnTo>
                  <a:lnTo>
                    <a:pt x="0" y="58472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0959233" cy="5837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00000"/>
                  </a:solidFill>
                  <a:latin typeface="Saira Bold"/>
                  <a:ea typeface="Saira Bold"/>
                  <a:cs typeface="Saira Bold"/>
                  <a:sym typeface="Saira Bold"/>
                </a:rPr>
                <a:t>AI-Driven Prediction of Mental Health Conditions Through Social Media Analysis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(INTRODUCTION TO AI (AI-201B))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Even Semester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Session 2024-25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42594" y="7653338"/>
            <a:ext cx="8001000" cy="1925637"/>
            <a:chOff x="0" y="0"/>
            <a:chExt cx="10668000" cy="25675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68000" cy="2567517"/>
            </a:xfrm>
            <a:custGeom>
              <a:avLst/>
              <a:gdLst/>
              <a:ahLst/>
              <a:cxnLst/>
              <a:rect r="r" b="b" t="t" l="l"/>
              <a:pathLst>
                <a:path h="2567517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2567517"/>
                  </a:lnTo>
                  <a:lnTo>
                    <a:pt x="0" y="25675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668000" cy="263419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Tushar Kumar-202410116100227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Vanshika Srivastava-202410116100236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Vanshika Tyagi-202410116100237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Vikas Singh -202410116100244</a:t>
              </a:r>
            </a:p>
            <a:p>
              <a:pPr algn="ctr">
                <a:lnSpc>
                  <a:spcPts val="36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0"/>
            <a:ext cx="18288794" cy="1851819"/>
          </a:xfrm>
          <a:custGeom>
            <a:avLst/>
            <a:gdLst/>
            <a:ahLst/>
            <a:cxnLst/>
            <a:rect r="r" b="b" t="t" l="l"/>
            <a:pathLst>
              <a:path h="1851819" w="18288794">
                <a:moveTo>
                  <a:pt x="0" y="0"/>
                </a:moveTo>
                <a:lnTo>
                  <a:pt x="18288794" y="0"/>
                </a:lnTo>
                <a:lnTo>
                  <a:pt x="18288794" y="1851819"/>
                </a:lnTo>
                <a:lnTo>
                  <a:pt x="0" y="1851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510419" y="8473281"/>
            <a:ext cx="9144000" cy="1268412"/>
            <a:chOff x="0" y="0"/>
            <a:chExt cx="12192000" cy="16912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000" cy="1691217"/>
            </a:xfrm>
            <a:custGeom>
              <a:avLst/>
              <a:gdLst/>
              <a:ahLst/>
              <a:cxnLst/>
              <a:rect r="r" b="b" t="t" l="l"/>
              <a:pathLst>
                <a:path h="1691217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691217"/>
                  </a:lnTo>
                  <a:lnTo>
                    <a:pt x="0" y="16912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192000" cy="17293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2699"/>
                </a:lnSpc>
              </a:pPr>
              <a:r>
                <a:rPr lang="en-US" b="true" sz="2249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Supervisor:</a:t>
              </a:r>
            </a:p>
            <a:p>
              <a:pPr algn="just">
                <a:lnSpc>
                  <a:spcPts val="3600"/>
                </a:lnSpc>
              </a:pPr>
              <a:r>
                <a:rPr lang="en-US" sz="3000">
                  <a:solidFill>
                    <a:srgbClr val="FF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Mrs. Komal Salgotra </a:t>
              </a:r>
            </a:p>
            <a:p>
              <a:pPr algn="just">
                <a:lnSpc>
                  <a:spcPts val="2699"/>
                </a:lnSpc>
              </a:pPr>
              <a:r>
                <a:rPr lang="en-US" sz="2249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Assistant professor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850237" y="2932062"/>
            <a:ext cx="9445526" cy="3543895"/>
            <a:chOff x="0" y="0"/>
            <a:chExt cx="12594035" cy="47251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94035" cy="4725193"/>
            </a:xfrm>
            <a:custGeom>
              <a:avLst/>
              <a:gdLst/>
              <a:ahLst/>
              <a:cxnLst/>
              <a:rect r="r" b="b" t="t" l="l"/>
              <a:pathLst>
                <a:path h="4725193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4725193"/>
                  </a:lnTo>
                  <a:lnTo>
                    <a:pt x="0" y="4725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2594035" cy="474424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AI-Driven Prediction of Mental Health Conditions Through Social Media Analysis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50237" y="6901160"/>
            <a:ext cx="9445526" cy="453629"/>
            <a:chOff x="0" y="0"/>
            <a:chExt cx="12594035" cy="604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94035" cy="604838"/>
            </a:xfrm>
            <a:custGeom>
              <a:avLst/>
              <a:gdLst/>
              <a:ahLst/>
              <a:cxnLst/>
              <a:rect r="r" b="b" t="t" l="l"/>
              <a:pathLst>
                <a:path h="604838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2594035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Mental health challenges rise globally; AI offers new detection pathways.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755582" y="1096715"/>
            <a:ext cx="8577411" cy="801440"/>
            <a:chOff x="0" y="0"/>
            <a:chExt cx="11436548" cy="10685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6548" cy="1068587"/>
            </a:xfrm>
            <a:custGeom>
              <a:avLst/>
              <a:gdLst/>
              <a:ahLst/>
              <a:cxnLst/>
              <a:rect r="r" b="b" t="t" l="l"/>
              <a:pathLst>
                <a:path h="1068587" w="11436548">
                  <a:moveTo>
                    <a:pt x="0" y="0"/>
                  </a:moveTo>
                  <a:lnTo>
                    <a:pt x="11436548" y="0"/>
                  </a:lnTo>
                  <a:lnTo>
                    <a:pt x="11436548" y="1068587"/>
                  </a:lnTo>
                  <a:lnTo>
                    <a:pt x="0" y="10685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436548" cy="109716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249"/>
                </a:lnSpc>
              </a:pPr>
              <a:r>
                <a:rPr lang="en-US" sz="4999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Background and Significance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741295" y="2268439"/>
            <a:ext cx="9663410" cy="1563141"/>
            <a:chOff x="0" y="0"/>
            <a:chExt cx="12884547" cy="20841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9050" y="19050"/>
              <a:ext cx="12846431" cy="2046097"/>
            </a:xfrm>
            <a:custGeom>
              <a:avLst/>
              <a:gdLst/>
              <a:ahLst/>
              <a:cxnLst/>
              <a:rect r="r" b="b" t="t" l="l"/>
              <a:pathLst>
                <a:path h="2046097" w="12846431">
                  <a:moveTo>
                    <a:pt x="0" y="307721"/>
                  </a:moveTo>
                  <a:cubicBezTo>
                    <a:pt x="0" y="137795"/>
                    <a:pt x="139954" y="0"/>
                    <a:pt x="312547" y="0"/>
                  </a:cubicBezTo>
                  <a:lnTo>
                    <a:pt x="12533884" y="0"/>
                  </a:lnTo>
                  <a:cubicBezTo>
                    <a:pt x="12706477" y="0"/>
                    <a:pt x="12846431" y="137795"/>
                    <a:pt x="12846431" y="307721"/>
                  </a:cubicBezTo>
                  <a:lnTo>
                    <a:pt x="12846431" y="1738376"/>
                  </a:lnTo>
                  <a:cubicBezTo>
                    <a:pt x="12846431" y="1908302"/>
                    <a:pt x="12706477" y="2046097"/>
                    <a:pt x="12533884" y="2046097"/>
                  </a:cubicBezTo>
                  <a:lnTo>
                    <a:pt x="312547" y="2046097"/>
                  </a:lnTo>
                  <a:cubicBezTo>
                    <a:pt x="139954" y="2046097"/>
                    <a:pt x="0" y="1908302"/>
                    <a:pt x="0" y="1738376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84531" cy="2084197"/>
            </a:xfrm>
            <a:custGeom>
              <a:avLst/>
              <a:gdLst/>
              <a:ahLst/>
              <a:cxnLst/>
              <a:rect r="r" b="b" t="t" l="l"/>
              <a:pathLst>
                <a:path h="2084197" w="12884531">
                  <a:moveTo>
                    <a:pt x="0" y="326771"/>
                  </a:moveTo>
                  <a:cubicBezTo>
                    <a:pt x="0" y="146050"/>
                    <a:pt x="148717" y="0"/>
                    <a:pt x="331597" y="0"/>
                  </a:cubicBezTo>
                  <a:lnTo>
                    <a:pt x="12552934" y="0"/>
                  </a:lnTo>
                  <a:lnTo>
                    <a:pt x="12552934" y="19050"/>
                  </a:lnTo>
                  <a:lnTo>
                    <a:pt x="12552934" y="0"/>
                  </a:lnTo>
                  <a:cubicBezTo>
                    <a:pt x="12735814" y="0"/>
                    <a:pt x="12884531" y="146050"/>
                    <a:pt x="12884531" y="326771"/>
                  </a:cubicBezTo>
                  <a:lnTo>
                    <a:pt x="12865481" y="326771"/>
                  </a:lnTo>
                  <a:lnTo>
                    <a:pt x="12884531" y="326771"/>
                  </a:lnTo>
                  <a:lnTo>
                    <a:pt x="12884531" y="1757426"/>
                  </a:lnTo>
                  <a:lnTo>
                    <a:pt x="12865481" y="1757426"/>
                  </a:lnTo>
                  <a:lnTo>
                    <a:pt x="12884531" y="1757426"/>
                  </a:lnTo>
                  <a:cubicBezTo>
                    <a:pt x="12884531" y="1938147"/>
                    <a:pt x="12735814" y="2084197"/>
                    <a:pt x="12552934" y="2084197"/>
                  </a:cubicBezTo>
                  <a:lnTo>
                    <a:pt x="12552934" y="2065147"/>
                  </a:lnTo>
                  <a:lnTo>
                    <a:pt x="12552934" y="2084197"/>
                  </a:lnTo>
                  <a:lnTo>
                    <a:pt x="331597" y="2084197"/>
                  </a:lnTo>
                  <a:lnTo>
                    <a:pt x="331597" y="2065147"/>
                  </a:lnTo>
                  <a:lnTo>
                    <a:pt x="331597" y="2084197"/>
                  </a:lnTo>
                  <a:cubicBezTo>
                    <a:pt x="148717" y="2084197"/>
                    <a:pt x="0" y="1938147"/>
                    <a:pt x="0" y="1757426"/>
                  </a:cubicBezTo>
                  <a:lnTo>
                    <a:pt x="0" y="326771"/>
                  </a:lnTo>
                  <a:lnTo>
                    <a:pt x="19050" y="326771"/>
                  </a:lnTo>
                  <a:lnTo>
                    <a:pt x="0" y="326771"/>
                  </a:lnTo>
                  <a:moveTo>
                    <a:pt x="38100" y="326771"/>
                  </a:moveTo>
                  <a:lnTo>
                    <a:pt x="38100" y="1757426"/>
                  </a:lnTo>
                  <a:lnTo>
                    <a:pt x="19050" y="1757426"/>
                  </a:lnTo>
                  <a:lnTo>
                    <a:pt x="38100" y="1757426"/>
                  </a:lnTo>
                  <a:cubicBezTo>
                    <a:pt x="38100" y="1916557"/>
                    <a:pt x="169291" y="2046097"/>
                    <a:pt x="331597" y="2046097"/>
                  </a:cubicBezTo>
                  <a:lnTo>
                    <a:pt x="12552934" y="2046097"/>
                  </a:lnTo>
                  <a:cubicBezTo>
                    <a:pt x="12715367" y="2046097"/>
                    <a:pt x="12846431" y="1916557"/>
                    <a:pt x="12846431" y="1757426"/>
                  </a:cubicBezTo>
                  <a:lnTo>
                    <a:pt x="12846431" y="326771"/>
                  </a:lnTo>
                  <a:cubicBezTo>
                    <a:pt x="12846431" y="167640"/>
                    <a:pt x="12715367" y="38100"/>
                    <a:pt x="12552934" y="38100"/>
                  </a:cubicBezTo>
                  <a:lnTo>
                    <a:pt x="331597" y="38100"/>
                  </a:lnTo>
                  <a:lnTo>
                    <a:pt x="331597" y="19050"/>
                  </a:lnTo>
                  <a:lnTo>
                    <a:pt x="331597" y="38100"/>
                  </a:lnTo>
                  <a:cubicBezTo>
                    <a:pt x="169291" y="38100"/>
                    <a:pt x="38100" y="167640"/>
                    <a:pt x="38100" y="326771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40589" y="2567731"/>
            <a:ext cx="3205758" cy="400645"/>
            <a:chOff x="0" y="0"/>
            <a:chExt cx="4274343" cy="5341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74343" cy="534193"/>
            </a:xfrm>
            <a:custGeom>
              <a:avLst/>
              <a:gdLst/>
              <a:ahLst/>
              <a:cxnLst/>
              <a:rect r="r" b="b" t="t" l="l"/>
              <a:pathLst>
                <a:path h="534193" w="4274343">
                  <a:moveTo>
                    <a:pt x="0" y="0"/>
                  </a:moveTo>
                  <a:lnTo>
                    <a:pt x="4274343" y="0"/>
                  </a:lnTo>
                  <a:lnTo>
                    <a:pt x="4274343" y="534193"/>
                  </a:lnTo>
                  <a:lnTo>
                    <a:pt x="0" y="534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274343" cy="55324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499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Global Concern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040589" y="3122116"/>
            <a:ext cx="9064824" cy="410170"/>
            <a:chOff x="0" y="0"/>
            <a:chExt cx="12086432" cy="5468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086432" cy="546893"/>
            </a:xfrm>
            <a:custGeom>
              <a:avLst/>
              <a:gdLst/>
              <a:ahLst/>
              <a:cxnLst/>
              <a:rect r="r" b="b" t="t" l="l"/>
              <a:pathLst>
                <a:path h="546893" w="12086432">
                  <a:moveTo>
                    <a:pt x="0" y="0"/>
                  </a:moveTo>
                  <a:lnTo>
                    <a:pt x="12086432" y="0"/>
                  </a:lnTo>
                  <a:lnTo>
                    <a:pt x="12086432" y="546893"/>
                  </a:lnTo>
                  <a:lnTo>
                    <a:pt x="0" y="546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2086432" cy="63261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87"/>
                </a:lnSpc>
              </a:pPr>
              <a:r>
                <a:rPr lang="en-US" sz="2000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Mental health leading illness per WHO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41295" y="4059436"/>
            <a:ext cx="9663410" cy="1563141"/>
            <a:chOff x="0" y="0"/>
            <a:chExt cx="12884547" cy="20841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9050" y="19050"/>
              <a:ext cx="12846431" cy="2046097"/>
            </a:xfrm>
            <a:custGeom>
              <a:avLst/>
              <a:gdLst/>
              <a:ahLst/>
              <a:cxnLst/>
              <a:rect r="r" b="b" t="t" l="l"/>
              <a:pathLst>
                <a:path h="2046097" w="12846431">
                  <a:moveTo>
                    <a:pt x="0" y="307721"/>
                  </a:moveTo>
                  <a:cubicBezTo>
                    <a:pt x="0" y="137795"/>
                    <a:pt x="139954" y="0"/>
                    <a:pt x="312547" y="0"/>
                  </a:cubicBezTo>
                  <a:lnTo>
                    <a:pt x="12533884" y="0"/>
                  </a:lnTo>
                  <a:cubicBezTo>
                    <a:pt x="12706477" y="0"/>
                    <a:pt x="12846431" y="137795"/>
                    <a:pt x="12846431" y="307721"/>
                  </a:cubicBezTo>
                  <a:lnTo>
                    <a:pt x="12846431" y="1738376"/>
                  </a:lnTo>
                  <a:cubicBezTo>
                    <a:pt x="12846431" y="1908302"/>
                    <a:pt x="12706477" y="2046097"/>
                    <a:pt x="12533884" y="2046097"/>
                  </a:cubicBezTo>
                  <a:lnTo>
                    <a:pt x="312547" y="2046097"/>
                  </a:lnTo>
                  <a:cubicBezTo>
                    <a:pt x="139954" y="2046097"/>
                    <a:pt x="0" y="1908302"/>
                    <a:pt x="0" y="1738376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84531" cy="2084197"/>
            </a:xfrm>
            <a:custGeom>
              <a:avLst/>
              <a:gdLst/>
              <a:ahLst/>
              <a:cxnLst/>
              <a:rect r="r" b="b" t="t" l="l"/>
              <a:pathLst>
                <a:path h="2084197" w="12884531">
                  <a:moveTo>
                    <a:pt x="0" y="326771"/>
                  </a:moveTo>
                  <a:cubicBezTo>
                    <a:pt x="0" y="146050"/>
                    <a:pt x="148717" y="0"/>
                    <a:pt x="331597" y="0"/>
                  </a:cubicBezTo>
                  <a:lnTo>
                    <a:pt x="12552934" y="0"/>
                  </a:lnTo>
                  <a:lnTo>
                    <a:pt x="12552934" y="19050"/>
                  </a:lnTo>
                  <a:lnTo>
                    <a:pt x="12552934" y="0"/>
                  </a:lnTo>
                  <a:cubicBezTo>
                    <a:pt x="12735814" y="0"/>
                    <a:pt x="12884531" y="146050"/>
                    <a:pt x="12884531" y="326771"/>
                  </a:cubicBezTo>
                  <a:lnTo>
                    <a:pt x="12865481" y="326771"/>
                  </a:lnTo>
                  <a:lnTo>
                    <a:pt x="12884531" y="326771"/>
                  </a:lnTo>
                  <a:lnTo>
                    <a:pt x="12884531" y="1757426"/>
                  </a:lnTo>
                  <a:lnTo>
                    <a:pt x="12865481" y="1757426"/>
                  </a:lnTo>
                  <a:lnTo>
                    <a:pt x="12884531" y="1757426"/>
                  </a:lnTo>
                  <a:cubicBezTo>
                    <a:pt x="12884531" y="1938147"/>
                    <a:pt x="12735814" y="2084197"/>
                    <a:pt x="12552934" y="2084197"/>
                  </a:cubicBezTo>
                  <a:lnTo>
                    <a:pt x="12552934" y="2065147"/>
                  </a:lnTo>
                  <a:lnTo>
                    <a:pt x="12552934" y="2084197"/>
                  </a:lnTo>
                  <a:lnTo>
                    <a:pt x="331597" y="2084197"/>
                  </a:lnTo>
                  <a:lnTo>
                    <a:pt x="331597" y="2065147"/>
                  </a:lnTo>
                  <a:lnTo>
                    <a:pt x="331597" y="2084197"/>
                  </a:lnTo>
                  <a:cubicBezTo>
                    <a:pt x="148717" y="2084197"/>
                    <a:pt x="0" y="1938147"/>
                    <a:pt x="0" y="1757426"/>
                  </a:cubicBezTo>
                  <a:lnTo>
                    <a:pt x="0" y="326771"/>
                  </a:lnTo>
                  <a:lnTo>
                    <a:pt x="19050" y="326771"/>
                  </a:lnTo>
                  <a:lnTo>
                    <a:pt x="0" y="326771"/>
                  </a:lnTo>
                  <a:moveTo>
                    <a:pt x="38100" y="326771"/>
                  </a:moveTo>
                  <a:lnTo>
                    <a:pt x="38100" y="1757426"/>
                  </a:lnTo>
                  <a:lnTo>
                    <a:pt x="19050" y="1757426"/>
                  </a:lnTo>
                  <a:lnTo>
                    <a:pt x="38100" y="1757426"/>
                  </a:lnTo>
                  <a:cubicBezTo>
                    <a:pt x="38100" y="1916557"/>
                    <a:pt x="169291" y="2046097"/>
                    <a:pt x="331597" y="2046097"/>
                  </a:cubicBezTo>
                  <a:lnTo>
                    <a:pt x="12552934" y="2046097"/>
                  </a:lnTo>
                  <a:cubicBezTo>
                    <a:pt x="12715367" y="2046097"/>
                    <a:pt x="12846431" y="1916557"/>
                    <a:pt x="12846431" y="1757426"/>
                  </a:cubicBezTo>
                  <a:lnTo>
                    <a:pt x="12846431" y="326771"/>
                  </a:lnTo>
                  <a:cubicBezTo>
                    <a:pt x="12846431" y="167640"/>
                    <a:pt x="12715367" y="38100"/>
                    <a:pt x="12552934" y="38100"/>
                  </a:cubicBezTo>
                  <a:lnTo>
                    <a:pt x="331597" y="38100"/>
                  </a:lnTo>
                  <a:lnTo>
                    <a:pt x="331597" y="19050"/>
                  </a:lnTo>
                  <a:lnTo>
                    <a:pt x="331597" y="38100"/>
                  </a:lnTo>
                  <a:cubicBezTo>
                    <a:pt x="169291" y="38100"/>
                    <a:pt x="38100" y="167640"/>
                    <a:pt x="38100" y="326771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040589" y="4358729"/>
            <a:ext cx="3205758" cy="400645"/>
            <a:chOff x="0" y="0"/>
            <a:chExt cx="4274343" cy="5341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74343" cy="534193"/>
            </a:xfrm>
            <a:custGeom>
              <a:avLst/>
              <a:gdLst/>
              <a:ahLst/>
              <a:cxnLst/>
              <a:rect r="r" b="b" t="t" l="l"/>
              <a:pathLst>
                <a:path h="534193" w="4274343">
                  <a:moveTo>
                    <a:pt x="0" y="0"/>
                  </a:moveTo>
                  <a:lnTo>
                    <a:pt x="4274343" y="0"/>
                  </a:lnTo>
                  <a:lnTo>
                    <a:pt x="4274343" y="534193"/>
                  </a:lnTo>
                  <a:lnTo>
                    <a:pt x="0" y="534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274343" cy="55324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499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Barriers to Care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040589" y="4913114"/>
            <a:ext cx="9064824" cy="410170"/>
            <a:chOff x="0" y="0"/>
            <a:chExt cx="12086432" cy="5468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086432" cy="546893"/>
            </a:xfrm>
            <a:custGeom>
              <a:avLst/>
              <a:gdLst/>
              <a:ahLst/>
              <a:cxnLst/>
              <a:rect r="r" b="b" t="t" l="l"/>
              <a:pathLst>
                <a:path h="546893" w="12086432">
                  <a:moveTo>
                    <a:pt x="0" y="0"/>
                  </a:moveTo>
                  <a:lnTo>
                    <a:pt x="12086432" y="0"/>
                  </a:lnTo>
                  <a:lnTo>
                    <a:pt x="12086432" y="546893"/>
                  </a:lnTo>
                  <a:lnTo>
                    <a:pt x="0" y="546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12086432" cy="63261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87"/>
                </a:lnSpc>
              </a:pPr>
              <a:r>
                <a:rPr lang="en-US" sz="2000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Stigma, lack of awareness, poor access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741295" y="5850434"/>
            <a:ext cx="9663410" cy="1563141"/>
            <a:chOff x="0" y="0"/>
            <a:chExt cx="12884547" cy="20841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9050" y="19050"/>
              <a:ext cx="12846431" cy="2046097"/>
            </a:xfrm>
            <a:custGeom>
              <a:avLst/>
              <a:gdLst/>
              <a:ahLst/>
              <a:cxnLst/>
              <a:rect r="r" b="b" t="t" l="l"/>
              <a:pathLst>
                <a:path h="2046097" w="12846431">
                  <a:moveTo>
                    <a:pt x="0" y="307721"/>
                  </a:moveTo>
                  <a:cubicBezTo>
                    <a:pt x="0" y="137795"/>
                    <a:pt x="139954" y="0"/>
                    <a:pt x="312547" y="0"/>
                  </a:cubicBezTo>
                  <a:lnTo>
                    <a:pt x="12533884" y="0"/>
                  </a:lnTo>
                  <a:cubicBezTo>
                    <a:pt x="12706477" y="0"/>
                    <a:pt x="12846431" y="137795"/>
                    <a:pt x="12846431" y="307721"/>
                  </a:cubicBezTo>
                  <a:lnTo>
                    <a:pt x="12846431" y="1738376"/>
                  </a:lnTo>
                  <a:cubicBezTo>
                    <a:pt x="12846431" y="1908302"/>
                    <a:pt x="12706477" y="2046097"/>
                    <a:pt x="12533884" y="2046097"/>
                  </a:cubicBezTo>
                  <a:lnTo>
                    <a:pt x="312547" y="2046097"/>
                  </a:lnTo>
                  <a:cubicBezTo>
                    <a:pt x="139954" y="2046097"/>
                    <a:pt x="0" y="1908302"/>
                    <a:pt x="0" y="1738376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84531" cy="2084197"/>
            </a:xfrm>
            <a:custGeom>
              <a:avLst/>
              <a:gdLst/>
              <a:ahLst/>
              <a:cxnLst/>
              <a:rect r="r" b="b" t="t" l="l"/>
              <a:pathLst>
                <a:path h="2084197" w="12884531">
                  <a:moveTo>
                    <a:pt x="0" y="326771"/>
                  </a:moveTo>
                  <a:cubicBezTo>
                    <a:pt x="0" y="146050"/>
                    <a:pt x="148717" y="0"/>
                    <a:pt x="331597" y="0"/>
                  </a:cubicBezTo>
                  <a:lnTo>
                    <a:pt x="12552934" y="0"/>
                  </a:lnTo>
                  <a:lnTo>
                    <a:pt x="12552934" y="19050"/>
                  </a:lnTo>
                  <a:lnTo>
                    <a:pt x="12552934" y="0"/>
                  </a:lnTo>
                  <a:cubicBezTo>
                    <a:pt x="12735814" y="0"/>
                    <a:pt x="12884531" y="146050"/>
                    <a:pt x="12884531" y="326771"/>
                  </a:cubicBezTo>
                  <a:lnTo>
                    <a:pt x="12865481" y="326771"/>
                  </a:lnTo>
                  <a:lnTo>
                    <a:pt x="12884531" y="326771"/>
                  </a:lnTo>
                  <a:lnTo>
                    <a:pt x="12884531" y="1757426"/>
                  </a:lnTo>
                  <a:lnTo>
                    <a:pt x="12865481" y="1757426"/>
                  </a:lnTo>
                  <a:lnTo>
                    <a:pt x="12884531" y="1757426"/>
                  </a:lnTo>
                  <a:cubicBezTo>
                    <a:pt x="12884531" y="1938147"/>
                    <a:pt x="12735814" y="2084197"/>
                    <a:pt x="12552934" y="2084197"/>
                  </a:cubicBezTo>
                  <a:lnTo>
                    <a:pt x="12552934" y="2065147"/>
                  </a:lnTo>
                  <a:lnTo>
                    <a:pt x="12552934" y="2084197"/>
                  </a:lnTo>
                  <a:lnTo>
                    <a:pt x="331597" y="2084197"/>
                  </a:lnTo>
                  <a:lnTo>
                    <a:pt x="331597" y="2065147"/>
                  </a:lnTo>
                  <a:lnTo>
                    <a:pt x="331597" y="2084197"/>
                  </a:lnTo>
                  <a:cubicBezTo>
                    <a:pt x="148717" y="2084197"/>
                    <a:pt x="0" y="1938147"/>
                    <a:pt x="0" y="1757426"/>
                  </a:cubicBezTo>
                  <a:lnTo>
                    <a:pt x="0" y="326771"/>
                  </a:lnTo>
                  <a:lnTo>
                    <a:pt x="19050" y="326771"/>
                  </a:lnTo>
                  <a:lnTo>
                    <a:pt x="0" y="326771"/>
                  </a:lnTo>
                  <a:moveTo>
                    <a:pt x="38100" y="326771"/>
                  </a:moveTo>
                  <a:lnTo>
                    <a:pt x="38100" y="1757426"/>
                  </a:lnTo>
                  <a:lnTo>
                    <a:pt x="19050" y="1757426"/>
                  </a:lnTo>
                  <a:lnTo>
                    <a:pt x="38100" y="1757426"/>
                  </a:lnTo>
                  <a:cubicBezTo>
                    <a:pt x="38100" y="1916557"/>
                    <a:pt x="169291" y="2046097"/>
                    <a:pt x="331597" y="2046097"/>
                  </a:cubicBezTo>
                  <a:lnTo>
                    <a:pt x="12552934" y="2046097"/>
                  </a:lnTo>
                  <a:cubicBezTo>
                    <a:pt x="12715367" y="2046097"/>
                    <a:pt x="12846431" y="1916557"/>
                    <a:pt x="12846431" y="1757426"/>
                  </a:cubicBezTo>
                  <a:lnTo>
                    <a:pt x="12846431" y="326771"/>
                  </a:lnTo>
                  <a:cubicBezTo>
                    <a:pt x="12846431" y="167640"/>
                    <a:pt x="12715367" y="38100"/>
                    <a:pt x="12552934" y="38100"/>
                  </a:cubicBezTo>
                  <a:lnTo>
                    <a:pt x="331597" y="38100"/>
                  </a:lnTo>
                  <a:lnTo>
                    <a:pt x="331597" y="19050"/>
                  </a:lnTo>
                  <a:lnTo>
                    <a:pt x="331597" y="38100"/>
                  </a:lnTo>
                  <a:cubicBezTo>
                    <a:pt x="169291" y="38100"/>
                    <a:pt x="38100" y="167640"/>
                    <a:pt x="38100" y="326771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0589" y="6149727"/>
            <a:ext cx="3205758" cy="400645"/>
            <a:chOff x="0" y="0"/>
            <a:chExt cx="4274343" cy="5341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74343" cy="534193"/>
            </a:xfrm>
            <a:custGeom>
              <a:avLst/>
              <a:gdLst/>
              <a:ahLst/>
              <a:cxnLst/>
              <a:rect r="r" b="b" t="t" l="l"/>
              <a:pathLst>
                <a:path h="534193" w="4274343">
                  <a:moveTo>
                    <a:pt x="0" y="0"/>
                  </a:moveTo>
                  <a:lnTo>
                    <a:pt x="4274343" y="0"/>
                  </a:lnTo>
                  <a:lnTo>
                    <a:pt x="4274343" y="534193"/>
                  </a:lnTo>
                  <a:lnTo>
                    <a:pt x="0" y="534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274343" cy="55324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499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Social Media Value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040589" y="6704111"/>
            <a:ext cx="9064824" cy="410170"/>
            <a:chOff x="0" y="0"/>
            <a:chExt cx="12086432" cy="5468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086432" cy="546893"/>
            </a:xfrm>
            <a:custGeom>
              <a:avLst/>
              <a:gdLst/>
              <a:ahLst/>
              <a:cxnLst/>
              <a:rect r="r" b="b" t="t" l="l"/>
              <a:pathLst>
                <a:path h="546893" w="12086432">
                  <a:moveTo>
                    <a:pt x="0" y="0"/>
                  </a:moveTo>
                  <a:lnTo>
                    <a:pt x="12086432" y="0"/>
                  </a:lnTo>
                  <a:lnTo>
                    <a:pt x="12086432" y="546893"/>
                  </a:lnTo>
                  <a:lnTo>
                    <a:pt x="0" y="546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12086432" cy="63261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87"/>
                </a:lnSpc>
              </a:pPr>
              <a:r>
                <a:rPr lang="en-US" sz="2000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Rich emotional and linguistic cues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741295" y="7641431"/>
            <a:ext cx="9663410" cy="1563141"/>
            <a:chOff x="0" y="0"/>
            <a:chExt cx="12884547" cy="20841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9050" y="19050"/>
              <a:ext cx="12846431" cy="2046097"/>
            </a:xfrm>
            <a:custGeom>
              <a:avLst/>
              <a:gdLst/>
              <a:ahLst/>
              <a:cxnLst/>
              <a:rect r="r" b="b" t="t" l="l"/>
              <a:pathLst>
                <a:path h="2046097" w="12846431">
                  <a:moveTo>
                    <a:pt x="0" y="307721"/>
                  </a:moveTo>
                  <a:cubicBezTo>
                    <a:pt x="0" y="137795"/>
                    <a:pt x="139954" y="0"/>
                    <a:pt x="312547" y="0"/>
                  </a:cubicBezTo>
                  <a:lnTo>
                    <a:pt x="12533884" y="0"/>
                  </a:lnTo>
                  <a:cubicBezTo>
                    <a:pt x="12706477" y="0"/>
                    <a:pt x="12846431" y="137795"/>
                    <a:pt x="12846431" y="307721"/>
                  </a:cubicBezTo>
                  <a:lnTo>
                    <a:pt x="12846431" y="1738376"/>
                  </a:lnTo>
                  <a:cubicBezTo>
                    <a:pt x="12846431" y="1908302"/>
                    <a:pt x="12706477" y="2046097"/>
                    <a:pt x="12533884" y="2046097"/>
                  </a:cubicBezTo>
                  <a:lnTo>
                    <a:pt x="312547" y="2046097"/>
                  </a:lnTo>
                  <a:cubicBezTo>
                    <a:pt x="139954" y="2046097"/>
                    <a:pt x="0" y="1908302"/>
                    <a:pt x="0" y="1738376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884531" cy="2084197"/>
            </a:xfrm>
            <a:custGeom>
              <a:avLst/>
              <a:gdLst/>
              <a:ahLst/>
              <a:cxnLst/>
              <a:rect r="r" b="b" t="t" l="l"/>
              <a:pathLst>
                <a:path h="2084197" w="12884531">
                  <a:moveTo>
                    <a:pt x="0" y="326771"/>
                  </a:moveTo>
                  <a:cubicBezTo>
                    <a:pt x="0" y="146050"/>
                    <a:pt x="148717" y="0"/>
                    <a:pt x="331597" y="0"/>
                  </a:cubicBezTo>
                  <a:lnTo>
                    <a:pt x="12552934" y="0"/>
                  </a:lnTo>
                  <a:lnTo>
                    <a:pt x="12552934" y="19050"/>
                  </a:lnTo>
                  <a:lnTo>
                    <a:pt x="12552934" y="0"/>
                  </a:lnTo>
                  <a:cubicBezTo>
                    <a:pt x="12735814" y="0"/>
                    <a:pt x="12884531" y="146050"/>
                    <a:pt x="12884531" y="326771"/>
                  </a:cubicBezTo>
                  <a:lnTo>
                    <a:pt x="12865481" y="326771"/>
                  </a:lnTo>
                  <a:lnTo>
                    <a:pt x="12884531" y="326771"/>
                  </a:lnTo>
                  <a:lnTo>
                    <a:pt x="12884531" y="1757426"/>
                  </a:lnTo>
                  <a:lnTo>
                    <a:pt x="12865481" y="1757426"/>
                  </a:lnTo>
                  <a:lnTo>
                    <a:pt x="12884531" y="1757426"/>
                  </a:lnTo>
                  <a:cubicBezTo>
                    <a:pt x="12884531" y="1938147"/>
                    <a:pt x="12735814" y="2084197"/>
                    <a:pt x="12552934" y="2084197"/>
                  </a:cubicBezTo>
                  <a:lnTo>
                    <a:pt x="12552934" y="2065147"/>
                  </a:lnTo>
                  <a:lnTo>
                    <a:pt x="12552934" y="2084197"/>
                  </a:lnTo>
                  <a:lnTo>
                    <a:pt x="331597" y="2084197"/>
                  </a:lnTo>
                  <a:lnTo>
                    <a:pt x="331597" y="2065147"/>
                  </a:lnTo>
                  <a:lnTo>
                    <a:pt x="331597" y="2084197"/>
                  </a:lnTo>
                  <a:cubicBezTo>
                    <a:pt x="148717" y="2084197"/>
                    <a:pt x="0" y="1938147"/>
                    <a:pt x="0" y="1757426"/>
                  </a:cubicBezTo>
                  <a:lnTo>
                    <a:pt x="0" y="326771"/>
                  </a:lnTo>
                  <a:lnTo>
                    <a:pt x="19050" y="326771"/>
                  </a:lnTo>
                  <a:lnTo>
                    <a:pt x="0" y="326771"/>
                  </a:lnTo>
                  <a:moveTo>
                    <a:pt x="38100" y="326771"/>
                  </a:moveTo>
                  <a:lnTo>
                    <a:pt x="38100" y="1757426"/>
                  </a:lnTo>
                  <a:lnTo>
                    <a:pt x="19050" y="1757426"/>
                  </a:lnTo>
                  <a:lnTo>
                    <a:pt x="38100" y="1757426"/>
                  </a:lnTo>
                  <a:cubicBezTo>
                    <a:pt x="38100" y="1916557"/>
                    <a:pt x="169291" y="2046097"/>
                    <a:pt x="331597" y="2046097"/>
                  </a:cubicBezTo>
                  <a:lnTo>
                    <a:pt x="12552934" y="2046097"/>
                  </a:lnTo>
                  <a:cubicBezTo>
                    <a:pt x="12715367" y="2046097"/>
                    <a:pt x="12846431" y="1916557"/>
                    <a:pt x="12846431" y="1757426"/>
                  </a:cubicBezTo>
                  <a:lnTo>
                    <a:pt x="12846431" y="326771"/>
                  </a:lnTo>
                  <a:cubicBezTo>
                    <a:pt x="12846431" y="167640"/>
                    <a:pt x="12715367" y="38100"/>
                    <a:pt x="12552934" y="38100"/>
                  </a:cubicBezTo>
                  <a:lnTo>
                    <a:pt x="331597" y="38100"/>
                  </a:lnTo>
                  <a:lnTo>
                    <a:pt x="331597" y="19050"/>
                  </a:lnTo>
                  <a:lnTo>
                    <a:pt x="331597" y="38100"/>
                  </a:lnTo>
                  <a:cubicBezTo>
                    <a:pt x="169291" y="38100"/>
                    <a:pt x="38100" y="167640"/>
                    <a:pt x="38100" y="326771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040589" y="7940725"/>
            <a:ext cx="3205758" cy="400645"/>
            <a:chOff x="0" y="0"/>
            <a:chExt cx="4274343" cy="53419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74343" cy="534193"/>
            </a:xfrm>
            <a:custGeom>
              <a:avLst/>
              <a:gdLst/>
              <a:ahLst/>
              <a:cxnLst/>
              <a:rect r="r" b="b" t="t" l="l"/>
              <a:pathLst>
                <a:path h="534193" w="4274343">
                  <a:moveTo>
                    <a:pt x="0" y="0"/>
                  </a:moveTo>
                  <a:lnTo>
                    <a:pt x="4274343" y="0"/>
                  </a:lnTo>
                  <a:lnTo>
                    <a:pt x="4274343" y="534193"/>
                  </a:lnTo>
                  <a:lnTo>
                    <a:pt x="0" y="534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274343" cy="55324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499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Early Detection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040589" y="8495110"/>
            <a:ext cx="9064824" cy="410170"/>
            <a:chOff x="0" y="0"/>
            <a:chExt cx="12086432" cy="54689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086432" cy="546893"/>
            </a:xfrm>
            <a:custGeom>
              <a:avLst/>
              <a:gdLst/>
              <a:ahLst/>
              <a:cxnLst/>
              <a:rect r="r" b="b" t="t" l="l"/>
              <a:pathLst>
                <a:path h="546893" w="12086432">
                  <a:moveTo>
                    <a:pt x="0" y="0"/>
                  </a:moveTo>
                  <a:lnTo>
                    <a:pt x="12086432" y="0"/>
                  </a:lnTo>
                  <a:lnTo>
                    <a:pt x="12086432" y="546893"/>
                  </a:lnTo>
                  <a:lnTo>
                    <a:pt x="0" y="546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12086432" cy="63261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87"/>
                </a:lnSpc>
              </a:pPr>
              <a:r>
                <a:rPr lang="en-US" sz="2000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Improves outcomes, prevents escalation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sp>
        <p:nvSpPr>
          <p:cNvPr name="Freeform 5" id="5" descr="preencoded.png">
            <a:hlinkClick r:id="rId5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92238" y="1309390"/>
            <a:ext cx="8050411" cy="885974"/>
            <a:chOff x="0" y="0"/>
            <a:chExt cx="10733882" cy="1181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33882" cy="1181298"/>
            </a:xfrm>
            <a:custGeom>
              <a:avLst/>
              <a:gdLst/>
              <a:ahLst/>
              <a:cxnLst/>
              <a:rect r="r" b="b" t="t" l="l"/>
              <a:pathLst>
                <a:path h="1181298" w="10733882">
                  <a:moveTo>
                    <a:pt x="0" y="0"/>
                  </a:moveTo>
                  <a:lnTo>
                    <a:pt x="10733882" y="0"/>
                  </a:lnTo>
                  <a:lnTo>
                    <a:pt x="10733882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0733882" cy="12003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Motivation for the Study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7950" y="2606279"/>
            <a:ext cx="666452" cy="666452"/>
            <a:chOff x="0" y="0"/>
            <a:chExt cx="888603" cy="8886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10286" y="0"/>
                  </a:lnTo>
                  <a:cubicBezTo>
                    <a:pt x="698246" y="0"/>
                    <a:pt x="850519" y="152273"/>
                    <a:pt x="850519" y="340233"/>
                  </a:cubicBezTo>
                  <a:lnTo>
                    <a:pt x="850519" y="510286"/>
                  </a:lnTo>
                  <a:cubicBezTo>
                    <a:pt x="850519" y="698246"/>
                    <a:pt x="698246" y="850519"/>
                    <a:pt x="510286" y="850519"/>
                  </a:cubicBezTo>
                  <a:lnTo>
                    <a:pt x="340233" y="850519"/>
                  </a:lnTo>
                  <a:cubicBezTo>
                    <a:pt x="152273" y="850519"/>
                    <a:pt x="0" y="698119"/>
                    <a:pt x="0" y="510286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8619" cy="888619"/>
            </a:xfrm>
            <a:custGeom>
              <a:avLst/>
              <a:gdLst/>
              <a:ahLst/>
              <a:cxnLst/>
              <a:rect r="r" b="b" t="t" l="l"/>
              <a:pathLst>
                <a:path h="888619" w="888619">
                  <a:moveTo>
                    <a:pt x="0" y="359283"/>
                  </a:moveTo>
                  <a:cubicBezTo>
                    <a:pt x="0" y="160909"/>
                    <a:pt x="160909" y="0"/>
                    <a:pt x="359283" y="0"/>
                  </a:cubicBezTo>
                  <a:lnTo>
                    <a:pt x="529336" y="0"/>
                  </a:lnTo>
                  <a:lnTo>
                    <a:pt x="529336" y="19050"/>
                  </a:lnTo>
                  <a:lnTo>
                    <a:pt x="529336" y="0"/>
                  </a:lnTo>
                  <a:cubicBezTo>
                    <a:pt x="727710" y="0"/>
                    <a:pt x="888619" y="160909"/>
                    <a:pt x="888619" y="359283"/>
                  </a:cubicBezTo>
                  <a:lnTo>
                    <a:pt x="888619" y="529336"/>
                  </a:lnTo>
                  <a:lnTo>
                    <a:pt x="869569" y="529336"/>
                  </a:lnTo>
                  <a:lnTo>
                    <a:pt x="888619" y="529336"/>
                  </a:lnTo>
                  <a:cubicBezTo>
                    <a:pt x="888619" y="727710"/>
                    <a:pt x="727710" y="888619"/>
                    <a:pt x="529336" y="888619"/>
                  </a:cubicBezTo>
                  <a:lnTo>
                    <a:pt x="529336" y="869569"/>
                  </a:lnTo>
                  <a:lnTo>
                    <a:pt x="529336" y="888619"/>
                  </a:lnTo>
                  <a:lnTo>
                    <a:pt x="359283" y="888619"/>
                  </a:lnTo>
                  <a:lnTo>
                    <a:pt x="359283" y="869569"/>
                  </a:lnTo>
                  <a:lnTo>
                    <a:pt x="359283" y="888619"/>
                  </a:lnTo>
                  <a:cubicBezTo>
                    <a:pt x="160909" y="888619"/>
                    <a:pt x="0" y="727710"/>
                    <a:pt x="0" y="529336"/>
                  </a:cubicBezTo>
                  <a:lnTo>
                    <a:pt x="0" y="359283"/>
                  </a:lnTo>
                  <a:lnTo>
                    <a:pt x="19050" y="359283"/>
                  </a:lnTo>
                  <a:lnTo>
                    <a:pt x="0" y="359283"/>
                  </a:lnTo>
                  <a:moveTo>
                    <a:pt x="38100" y="359283"/>
                  </a:moveTo>
                  <a:lnTo>
                    <a:pt x="38100" y="529336"/>
                  </a:lnTo>
                  <a:lnTo>
                    <a:pt x="19050" y="529336"/>
                  </a:lnTo>
                  <a:lnTo>
                    <a:pt x="38100" y="529336"/>
                  </a:lnTo>
                  <a:cubicBezTo>
                    <a:pt x="38100" y="706755"/>
                    <a:pt x="181864" y="850519"/>
                    <a:pt x="359283" y="850519"/>
                  </a:cubicBezTo>
                  <a:lnTo>
                    <a:pt x="529336" y="850519"/>
                  </a:lnTo>
                  <a:cubicBezTo>
                    <a:pt x="706755" y="850519"/>
                    <a:pt x="850519" y="706755"/>
                    <a:pt x="850519" y="529336"/>
                  </a:cubicBezTo>
                  <a:lnTo>
                    <a:pt x="850519" y="359283"/>
                  </a:lnTo>
                  <a:lnTo>
                    <a:pt x="869569" y="359283"/>
                  </a:lnTo>
                  <a:lnTo>
                    <a:pt x="850519" y="359283"/>
                  </a:lnTo>
                  <a:cubicBezTo>
                    <a:pt x="850519" y="181864"/>
                    <a:pt x="706755" y="38100"/>
                    <a:pt x="529336" y="38100"/>
                  </a:cubicBezTo>
                  <a:lnTo>
                    <a:pt x="359283" y="38100"/>
                  </a:lnTo>
                  <a:lnTo>
                    <a:pt x="359283" y="19050"/>
                  </a:lnTo>
                  <a:lnTo>
                    <a:pt x="359283" y="38100"/>
                  </a:lnTo>
                  <a:cubicBezTo>
                    <a:pt x="181864" y="38100"/>
                    <a:pt x="38100" y="181864"/>
                    <a:pt x="38100" y="359283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913632" y="2717899"/>
            <a:ext cx="3544044" cy="442912"/>
            <a:chOff x="0" y="0"/>
            <a:chExt cx="4725392" cy="590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User Expression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13632" y="3330922"/>
            <a:ext cx="8524131" cy="453629"/>
            <a:chOff x="0" y="0"/>
            <a:chExt cx="11365508" cy="6048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65509" cy="604838"/>
            </a:xfrm>
            <a:custGeom>
              <a:avLst/>
              <a:gdLst/>
              <a:ahLst/>
              <a:cxnLst/>
              <a:rect r="r" b="b" t="t" l="l"/>
              <a:pathLst>
                <a:path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1136550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Online emotions often unshared elsewhere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7950" y="4337298"/>
            <a:ext cx="666452" cy="666452"/>
            <a:chOff x="0" y="0"/>
            <a:chExt cx="888603" cy="8886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9050" y="190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10286" y="0"/>
                  </a:lnTo>
                  <a:cubicBezTo>
                    <a:pt x="698246" y="0"/>
                    <a:pt x="850519" y="152273"/>
                    <a:pt x="850519" y="340233"/>
                  </a:cubicBezTo>
                  <a:lnTo>
                    <a:pt x="850519" y="510286"/>
                  </a:lnTo>
                  <a:cubicBezTo>
                    <a:pt x="850519" y="698246"/>
                    <a:pt x="698246" y="850519"/>
                    <a:pt x="510286" y="850519"/>
                  </a:cubicBezTo>
                  <a:lnTo>
                    <a:pt x="340233" y="850519"/>
                  </a:lnTo>
                  <a:cubicBezTo>
                    <a:pt x="152273" y="850519"/>
                    <a:pt x="0" y="698119"/>
                    <a:pt x="0" y="510286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8619" cy="888619"/>
            </a:xfrm>
            <a:custGeom>
              <a:avLst/>
              <a:gdLst/>
              <a:ahLst/>
              <a:cxnLst/>
              <a:rect r="r" b="b" t="t" l="l"/>
              <a:pathLst>
                <a:path h="888619" w="888619">
                  <a:moveTo>
                    <a:pt x="0" y="359283"/>
                  </a:moveTo>
                  <a:cubicBezTo>
                    <a:pt x="0" y="160909"/>
                    <a:pt x="160909" y="0"/>
                    <a:pt x="359283" y="0"/>
                  </a:cubicBezTo>
                  <a:lnTo>
                    <a:pt x="529336" y="0"/>
                  </a:lnTo>
                  <a:lnTo>
                    <a:pt x="529336" y="19050"/>
                  </a:lnTo>
                  <a:lnTo>
                    <a:pt x="529336" y="0"/>
                  </a:lnTo>
                  <a:cubicBezTo>
                    <a:pt x="727710" y="0"/>
                    <a:pt x="888619" y="160909"/>
                    <a:pt x="888619" y="359283"/>
                  </a:cubicBezTo>
                  <a:lnTo>
                    <a:pt x="888619" y="529336"/>
                  </a:lnTo>
                  <a:lnTo>
                    <a:pt x="869569" y="529336"/>
                  </a:lnTo>
                  <a:lnTo>
                    <a:pt x="888619" y="529336"/>
                  </a:lnTo>
                  <a:cubicBezTo>
                    <a:pt x="888619" y="727710"/>
                    <a:pt x="727710" y="888619"/>
                    <a:pt x="529336" y="888619"/>
                  </a:cubicBezTo>
                  <a:lnTo>
                    <a:pt x="529336" y="869569"/>
                  </a:lnTo>
                  <a:lnTo>
                    <a:pt x="529336" y="888619"/>
                  </a:lnTo>
                  <a:lnTo>
                    <a:pt x="359283" y="888619"/>
                  </a:lnTo>
                  <a:lnTo>
                    <a:pt x="359283" y="869569"/>
                  </a:lnTo>
                  <a:lnTo>
                    <a:pt x="359283" y="888619"/>
                  </a:lnTo>
                  <a:cubicBezTo>
                    <a:pt x="160909" y="888619"/>
                    <a:pt x="0" y="727710"/>
                    <a:pt x="0" y="529336"/>
                  </a:cubicBezTo>
                  <a:lnTo>
                    <a:pt x="0" y="359283"/>
                  </a:lnTo>
                  <a:lnTo>
                    <a:pt x="19050" y="359283"/>
                  </a:lnTo>
                  <a:lnTo>
                    <a:pt x="0" y="359283"/>
                  </a:lnTo>
                  <a:moveTo>
                    <a:pt x="38100" y="359283"/>
                  </a:moveTo>
                  <a:lnTo>
                    <a:pt x="38100" y="529336"/>
                  </a:lnTo>
                  <a:lnTo>
                    <a:pt x="19050" y="529336"/>
                  </a:lnTo>
                  <a:lnTo>
                    <a:pt x="38100" y="529336"/>
                  </a:lnTo>
                  <a:cubicBezTo>
                    <a:pt x="38100" y="706755"/>
                    <a:pt x="181864" y="850519"/>
                    <a:pt x="359283" y="850519"/>
                  </a:cubicBezTo>
                  <a:lnTo>
                    <a:pt x="529336" y="850519"/>
                  </a:lnTo>
                  <a:cubicBezTo>
                    <a:pt x="706755" y="850519"/>
                    <a:pt x="850519" y="706755"/>
                    <a:pt x="850519" y="529336"/>
                  </a:cubicBezTo>
                  <a:lnTo>
                    <a:pt x="850519" y="359283"/>
                  </a:lnTo>
                  <a:lnTo>
                    <a:pt x="869569" y="359283"/>
                  </a:lnTo>
                  <a:lnTo>
                    <a:pt x="850519" y="359283"/>
                  </a:lnTo>
                  <a:cubicBezTo>
                    <a:pt x="850519" y="181864"/>
                    <a:pt x="706755" y="38100"/>
                    <a:pt x="529336" y="38100"/>
                  </a:cubicBezTo>
                  <a:lnTo>
                    <a:pt x="359283" y="38100"/>
                  </a:lnTo>
                  <a:lnTo>
                    <a:pt x="359283" y="19050"/>
                  </a:lnTo>
                  <a:lnTo>
                    <a:pt x="359283" y="38100"/>
                  </a:lnTo>
                  <a:cubicBezTo>
                    <a:pt x="181864" y="38100"/>
                    <a:pt x="38100" y="181864"/>
                    <a:pt x="38100" y="359283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13632" y="4448919"/>
            <a:ext cx="3544044" cy="442912"/>
            <a:chOff x="0" y="0"/>
            <a:chExt cx="4725392" cy="5905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NLP &amp; ML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13632" y="5061942"/>
            <a:ext cx="8524131" cy="453629"/>
            <a:chOff x="0" y="0"/>
            <a:chExt cx="11365508" cy="60483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65509" cy="604838"/>
            </a:xfrm>
            <a:custGeom>
              <a:avLst/>
              <a:gdLst/>
              <a:ahLst/>
              <a:cxnLst/>
              <a:rect r="r" b="b" t="t" l="l"/>
              <a:pathLst>
                <a:path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1136550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Detect language patterns, sentiment, emotions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7950" y="6068318"/>
            <a:ext cx="666452" cy="666453"/>
            <a:chOff x="0" y="0"/>
            <a:chExt cx="888603" cy="8886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9050" y="190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10286" y="0"/>
                  </a:lnTo>
                  <a:cubicBezTo>
                    <a:pt x="698246" y="0"/>
                    <a:pt x="850519" y="152273"/>
                    <a:pt x="850519" y="340233"/>
                  </a:cubicBezTo>
                  <a:lnTo>
                    <a:pt x="850519" y="510286"/>
                  </a:lnTo>
                  <a:cubicBezTo>
                    <a:pt x="850519" y="698246"/>
                    <a:pt x="698246" y="850519"/>
                    <a:pt x="510286" y="850519"/>
                  </a:cubicBezTo>
                  <a:lnTo>
                    <a:pt x="340233" y="850519"/>
                  </a:lnTo>
                  <a:cubicBezTo>
                    <a:pt x="152273" y="850519"/>
                    <a:pt x="0" y="698119"/>
                    <a:pt x="0" y="510286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88619" cy="888619"/>
            </a:xfrm>
            <a:custGeom>
              <a:avLst/>
              <a:gdLst/>
              <a:ahLst/>
              <a:cxnLst/>
              <a:rect r="r" b="b" t="t" l="l"/>
              <a:pathLst>
                <a:path h="888619" w="888619">
                  <a:moveTo>
                    <a:pt x="0" y="359283"/>
                  </a:moveTo>
                  <a:cubicBezTo>
                    <a:pt x="0" y="160909"/>
                    <a:pt x="160909" y="0"/>
                    <a:pt x="359283" y="0"/>
                  </a:cubicBezTo>
                  <a:lnTo>
                    <a:pt x="529336" y="0"/>
                  </a:lnTo>
                  <a:lnTo>
                    <a:pt x="529336" y="19050"/>
                  </a:lnTo>
                  <a:lnTo>
                    <a:pt x="529336" y="0"/>
                  </a:lnTo>
                  <a:cubicBezTo>
                    <a:pt x="727710" y="0"/>
                    <a:pt x="888619" y="160909"/>
                    <a:pt x="888619" y="359283"/>
                  </a:cubicBezTo>
                  <a:lnTo>
                    <a:pt x="888619" y="529336"/>
                  </a:lnTo>
                  <a:lnTo>
                    <a:pt x="869569" y="529336"/>
                  </a:lnTo>
                  <a:lnTo>
                    <a:pt x="888619" y="529336"/>
                  </a:lnTo>
                  <a:cubicBezTo>
                    <a:pt x="888619" y="727710"/>
                    <a:pt x="727710" y="888619"/>
                    <a:pt x="529336" y="888619"/>
                  </a:cubicBezTo>
                  <a:lnTo>
                    <a:pt x="529336" y="869569"/>
                  </a:lnTo>
                  <a:lnTo>
                    <a:pt x="529336" y="888619"/>
                  </a:lnTo>
                  <a:lnTo>
                    <a:pt x="359283" y="888619"/>
                  </a:lnTo>
                  <a:lnTo>
                    <a:pt x="359283" y="869569"/>
                  </a:lnTo>
                  <a:lnTo>
                    <a:pt x="359283" y="888619"/>
                  </a:lnTo>
                  <a:cubicBezTo>
                    <a:pt x="160909" y="888619"/>
                    <a:pt x="0" y="727710"/>
                    <a:pt x="0" y="529336"/>
                  </a:cubicBezTo>
                  <a:lnTo>
                    <a:pt x="0" y="359283"/>
                  </a:lnTo>
                  <a:lnTo>
                    <a:pt x="19050" y="359283"/>
                  </a:lnTo>
                  <a:lnTo>
                    <a:pt x="0" y="359283"/>
                  </a:lnTo>
                  <a:moveTo>
                    <a:pt x="38100" y="359283"/>
                  </a:moveTo>
                  <a:lnTo>
                    <a:pt x="38100" y="529336"/>
                  </a:lnTo>
                  <a:lnTo>
                    <a:pt x="19050" y="529336"/>
                  </a:lnTo>
                  <a:lnTo>
                    <a:pt x="38100" y="529336"/>
                  </a:lnTo>
                  <a:cubicBezTo>
                    <a:pt x="38100" y="706755"/>
                    <a:pt x="181864" y="850519"/>
                    <a:pt x="359283" y="850519"/>
                  </a:cubicBezTo>
                  <a:lnTo>
                    <a:pt x="529336" y="850519"/>
                  </a:lnTo>
                  <a:cubicBezTo>
                    <a:pt x="706755" y="850519"/>
                    <a:pt x="850519" y="706755"/>
                    <a:pt x="850519" y="529336"/>
                  </a:cubicBezTo>
                  <a:lnTo>
                    <a:pt x="850519" y="359283"/>
                  </a:lnTo>
                  <a:lnTo>
                    <a:pt x="869569" y="359283"/>
                  </a:lnTo>
                  <a:lnTo>
                    <a:pt x="850519" y="359283"/>
                  </a:lnTo>
                  <a:cubicBezTo>
                    <a:pt x="850519" y="181864"/>
                    <a:pt x="706755" y="38100"/>
                    <a:pt x="529336" y="38100"/>
                  </a:cubicBezTo>
                  <a:lnTo>
                    <a:pt x="359283" y="38100"/>
                  </a:lnTo>
                  <a:lnTo>
                    <a:pt x="359283" y="19050"/>
                  </a:lnTo>
                  <a:lnTo>
                    <a:pt x="359283" y="38100"/>
                  </a:lnTo>
                  <a:cubicBezTo>
                    <a:pt x="181864" y="38100"/>
                    <a:pt x="38100" y="181864"/>
                    <a:pt x="38100" y="359283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913632" y="6179939"/>
            <a:ext cx="3544044" cy="442912"/>
            <a:chOff x="0" y="0"/>
            <a:chExt cx="4725392" cy="5905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Goal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913632" y="6792962"/>
            <a:ext cx="8524131" cy="453629"/>
            <a:chOff x="0" y="0"/>
            <a:chExt cx="11365508" cy="6048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365509" cy="604838"/>
            </a:xfrm>
            <a:custGeom>
              <a:avLst/>
              <a:gdLst/>
              <a:ahLst/>
              <a:cxnLst/>
              <a:rect r="r" b="b" t="t" l="l"/>
              <a:pathLst>
                <a:path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1136550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Early, efficient mental health risk detection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77950" y="7799338"/>
            <a:ext cx="666452" cy="666453"/>
            <a:chOff x="0" y="0"/>
            <a:chExt cx="888603" cy="8886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9050" y="190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10286" y="0"/>
                  </a:lnTo>
                  <a:cubicBezTo>
                    <a:pt x="698246" y="0"/>
                    <a:pt x="850519" y="152273"/>
                    <a:pt x="850519" y="340233"/>
                  </a:cubicBezTo>
                  <a:lnTo>
                    <a:pt x="850519" y="510286"/>
                  </a:lnTo>
                  <a:cubicBezTo>
                    <a:pt x="850519" y="698246"/>
                    <a:pt x="698246" y="850519"/>
                    <a:pt x="510286" y="850519"/>
                  </a:cubicBezTo>
                  <a:lnTo>
                    <a:pt x="340233" y="850519"/>
                  </a:lnTo>
                  <a:cubicBezTo>
                    <a:pt x="152273" y="850519"/>
                    <a:pt x="0" y="698119"/>
                    <a:pt x="0" y="510286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88619" cy="888619"/>
            </a:xfrm>
            <a:custGeom>
              <a:avLst/>
              <a:gdLst/>
              <a:ahLst/>
              <a:cxnLst/>
              <a:rect r="r" b="b" t="t" l="l"/>
              <a:pathLst>
                <a:path h="888619" w="888619">
                  <a:moveTo>
                    <a:pt x="0" y="359283"/>
                  </a:moveTo>
                  <a:cubicBezTo>
                    <a:pt x="0" y="160909"/>
                    <a:pt x="160909" y="0"/>
                    <a:pt x="359283" y="0"/>
                  </a:cubicBezTo>
                  <a:lnTo>
                    <a:pt x="529336" y="0"/>
                  </a:lnTo>
                  <a:lnTo>
                    <a:pt x="529336" y="19050"/>
                  </a:lnTo>
                  <a:lnTo>
                    <a:pt x="529336" y="0"/>
                  </a:lnTo>
                  <a:cubicBezTo>
                    <a:pt x="727710" y="0"/>
                    <a:pt x="888619" y="160909"/>
                    <a:pt x="888619" y="359283"/>
                  </a:cubicBezTo>
                  <a:lnTo>
                    <a:pt x="888619" y="529336"/>
                  </a:lnTo>
                  <a:lnTo>
                    <a:pt x="869569" y="529336"/>
                  </a:lnTo>
                  <a:lnTo>
                    <a:pt x="888619" y="529336"/>
                  </a:lnTo>
                  <a:cubicBezTo>
                    <a:pt x="888619" y="727710"/>
                    <a:pt x="727710" y="888619"/>
                    <a:pt x="529336" y="888619"/>
                  </a:cubicBezTo>
                  <a:lnTo>
                    <a:pt x="529336" y="869569"/>
                  </a:lnTo>
                  <a:lnTo>
                    <a:pt x="529336" y="888619"/>
                  </a:lnTo>
                  <a:lnTo>
                    <a:pt x="359283" y="888619"/>
                  </a:lnTo>
                  <a:lnTo>
                    <a:pt x="359283" y="869569"/>
                  </a:lnTo>
                  <a:lnTo>
                    <a:pt x="359283" y="888619"/>
                  </a:lnTo>
                  <a:cubicBezTo>
                    <a:pt x="160909" y="888619"/>
                    <a:pt x="0" y="727710"/>
                    <a:pt x="0" y="529336"/>
                  </a:cubicBezTo>
                  <a:lnTo>
                    <a:pt x="0" y="359283"/>
                  </a:lnTo>
                  <a:lnTo>
                    <a:pt x="19050" y="359283"/>
                  </a:lnTo>
                  <a:lnTo>
                    <a:pt x="0" y="359283"/>
                  </a:lnTo>
                  <a:moveTo>
                    <a:pt x="38100" y="359283"/>
                  </a:moveTo>
                  <a:lnTo>
                    <a:pt x="38100" y="529336"/>
                  </a:lnTo>
                  <a:lnTo>
                    <a:pt x="19050" y="529336"/>
                  </a:lnTo>
                  <a:lnTo>
                    <a:pt x="38100" y="529336"/>
                  </a:lnTo>
                  <a:cubicBezTo>
                    <a:pt x="38100" y="706755"/>
                    <a:pt x="181864" y="850519"/>
                    <a:pt x="359283" y="850519"/>
                  </a:cubicBezTo>
                  <a:lnTo>
                    <a:pt x="529336" y="850519"/>
                  </a:lnTo>
                  <a:cubicBezTo>
                    <a:pt x="706755" y="850519"/>
                    <a:pt x="850519" y="706755"/>
                    <a:pt x="850519" y="529336"/>
                  </a:cubicBezTo>
                  <a:lnTo>
                    <a:pt x="850519" y="359283"/>
                  </a:lnTo>
                  <a:lnTo>
                    <a:pt x="869569" y="359283"/>
                  </a:lnTo>
                  <a:lnTo>
                    <a:pt x="850519" y="359283"/>
                  </a:lnTo>
                  <a:cubicBezTo>
                    <a:pt x="850519" y="181864"/>
                    <a:pt x="706755" y="38100"/>
                    <a:pt x="529336" y="38100"/>
                  </a:cubicBezTo>
                  <a:lnTo>
                    <a:pt x="359283" y="38100"/>
                  </a:lnTo>
                  <a:lnTo>
                    <a:pt x="359283" y="19050"/>
                  </a:lnTo>
                  <a:lnTo>
                    <a:pt x="359283" y="38100"/>
                  </a:lnTo>
                  <a:cubicBezTo>
                    <a:pt x="181864" y="38100"/>
                    <a:pt x="38100" y="181864"/>
                    <a:pt x="38100" y="359283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913632" y="7910959"/>
            <a:ext cx="3544044" cy="442912"/>
            <a:chOff x="0" y="0"/>
            <a:chExt cx="4725392" cy="5905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Target Groups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13632" y="8523982"/>
            <a:ext cx="8524131" cy="453629"/>
            <a:chOff x="0" y="0"/>
            <a:chExt cx="11365508" cy="60483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365509" cy="604838"/>
            </a:xfrm>
            <a:custGeom>
              <a:avLst/>
              <a:gdLst/>
              <a:ahLst/>
              <a:cxnLst/>
              <a:rect r="r" b="b" t="t" l="l"/>
              <a:pathLst>
                <a:path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0"/>
              <a:ext cx="1136550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Support high-risk populations monitoring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2238" y="2981920"/>
            <a:ext cx="9901535" cy="885974"/>
            <a:chOff x="0" y="0"/>
            <a:chExt cx="13202047" cy="11812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02047" cy="1181298"/>
            </a:xfrm>
            <a:custGeom>
              <a:avLst/>
              <a:gdLst/>
              <a:ahLst/>
              <a:cxnLst/>
              <a:rect r="r" b="b" t="t" l="l"/>
              <a:pathLst>
                <a:path h="1181298" w="13202047">
                  <a:moveTo>
                    <a:pt x="0" y="0"/>
                  </a:moveTo>
                  <a:lnTo>
                    <a:pt x="13202047" y="0"/>
                  </a:lnTo>
                  <a:lnTo>
                    <a:pt x="13202047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3202047" cy="12003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Problem Context &amp; Challenges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2238" y="4576614"/>
            <a:ext cx="3556993" cy="885825"/>
            <a:chOff x="0" y="0"/>
            <a:chExt cx="4742657" cy="1181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42657" cy="1181100"/>
            </a:xfrm>
            <a:custGeom>
              <a:avLst/>
              <a:gdLst/>
              <a:ahLst/>
              <a:cxnLst/>
              <a:rect r="r" b="b" t="t" l="l"/>
              <a:pathLst>
                <a:path h="1181100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4742657" cy="11906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Language Complexity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2238" y="5745956"/>
            <a:ext cx="3556993" cy="453629"/>
            <a:chOff x="0" y="0"/>
            <a:chExt cx="4742657" cy="6048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42657" cy="604838"/>
            </a:xfrm>
            <a:custGeom>
              <a:avLst/>
              <a:gdLst/>
              <a:ahLst/>
              <a:cxnLst/>
              <a:rect r="r" b="b" t="t" l="l"/>
              <a:pathLst>
                <a:path h="604838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4742657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Slang, sarcasm, emojis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2238" y="6298704"/>
            <a:ext cx="3556993" cy="907256"/>
            <a:chOff x="0" y="0"/>
            <a:chExt cx="4742657" cy="12096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42657" cy="1209675"/>
            </a:xfrm>
            <a:custGeom>
              <a:avLst/>
              <a:gdLst/>
              <a:ahLst/>
              <a:cxnLst/>
              <a:rect r="r" b="b" t="t" l="l"/>
              <a:pathLst>
                <a:path h="1209675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4742657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Abbreviations, informal text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250508" y="4576614"/>
            <a:ext cx="3544044" cy="442912"/>
            <a:chOff x="0" y="0"/>
            <a:chExt cx="4725392" cy="590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Platform Variability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250508" y="5303044"/>
            <a:ext cx="3556993" cy="453629"/>
            <a:chOff x="0" y="0"/>
            <a:chExt cx="4742657" cy="6048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42657" cy="604838"/>
            </a:xfrm>
            <a:custGeom>
              <a:avLst/>
              <a:gdLst/>
              <a:ahLst/>
              <a:cxnLst/>
              <a:rect r="r" b="b" t="t" l="l"/>
              <a:pathLst>
                <a:path h="604838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4742657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Reddit: long posts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50508" y="5855791"/>
            <a:ext cx="3556993" cy="453629"/>
            <a:chOff x="0" y="0"/>
            <a:chExt cx="4742657" cy="604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42657" cy="604838"/>
            </a:xfrm>
            <a:custGeom>
              <a:avLst/>
              <a:gdLst/>
              <a:ahLst/>
              <a:cxnLst/>
              <a:rect r="r" b="b" t="t" l="l"/>
              <a:pathLst>
                <a:path h="604838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0"/>
              <a:ext cx="4742657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Twitter: short posts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08777" y="4576614"/>
            <a:ext cx="3544044" cy="442912"/>
            <a:chOff x="0" y="0"/>
            <a:chExt cx="4725392" cy="5905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Data Labeling Issues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08777" y="5303044"/>
            <a:ext cx="3556993" cy="907256"/>
            <a:chOff x="0" y="0"/>
            <a:chExt cx="4742657" cy="12096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42657" cy="1209675"/>
            </a:xfrm>
            <a:custGeom>
              <a:avLst/>
              <a:gdLst/>
              <a:ahLst/>
              <a:cxnLst/>
              <a:rect r="r" b="b" t="t" l="l"/>
              <a:pathLst>
                <a:path h="1209675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4742657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Self-reports or inference bias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767047" y="4576614"/>
            <a:ext cx="3544044" cy="442912"/>
            <a:chOff x="0" y="0"/>
            <a:chExt cx="4725392" cy="5905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Ethical Concerns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67047" y="5303044"/>
            <a:ext cx="3556992" cy="907256"/>
            <a:chOff x="0" y="0"/>
            <a:chExt cx="4742657" cy="12096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42657" cy="1209675"/>
            </a:xfrm>
            <a:custGeom>
              <a:avLst/>
              <a:gdLst/>
              <a:ahLst/>
              <a:cxnLst/>
              <a:rect r="r" b="b" t="t" l="l"/>
              <a:pathLst>
                <a:path h="1209675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0"/>
              <a:ext cx="4742657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Consent, privacy, misclassification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2238" y="1563886"/>
            <a:ext cx="8732936" cy="885974"/>
            <a:chOff x="0" y="0"/>
            <a:chExt cx="11643915" cy="11812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43915" cy="1181298"/>
            </a:xfrm>
            <a:custGeom>
              <a:avLst/>
              <a:gdLst/>
              <a:ahLst/>
              <a:cxnLst/>
              <a:rect r="r" b="b" t="t" l="l"/>
              <a:pathLst>
                <a:path h="1181298" w="11643915">
                  <a:moveTo>
                    <a:pt x="0" y="0"/>
                  </a:moveTo>
                  <a:lnTo>
                    <a:pt x="11643915" y="0"/>
                  </a:lnTo>
                  <a:lnTo>
                    <a:pt x="11643915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1643915" cy="12003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Project Scope &amp; Objectives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21570" y="3803749"/>
            <a:ext cx="3544044" cy="442912"/>
            <a:chOff x="0" y="0"/>
            <a:chExt cx="4725392" cy="5905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Classification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2238" y="4416772"/>
            <a:ext cx="4873378" cy="453629"/>
            <a:chOff x="0" y="0"/>
            <a:chExt cx="6497837" cy="6048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97837" cy="604838"/>
            </a:xfrm>
            <a:custGeom>
              <a:avLst/>
              <a:gdLst/>
              <a:ahLst/>
              <a:cxnLst/>
              <a:rect r="r" b="b" t="t" l="l"/>
              <a:pathLst>
                <a:path h="604838" w="6497837">
                  <a:moveTo>
                    <a:pt x="0" y="0"/>
                  </a:moveTo>
                  <a:lnTo>
                    <a:pt x="6497837" y="0"/>
                  </a:lnTo>
                  <a:lnTo>
                    <a:pt x="649783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6497837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Depressed, anxious, neutral posts</a:t>
              </a:r>
            </a:p>
          </p:txBody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6290816" y="3016895"/>
            <a:ext cx="5706219" cy="5706219"/>
          </a:xfrm>
          <a:custGeom>
            <a:avLst/>
            <a:gdLst/>
            <a:ahLst/>
            <a:cxnLst/>
            <a:rect r="r" b="b" t="t" l="l"/>
            <a:pathLst>
              <a:path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783414" y="3970735"/>
            <a:ext cx="424160" cy="530275"/>
            <a:chOff x="0" y="0"/>
            <a:chExt cx="565547" cy="7070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5547" cy="707033"/>
            </a:xfrm>
            <a:custGeom>
              <a:avLst/>
              <a:gdLst/>
              <a:ahLst/>
              <a:cxnLst/>
              <a:rect r="r" b="b" t="t" l="l"/>
              <a:pathLst>
                <a:path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33350"/>
              <a:ext cx="565547" cy="8403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312"/>
                </a:lnSpc>
              </a:pPr>
              <a:r>
                <a:rPr lang="en-US" sz="3312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422237" y="3803749"/>
            <a:ext cx="3544044" cy="442912"/>
            <a:chOff x="0" y="0"/>
            <a:chExt cx="4725392" cy="5905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Features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22237" y="4416772"/>
            <a:ext cx="4873526" cy="453629"/>
            <a:chOff x="0" y="0"/>
            <a:chExt cx="6498035" cy="6048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98035" cy="604838"/>
            </a:xfrm>
            <a:custGeom>
              <a:avLst/>
              <a:gdLst/>
              <a:ahLst/>
              <a:cxnLst/>
              <a:rect r="r" b="b" t="t" l="l"/>
              <a:pathLst>
                <a:path h="604838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6498035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Linguistic, emotional, behavioral</a:t>
              </a:r>
            </a:p>
          </p:txBody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6290816" y="3016895"/>
            <a:ext cx="5706219" cy="5706219"/>
          </a:xfrm>
          <a:custGeom>
            <a:avLst/>
            <a:gdLst/>
            <a:ahLst/>
            <a:cxnLst/>
            <a:rect r="r" b="b" t="t" l="l"/>
            <a:pathLst>
              <a:path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0565755" y="4456360"/>
            <a:ext cx="424160" cy="530275"/>
            <a:chOff x="0" y="0"/>
            <a:chExt cx="565547" cy="7070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5547" cy="707033"/>
            </a:xfrm>
            <a:custGeom>
              <a:avLst/>
              <a:gdLst/>
              <a:ahLst/>
              <a:cxnLst/>
              <a:rect r="r" b="b" t="t" l="l"/>
              <a:pathLst>
                <a:path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33350"/>
              <a:ext cx="565547" cy="8403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312"/>
                </a:lnSpc>
              </a:pPr>
              <a:r>
                <a:rPr lang="en-US" sz="3312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422237" y="6869460"/>
            <a:ext cx="3544044" cy="442912"/>
            <a:chOff x="0" y="0"/>
            <a:chExt cx="4725392" cy="5905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Models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422237" y="7482482"/>
            <a:ext cx="4873526" cy="453629"/>
            <a:chOff x="0" y="0"/>
            <a:chExt cx="6498035" cy="6048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98035" cy="604838"/>
            </a:xfrm>
            <a:custGeom>
              <a:avLst/>
              <a:gdLst/>
              <a:ahLst/>
              <a:cxnLst/>
              <a:rect r="r" b="b" t="t" l="l"/>
              <a:pathLst>
                <a:path h="604838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0"/>
              <a:ext cx="6498035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SVM, Random Forest, LSTM, BERT</a:t>
              </a:r>
            </a:p>
          </p:txBody>
        </p:sp>
      </p:grpSp>
      <p:sp>
        <p:nvSpPr>
          <p:cNvPr name="Freeform 34" id="34" descr="preencoded.png"/>
          <p:cNvSpPr/>
          <p:nvPr/>
        </p:nvSpPr>
        <p:spPr>
          <a:xfrm flipH="false" flipV="false" rot="0">
            <a:off x="6290816" y="3016895"/>
            <a:ext cx="5706219" cy="5706219"/>
          </a:xfrm>
          <a:custGeom>
            <a:avLst/>
            <a:gdLst/>
            <a:ahLst/>
            <a:cxnLst/>
            <a:rect r="r" b="b" t="t" l="l"/>
            <a:pathLst>
              <a:path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0080129" y="7238702"/>
            <a:ext cx="424160" cy="530275"/>
            <a:chOff x="0" y="0"/>
            <a:chExt cx="565547" cy="70703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65547" cy="707033"/>
            </a:xfrm>
            <a:custGeom>
              <a:avLst/>
              <a:gdLst/>
              <a:ahLst/>
              <a:cxnLst/>
              <a:rect r="r" b="b" t="t" l="l"/>
              <a:pathLst>
                <a:path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33350"/>
              <a:ext cx="565547" cy="8403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312"/>
                </a:lnSpc>
              </a:pPr>
              <a:r>
                <a:rPr lang="en-US" sz="3312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321570" y="6869460"/>
            <a:ext cx="3544044" cy="442912"/>
            <a:chOff x="0" y="0"/>
            <a:chExt cx="4725392" cy="5905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Focus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92238" y="7482482"/>
            <a:ext cx="4873378" cy="453629"/>
            <a:chOff x="0" y="0"/>
            <a:chExt cx="6497837" cy="60483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97837" cy="604838"/>
            </a:xfrm>
            <a:custGeom>
              <a:avLst/>
              <a:gdLst/>
              <a:ahLst/>
              <a:cxnLst/>
              <a:rect r="r" b="b" t="t" l="l"/>
              <a:pathLst>
                <a:path h="604838" w="6497837">
                  <a:moveTo>
                    <a:pt x="0" y="0"/>
                  </a:moveTo>
                  <a:lnTo>
                    <a:pt x="6497837" y="0"/>
                  </a:lnTo>
                  <a:lnTo>
                    <a:pt x="649783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0"/>
              <a:ext cx="6497837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Accuracy, interpretability, ethics</a:t>
              </a:r>
            </a:p>
          </p:txBody>
        </p:sp>
      </p:grpSp>
      <p:sp>
        <p:nvSpPr>
          <p:cNvPr name="Freeform 44" id="44" descr="preencoded.png"/>
          <p:cNvSpPr/>
          <p:nvPr/>
        </p:nvSpPr>
        <p:spPr>
          <a:xfrm flipH="false" flipV="false" rot="0">
            <a:off x="6290816" y="3016895"/>
            <a:ext cx="5706219" cy="5706219"/>
          </a:xfrm>
          <a:custGeom>
            <a:avLst/>
            <a:gdLst/>
            <a:ahLst/>
            <a:cxnLst/>
            <a:rect r="r" b="b" t="t" l="l"/>
            <a:pathLst>
              <a:path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7297788" y="6753076"/>
            <a:ext cx="424160" cy="530275"/>
            <a:chOff x="0" y="0"/>
            <a:chExt cx="565547" cy="70703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5547" cy="707033"/>
            </a:xfrm>
            <a:custGeom>
              <a:avLst/>
              <a:gdLst/>
              <a:ahLst/>
              <a:cxnLst/>
              <a:rect r="r" b="b" t="t" l="l"/>
              <a:pathLst>
                <a:path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33350"/>
              <a:ext cx="565547" cy="8403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312"/>
                </a:lnSpc>
              </a:pPr>
              <a:r>
                <a:rPr lang="en-US" sz="3312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0" y="0"/>
            <a:ext cx="18288000" cy="3544044"/>
          </a:xfrm>
          <a:custGeom>
            <a:avLst/>
            <a:gdLst/>
            <a:ahLst/>
            <a:cxnLst/>
            <a:rect r="r" b="b" t="t" l="l"/>
            <a:pathLst>
              <a:path h="3544044" w="18288000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" t="0" r="-1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2238" y="4578400"/>
            <a:ext cx="10434489" cy="885974"/>
            <a:chOff x="0" y="0"/>
            <a:chExt cx="13912652" cy="1181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2652" cy="1181298"/>
            </a:xfrm>
            <a:custGeom>
              <a:avLst/>
              <a:gdLst/>
              <a:ahLst/>
              <a:cxnLst/>
              <a:rect r="r" b="b" t="t" l="l"/>
              <a:pathLst>
                <a:path h="1181298" w="13912652">
                  <a:moveTo>
                    <a:pt x="0" y="0"/>
                  </a:moveTo>
                  <a:lnTo>
                    <a:pt x="13912652" y="0"/>
                  </a:lnTo>
                  <a:lnTo>
                    <a:pt x="13912652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3912652" cy="12003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Data Collection &amp; Preprocessing</a:t>
              </a:r>
            </a:p>
          </p:txBody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992238" y="5889575"/>
            <a:ext cx="4075808" cy="1134070"/>
          </a:xfrm>
          <a:custGeom>
            <a:avLst/>
            <a:gdLst/>
            <a:ahLst/>
            <a:cxnLst/>
            <a:rect r="r" b="b" t="t" l="l"/>
            <a:pathLst>
              <a:path h="1134070" w="4075808">
                <a:moveTo>
                  <a:pt x="0" y="0"/>
                </a:moveTo>
                <a:lnTo>
                  <a:pt x="4075807" y="0"/>
                </a:lnTo>
                <a:lnTo>
                  <a:pt x="4075807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" t="0" r="-37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75755" y="7448847"/>
            <a:ext cx="3508772" cy="442912"/>
            <a:chOff x="0" y="0"/>
            <a:chExt cx="4678363" cy="5905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78363" cy="590550"/>
            </a:xfrm>
            <a:custGeom>
              <a:avLst/>
              <a:gdLst/>
              <a:ahLst/>
              <a:cxnLst/>
              <a:rect r="r" b="b" t="t" l="l"/>
              <a:pathLst>
                <a:path h="590550" w="4678363">
                  <a:moveTo>
                    <a:pt x="0" y="0"/>
                  </a:moveTo>
                  <a:lnTo>
                    <a:pt x="4678363" y="0"/>
                  </a:lnTo>
                  <a:lnTo>
                    <a:pt x="4678363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678363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Data Collection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5755" y="8061871"/>
            <a:ext cx="3508772" cy="907256"/>
            <a:chOff x="0" y="0"/>
            <a:chExt cx="4678363" cy="12096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78363" cy="1209675"/>
            </a:xfrm>
            <a:custGeom>
              <a:avLst/>
              <a:gdLst/>
              <a:ahLst/>
              <a:cxnLst/>
              <a:rect r="r" b="b" t="t" l="l"/>
              <a:pathLst>
                <a:path h="1209675" w="4678363">
                  <a:moveTo>
                    <a:pt x="0" y="0"/>
                  </a:moveTo>
                  <a:lnTo>
                    <a:pt x="4678363" y="0"/>
                  </a:lnTo>
                  <a:lnTo>
                    <a:pt x="467836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4678363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Public social media datasets</a:t>
              </a:r>
            </a:p>
          </p:txBody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5068044" y="5889575"/>
            <a:ext cx="4075956" cy="1134070"/>
          </a:xfrm>
          <a:custGeom>
            <a:avLst/>
            <a:gdLst/>
            <a:ahLst/>
            <a:cxnLst/>
            <a:rect r="r" b="b" t="t" l="l"/>
            <a:pathLst>
              <a:path h="1134070" w="4075956">
                <a:moveTo>
                  <a:pt x="0" y="0"/>
                </a:moveTo>
                <a:lnTo>
                  <a:pt x="4075956" y="0"/>
                </a:lnTo>
                <a:lnTo>
                  <a:pt x="4075956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5" t="0" r="-35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351561" y="7448847"/>
            <a:ext cx="3508921" cy="442912"/>
            <a:chOff x="0" y="0"/>
            <a:chExt cx="4678562" cy="590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78562" cy="590550"/>
            </a:xfrm>
            <a:custGeom>
              <a:avLst/>
              <a:gdLst/>
              <a:ahLst/>
              <a:cxnLst/>
              <a:rect r="r" b="b" t="t" l="l"/>
              <a:pathLst>
                <a:path h="590550" w="4678562">
                  <a:moveTo>
                    <a:pt x="0" y="0"/>
                  </a:moveTo>
                  <a:lnTo>
                    <a:pt x="4678562" y="0"/>
                  </a:lnTo>
                  <a:lnTo>
                    <a:pt x="467856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467856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Cleaning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351561" y="8061871"/>
            <a:ext cx="3508921" cy="907256"/>
            <a:chOff x="0" y="0"/>
            <a:chExt cx="4678562" cy="12096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78562" cy="1209675"/>
            </a:xfrm>
            <a:custGeom>
              <a:avLst/>
              <a:gdLst/>
              <a:ahLst/>
              <a:cxnLst/>
              <a:rect r="r" b="b" t="t" l="l"/>
              <a:pathLst>
                <a:path h="1209675" w="4678562">
                  <a:moveTo>
                    <a:pt x="0" y="0"/>
                  </a:moveTo>
                  <a:lnTo>
                    <a:pt x="4678562" y="0"/>
                  </a:lnTo>
                  <a:lnTo>
                    <a:pt x="4678562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4678562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Anonymization and noise removal</a:t>
              </a:r>
            </a:p>
          </p:txBody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9144000" y="5889575"/>
            <a:ext cx="4075807" cy="1134070"/>
          </a:xfrm>
          <a:custGeom>
            <a:avLst/>
            <a:gdLst/>
            <a:ahLst/>
            <a:cxnLst/>
            <a:rect r="r" b="b" t="t" l="l"/>
            <a:pathLst>
              <a:path h="1134070" w="4075807">
                <a:moveTo>
                  <a:pt x="0" y="0"/>
                </a:moveTo>
                <a:lnTo>
                  <a:pt x="4075807" y="0"/>
                </a:lnTo>
                <a:lnTo>
                  <a:pt x="4075807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7" t="0" r="-37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427518" y="7448847"/>
            <a:ext cx="3508772" cy="442912"/>
            <a:chOff x="0" y="0"/>
            <a:chExt cx="4678363" cy="5905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78363" cy="590550"/>
            </a:xfrm>
            <a:custGeom>
              <a:avLst/>
              <a:gdLst/>
              <a:ahLst/>
              <a:cxnLst/>
              <a:rect r="r" b="b" t="t" l="l"/>
              <a:pathLst>
                <a:path h="590550" w="4678363">
                  <a:moveTo>
                    <a:pt x="0" y="0"/>
                  </a:moveTo>
                  <a:lnTo>
                    <a:pt x="4678363" y="0"/>
                  </a:lnTo>
                  <a:lnTo>
                    <a:pt x="4678363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678363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Preprocessing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27518" y="8061871"/>
            <a:ext cx="3508772" cy="907256"/>
            <a:chOff x="0" y="0"/>
            <a:chExt cx="4678363" cy="12096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78363" cy="1209675"/>
            </a:xfrm>
            <a:custGeom>
              <a:avLst/>
              <a:gdLst/>
              <a:ahLst/>
              <a:cxnLst/>
              <a:rect r="r" b="b" t="t" l="l"/>
              <a:pathLst>
                <a:path h="1209675" w="4678363">
                  <a:moveTo>
                    <a:pt x="0" y="0"/>
                  </a:moveTo>
                  <a:lnTo>
                    <a:pt x="4678363" y="0"/>
                  </a:lnTo>
                  <a:lnTo>
                    <a:pt x="467836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4678363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Tokenization, stop word removal, lemmatization</a:t>
              </a:r>
            </a:p>
          </p:txBody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13219807" y="5889575"/>
            <a:ext cx="4075956" cy="1134070"/>
          </a:xfrm>
          <a:custGeom>
            <a:avLst/>
            <a:gdLst/>
            <a:ahLst/>
            <a:cxnLst/>
            <a:rect r="r" b="b" t="t" l="l"/>
            <a:pathLst>
              <a:path h="1134070" w="4075956">
                <a:moveTo>
                  <a:pt x="0" y="0"/>
                </a:moveTo>
                <a:lnTo>
                  <a:pt x="4075957" y="0"/>
                </a:lnTo>
                <a:lnTo>
                  <a:pt x="4075957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5" t="0" r="-35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3503325" y="7448847"/>
            <a:ext cx="3508921" cy="442912"/>
            <a:chOff x="0" y="0"/>
            <a:chExt cx="4678562" cy="5905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78562" cy="590550"/>
            </a:xfrm>
            <a:custGeom>
              <a:avLst/>
              <a:gdLst/>
              <a:ahLst/>
              <a:cxnLst/>
              <a:rect r="r" b="b" t="t" l="l"/>
              <a:pathLst>
                <a:path h="590550" w="4678562">
                  <a:moveTo>
                    <a:pt x="0" y="0"/>
                  </a:moveTo>
                  <a:lnTo>
                    <a:pt x="4678562" y="0"/>
                  </a:lnTo>
                  <a:lnTo>
                    <a:pt x="467856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67856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Feature Extraction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503325" y="8061871"/>
            <a:ext cx="3508921" cy="907256"/>
            <a:chOff x="0" y="0"/>
            <a:chExt cx="4678562" cy="12096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78562" cy="1209675"/>
            </a:xfrm>
            <a:custGeom>
              <a:avLst/>
              <a:gdLst/>
              <a:ahLst/>
              <a:cxnLst/>
              <a:rect r="r" b="b" t="t" l="l"/>
              <a:pathLst>
                <a:path h="1209675" w="4678562">
                  <a:moveTo>
                    <a:pt x="0" y="0"/>
                  </a:moveTo>
                  <a:lnTo>
                    <a:pt x="4678562" y="0"/>
                  </a:lnTo>
                  <a:lnTo>
                    <a:pt x="4678562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4678562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Sentiment, n-grams, emotion analysis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2238" y="3430190"/>
            <a:ext cx="8428881" cy="885974"/>
            <a:chOff x="0" y="0"/>
            <a:chExt cx="11238508" cy="11812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38509" cy="1181298"/>
            </a:xfrm>
            <a:custGeom>
              <a:avLst/>
              <a:gdLst/>
              <a:ahLst/>
              <a:cxnLst/>
              <a:rect r="r" b="b" t="t" l="l"/>
              <a:pathLst>
                <a:path h="1181298" w="11238509">
                  <a:moveTo>
                    <a:pt x="0" y="0"/>
                  </a:moveTo>
                  <a:lnTo>
                    <a:pt x="11238509" y="0"/>
                  </a:lnTo>
                  <a:lnTo>
                    <a:pt x="11238509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1238508" cy="12003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Machine Learning Models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2238" y="5024884"/>
            <a:ext cx="3544044" cy="442912"/>
            <a:chOff x="0" y="0"/>
            <a:chExt cx="4725392" cy="5905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Classical Models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2238" y="5751314"/>
            <a:ext cx="7805886" cy="453629"/>
            <a:chOff x="0" y="0"/>
            <a:chExt cx="10407848" cy="6048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Support Vector Machines (SVM)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2238" y="6304061"/>
            <a:ext cx="7805886" cy="453629"/>
            <a:chOff x="0" y="0"/>
            <a:chExt cx="10407848" cy="6048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Random Forest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99401" y="5024884"/>
            <a:ext cx="3544044" cy="442912"/>
            <a:chOff x="0" y="0"/>
            <a:chExt cx="4725392" cy="590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Deep Learning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99401" y="5751314"/>
            <a:ext cx="7805886" cy="453629"/>
            <a:chOff x="0" y="0"/>
            <a:chExt cx="10407848" cy="6048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LSTM (Long Short-Term Memory)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99401" y="6304061"/>
            <a:ext cx="7805886" cy="453629"/>
            <a:chOff x="0" y="0"/>
            <a:chExt cx="10407848" cy="604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BERT (Transformer-based)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sp>
        <p:nvSpPr>
          <p:cNvPr name="Freeform 5" id="5" descr="preencoded.png">
            <a:hlinkClick r:id="rId5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92238" y="2462659"/>
            <a:ext cx="7272189" cy="885974"/>
            <a:chOff x="0" y="0"/>
            <a:chExt cx="9696252" cy="1181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96252" cy="1181298"/>
            </a:xfrm>
            <a:custGeom>
              <a:avLst/>
              <a:gdLst/>
              <a:ahLst/>
              <a:cxnLst/>
              <a:rect r="r" b="b" t="t" l="l"/>
              <a:pathLst>
                <a:path h="1181298" w="9696252">
                  <a:moveTo>
                    <a:pt x="0" y="0"/>
                  </a:moveTo>
                  <a:lnTo>
                    <a:pt x="9696252" y="0"/>
                  </a:lnTo>
                  <a:lnTo>
                    <a:pt x="9696252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696252" cy="12003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Ethical Considerations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7950" y="3759548"/>
            <a:ext cx="241101" cy="1095226"/>
            <a:chOff x="0" y="0"/>
            <a:chExt cx="321468" cy="14603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283337" cy="1422273"/>
            </a:xfrm>
            <a:custGeom>
              <a:avLst/>
              <a:gdLst/>
              <a:ahLst/>
              <a:cxnLst/>
              <a:rect r="r" b="b" t="t" l="l"/>
              <a:pathLst>
                <a:path h="1422273" w="283337">
                  <a:moveTo>
                    <a:pt x="0" y="156591"/>
                  </a:moveTo>
                  <a:cubicBezTo>
                    <a:pt x="0" y="70104"/>
                    <a:pt x="63373" y="0"/>
                    <a:pt x="141732" y="0"/>
                  </a:cubicBezTo>
                  <a:cubicBezTo>
                    <a:pt x="220091" y="0"/>
                    <a:pt x="283337" y="70104"/>
                    <a:pt x="283337" y="156591"/>
                  </a:cubicBezTo>
                  <a:lnTo>
                    <a:pt x="283337" y="1265682"/>
                  </a:lnTo>
                  <a:cubicBezTo>
                    <a:pt x="283337" y="1352169"/>
                    <a:pt x="219964" y="1422273"/>
                    <a:pt x="141605" y="1422273"/>
                  </a:cubicBezTo>
                  <a:cubicBezTo>
                    <a:pt x="63246" y="1422273"/>
                    <a:pt x="0" y="1352169"/>
                    <a:pt x="0" y="1265682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1564" cy="1460373"/>
            </a:xfrm>
            <a:custGeom>
              <a:avLst/>
              <a:gdLst/>
              <a:ahLst/>
              <a:cxnLst/>
              <a:rect r="r" b="b" t="t" l="l"/>
              <a:pathLst>
                <a:path h="1460373" w="321564">
                  <a:moveTo>
                    <a:pt x="0" y="175641"/>
                  </a:moveTo>
                  <a:cubicBezTo>
                    <a:pt x="0" y="80391"/>
                    <a:pt x="70231" y="0"/>
                    <a:pt x="160782" y="0"/>
                  </a:cubicBezTo>
                  <a:cubicBezTo>
                    <a:pt x="166624" y="0"/>
                    <a:pt x="172085" y="2667"/>
                    <a:pt x="175641" y="7112"/>
                  </a:cubicBezTo>
                  <a:lnTo>
                    <a:pt x="160782" y="19050"/>
                  </a:lnTo>
                  <a:lnTo>
                    <a:pt x="160782" y="0"/>
                  </a:lnTo>
                  <a:lnTo>
                    <a:pt x="160782" y="19050"/>
                  </a:lnTo>
                  <a:lnTo>
                    <a:pt x="160782" y="0"/>
                  </a:lnTo>
                  <a:cubicBezTo>
                    <a:pt x="251333" y="0"/>
                    <a:pt x="321564" y="80391"/>
                    <a:pt x="321564" y="175641"/>
                  </a:cubicBezTo>
                  <a:lnTo>
                    <a:pt x="321564" y="1284732"/>
                  </a:lnTo>
                  <a:lnTo>
                    <a:pt x="302514" y="1284732"/>
                  </a:lnTo>
                  <a:lnTo>
                    <a:pt x="321564" y="1284732"/>
                  </a:lnTo>
                  <a:cubicBezTo>
                    <a:pt x="321564" y="1379855"/>
                    <a:pt x="251333" y="1460373"/>
                    <a:pt x="160782" y="1460373"/>
                  </a:cubicBezTo>
                  <a:lnTo>
                    <a:pt x="160782" y="1441323"/>
                  </a:lnTo>
                  <a:lnTo>
                    <a:pt x="160782" y="1422273"/>
                  </a:lnTo>
                  <a:lnTo>
                    <a:pt x="160782" y="1441323"/>
                  </a:lnTo>
                  <a:lnTo>
                    <a:pt x="160782" y="1460373"/>
                  </a:lnTo>
                  <a:cubicBezTo>
                    <a:pt x="70231" y="1460246"/>
                    <a:pt x="0" y="1379855"/>
                    <a:pt x="0" y="1284732"/>
                  </a:cubicBezTo>
                  <a:lnTo>
                    <a:pt x="0" y="175641"/>
                  </a:lnTo>
                  <a:lnTo>
                    <a:pt x="19050" y="175641"/>
                  </a:lnTo>
                  <a:lnTo>
                    <a:pt x="0" y="175641"/>
                  </a:lnTo>
                  <a:moveTo>
                    <a:pt x="38100" y="175641"/>
                  </a:moveTo>
                  <a:lnTo>
                    <a:pt x="38100" y="1284732"/>
                  </a:lnTo>
                  <a:lnTo>
                    <a:pt x="19050" y="1284732"/>
                  </a:lnTo>
                  <a:lnTo>
                    <a:pt x="38100" y="1284732"/>
                  </a:lnTo>
                  <a:cubicBezTo>
                    <a:pt x="38100" y="1362456"/>
                    <a:pt x="94742" y="1422273"/>
                    <a:pt x="160782" y="1422273"/>
                  </a:cubicBezTo>
                  <a:cubicBezTo>
                    <a:pt x="171323" y="1422273"/>
                    <a:pt x="179832" y="1430782"/>
                    <a:pt x="179832" y="1441323"/>
                  </a:cubicBezTo>
                  <a:cubicBezTo>
                    <a:pt x="179832" y="1451864"/>
                    <a:pt x="171323" y="1460373"/>
                    <a:pt x="160782" y="1460373"/>
                  </a:cubicBezTo>
                  <a:cubicBezTo>
                    <a:pt x="150241" y="1460373"/>
                    <a:pt x="141732" y="1451864"/>
                    <a:pt x="141732" y="1441323"/>
                  </a:cubicBezTo>
                  <a:cubicBezTo>
                    <a:pt x="141732" y="1430782"/>
                    <a:pt x="150241" y="1422273"/>
                    <a:pt x="160782" y="1422273"/>
                  </a:cubicBezTo>
                  <a:cubicBezTo>
                    <a:pt x="226822" y="1422273"/>
                    <a:pt x="283464" y="1362583"/>
                    <a:pt x="283464" y="1284732"/>
                  </a:cubicBezTo>
                  <a:lnTo>
                    <a:pt x="283464" y="175641"/>
                  </a:lnTo>
                  <a:lnTo>
                    <a:pt x="302514" y="175641"/>
                  </a:lnTo>
                  <a:lnTo>
                    <a:pt x="283464" y="175641"/>
                  </a:lnTo>
                  <a:cubicBezTo>
                    <a:pt x="283337" y="97790"/>
                    <a:pt x="226695" y="38100"/>
                    <a:pt x="160782" y="38100"/>
                  </a:cubicBezTo>
                  <a:cubicBezTo>
                    <a:pt x="154940" y="38100"/>
                    <a:pt x="149479" y="35433"/>
                    <a:pt x="145923" y="30988"/>
                  </a:cubicBezTo>
                  <a:lnTo>
                    <a:pt x="160782" y="19050"/>
                  </a:lnTo>
                  <a:lnTo>
                    <a:pt x="160782" y="38100"/>
                  </a:lnTo>
                  <a:cubicBezTo>
                    <a:pt x="94742" y="38100"/>
                    <a:pt x="38100" y="97790"/>
                    <a:pt x="38100" y="175641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29966" y="3773835"/>
            <a:ext cx="3544044" cy="442912"/>
            <a:chOff x="0" y="0"/>
            <a:chExt cx="4725392" cy="590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Data Privacy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29966" y="4386858"/>
            <a:ext cx="8807798" cy="453629"/>
            <a:chOff x="0" y="0"/>
            <a:chExt cx="11743730" cy="6048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43730" cy="604838"/>
            </a:xfrm>
            <a:custGeom>
              <a:avLst/>
              <a:gdLst/>
              <a:ahLst/>
              <a:cxnLst/>
              <a:rect r="r" b="b" t="t" l="l"/>
              <a:pathLst>
                <a:path h="604838" w="11743730">
                  <a:moveTo>
                    <a:pt x="0" y="0"/>
                  </a:moveTo>
                  <a:lnTo>
                    <a:pt x="11743730" y="0"/>
                  </a:lnTo>
                  <a:lnTo>
                    <a:pt x="1174373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1174373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Anonymization, user consent compliance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03151" y="5109716"/>
            <a:ext cx="241101" cy="1095226"/>
            <a:chOff x="0" y="0"/>
            <a:chExt cx="321468" cy="14603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9050" y="19050"/>
              <a:ext cx="283337" cy="1422273"/>
            </a:xfrm>
            <a:custGeom>
              <a:avLst/>
              <a:gdLst/>
              <a:ahLst/>
              <a:cxnLst/>
              <a:rect r="r" b="b" t="t" l="l"/>
              <a:pathLst>
                <a:path h="1422273" w="283337">
                  <a:moveTo>
                    <a:pt x="0" y="156591"/>
                  </a:moveTo>
                  <a:cubicBezTo>
                    <a:pt x="0" y="70104"/>
                    <a:pt x="63373" y="0"/>
                    <a:pt x="141732" y="0"/>
                  </a:cubicBezTo>
                  <a:cubicBezTo>
                    <a:pt x="220091" y="0"/>
                    <a:pt x="283337" y="70104"/>
                    <a:pt x="283337" y="156591"/>
                  </a:cubicBezTo>
                  <a:lnTo>
                    <a:pt x="283337" y="1265682"/>
                  </a:lnTo>
                  <a:cubicBezTo>
                    <a:pt x="283337" y="1352169"/>
                    <a:pt x="219964" y="1422273"/>
                    <a:pt x="141605" y="1422273"/>
                  </a:cubicBezTo>
                  <a:cubicBezTo>
                    <a:pt x="63246" y="1422273"/>
                    <a:pt x="0" y="1352169"/>
                    <a:pt x="0" y="1265682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1564" cy="1460373"/>
            </a:xfrm>
            <a:custGeom>
              <a:avLst/>
              <a:gdLst/>
              <a:ahLst/>
              <a:cxnLst/>
              <a:rect r="r" b="b" t="t" l="l"/>
              <a:pathLst>
                <a:path h="1460373" w="321564">
                  <a:moveTo>
                    <a:pt x="0" y="175641"/>
                  </a:moveTo>
                  <a:cubicBezTo>
                    <a:pt x="0" y="80391"/>
                    <a:pt x="70231" y="0"/>
                    <a:pt x="160782" y="0"/>
                  </a:cubicBezTo>
                  <a:cubicBezTo>
                    <a:pt x="166624" y="0"/>
                    <a:pt x="172085" y="2667"/>
                    <a:pt x="175641" y="7112"/>
                  </a:cubicBezTo>
                  <a:lnTo>
                    <a:pt x="160782" y="19050"/>
                  </a:lnTo>
                  <a:lnTo>
                    <a:pt x="160782" y="0"/>
                  </a:lnTo>
                  <a:lnTo>
                    <a:pt x="160782" y="19050"/>
                  </a:lnTo>
                  <a:lnTo>
                    <a:pt x="160782" y="0"/>
                  </a:lnTo>
                  <a:cubicBezTo>
                    <a:pt x="251333" y="0"/>
                    <a:pt x="321564" y="80391"/>
                    <a:pt x="321564" y="175641"/>
                  </a:cubicBezTo>
                  <a:lnTo>
                    <a:pt x="321564" y="1284732"/>
                  </a:lnTo>
                  <a:lnTo>
                    <a:pt x="302514" y="1284732"/>
                  </a:lnTo>
                  <a:lnTo>
                    <a:pt x="321564" y="1284732"/>
                  </a:lnTo>
                  <a:cubicBezTo>
                    <a:pt x="321564" y="1379855"/>
                    <a:pt x="251333" y="1460373"/>
                    <a:pt x="160782" y="1460373"/>
                  </a:cubicBezTo>
                  <a:lnTo>
                    <a:pt x="160782" y="1441323"/>
                  </a:lnTo>
                  <a:lnTo>
                    <a:pt x="160782" y="1422273"/>
                  </a:lnTo>
                  <a:lnTo>
                    <a:pt x="160782" y="1441323"/>
                  </a:lnTo>
                  <a:lnTo>
                    <a:pt x="160782" y="1460373"/>
                  </a:lnTo>
                  <a:cubicBezTo>
                    <a:pt x="70231" y="1460246"/>
                    <a:pt x="0" y="1379855"/>
                    <a:pt x="0" y="1284732"/>
                  </a:cubicBezTo>
                  <a:lnTo>
                    <a:pt x="0" y="175641"/>
                  </a:lnTo>
                  <a:lnTo>
                    <a:pt x="19050" y="175641"/>
                  </a:lnTo>
                  <a:lnTo>
                    <a:pt x="0" y="175641"/>
                  </a:lnTo>
                  <a:moveTo>
                    <a:pt x="38100" y="175641"/>
                  </a:moveTo>
                  <a:lnTo>
                    <a:pt x="38100" y="1284732"/>
                  </a:lnTo>
                  <a:lnTo>
                    <a:pt x="19050" y="1284732"/>
                  </a:lnTo>
                  <a:lnTo>
                    <a:pt x="38100" y="1284732"/>
                  </a:lnTo>
                  <a:cubicBezTo>
                    <a:pt x="38100" y="1362456"/>
                    <a:pt x="94742" y="1422273"/>
                    <a:pt x="160782" y="1422273"/>
                  </a:cubicBezTo>
                  <a:cubicBezTo>
                    <a:pt x="171323" y="1422273"/>
                    <a:pt x="179832" y="1430782"/>
                    <a:pt x="179832" y="1441323"/>
                  </a:cubicBezTo>
                  <a:cubicBezTo>
                    <a:pt x="179832" y="1451864"/>
                    <a:pt x="171323" y="1460373"/>
                    <a:pt x="160782" y="1460373"/>
                  </a:cubicBezTo>
                  <a:cubicBezTo>
                    <a:pt x="150241" y="1460373"/>
                    <a:pt x="141732" y="1451864"/>
                    <a:pt x="141732" y="1441323"/>
                  </a:cubicBezTo>
                  <a:cubicBezTo>
                    <a:pt x="141732" y="1430782"/>
                    <a:pt x="150241" y="1422273"/>
                    <a:pt x="160782" y="1422273"/>
                  </a:cubicBezTo>
                  <a:cubicBezTo>
                    <a:pt x="226822" y="1422273"/>
                    <a:pt x="283464" y="1362583"/>
                    <a:pt x="283464" y="1284732"/>
                  </a:cubicBezTo>
                  <a:lnTo>
                    <a:pt x="283464" y="175641"/>
                  </a:lnTo>
                  <a:lnTo>
                    <a:pt x="302514" y="175641"/>
                  </a:lnTo>
                  <a:lnTo>
                    <a:pt x="283464" y="175641"/>
                  </a:lnTo>
                  <a:cubicBezTo>
                    <a:pt x="283337" y="97790"/>
                    <a:pt x="226695" y="38100"/>
                    <a:pt x="160782" y="38100"/>
                  </a:cubicBezTo>
                  <a:cubicBezTo>
                    <a:pt x="154940" y="38100"/>
                    <a:pt x="149479" y="35433"/>
                    <a:pt x="145923" y="30988"/>
                  </a:cubicBezTo>
                  <a:lnTo>
                    <a:pt x="160782" y="19050"/>
                  </a:lnTo>
                  <a:lnTo>
                    <a:pt x="160782" y="38100"/>
                  </a:lnTo>
                  <a:cubicBezTo>
                    <a:pt x="94742" y="38100"/>
                    <a:pt x="38100" y="97790"/>
                    <a:pt x="38100" y="175641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055168" y="5124004"/>
            <a:ext cx="3544044" cy="442912"/>
            <a:chOff x="0" y="0"/>
            <a:chExt cx="4725392" cy="5905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Limitations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55168" y="5737026"/>
            <a:ext cx="8382595" cy="453629"/>
            <a:chOff x="0" y="0"/>
            <a:chExt cx="11176793" cy="60483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176793" cy="604838"/>
            </a:xfrm>
            <a:custGeom>
              <a:avLst/>
              <a:gdLst/>
              <a:ahLst/>
              <a:cxnLst/>
              <a:rect r="r" b="b" t="t" l="l"/>
              <a:pathLst>
                <a:path h="604838" w="11176793">
                  <a:moveTo>
                    <a:pt x="0" y="0"/>
                  </a:moveTo>
                  <a:lnTo>
                    <a:pt x="11176793" y="0"/>
                  </a:lnTo>
                  <a:lnTo>
                    <a:pt x="1117679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11176793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False positives, misuse, profiling risks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28502" y="6459885"/>
            <a:ext cx="241101" cy="1095226"/>
            <a:chOff x="0" y="0"/>
            <a:chExt cx="321468" cy="146030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9050" y="19050"/>
              <a:ext cx="283337" cy="1422273"/>
            </a:xfrm>
            <a:custGeom>
              <a:avLst/>
              <a:gdLst/>
              <a:ahLst/>
              <a:cxnLst/>
              <a:rect r="r" b="b" t="t" l="l"/>
              <a:pathLst>
                <a:path h="1422273" w="283337">
                  <a:moveTo>
                    <a:pt x="0" y="156591"/>
                  </a:moveTo>
                  <a:cubicBezTo>
                    <a:pt x="0" y="70104"/>
                    <a:pt x="63373" y="0"/>
                    <a:pt x="141732" y="0"/>
                  </a:cubicBezTo>
                  <a:cubicBezTo>
                    <a:pt x="220091" y="0"/>
                    <a:pt x="283337" y="70104"/>
                    <a:pt x="283337" y="156591"/>
                  </a:cubicBezTo>
                  <a:lnTo>
                    <a:pt x="283337" y="1265682"/>
                  </a:lnTo>
                  <a:cubicBezTo>
                    <a:pt x="283337" y="1352169"/>
                    <a:pt x="219964" y="1422273"/>
                    <a:pt x="141605" y="1422273"/>
                  </a:cubicBezTo>
                  <a:cubicBezTo>
                    <a:pt x="63246" y="1422273"/>
                    <a:pt x="0" y="1352169"/>
                    <a:pt x="0" y="1265682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1564" cy="1460373"/>
            </a:xfrm>
            <a:custGeom>
              <a:avLst/>
              <a:gdLst/>
              <a:ahLst/>
              <a:cxnLst/>
              <a:rect r="r" b="b" t="t" l="l"/>
              <a:pathLst>
                <a:path h="1460373" w="321564">
                  <a:moveTo>
                    <a:pt x="0" y="175641"/>
                  </a:moveTo>
                  <a:cubicBezTo>
                    <a:pt x="0" y="80391"/>
                    <a:pt x="70231" y="0"/>
                    <a:pt x="160782" y="0"/>
                  </a:cubicBezTo>
                  <a:cubicBezTo>
                    <a:pt x="166624" y="0"/>
                    <a:pt x="172085" y="2667"/>
                    <a:pt x="175641" y="7112"/>
                  </a:cubicBezTo>
                  <a:lnTo>
                    <a:pt x="160782" y="19050"/>
                  </a:lnTo>
                  <a:lnTo>
                    <a:pt x="160782" y="0"/>
                  </a:lnTo>
                  <a:lnTo>
                    <a:pt x="160782" y="19050"/>
                  </a:lnTo>
                  <a:lnTo>
                    <a:pt x="160782" y="0"/>
                  </a:lnTo>
                  <a:cubicBezTo>
                    <a:pt x="251333" y="0"/>
                    <a:pt x="321564" y="80391"/>
                    <a:pt x="321564" y="175641"/>
                  </a:cubicBezTo>
                  <a:lnTo>
                    <a:pt x="321564" y="1284732"/>
                  </a:lnTo>
                  <a:lnTo>
                    <a:pt x="302514" y="1284732"/>
                  </a:lnTo>
                  <a:lnTo>
                    <a:pt x="321564" y="1284732"/>
                  </a:lnTo>
                  <a:cubicBezTo>
                    <a:pt x="321564" y="1379855"/>
                    <a:pt x="251333" y="1460373"/>
                    <a:pt x="160782" y="1460373"/>
                  </a:cubicBezTo>
                  <a:lnTo>
                    <a:pt x="160782" y="1441323"/>
                  </a:lnTo>
                  <a:lnTo>
                    <a:pt x="160782" y="1422273"/>
                  </a:lnTo>
                  <a:lnTo>
                    <a:pt x="160782" y="1441323"/>
                  </a:lnTo>
                  <a:lnTo>
                    <a:pt x="160782" y="1460373"/>
                  </a:lnTo>
                  <a:cubicBezTo>
                    <a:pt x="70231" y="1460246"/>
                    <a:pt x="0" y="1379855"/>
                    <a:pt x="0" y="1284732"/>
                  </a:cubicBezTo>
                  <a:lnTo>
                    <a:pt x="0" y="175641"/>
                  </a:lnTo>
                  <a:lnTo>
                    <a:pt x="19050" y="175641"/>
                  </a:lnTo>
                  <a:lnTo>
                    <a:pt x="0" y="175641"/>
                  </a:lnTo>
                  <a:moveTo>
                    <a:pt x="38100" y="175641"/>
                  </a:moveTo>
                  <a:lnTo>
                    <a:pt x="38100" y="1284732"/>
                  </a:lnTo>
                  <a:lnTo>
                    <a:pt x="19050" y="1284732"/>
                  </a:lnTo>
                  <a:lnTo>
                    <a:pt x="38100" y="1284732"/>
                  </a:lnTo>
                  <a:cubicBezTo>
                    <a:pt x="38100" y="1362456"/>
                    <a:pt x="94742" y="1422273"/>
                    <a:pt x="160782" y="1422273"/>
                  </a:cubicBezTo>
                  <a:cubicBezTo>
                    <a:pt x="171323" y="1422273"/>
                    <a:pt x="179832" y="1430782"/>
                    <a:pt x="179832" y="1441323"/>
                  </a:cubicBezTo>
                  <a:cubicBezTo>
                    <a:pt x="179832" y="1451864"/>
                    <a:pt x="171323" y="1460373"/>
                    <a:pt x="160782" y="1460373"/>
                  </a:cubicBezTo>
                  <a:cubicBezTo>
                    <a:pt x="150241" y="1460373"/>
                    <a:pt x="141732" y="1451864"/>
                    <a:pt x="141732" y="1441323"/>
                  </a:cubicBezTo>
                  <a:cubicBezTo>
                    <a:pt x="141732" y="1430782"/>
                    <a:pt x="150241" y="1422273"/>
                    <a:pt x="160782" y="1422273"/>
                  </a:cubicBezTo>
                  <a:cubicBezTo>
                    <a:pt x="226822" y="1422273"/>
                    <a:pt x="283464" y="1362583"/>
                    <a:pt x="283464" y="1284732"/>
                  </a:cubicBezTo>
                  <a:lnTo>
                    <a:pt x="283464" y="175641"/>
                  </a:lnTo>
                  <a:lnTo>
                    <a:pt x="302514" y="175641"/>
                  </a:lnTo>
                  <a:lnTo>
                    <a:pt x="283464" y="175641"/>
                  </a:lnTo>
                  <a:cubicBezTo>
                    <a:pt x="283337" y="97790"/>
                    <a:pt x="226695" y="38100"/>
                    <a:pt x="160782" y="38100"/>
                  </a:cubicBezTo>
                  <a:cubicBezTo>
                    <a:pt x="154940" y="38100"/>
                    <a:pt x="149479" y="35433"/>
                    <a:pt x="145923" y="30988"/>
                  </a:cubicBezTo>
                  <a:lnTo>
                    <a:pt x="160782" y="19050"/>
                  </a:lnTo>
                  <a:lnTo>
                    <a:pt x="160782" y="38100"/>
                  </a:lnTo>
                  <a:cubicBezTo>
                    <a:pt x="94742" y="38100"/>
                    <a:pt x="38100" y="97790"/>
                    <a:pt x="38100" y="175641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480519" y="6474173"/>
            <a:ext cx="3544044" cy="442912"/>
            <a:chOff x="0" y="0"/>
            <a:chExt cx="4725392" cy="5905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Transparency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480519" y="7087195"/>
            <a:ext cx="7957245" cy="453629"/>
            <a:chOff x="0" y="0"/>
            <a:chExt cx="10609660" cy="6048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09660" cy="604838"/>
            </a:xfrm>
            <a:custGeom>
              <a:avLst/>
              <a:gdLst/>
              <a:ahLst/>
              <a:cxnLst/>
              <a:rect r="r" b="b" t="t" l="l"/>
              <a:pathLst>
                <a:path h="604838" w="10609660">
                  <a:moveTo>
                    <a:pt x="0" y="0"/>
                  </a:moveTo>
                  <a:lnTo>
                    <a:pt x="10609660" y="0"/>
                  </a:lnTo>
                  <a:lnTo>
                    <a:pt x="1060966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1060966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Explainability, responsible use promotion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0" y="0"/>
            <a:ext cx="18288000" cy="2974032"/>
          </a:xfrm>
          <a:custGeom>
            <a:avLst/>
            <a:gdLst/>
            <a:ahLst/>
            <a:cxnLst/>
            <a:rect r="r" b="b" t="t" l="l"/>
            <a:pathLst>
              <a:path h="2974032" w="18288000">
                <a:moveTo>
                  <a:pt x="0" y="0"/>
                </a:moveTo>
                <a:lnTo>
                  <a:pt x="18288000" y="0"/>
                </a:lnTo>
                <a:lnTo>
                  <a:pt x="18288000" y="2974032"/>
                </a:lnTo>
                <a:lnTo>
                  <a:pt x="0" y="2974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" t="0" r="-3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32694" y="3628281"/>
            <a:ext cx="6312396" cy="743545"/>
            <a:chOff x="0" y="0"/>
            <a:chExt cx="8416528" cy="9913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16528" cy="991393"/>
            </a:xfrm>
            <a:custGeom>
              <a:avLst/>
              <a:gdLst/>
              <a:ahLst/>
              <a:cxnLst/>
              <a:rect r="r" b="b" t="t" l="l"/>
              <a:pathLst>
                <a:path h="991393" w="8416528">
                  <a:moveTo>
                    <a:pt x="0" y="0"/>
                  </a:moveTo>
                  <a:lnTo>
                    <a:pt x="8416528" y="0"/>
                  </a:lnTo>
                  <a:lnTo>
                    <a:pt x="8416528" y="991393"/>
                  </a:lnTo>
                  <a:lnTo>
                    <a:pt x="0" y="9913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8416528" cy="101996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812"/>
                </a:lnSpc>
              </a:pPr>
              <a:r>
                <a:rPr lang="en-US" sz="4625" b="true">
                  <a:solidFill>
                    <a:srgbClr val="FFFFF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Results and Evaluation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32694" y="4847630"/>
            <a:ext cx="8132861" cy="785069"/>
            <a:chOff x="0" y="0"/>
            <a:chExt cx="10843815" cy="1046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43815" cy="1046758"/>
            </a:xfrm>
            <a:custGeom>
              <a:avLst/>
              <a:gdLst/>
              <a:ahLst/>
              <a:cxnLst/>
              <a:rect r="r" b="b" t="t" l="l"/>
              <a:pathLst>
                <a:path h="1046758" w="10843815">
                  <a:moveTo>
                    <a:pt x="0" y="0"/>
                  </a:moveTo>
                  <a:lnTo>
                    <a:pt x="10843815" y="0"/>
                  </a:lnTo>
                  <a:lnTo>
                    <a:pt x="10843815" y="1046758"/>
                  </a:lnTo>
                  <a:lnTo>
                    <a:pt x="0" y="10467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14300"/>
              <a:ext cx="10843815" cy="9324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124"/>
                </a:lnSpc>
              </a:pPr>
              <a:r>
                <a:rPr lang="en-US" sz="6124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95%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12034" y="5930056"/>
            <a:ext cx="2974032" cy="371624"/>
            <a:chOff x="0" y="0"/>
            <a:chExt cx="3965377" cy="4954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65377" cy="495498"/>
            </a:xfrm>
            <a:custGeom>
              <a:avLst/>
              <a:gdLst/>
              <a:ahLst/>
              <a:cxnLst/>
              <a:rect r="r" b="b" t="t" l="l"/>
              <a:pathLst>
                <a:path h="495498" w="3965377">
                  <a:moveTo>
                    <a:pt x="0" y="0"/>
                  </a:moveTo>
                  <a:lnTo>
                    <a:pt x="3965377" y="0"/>
                  </a:lnTo>
                  <a:lnTo>
                    <a:pt x="3965377" y="495498"/>
                  </a:lnTo>
                  <a:lnTo>
                    <a:pt x="0" y="4954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965377" cy="49549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875"/>
                </a:lnSpc>
              </a:pPr>
              <a:r>
                <a:rPr lang="en-US" sz="2312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Top Accuracy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32694" y="6444406"/>
            <a:ext cx="8132861" cy="380702"/>
            <a:chOff x="0" y="0"/>
            <a:chExt cx="10843815" cy="5076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43815" cy="507603"/>
            </a:xfrm>
            <a:custGeom>
              <a:avLst/>
              <a:gdLst/>
              <a:ahLst/>
              <a:cxnLst/>
              <a:rect r="r" b="b" t="t" l="l"/>
              <a:pathLst>
                <a:path h="507603" w="10843815">
                  <a:moveTo>
                    <a:pt x="0" y="0"/>
                  </a:moveTo>
                  <a:lnTo>
                    <a:pt x="10843815" y="0"/>
                  </a:lnTo>
                  <a:lnTo>
                    <a:pt x="10843815" y="507603"/>
                  </a:lnTo>
                  <a:lnTo>
                    <a:pt x="0" y="5076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0843815" cy="59332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937"/>
                </a:lnSpc>
              </a:pPr>
              <a:r>
                <a:rPr lang="en-US" sz="1812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Best model achieved 95% accuracy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2445" y="4847630"/>
            <a:ext cx="8132861" cy="785069"/>
            <a:chOff x="0" y="0"/>
            <a:chExt cx="10843815" cy="10467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43815" cy="1046758"/>
            </a:xfrm>
            <a:custGeom>
              <a:avLst/>
              <a:gdLst/>
              <a:ahLst/>
              <a:cxnLst/>
              <a:rect r="r" b="b" t="t" l="l"/>
              <a:pathLst>
                <a:path h="1046758" w="10843815">
                  <a:moveTo>
                    <a:pt x="0" y="0"/>
                  </a:moveTo>
                  <a:lnTo>
                    <a:pt x="10843815" y="0"/>
                  </a:lnTo>
                  <a:lnTo>
                    <a:pt x="10843815" y="1046758"/>
                  </a:lnTo>
                  <a:lnTo>
                    <a:pt x="0" y="10467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14300"/>
              <a:ext cx="10843815" cy="9324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124"/>
                </a:lnSpc>
              </a:pPr>
              <a:r>
                <a:rPr lang="en-US" sz="6124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0.92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01785" y="5930056"/>
            <a:ext cx="2974032" cy="371624"/>
            <a:chOff x="0" y="0"/>
            <a:chExt cx="3965377" cy="4954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65377" cy="495498"/>
            </a:xfrm>
            <a:custGeom>
              <a:avLst/>
              <a:gdLst/>
              <a:ahLst/>
              <a:cxnLst/>
              <a:rect r="r" b="b" t="t" l="l"/>
              <a:pathLst>
                <a:path h="495498" w="3965377">
                  <a:moveTo>
                    <a:pt x="0" y="0"/>
                  </a:moveTo>
                  <a:lnTo>
                    <a:pt x="3965377" y="0"/>
                  </a:lnTo>
                  <a:lnTo>
                    <a:pt x="3965377" y="495498"/>
                  </a:lnTo>
                  <a:lnTo>
                    <a:pt x="0" y="4954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965377" cy="49549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875"/>
                </a:lnSpc>
              </a:pPr>
              <a:r>
                <a:rPr lang="en-US" sz="2312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F1 Score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22445" y="6444406"/>
            <a:ext cx="8132861" cy="380702"/>
            <a:chOff x="0" y="0"/>
            <a:chExt cx="10843815" cy="5076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43815" cy="507603"/>
            </a:xfrm>
            <a:custGeom>
              <a:avLst/>
              <a:gdLst/>
              <a:ahLst/>
              <a:cxnLst/>
              <a:rect r="r" b="b" t="t" l="l"/>
              <a:pathLst>
                <a:path h="507603" w="10843815">
                  <a:moveTo>
                    <a:pt x="0" y="0"/>
                  </a:moveTo>
                  <a:lnTo>
                    <a:pt x="10843815" y="0"/>
                  </a:lnTo>
                  <a:lnTo>
                    <a:pt x="10843815" y="507603"/>
                  </a:lnTo>
                  <a:lnTo>
                    <a:pt x="0" y="5076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10843815" cy="59332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937"/>
                </a:lnSpc>
              </a:pPr>
              <a:r>
                <a:rPr lang="en-US" sz="1812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High balance between precision and recall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32694" y="7657802"/>
            <a:ext cx="8132861" cy="785069"/>
            <a:chOff x="0" y="0"/>
            <a:chExt cx="10843815" cy="10467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43815" cy="1046758"/>
            </a:xfrm>
            <a:custGeom>
              <a:avLst/>
              <a:gdLst/>
              <a:ahLst/>
              <a:cxnLst/>
              <a:rect r="r" b="b" t="t" l="l"/>
              <a:pathLst>
                <a:path h="1046758" w="10843815">
                  <a:moveTo>
                    <a:pt x="0" y="0"/>
                  </a:moveTo>
                  <a:lnTo>
                    <a:pt x="10843815" y="0"/>
                  </a:lnTo>
                  <a:lnTo>
                    <a:pt x="10843815" y="1046758"/>
                  </a:lnTo>
                  <a:lnTo>
                    <a:pt x="0" y="10467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114300"/>
              <a:ext cx="10843815" cy="9324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124"/>
                </a:lnSpc>
              </a:pPr>
              <a:r>
                <a:rPr lang="en-US" sz="6124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0.93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412034" y="8740229"/>
            <a:ext cx="2974032" cy="371624"/>
            <a:chOff x="0" y="0"/>
            <a:chExt cx="3965377" cy="4954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965377" cy="495498"/>
            </a:xfrm>
            <a:custGeom>
              <a:avLst/>
              <a:gdLst/>
              <a:ahLst/>
              <a:cxnLst/>
              <a:rect r="r" b="b" t="t" l="l"/>
              <a:pathLst>
                <a:path h="495498" w="3965377">
                  <a:moveTo>
                    <a:pt x="0" y="0"/>
                  </a:moveTo>
                  <a:lnTo>
                    <a:pt x="3965377" y="0"/>
                  </a:lnTo>
                  <a:lnTo>
                    <a:pt x="3965377" y="495498"/>
                  </a:lnTo>
                  <a:lnTo>
                    <a:pt x="0" y="4954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965377" cy="49549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875"/>
                </a:lnSpc>
              </a:pPr>
              <a:r>
                <a:rPr lang="en-US" sz="2312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Precision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32694" y="9254579"/>
            <a:ext cx="8132861" cy="380703"/>
            <a:chOff x="0" y="0"/>
            <a:chExt cx="10843815" cy="5076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843815" cy="507603"/>
            </a:xfrm>
            <a:custGeom>
              <a:avLst/>
              <a:gdLst/>
              <a:ahLst/>
              <a:cxnLst/>
              <a:rect r="r" b="b" t="t" l="l"/>
              <a:pathLst>
                <a:path h="507603" w="10843815">
                  <a:moveTo>
                    <a:pt x="0" y="0"/>
                  </a:moveTo>
                  <a:lnTo>
                    <a:pt x="10843815" y="0"/>
                  </a:lnTo>
                  <a:lnTo>
                    <a:pt x="10843815" y="507603"/>
                  </a:lnTo>
                  <a:lnTo>
                    <a:pt x="0" y="5076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10843815" cy="59332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937"/>
                </a:lnSpc>
              </a:pPr>
              <a:r>
                <a:rPr lang="en-US" sz="1812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Minimal false alarms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22445" y="7657802"/>
            <a:ext cx="8132861" cy="785069"/>
            <a:chOff x="0" y="0"/>
            <a:chExt cx="10843815" cy="10467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43815" cy="1046758"/>
            </a:xfrm>
            <a:custGeom>
              <a:avLst/>
              <a:gdLst/>
              <a:ahLst/>
              <a:cxnLst/>
              <a:rect r="r" b="b" t="t" l="l"/>
              <a:pathLst>
                <a:path h="1046758" w="10843815">
                  <a:moveTo>
                    <a:pt x="0" y="0"/>
                  </a:moveTo>
                  <a:lnTo>
                    <a:pt x="10843815" y="0"/>
                  </a:lnTo>
                  <a:lnTo>
                    <a:pt x="10843815" y="1046758"/>
                  </a:lnTo>
                  <a:lnTo>
                    <a:pt x="0" y="10467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114300"/>
              <a:ext cx="10843815" cy="9324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124"/>
                </a:lnSpc>
              </a:pPr>
              <a:r>
                <a:rPr lang="en-US" sz="6124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0.90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901785" y="8740229"/>
            <a:ext cx="2974032" cy="371624"/>
            <a:chOff x="0" y="0"/>
            <a:chExt cx="3965377" cy="49549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65377" cy="495498"/>
            </a:xfrm>
            <a:custGeom>
              <a:avLst/>
              <a:gdLst/>
              <a:ahLst/>
              <a:cxnLst/>
              <a:rect r="r" b="b" t="t" l="l"/>
              <a:pathLst>
                <a:path h="495498" w="3965377">
                  <a:moveTo>
                    <a:pt x="0" y="0"/>
                  </a:moveTo>
                  <a:lnTo>
                    <a:pt x="3965377" y="0"/>
                  </a:lnTo>
                  <a:lnTo>
                    <a:pt x="3965377" y="495498"/>
                  </a:lnTo>
                  <a:lnTo>
                    <a:pt x="0" y="4954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965377" cy="49549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875"/>
                </a:lnSpc>
              </a:pPr>
              <a:r>
                <a:rPr lang="en-US" sz="2312" b="true">
                  <a:solidFill>
                    <a:srgbClr val="E5E0DF"/>
                  </a:solidFill>
                  <a:latin typeface="Saira Medium"/>
                  <a:ea typeface="Saira Medium"/>
                  <a:cs typeface="Saira Medium"/>
                  <a:sym typeface="Saira Medium"/>
                </a:rPr>
                <a:t>Recall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322445" y="9254579"/>
            <a:ext cx="8132861" cy="380703"/>
            <a:chOff x="0" y="0"/>
            <a:chExt cx="10843815" cy="50760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843815" cy="507603"/>
            </a:xfrm>
            <a:custGeom>
              <a:avLst/>
              <a:gdLst/>
              <a:ahLst/>
              <a:cxnLst/>
              <a:rect r="r" b="b" t="t" l="l"/>
              <a:pathLst>
                <a:path h="507603" w="10843815">
                  <a:moveTo>
                    <a:pt x="0" y="0"/>
                  </a:moveTo>
                  <a:lnTo>
                    <a:pt x="10843815" y="0"/>
                  </a:lnTo>
                  <a:lnTo>
                    <a:pt x="10843815" y="507603"/>
                  </a:lnTo>
                  <a:lnTo>
                    <a:pt x="0" y="5076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10843815" cy="59332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937"/>
                </a:lnSpc>
              </a:pPr>
              <a:r>
                <a:rPr lang="en-US" sz="1812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Strong detection rate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DAGokHFNNec</dc:identifier>
  <dcterms:modified xsi:type="dcterms:W3CDTF">2011-08-01T06:04:30Z</dcterms:modified>
  <cp:revision>1</cp:revision>
  <dc:title>AI-Driven-Prediction-of-Mental-Health-Conditions-Through-Social-Media-Analysis.pptx</dc:title>
</cp:coreProperties>
</file>