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3"/>
    <p:sldId id="257" r:id="rId4"/>
    <p:sldId id="258" r:id="rId5"/>
    <p:sldId id="259" r:id="rId6"/>
    <p:sldId id="260" r:id="rId7"/>
    <p:sldId id="261" r:id="rId8"/>
    <p:sldId id="271" r:id="rId9"/>
    <p:sldId id="262" r:id="rId10"/>
    <p:sldId id="263" r:id="rId11"/>
    <p:sldId id="264" r:id="rId12"/>
    <p:sldId id="265" r:id="rId13"/>
    <p:sldId id="266" r:id="rId14"/>
    <p:sldId id="276" r:id="rId15"/>
    <p:sldId id="27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B3870EF-02E5-4F35-88D3-93DA587D1CB2}">
          <p14:sldIdLst>
            <p14:sldId id="256"/>
            <p14:sldId id="257"/>
            <p14:sldId id="258"/>
            <p14:sldId id="259"/>
            <p14:sldId id="260"/>
            <p14:sldId id="261"/>
            <p14:sldId id="271"/>
            <p14:sldId id="262"/>
            <p14:sldId id="263"/>
            <p14:sldId id="264"/>
            <p14:sldId id="265"/>
            <p14:sldId id="266"/>
            <p14:sldId id="276"/>
            <p14:sldId id="277"/>
          </p14:sldIdLst>
        </p14:section>
      </p14:sectionLst>
    </p:ext>
    <p:ext uri="{EFAFB233-063F-42B5-8137-9DF3F51BA10A}">
      <p15:sldGuideLst xmlns:p15="http://schemas.microsoft.com/office/powerpoint/2012/main">
        <p15:guide id="1" orient="horz" pos="2160" userDrawn="1">
          <p15:clr>
            <a:srgbClr val="A4A3A4"/>
          </p15:clr>
        </p15:guide>
        <p15:guide id="2" pos="384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94660"/>
  </p:normalViewPr>
  <p:slideViewPr>
    <p:cSldViewPr snapToGrid="0" showGuides="1">
      <p:cViewPr varScale="1">
        <p:scale>
          <a:sx n="84" d="100"/>
          <a:sy n="84" d="100"/>
        </p:scale>
        <p:origin x="610" y="72"/>
      </p:cViewPr>
      <p:guideLst>
        <p:guide orient="horz" pos="2160"/>
        <p:guide pos="384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7C079CD-D3CA-404F-873A-B3E0C9C17FDF}"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1CD009-6892-4ECF-B662-2AEFFEB25C2D}"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97C079CD-D3CA-404F-873A-B3E0C9C17FDF}"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1CD009-6892-4ECF-B662-2AEFFEB25C2D}"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97C079CD-D3CA-404F-873A-B3E0C9C17FDF}"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1CD009-6892-4ECF-B662-2AEFFEB25C2D}"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97C079CD-D3CA-404F-873A-B3E0C9C17FDF}"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1CD009-6892-4ECF-B662-2AEFFEB25C2D}"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97C079CD-D3CA-404F-873A-B3E0C9C17FDF}"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41CD009-6892-4ECF-B662-2AEFFEB25C2D}"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7C079CD-D3CA-404F-873A-B3E0C9C17FDF}"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41CD009-6892-4ECF-B662-2AEFFEB25C2D}"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C079CD-D3CA-404F-873A-B3E0C9C17FDF}"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41CD009-6892-4ECF-B662-2AEFFEB25C2D}"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97C079CD-D3CA-404F-873A-B3E0C9C17FDF}"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1CD009-6892-4ECF-B662-2AEFFEB25C2D}"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97C079CD-D3CA-404F-873A-B3E0C9C17FDF}"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1CD009-6892-4ECF-B662-2AEFFEB25C2D}"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97C079CD-D3CA-404F-873A-B3E0C9C17FDF}"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1CD009-6892-4ECF-B662-2AEFFEB25C2D}"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97C079CD-D3CA-404F-873A-B3E0C9C17FDF}"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1CD009-6892-4ECF-B662-2AEFFEB25C2D}"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C079CD-D3CA-404F-873A-B3E0C9C17FDF}"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1CD009-6892-4ECF-B662-2AEFFEB25C2D}"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60407" y="1742536"/>
            <a:ext cx="10110159" cy="1748794"/>
          </a:xfrm>
        </p:spPr>
        <p:txBody>
          <a:bodyPr>
            <a:normAutofit fontScale="90000"/>
          </a:bodyPr>
          <a:lstStyle/>
          <a:p>
            <a:br>
              <a:rPr lang="en-US" sz="3200" b="1" dirty="0">
                <a:latin typeface="Arial Black" panose="020B0A04020102020204" pitchFamily="34" charset="0"/>
              </a:rPr>
            </a:br>
            <a:r>
              <a:rPr lang="en-US" sz="4000" b="1" dirty="0">
                <a:latin typeface="Times New Roman" panose="02020603050405020304" pitchFamily="18" charset="0"/>
                <a:cs typeface="Times New Roman" panose="02020603050405020304" pitchFamily="18" charset="0"/>
              </a:rPr>
              <a:t>Introduction to AI(AI101B)</a:t>
            </a:r>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 </a:t>
            </a:r>
            <a:r>
              <a:rPr lang="en-US" altLang="en-US" sz="3890" b="1" dirty="0">
                <a:latin typeface="Times New Roman" panose="02020603050405020304" pitchFamily="18" charset="0"/>
                <a:cs typeface="Times New Roman" panose="02020603050405020304" pitchFamily="18" charset="0"/>
              </a:rPr>
              <a:t>Medical Diagnosis Using</a:t>
            </a:r>
            <a:r>
              <a:rPr lang="" altLang="en-US" sz="3890" b="1" dirty="0">
                <a:latin typeface="Times New Roman" panose="02020603050405020304" pitchFamily="18" charset="0"/>
                <a:cs typeface="Times New Roman" panose="02020603050405020304" pitchFamily="18" charset="0"/>
              </a:rPr>
              <a:t> </a:t>
            </a:r>
            <a:r>
              <a:rPr lang="en-US" altLang="en-US" sz="3890" b="1" dirty="0">
                <a:latin typeface="Times New Roman" panose="02020603050405020304" pitchFamily="18" charset="0"/>
                <a:cs typeface="Times New Roman" panose="02020603050405020304" pitchFamily="18" charset="0"/>
              </a:rPr>
              <a:t>ANN</a:t>
            </a:r>
            <a:br>
              <a:rPr lang="en-US" sz="3200" b="1" dirty="0">
                <a:latin typeface="Arial Black" panose="020B0A04020102020204" pitchFamily="34" charset="0"/>
              </a:rPr>
            </a:br>
            <a:r>
              <a:rPr lang="en-US" sz="3200" b="1" dirty="0">
                <a:latin typeface="Times New Roman" panose="02020603050405020304" pitchFamily="18" charset="0"/>
                <a:cs typeface="Times New Roman" panose="02020603050405020304" pitchFamily="18" charset="0"/>
              </a:rPr>
              <a:t>Session 2024-25</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Even Semester</a:t>
            </a:r>
            <a:endParaRPr lang="en-IN" sz="3200" b="1" dirty="0">
              <a:latin typeface="Arial Black" panose="020B0A04020102020204" pitchFamily="34" charset="0"/>
            </a:endParaRPr>
          </a:p>
        </p:txBody>
      </p:sp>
      <p:sp>
        <p:nvSpPr>
          <p:cNvPr id="3" name="Subtitle 2"/>
          <p:cNvSpPr>
            <a:spLocks noGrp="1"/>
          </p:cNvSpPr>
          <p:nvPr>
            <p:ph type="subTitle" idx="1"/>
          </p:nvPr>
        </p:nvSpPr>
        <p:spPr>
          <a:xfrm>
            <a:off x="749826" y="3733085"/>
            <a:ext cx="10765765" cy="2695245"/>
          </a:xfrm>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Team Leader: </a:t>
            </a:r>
            <a:r>
              <a:rPr lang="en-US" b="1" dirty="0">
                <a:latin typeface="Times New Roman" panose="02020603050405020304" pitchFamily="18" charset="0"/>
                <a:cs typeface="Times New Roman" panose="02020603050405020304" pitchFamily="18" charset="0"/>
              </a:rPr>
              <a:t>Prabhav Kansal</a:t>
            </a:r>
            <a:r>
              <a:rPr lang="en-US" dirty="0">
                <a:latin typeface="Times New Roman" panose="02020603050405020304" pitchFamily="18" charset="0"/>
                <a:cs typeface="Times New Roman" panose="02020603050405020304" pitchFamily="18" charset="0"/>
              </a:rPr>
              <a:t> and (University Roll no.) : </a:t>
            </a:r>
            <a:r>
              <a:rPr lang="en-US" b="1" dirty="0">
                <a:latin typeface="Times New Roman" panose="02020603050405020304" pitchFamily="18" charset="0"/>
                <a:cs typeface="Times New Roman" panose="02020603050405020304" pitchFamily="18" charset="0"/>
              </a:rPr>
              <a:t>202410116100143</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Member Name: </a:t>
            </a:r>
            <a:r>
              <a:rPr lang="en-US" b="1" dirty="0">
                <a:latin typeface="Times New Roman" panose="02020603050405020304" pitchFamily="18" charset="0"/>
                <a:cs typeface="Times New Roman" panose="02020603050405020304" pitchFamily="18" charset="0"/>
              </a:rPr>
              <a:t>Priyanshu Kansal</a:t>
            </a:r>
            <a:r>
              <a:rPr lang="en-US" dirty="0">
                <a:latin typeface="Times New Roman" panose="02020603050405020304" pitchFamily="18" charset="0"/>
                <a:cs typeface="Times New Roman" panose="02020603050405020304" pitchFamily="18" charset="0"/>
              </a:rPr>
              <a:t> and (University Roll no.) : </a:t>
            </a:r>
            <a:r>
              <a:rPr lang="en-US" b="1" dirty="0">
                <a:latin typeface="Times New Roman" panose="02020603050405020304" pitchFamily="18" charset="0"/>
                <a:cs typeface="Times New Roman" panose="02020603050405020304" pitchFamily="18" charset="0"/>
              </a:rPr>
              <a:t>202410116100155</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Member Name: </a:t>
            </a:r>
            <a:r>
              <a:rPr lang="en-US" b="1" dirty="0">
                <a:latin typeface="Times New Roman" panose="02020603050405020304" pitchFamily="18" charset="0"/>
                <a:cs typeface="Times New Roman" panose="02020603050405020304" pitchFamily="18" charset="0"/>
              </a:rPr>
              <a:t>Sagar Gupta</a:t>
            </a:r>
            <a:r>
              <a:rPr lang="en-US" dirty="0">
                <a:latin typeface="Times New Roman" panose="02020603050405020304" pitchFamily="18" charset="0"/>
                <a:cs typeface="Times New Roman" panose="02020603050405020304" pitchFamily="18" charset="0"/>
              </a:rPr>
              <a:t> and (University Roll no.) : </a:t>
            </a:r>
            <a:r>
              <a:rPr lang="en-US" b="1" dirty="0">
                <a:latin typeface="Times New Roman" panose="02020603050405020304" pitchFamily="18" charset="0"/>
                <a:cs typeface="Times New Roman" panose="02020603050405020304" pitchFamily="18" charset="0"/>
              </a:rPr>
              <a:t>202410116100174</a:t>
            </a:r>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Project Supervisor : M</a:t>
            </a:r>
            <a:r>
              <a:rPr lang="en-US" altLang="en-IN" b="1" dirty="0">
                <a:latin typeface="Times New Roman" panose="02020603050405020304" pitchFamily="18" charset="0"/>
                <a:cs typeface="Times New Roman" panose="02020603050405020304" pitchFamily="18" charset="0"/>
              </a:rPr>
              <a:t>r.Apoorv Jain</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(Assistant Professor)</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72950" cy="14192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64895"/>
          </a:xfrm>
        </p:spPr>
        <p:txBody>
          <a:bodyPr/>
          <a:lstStyle/>
          <a:p>
            <a:pPr algn="ctr"/>
            <a:r>
              <a:rPr lang="en-US" b="1" dirty="0">
                <a:latin typeface="Times New Roman" panose="02020603050405020304" pitchFamily="18" charset="0"/>
                <a:cs typeface="Times New Roman" panose="02020603050405020304" pitchFamily="18" charset="0"/>
              </a:rPr>
              <a:t>Content</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30020"/>
            <a:ext cx="10515600" cy="4747260"/>
          </a:xfrm>
        </p:spPr>
        <p:txBody>
          <a:bodyPr/>
          <a:lstStyle/>
          <a:p>
            <a:pPr>
              <a:lnSpc>
                <a:spcPct val="190000"/>
              </a:lnSpc>
              <a:buFont typeface="Wingdings" panose="05000000000000000000" pitchFamily="2" charset="2"/>
              <a:buChar char="Ø"/>
            </a:pPr>
            <a:r>
              <a:rPr lang="en-US" dirty="0"/>
              <a:t> </a:t>
            </a:r>
            <a:r>
              <a:rPr lang="en-US" b="1" dirty="0">
                <a:latin typeface="Times New Roman" panose="02020603050405020304" pitchFamily="18" charset="0"/>
                <a:cs typeface="Times New Roman" panose="02020603050405020304" pitchFamily="18" charset="0"/>
              </a:rPr>
              <a:t>Introduction </a:t>
            </a:r>
            <a:endParaRPr lang="en-US" dirty="0"/>
          </a:p>
          <a:p>
            <a:pPr>
              <a:lnSpc>
                <a:spcPct val="19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Methodology</a:t>
            </a:r>
            <a:endParaRPr lang="en-US" dirty="0"/>
          </a:p>
          <a:p>
            <a:pPr>
              <a:lnSpc>
                <a:spcPct val="190000"/>
              </a:lnSpc>
              <a:buFont typeface="Wingdings" panose="05000000000000000000" pitchFamily="2" charset="2"/>
              <a:buChar char="Ø"/>
            </a:pPr>
            <a:r>
              <a:rPr lang="en-US" altLang="en-IN" b="1" dirty="0">
                <a:latin typeface="Times New Roman" panose="02020603050405020304" pitchFamily="18" charset="0"/>
                <a:cs typeface="Times New Roman" panose="02020603050405020304" pitchFamily="18" charset="0"/>
              </a:rPr>
              <a:t>Feature Selection and Data Preprocessing</a:t>
            </a:r>
            <a:endParaRPr lang="en-US" altLang="en-IN" b="1" dirty="0">
              <a:latin typeface="Times New Roman" panose="02020603050405020304" pitchFamily="18" charset="0"/>
              <a:cs typeface="Times New Roman" panose="02020603050405020304" pitchFamily="18" charset="0"/>
            </a:endParaRPr>
          </a:p>
          <a:p>
            <a:pPr>
              <a:lnSpc>
                <a:spcPct val="190000"/>
              </a:lnSpc>
              <a:buFont typeface="Wingdings" panose="05000000000000000000" pitchFamily="2" charset="2"/>
              <a:buChar char="Ø"/>
            </a:pPr>
            <a:r>
              <a:rPr lang="en-US" altLang="en-IN" b="1" dirty="0">
                <a:latin typeface="Times New Roman" panose="02020603050405020304" pitchFamily="18" charset="0"/>
                <a:cs typeface="Times New Roman" panose="02020603050405020304" pitchFamily="18" charset="0"/>
              </a:rPr>
              <a:t>Challenges and Limitations</a:t>
            </a:r>
            <a:endParaRPr lang="en-US" altLang="en-IN" b="1" dirty="0">
              <a:latin typeface="Times New Roman" panose="02020603050405020304" pitchFamily="18" charset="0"/>
              <a:cs typeface="Times New Roman" panose="02020603050405020304" pitchFamily="18" charset="0"/>
            </a:endParaRPr>
          </a:p>
          <a:p>
            <a:pPr>
              <a:lnSpc>
                <a:spcPct val="190000"/>
              </a:lnSpc>
              <a:buFont typeface="Wingdings" panose="05000000000000000000" pitchFamily="2" charset="2"/>
              <a:buChar char="Ø"/>
            </a:pPr>
            <a:r>
              <a:rPr lang="en-US" altLang="en-IN" b="1" dirty="0">
                <a:latin typeface="Times New Roman" panose="02020603050405020304" pitchFamily="18" charset="0"/>
                <a:cs typeface="Times New Roman" panose="02020603050405020304" pitchFamily="18" charset="0"/>
              </a:rPr>
              <a:t>Conclusion</a:t>
            </a:r>
            <a:endParaRPr lang="en-US" altLang="en-IN" b="1" dirty="0">
              <a:latin typeface="Times New Roman" panose="02020603050405020304" pitchFamily="18" charset="0"/>
              <a:cs typeface="Times New Roman" panose="02020603050405020304" pitchFamily="18" charset="0"/>
            </a:endParaRPr>
          </a:p>
          <a:p>
            <a:pPr marL="0" indent="0">
              <a:lnSpc>
                <a:spcPct val="190000"/>
              </a:lnSpc>
              <a:buFont typeface="Wingdings" panose="05000000000000000000" pitchFamily="2" charset="2"/>
              <a:buNone/>
            </a:pPr>
            <a:endParaRPr lang="en-US" altLang="en-IN"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alt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marL="0" indent="0">
              <a:buNone/>
            </a:pPr>
            <a:r>
              <a:rPr lang="en-US" altLang="en-US" sz="2000" dirty="0">
                <a:latin typeface="Times New Roman" panose="02020603050405020304" pitchFamily="18" charset="0"/>
                <a:cs typeface="Times New Roman" panose="02020603050405020304" pitchFamily="18" charset="0"/>
              </a:rPr>
              <a:t>Artificial Neural Networks (ANNs) are a form of Artificial Intelligence modeled after the human brain, capable of learning from large datasets and identifying complex patterns. In the medical field, ANNs are increasingly being used to support diagnostic processes, offering accurate and timely analysis of patient data.</a:t>
            </a:r>
            <a:endParaRPr lang="en-US" altLang="en-US" sz="2000" dirty="0">
              <a:latin typeface="Times New Roman" panose="02020603050405020304" pitchFamily="18" charset="0"/>
              <a:cs typeface="Times New Roman" panose="02020603050405020304" pitchFamily="18" charset="0"/>
            </a:endParaRPr>
          </a:p>
          <a:p>
            <a:pPr marL="0" indent="0">
              <a:buNone/>
            </a:pPr>
            <a:endParaRPr lang="en-US" altLang="en-US" sz="2000" dirty="0">
              <a:latin typeface="Times New Roman" panose="02020603050405020304" pitchFamily="18" charset="0"/>
              <a:cs typeface="Times New Roman" panose="02020603050405020304" pitchFamily="18" charset="0"/>
            </a:endParaRPr>
          </a:p>
          <a:p>
            <a:pPr marL="0" indent="0">
              <a:buNone/>
            </a:pPr>
            <a:r>
              <a:rPr lang="en-US" altLang="en-US" sz="2000" dirty="0">
                <a:latin typeface="Times New Roman" panose="02020603050405020304" pitchFamily="18" charset="0"/>
                <a:cs typeface="Times New Roman" panose="02020603050405020304" pitchFamily="18" charset="0"/>
              </a:rPr>
              <a:t>Medical diagnosis often involves interpreting various types of data such as symptoms, lab results, and imaging scans. ANN systems can be trained on this historical data to recognize patterns linked to specific diseases. Once trained, these models can assist healthcare professionals in diagnosing conditions like cancer, diabetes, heart disease, and neurological disorders.</a:t>
            </a:r>
            <a:endParaRPr lang="en-US" altLang="en-US" sz="2000" dirty="0">
              <a:latin typeface="Times New Roman" panose="02020603050405020304" pitchFamily="18" charset="0"/>
              <a:cs typeface="Times New Roman" panose="02020603050405020304" pitchFamily="18" charset="0"/>
            </a:endParaRPr>
          </a:p>
          <a:p>
            <a:pPr marL="0" indent="0">
              <a:buNone/>
            </a:pPr>
            <a:endParaRPr lang="en-US" altLang="en-US" sz="2000" dirty="0">
              <a:latin typeface="Times New Roman" panose="02020603050405020304" pitchFamily="18" charset="0"/>
              <a:cs typeface="Times New Roman" panose="02020603050405020304" pitchFamily="18" charset="0"/>
            </a:endParaRPr>
          </a:p>
          <a:p>
            <a:pPr marL="0" indent="0">
              <a:buNone/>
            </a:pPr>
            <a:r>
              <a:rPr lang="en-US" altLang="en-US" sz="2000" dirty="0">
                <a:latin typeface="Times New Roman" panose="02020603050405020304" pitchFamily="18" charset="0"/>
                <a:cs typeface="Times New Roman" panose="02020603050405020304" pitchFamily="18" charset="0"/>
              </a:rPr>
              <a:t>One major advantage of using ANN in medical diagnosis is its ability to improve diagnostic accuracy, even in complex or rare cases. Additionally, ANNs can process vast amounts of data quickly, reducing diagnostic time and helping doctors make better-informed decisions. As more patient data becomes available, these networks can continue to learn and enhance their performance.</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H="1">
            <a:off x="11353799" y="365125"/>
            <a:ext cx="45719" cy="45719"/>
          </a:xfrm>
        </p:spPr>
        <p:txBody>
          <a:bodyPr>
            <a:normAutofit fontScale="90000"/>
          </a:bodyPr>
          <a:lstStyle/>
          <a:p>
            <a:r>
              <a:rPr lang="en-US" dirty="0"/>
              <a:t> </a:t>
            </a:r>
            <a:endParaRPr lang="en-IN" dirty="0"/>
          </a:p>
        </p:txBody>
      </p:sp>
      <p:sp>
        <p:nvSpPr>
          <p:cNvPr id="3" name="Content Placeholder 2"/>
          <p:cNvSpPr>
            <a:spLocks noGrp="1"/>
          </p:cNvSpPr>
          <p:nvPr>
            <p:ph idx="1"/>
          </p:nvPr>
        </p:nvSpPr>
        <p:spPr>
          <a:xfrm>
            <a:off x="838200" y="410844"/>
            <a:ext cx="10515600" cy="5766119"/>
          </a:xfrm>
        </p:spPr>
        <p:txBody>
          <a:bodyPr>
            <a:normAutofit/>
          </a:bodyPr>
          <a:lstStyle/>
          <a:p>
            <a:pPr>
              <a:buNone/>
            </a:pPr>
            <a:endParaRPr lang="en-US" altLang="en-US" sz="2400" dirty="0"/>
          </a:p>
          <a:p>
            <a:pPr>
              <a:buNone/>
            </a:pPr>
            <a:r>
              <a:rPr lang="en-US" altLang="en-US" sz="2000" dirty="0">
                <a:latin typeface="Times New Roman" panose="02020603050405020304" pitchFamily="18" charset="0"/>
                <a:cs typeface="Times New Roman" panose="02020603050405020304" pitchFamily="18" charset="0"/>
              </a:rPr>
              <a:t>ANNs are especially useful in image-based diagnostics, such as analyzing X-rays, CT scans, or MRIs, where they can detect abnormalities with high precision. With continuous improvements, ANN-powered tools are becoming valuable assets in personalized medicine, early disease detection, and improving patient outcomes.</a:t>
            </a:r>
            <a:endParaRPr lang="en-US" altLang="en-US" sz="2000" dirty="0">
              <a:latin typeface="Times New Roman" panose="02020603050405020304" pitchFamily="18" charset="0"/>
              <a:cs typeface="Times New Roman" panose="02020603050405020304" pitchFamily="18" charset="0"/>
            </a:endParaRPr>
          </a:p>
          <a:p>
            <a:pPr>
              <a:buNone/>
            </a:pPr>
            <a:endParaRPr lang="en-US" altLang="en-US" sz="2000" dirty="0">
              <a:latin typeface="Times New Roman" panose="02020603050405020304" pitchFamily="18" charset="0"/>
              <a:cs typeface="Times New Roman" panose="02020603050405020304" pitchFamily="18" charset="0"/>
            </a:endParaRPr>
          </a:p>
          <a:p>
            <a:pPr>
              <a:buNone/>
            </a:pPr>
            <a:r>
              <a:rPr lang="en-US" altLang="en-US" sz="2000" b="1" dirty="0">
                <a:latin typeface="Times New Roman" panose="02020603050405020304" pitchFamily="18" charset="0"/>
                <a:cs typeface="Times New Roman" panose="02020603050405020304" pitchFamily="18" charset="0"/>
              </a:rPr>
              <a:t>For example-</a:t>
            </a:r>
            <a:r>
              <a:rPr lang="en-US" altLang="en-US" sz="2000" dirty="0">
                <a:latin typeface="Times New Roman" panose="02020603050405020304" pitchFamily="18" charset="0"/>
                <a:cs typeface="Times New Roman" panose="02020603050405020304" pitchFamily="18" charset="0"/>
              </a:rPr>
              <a:t> the Wisconsin Breast Cancer Dataset is widely used to train ANN models to differentiate between benign and malignant tumors. The dataset contains attributes like cell size, shape, texture, and nucleus characteristics. An ANN trained on this data can learn to recognize subtle patterns that indicate whether a tumor is cancerous or not.</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Methodology</a:t>
            </a:r>
            <a:endParaRPr lang="en-IN" b="1" dirty="0">
              <a:latin typeface="Times New Roman" panose="02020603050405020304" pitchFamily="18" charset="0"/>
              <a:cs typeface="Times New Roman" panose="02020603050405020304" pitchFamily="18" charset="0"/>
            </a:endParaRPr>
          </a:p>
        </p:txBody>
      </p:sp>
      <p:sp>
        <p:nvSpPr>
          <p:cNvPr id="13" name="Content Placeholder 12"/>
          <p:cNvSpPr>
            <a:spLocks noGrp="1"/>
          </p:cNvSpPr>
          <p:nvPr>
            <p:ph idx="1"/>
          </p:nvPr>
        </p:nvSpPr>
        <p:spPr>
          <a:xfrm>
            <a:off x="838200" y="1546225"/>
            <a:ext cx="10515600" cy="4939030"/>
          </a:xfrm>
        </p:spPr>
        <p:txBody>
          <a:bodyPr>
            <a:normAutofit fontScale="25000"/>
          </a:bodyPr>
          <a:lstStyle/>
          <a:p>
            <a:pPr marL="0" indent="0">
              <a:buNone/>
            </a:pPr>
            <a:r>
              <a:rPr lang="en-US" altLang="en-US" sz="8000" b="1" dirty="0">
                <a:latin typeface="Times New Roman" panose="02020603050405020304" pitchFamily="18" charset="0"/>
                <a:cs typeface="Times New Roman" panose="02020603050405020304" pitchFamily="18" charset="0"/>
              </a:rPr>
              <a:t>1. Problem Definition</a:t>
            </a:r>
            <a:endParaRPr lang="en-US" altLang="en-US" sz="8000" b="1" dirty="0">
              <a:latin typeface="Times New Roman" panose="02020603050405020304" pitchFamily="18" charset="0"/>
              <a:cs typeface="Times New Roman" panose="02020603050405020304" pitchFamily="18" charset="0"/>
            </a:endParaRPr>
          </a:p>
          <a:p>
            <a:r>
              <a:rPr lang="en-US" altLang="en-US" sz="8000" dirty="0">
                <a:latin typeface="Times New Roman" panose="02020603050405020304" pitchFamily="18" charset="0"/>
                <a:cs typeface="Times New Roman" panose="02020603050405020304" pitchFamily="18" charset="0"/>
              </a:rPr>
              <a:t>Define the medical condition or disease to be diagnosed (e.g., diabetes, cancer).</a:t>
            </a:r>
            <a:endParaRPr lang="en-US" altLang="en-US" sz="8000" dirty="0">
              <a:latin typeface="Times New Roman" panose="02020603050405020304" pitchFamily="18" charset="0"/>
              <a:cs typeface="Times New Roman" panose="02020603050405020304" pitchFamily="18" charset="0"/>
            </a:endParaRPr>
          </a:p>
          <a:p>
            <a:r>
              <a:rPr lang="en-US" altLang="en-US" sz="8000" dirty="0">
                <a:latin typeface="Times New Roman" panose="02020603050405020304" pitchFamily="18" charset="0"/>
                <a:cs typeface="Times New Roman" panose="02020603050405020304" pitchFamily="18" charset="0"/>
              </a:rPr>
              <a:t>Identify the goal: classification (disease/no disease), prediction, or detection.</a:t>
            </a:r>
            <a:endParaRPr lang="en-US" altLang="en-US" sz="8000" dirty="0">
              <a:latin typeface="Times New Roman" panose="02020603050405020304" pitchFamily="18" charset="0"/>
              <a:cs typeface="Times New Roman" panose="02020603050405020304" pitchFamily="18" charset="0"/>
            </a:endParaRPr>
          </a:p>
          <a:p>
            <a:endParaRPr lang="en-US" altLang="en-US" sz="8000" b="1" dirty="0">
              <a:latin typeface="Times New Roman" panose="02020603050405020304" pitchFamily="18" charset="0"/>
              <a:cs typeface="Times New Roman" panose="02020603050405020304" pitchFamily="18" charset="0"/>
            </a:endParaRPr>
          </a:p>
          <a:p>
            <a:pPr marL="0" indent="0">
              <a:buNone/>
            </a:pPr>
            <a:r>
              <a:rPr lang="en-US" altLang="en-US" sz="8000" b="1" dirty="0">
                <a:latin typeface="Times New Roman" panose="02020603050405020304" pitchFamily="18" charset="0"/>
                <a:cs typeface="Times New Roman" panose="02020603050405020304" pitchFamily="18" charset="0"/>
              </a:rPr>
              <a:t>2. Data Collection</a:t>
            </a:r>
            <a:endParaRPr lang="en-US" altLang="en-US" sz="8000" b="1" dirty="0">
              <a:latin typeface="Times New Roman" panose="02020603050405020304" pitchFamily="18" charset="0"/>
              <a:cs typeface="Times New Roman" panose="02020603050405020304" pitchFamily="18" charset="0"/>
            </a:endParaRPr>
          </a:p>
          <a:p>
            <a:r>
              <a:rPr lang="en-US" altLang="en-US" sz="8000" dirty="0">
                <a:latin typeface="Times New Roman" panose="02020603050405020304" pitchFamily="18" charset="0"/>
                <a:cs typeface="Times New Roman" panose="02020603050405020304" pitchFamily="18" charset="0"/>
              </a:rPr>
              <a:t>Gather medical datasets from hospitals, public databases (e.g., UCI, Kaggle), or research labs.</a:t>
            </a:r>
            <a:endParaRPr lang="en-US" altLang="en-US" sz="8000" dirty="0">
              <a:latin typeface="Times New Roman" panose="02020603050405020304" pitchFamily="18" charset="0"/>
              <a:cs typeface="Times New Roman" panose="02020603050405020304" pitchFamily="18" charset="0"/>
            </a:endParaRPr>
          </a:p>
          <a:p>
            <a:r>
              <a:rPr lang="en-US" altLang="en-US" sz="8000" dirty="0">
                <a:latin typeface="Times New Roman" panose="02020603050405020304" pitchFamily="18" charset="0"/>
                <a:cs typeface="Times New Roman" panose="02020603050405020304" pitchFamily="18" charset="0"/>
              </a:rPr>
              <a:t>Include structured data (patient records) and unstructured data (images, notes).</a:t>
            </a:r>
            <a:endParaRPr lang="en-US" altLang="en-US" sz="8000" dirty="0">
              <a:latin typeface="Times New Roman" panose="02020603050405020304" pitchFamily="18" charset="0"/>
              <a:cs typeface="Times New Roman" panose="02020603050405020304" pitchFamily="18" charset="0"/>
            </a:endParaRPr>
          </a:p>
          <a:p>
            <a:endParaRPr lang="en-US" altLang="en-US" sz="8000" b="1" dirty="0">
              <a:latin typeface="Times New Roman" panose="02020603050405020304" pitchFamily="18" charset="0"/>
              <a:cs typeface="Times New Roman" panose="02020603050405020304" pitchFamily="18" charset="0"/>
            </a:endParaRPr>
          </a:p>
          <a:p>
            <a:pPr marL="0" indent="0">
              <a:buNone/>
            </a:pPr>
            <a:r>
              <a:rPr lang="en-US" altLang="en-US" sz="8000" b="1" dirty="0">
                <a:latin typeface="Times New Roman" panose="02020603050405020304" pitchFamily="18" charset="0"/>
                <a:cs typeface="Times New Roman" panose="02020603050405020304" pitchFamily="18" charset="0"/>
              </a:rPr>
              <a:t>3. Data Preprocessing</a:t>
            </a:r>
            <a:endParaRPr lang="en-US" altLang="en-US" sz="5600" b="1" dirty="0">
              <a:latin typeface="Times New Roman" panose="02020603050405020304" pitchFamily="18" charset="0"/>
              <a:cs typeface="Times New Roman" panose="02020603050405020304" pitchFamily="18" charset="0"/>
            </a:endParaRPr>
          </a:p>
          <a:p>
            <a:r>
              <a:rPr lang="en-US" altLang="en-US" sz="8000" dirty="0">
                <a:latin typeface="Times New Roman" panose="02020603050405020304" pitchFamily="18" charset="0"/>
                <a:cs typeface="Times New Roman" panose="02020603050405020304" pitchFamily="18" charset="0"/>
              </a:rPr>
              <a:t>Clean and format data (handle missing values, remove duplicates).</a:t>
            </a:r>
            <a:endParaRPr lang="en-US" altLang="en-US" sz="8000" dirty="0">
              <a:latin typeface="Times New Roman" panose="02020603050405020304" pitchFamily="18" charset="0"/>
              <a:cs typeface="Times New Roman" panose="02020603050405020304" pitchFamily="18" charset="0"/>
            </a:endParaRPr>
          </a:p>
          <a:p>
            <a:r>
              <a:rPr lang="en-US" altLang="en-US" sz="8000" dirty="0">
                <a:latin typeface="Times New Roman" panose="02020603050405020304" pitchFamily="18" charset="0"/>
                <a:cs typeface="Times New Roman" panose="02020603050405020304" pitchFamily="18" charset="0"/>
              </a:rPr>
              <a:t>Normalize or standardize numerical values.</a:t>
            </a:r>
            <a:endParaRPr lang="en-US" altLang="en-US" sz="5600" b="1" dirty="0">
              <a:latin typeface="Times New Roman" panose="02020603050405020304" pitchFamily="18" charset="0"/>
              <a:cs typeface="Times New Roman" panose="02020603050405020304" pitchFamily="18" charset="0"/>
            </a:endParaRPr>
          </a:p>
          <a:p>
            <a:r>
              <a:rPr lang="en-US" altLang="en-US" sz="8000" dirty="0">
                <a:latin typeface="Times New Roman" panose="02020603050405020304" pitchFamily="18" charset="0"/>
                <a:cs typeface="Times New Roman" panose="02020603050405020304" pitchFamily="18" charset="0"/>
              </a:rPr>
              <a:t>Encode categorical data (e.g., gender, yes/no) using one-hot or label encoding.</a:t>
            </a:r>
            <a:endParaRPr lang="en-US" altLang="en-US" sz="8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46480"/>
          </a:xfrm>
        </p:spPr>
        <p:txBody>
          <a:bodyPr/>
          <a:lstStyle/>
          <a:p>
            <a:pPr algn="ctr"/>
            <a:r>
              <a:rPr lang="en-US" b="1" dirty="0">
                <a:latin typeface="Times New Roman" panose="02020603050405020304" pitchFamily="18" charset="0"/>
                <a:cs typeface="Times New Roman" panose="02020603050405020304" pitchFamily="18" charset="0"/>
              </a:rPr>
              <a:t>Methodology</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55445"/>
            <a:ext cx="10515600" cy="4877435"/>
          </a:xfrm>
        </p:spPr>
        <p:txBody>
          <a:bodyPr>
            <a:normAutofit/>
          </a:bodyPr>
          <a:lstStyle/>
          <a:p>
            <a:pPr marL="0" indent="0">
              <a:buNone/>
            </a:pPr>
            <a:r>
              <a:rPr lang="en-US" altLang="en-US" sz="2000" b="1" dirty="0">
                <a:latin typeface="Times New Roman" panose="02020603050405020304" pitchFamily="18" charset="0"/>
                <a:cs typeface="Times New Roman" panose="02020603050405020304" pitchFamily="18" charset="0"/>
              </a:rPr>
              <a:t>4. Feature Engineering / Selection</a:t>
            </a:r>
            <a:endParaRPr lang="en-US" altLang="en-US" sz="2000" b="1" dirty="0">
              <a:latin typeface="Times New Roman" panose="02020603050405020304" pitchFamily="18" charset="0"/>
              <a:cs typeface="Times New Roman" panose="02020603050405020304" pitchFamily="18" charset="0"/>
            </a:endParaRPr>
          </a:p>
          <a:p>
            <a:pPr marL="0" indent="0">
              <a:buNone/>
            </a:pPr>
            <a:r>
              <a:rPr lang="en-US" altLang="en-US" sz="2000" dirty="0">
                <a:latin typeface="Times New Roman" panose="02020603050405020304" pitchFamily="18" charset="0"/>
                <a:cs typeface="Times New Roman" panose="02020603050405020304" pitchFamily="18" charset="0"/>
              </a:rPr>
              <a:t>Select relevant features (e.g., age, blood pressure, glucose level).</a:t>
            </a:r>
            <a:endParaRPr lang="en-US" altLang="en-US" sz="2000" dirty="0">
              <a:latin typeface="Times New Roman" panose="02020603050405020304" pitchFamily="18" charset="0"/>
              <a:cs typeface="Times New Roman" panose="02020603050405020304" pitchFamily="18" charset="0"/>
            </a:endParaRPr>
          </a:p>
          <a:p>
            <a:pPr marL="0" indent="0">
              <a:buNone/>
            </a:pPr>
            <a:r>
              <a:rPr lang="en-US" altLang="en-US" sz="2000" dirty="0">
                <a:latin typeface="Times New Roman" panose="02020603050405020304" pitchFamily="18" charset="0"/>
                <a:cs typeface="Times New Roman" panose="02020603050405020304" pitchFamily="18" charset="0"/>
              </a:rPr>
              <a:t>Use statistical methods or correlation analysis to reduce irrelevant features.</a:t>
            </a:r>
            <a:endParaRPr lang="en-US" altLang="en-US" sz="2000" dirty="0">
              <a:latin typeface="Times New Roman" panose="02020603050405020304" pitchFamily="18" charset="0"/>
              <a:cs typeface="Times New Roman" panose="02020603050405020304" pitchFamily="18" charset="0"/>
            </a:endParaRPr>
          </a:p>
          <a:p>
            <a:pPr marL="0" indent="0">
              <a:buNone/>
            </a:pPr>
            <a:r>
              <a:rPr lang="en-US" altLang="en-US" sz="2000" dirty="0">
                <a:latin typeface="Times New Roman" panose="02020603050405020304" pitchFamily="18" charset="0"/>
                <a:cs typeface="Times New Roman" panose="02020603050405020304" pitchFamily="18" charset="0"/>
              </a:rPr>
              <a:t>Apply dimensionality reduction techniques (PCA, LDA if needed).</a:t>
            </a:r>
            <a:endParaRPr lang="en-US" altLang="en-US" sz="2000" dirty="0">
              <a:latin typeface="Times New Roman" panose="02020603050405020304" pitchFamily="18" charset="0"/>
              <a:cs typeface="Times New Roman" panose="02020603050405020304" pitchFamily="18" charset="0"/>
            </a:endParaRPr>
          </a:p>
          <a:p>
            <a:pPr marL="0" indent="0">
              <a:buNone/>
            </a:pPr>
            <a:endParaRPr lang="en-US" altLang="en-US" sz="2000" b="1" dirty="0">
              <a:latin typeface="Times New Roman" panose="02020603050405020304" pitchFamily="18" charset="0"/>
              <a:cs typeface="Times New Roman" panose="02020603050405020304" pitchFamily="18" charset="0"/>
            </a:endParaRPr>
          </a:p>
          <a:p>
            <a:pPr marL="0" indent="0">
              <a:buNone/>
            </a:pPr>
            <a:endParaRPr lang="en-US" altLang="en-US" sz="2000" b="1" dirty="0">
              <a:latin typeface="Times New Roman" panose="02020603050405020304" pitchFamily="18" charset="0"/>
              <a:cs typeface="Times New Roman" panose="02020603050405020304" pitchFamily="18" charset="0"/>
            </a:endParaRPr>
          </a:p>
          <a:p>
            <a:pPr marL="0" indent="0">
              <a:buNone/>
            </a:pPr>
            <a:r>
              <a:rPr lang="en-US" altLang="en-US" sz="2000" b="1" dirty="0">
                <a:latin typeface="Times New Roman" panose="02020603050405020304" pitchFamily="18" charset="0"/>
                <a:cs typeface="Times New Roman" panose="02020603050405020304" pitchFamily="18" charset="0"/>
              </a:rPr>
              <a:t>5. ANN Model Design</a:t>
            </a:r>
            <a:endParaRPr lang="en-US" altLang="en-US" sz="2000" b="1" dirty="0">
              <a:latin typeface="Times New Roman" panose="02020603050405020304" pitchFamily="18" charset="0"/>
              <a:cs typeface="Times New Roman" panose="02020603050405020304" pitchFamily="18" charset="0"/>
            </a:endParaRPr>
          </a:p>
          <a:p>
            <a:pPr marL="0" indent="0">
              <a:buNone/>
            </a:pPr>
            <a:r>
              <a:rPr lang="en-US" altLang="en-US" sz="2000" dirty="0">
                <a:latin typeface="Times New Roman" panose="02020603050405020304" pitchFamily="18" charset="0"/>
                <a:cs typeface="Times New Roman" panose="02020603050405020304" pitchFamily="18" charset="0"/>
              </a:rPr>
              <a:t>Choose architecture: feedforward, CNN (for images), or RNN (for sequences).</a:t>
            </a:r>
            <a:endParaRPr lang="en-US" altLang="en-US" sz="2000" dirty="0">
              <a:latin typeface="Times New Roman" panose="02020603050405020304" pitchFamily="18" charset="0"/>
              <a:cs typeface="Times New Roman" panose="02020603050405020304" pitchFamily="18" charset="0"/>
            </a:endParaRPr>
          </a:p>
          <a:p>
            <a:pPr marL="0" indent="0">
              <a:buNone/>
            </a:pPr>
            <a:r>
              <a:rPr lang="en-US" altLang="en-US" sz="2000" dirty="0">
                <a:latin typeface="Times New Roman" panose="02020603050405020304" pitchFamily="18" charset="0"/>
                <a:cs typeface="Times New Roman" panose="02020603050405020304" pitchFamily="18" charset="0"/>
              </a:rPr>
              <a:t>Define the number of hidden layers and neurons.</a:t>
            </a:r>
            <a:endParaRPr lang="en-US" altLang="en-US" sz="2000" dirty="0">
              <a:latin typeface="Times New Roman" panose="02020603050405020304" pitchFamily="18" charset="0"/>
              <a:cs typeface="Times New Roman" panose="02020603050405020304" pitchFamily="18" charset="0"/>
            </a:endParaRPr>
          </a:p>
          <a:p>
            <a:pPr marL="0" indent="0">
              <a:buNone/>
            </a:pPr>
            <a:r>
              <a:rPr lang="en-US" altLang="en-US" sz="2000" dirty="0">
                <a:latin typeface="Times New Roman" panose="02020603050405020304" pitchFamily="18" charset="0"/>
                <a:cs typeface="Times New Roman" panose="02020603050405020304" pitchFamily="18" charset="0"/>
              </a:rPr>
              <a:t>Select activation functions (ReLU, sigmoid, softmax).</a:t>
            </a:r>
            <a:endParaRPr lang="en-US" altLang="en-US" sz="2000" dirty="0">
              <a:latin typeface="Times New Roman" panose="02020603050405020304" pitchFamily="18" charset="0"/>
              <a:cs typeface="Times New Roman" panose="02020603050405020304" pitchFamily="18" charset="0"/>
            </a:endParaRPr>
          </a:p>
          <a:p>
            <a:pPr marL="0" indent="0">
              <a:buNone/>
            </a:pPr>
            <a:endParaRPr lang="en-US" altLang="en-US" sz="2000" dirty="0">
              <a:latin typeface="Times New Roman" panose="02020603050405020304" pitchFamily="18" charset="0"/>
              <a:cs typeface="Times New Roman" panose="02020603050405020304" pitchFamily="18" charset="0"/>
            </a:endParaRPr>
          </a:p>
          <a:p>
            <a:pPr marL="0" indent="0">
              <a:buNone/>
            </a:pPr>
            <a:endParaRPr lang="en-US" altLang="en-US"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7" name="Rectangle 4"/>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a:ln>
                  <a:noFill/>
                </a:ln>
                <a:solidFill>
                  <a:schemeClr val="tx1"/>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 name="Rectangle 6"/>
          <p:cNvSpPr>
            <a:spLocks noChangeArrowheads="1"/>
          </p:cNvSpPr>
          <p:nvPr/>
        </p:nvSpPr>
        <p:spPr bwMode="auto">
          <a:xfrm>
            <a:off x="0" y="378510"/>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61415"/>
          </a:xfrm>
        </p:spPr>
        <p:txBody>
          <a:bodyPr/>
          <a:lstStyle/>
          <a:p>
            <a:r>
              <a:rPr lang="en-US" b="1" dirty="0">
                <a:latin typeface="Times New Roman" panose="02020603050405020304" pitchFamily="18" charset="0"/>
                <a:cs typeface="Times New Roman" panose="02020603050405020304" pitchFamily="18" charset="0"/>
              </a:rPr>
              <a:t>                        Methodology</a:t>
            </a:r>
            <a:endParaRPr lang="en-IN" dirty="0"/>
          </a:p>
        </p:txBody>
      </p:sp>
      <p:sp>
        <p:nvSpPr>
          <p:cNvPr id="3" name="Content Placeholder 2"/>
          <p:cNvSpPr>
            <a:spLocks noGrp="1"/>
          </p:cNvSpPr>
          <p:nvPr>
            <p:ph idx="1"/>
          </p:nvPr>
        </p:nvSpPr>
        <p:spPr>
          <a:xfrm>
            <a:off x="838200" y="1527175"/>
            <a:ext cx="10515600" cy="4880610"/>
          </a:xfrm>
        </p:spPr>
        <p:txBody>
          <a:bodyPr/>
          <a:lstStyle/>
          <a:p>
            <a:pPr marL="0" marR="0" lvl="0" indent="0" algn="l" defTabSz="914400" rtl="0" eaLnBrk="0" fontAlgn="base" latinLnBrk="0" hangingPunct="0">
              <a:lnSpc>
                <a:spcPct val="100000"/>
              </a:lnSpc>
              <a:spcBef>
                <a:spcPct val="0"/>
              </a:spcBef>
              <a:spcAft>
                <a:spcPct val="0"/>
              </a:spcAft>
              <a:buClrTx/>
              <a:buSzTx/>
              <a:buNone/>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 Model Training</a:t>
            </a: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Split data into training, validation, and test sets (e.g., 70/15/15).</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backpropagation and optimizers like Adam or RMSprop.</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Set learning rate, batch size, and epochs.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 Model Evaluation</a:t>
            </a: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Assess using accuracy, precision, recall, F1-score, ROC-AUC.</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Analyze confusion matrix for classification performance.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cross-validation to validate generalization.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 Testing and Validation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 model on unseen data.</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Compare results with expert diagnosis or known outcomes.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IN" dirty="0"/>
          </a:p>
          <a:p>
            <a:pPr marL="0" indent="0">
              <a:buNone/>
            </a:pPr>
            <a:endParaRPr lang="en-IN" dirty="0"/>
          </a:p>
        </p:txBody>
      </p:sp>
      <p:sp>
        <p:nvSpPr>
          <p:cNvPr id="6" name="Rectangle 3"/>
          <p:cNvSpPr>
            <a:spLocks noChangeArrowheads="1"/>
          </p:cNvSpPr>
          <p:nvPr/>
        </p:nvSpPr>
        <p:spPr bwMode="auto">
          <a:xfrm>
            <a:off x="0" y="378510"/>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en-IN" b="1" dirty="0">
                <a:latin typeface="Times New Roman" panose="02020603050405020304" pitchFamily="18" charset="0"/>
                <a:cs typeface="Times New Roman" panose="02020603050405020304" pitchFamily="18" charset="0"/>
                <a:sym typeface="+mn-ea"/>
              </a:rPr>
              <a:t>Feature Selection and Data Preprocessing</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25000"/>
          </a:bodyPr>
          <a:lstStyle/>
          <a:p>
            <a:pPr marL="0" indent="0">
              <a:buNone/>
            </a:pPr>
            <a:r>
              <a:rPr lang="en-US" altLang="en-US" sz="8000" b="1" dirty="0">
                <a:latin typeface="Times New Roman" panose="02020603050405020304" pitchFamily="18" charset="0"/>
                <a:cs typeface="Times New Roman" panose="02020603050405020304" pitchFamily="18" charset="0"/>
              </a:rPr>
              <a:t>1. Data Preprocessing </a:t>
            </a:r>
            <a:endParaRPr lang="en-US" altLang="en-US" sz="8000" b="1" dirty="0">
              <a:latin typeface="Times New Roman" panose="02020603050405020304" pitchFamily="18" charset="0"/>
              <a:cs typeface="Times New Roman" panose="02020603050405020304" pitchFamily="18" charset="0"/>
            </a:endParaRPr>
          </a:p>
          <a:p>
            <a:pPr marL="0" indent="0">
              <a:buNone/>
            </a:pPr>
            <a:r>
              <a:rPr lang="en-US" altLang="en-US" sz="8000" b="1" dirty="0">
                <a:latin typeface="Times New Roman" panose="02020603050405020304" pitchFamily="18" charset="0"/>
                <a:cs typeface="Times New Roman" panose="02020603050405020304" pitchFamily="18" charset="0"/>
              </a:rPr>
              <a:t>Data Cleaning:</a:t>
            </a:r>
            <a:endParaRPr lang="en-US" altLang="en-US" sz="8000" b="1" dirty="0">
              <a:latin typeface="Times New Roman" panose="02020603050405020304" pitchFamily="18" charset="0"/>
              <a:cs typeface="Times New Roman" panose="02020603050405020304" pitchFamily="18" charset="0"/>
            </a:endParaRPr>
          </a:p>
          <a:p>
            <a:pPr marL="0" indent="0">
              <a:buNone/>
            </a:pPr>
            <a:r>
              <a:rPr lang="en-US" altLang="en-US" sz="8000" dirty="0">
                <a:latin typeface="Times New Roman" panose="02020603050405020304" pitchFamily="18" charset="0"/>
                <a:cs typeface="Times New Roman" panose="02020603050405020304" pitchFamily="18" charset="0"/>
              </a:rPr>
              <a:t>Handle missing data: mean/median imputation, interpolation, k-NN imputation, or drop rows/columns.</a:t>
            </a:r>
            <a:endParaRPr lang="en-US" altLang="en-US" sz="8000" dirty="0">
              <a:latin typeface="Times New Roman" panose="02020603050405020304" pitchFamily="18" charset="0"/>
              <a:cs typeface="Times New Roman" panose="02020603050405020304" pitchFamily="18" charset="0"/>
            </a:endParaRPr>
          </a:p>
          <a:p>
            <a:pPr marL="0" indent="0">
              <a:buNone/>
            </a:pPr>
            <a:r>
              <a:rPr lang="en-US" altLang="en-US" sz="8000" dirty="0">
                <a:latin typeface="Times New Roman" panose="02020603050405020304" pitchFamily="18" charset="0"/>
                <a:cs typeface="Times New Roman" panose="02020603050405020304" pitchFamily="18" charset="0"/>
              </a:rPr>
              <a:t>Identify and treat outliers using IQR, Z-score, or visualization (boxplots, scatterplots).</a:t>
            </a:r>
            <a:endParaRPr lang="en-US" altLang="en-US" sz="8000" dirty="0">
              <a:latin typeface="Times New Roman" panose="02020603050405020304" pitchFamily="18" charset="0"/>
              <a:cs typeface="Times New Roman" panose="02020603050405020304" pitchFamily="18" charset="0"/>
            </a:endParaRPr>
          </a:p>
          <a:p>
            <a:pPr marL="0" indent="0">
              <a:buNone/>
            </a:pPr>
            <a:r>
              <a:rPr lang="en-US" altLang="en-US" sz="8000" dirty="0">
                <a:latin typeface="Times New Roman" panose="02020603050405020304" pitchFamily="18" charset="0"/>
                <a:cs typeface="Times New Roman" panose="02020603050405020304" pitchFamily="18" charset="0"/>
              </a:rPr>
              <a:t>Check for consistency (e.g., same units, standardized formats).</a:t>
            </a:r>
            <a:endParaRPr lang="en-US" altLang="en-US" sz="8000" dirty="0">
              <a:latin typeface="Times New Roman" panose="02020603050405020304" pitchFamily="18" charset="0"/>
              <a:cs typeface="Times New Roman" panose="02020603050405020304" pitchFamily="18" charset="0"/>
            </a:endParaRPr>
          </a:p>
          <a:p>
            <a:pPr marL="0" indent="0">
              <a:buNone/>
            </a:pPr>
            <a:endParaRPr lang="en-US" altLang="en-US" sz="8000" dirty="0">
              <a:latin typeface="Times New Roman" panose="02020603050405020304" pitchFamily="18" charset="0"/>
              <a:cs typeface="Times New Roman" panose="02020603050405020304" pitchFamily="18" charset="0"/>
            </a:endParaRPr>
          </a:p>
          <a:p>
            <a:pPr marL="0" indent="0">
              <a:buNone/>
            </a:pPr>
            <a:r>
              <a:rPr lang="en-US" altLang="en-US" sz="8000" b="1" dirty="0">
                <a:latin typeface="Times New Roman" panose="02020603050405020304" pitchFamily="18" charset="0"/>
                <a:cs typeface="Times New Roman" panose="02020603050405020304" pitchFamily="18" charset="0"/>
              </a:rPr>
              <a:t>Data Integration:</a:t>
            </a:r>
            <a:endParaRPr lang="en-US" altLang="en-US" sz="8000" b="1" dirty="0">
              <a:latin typeface="Times New Roman" panose="02020603050405020304" pitchFamily="18" charset="0"/>
              <a:cs typeface="Times New Roman" panose="02020603050405020304" pitchFamily="18" charset="0"/>
            </a:endParaRPr>
          </a:p>
          <a:p>
            <a:pPr marL="0" indent="0">
              <a:buNone/>
            </a:pPr>
            <a:r>
              <a:rPr lang="en-US" altLang="en-US" sz="8000" dirty="0">
                <a:latin typeface="Times New Roman" panose="02020603050405020304" pitchFamily="18" charset="0"/>
                <a:cs typeface="Times New Roman" panose="02020603050405020304" pitchFamily="18" charset="0"/>
              </a:rPr>
              <a:t>Combine data from multiple sources (e.g., hospital records, lab results, wearable sensors).</a:t>
            </a:r>
            <a:endParaRPr lang="en-US" altLang="en-US" sz="8000" dirty="0">
              <a:latin typeface="Times New Roman" panose="02020603050405020304" pitchFamily="18" charset="0"/>
              <a:cs typeface="Times New Roman" panose="02020603050405020304" pitchFamily="18" charset="0"/>
            </a:endParaRPr>
          </a:p>
          <a:p>
            <a:pPr marL="0" indent="0">
              <a:buNone/>
            </a:pPr>
            <a:r>
              <a:rPr lang="en-US" altLang="en-US" sz="8000" dirty="0">
                <a:latin typeface="Times New Roman" panose="02020603050405020304" pitchFamily="18" charset="0"/>
                <a:cs typeface="Times New Roman" panose="02020603050405020304" pitchFamily="18" charset="0"/>
              </a:rPr>
              <a:t>Resolve schema and value conflicts during merging.</a:t>
            </a:r>
            <a:endParaRPr lang="en-US" altLang="en-US" sz="8000" dirty="0">
              <a:latin typeface="Times New Roman" panose="02020603050405020304" pitchFamily="18" charset="0"/>
              <a:cs typeface="Times New Roman" panose="02020603050405020304" pitchFamily="18" charset="0"/>
            </a:endParaRPr>
          </a:p>
          <a:p>
            <a:pPr marL="0" indent="0">
              <a:buNone/>
            </a:pPr>
            <a:endParaRPr lang="en-US" altLang="en-US" sz="8000" dirty="0">
              <a:latin typeface="Times New Roman" panose="02020603050405020304" pitchFamily="18" charset="0"/>
              <a:cs typeface="Times New Roman" panose="02020603050405020304" pitchFamily="18" charset="0"/>
            </a:endParaRPr>
          </a:p>
          <a:p>
            <a:pPr marL="0" indent="0">
              <a:buNone/>
            </a:pPr>
            <a:endParaRPr lang="en-US" altLang="en-US" sz="8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en-IN" b="1" dirty="0">
                <a:latin typeface="Times New Roman" panose="02020603050405020304" pitchFamily="18" charset="0"/>
                <a:cs typeface="Times New Roman" panose="02020603050405020304" pitchFamily="18" charset="0"/>
                <a:sym typeface="+mn-ea"/>
              </a:rPr>
              <a:t>Feature Selection and Data Preprocessing</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marL="0" indent="0">
              <a:buNone/>
            </a:pPr>
            <a:r>
              <a:rPr lang="en-US" altLang="en-US" sz="1900" b="1" dirty="0">
                <a:latin typeface="Times New Roman" panose="02020603050405020304" pitchFamily="18" charset="0"/>
                <a:cs typeface="Times New Roman" panose="02020603050405020304" pitchFamily="18" charset="0"/>
                <a:sym typeface="+mn-ea"/>
              </a:rPr>
              <a:t>Data Transformation:</a:t>
            </a:r>
            <a:endParaRPr lang="en-US" altLang="en-US" sz="1900" b="1" dirty="0">
              <a:latin typeface="Times New Roman" panose="02020603050405020304" pitchFamily="18" charset="0"/>
              <a:cs typeface="Times New Roman" panose="02020603050405020304" pitchFamily="18" charset="0"/>
            </a:endParaRPr>
          </a:p>
          <a:p>
            <a:pPr marL="0" indent="0">
              <a:buNone/>
            </a:pPr>
            <a:r>
              <a:rPr lang="en-US" altLang="en-US" sz="1900" dirty="0">
                <a:latin typeface="Times New Roman" panose="02020603050405020304" pitchFamily="18" charset="0"/>
                <a:cs typeface="Times New Roman" panose="02020603050405020304" pitchFamily="18" charset="0"/>
                <a:sym typeface="+mn-ea"/>
              </a:rPr>
              <a:t>Normalize/Standardize numerical features to ensure equal weight in ANN.</a:t>
            </a:r>
            <a:endParaRPr lang="en-US" altLang="en-US" sz="1900" dirty="0">
              <a:latin typeface="Times New Roman" panose="02020603050405020304" pitchFamily="18" charset="0"/>
              <a:cs typeface="Times New Roman" panose="02020603050405020304" pitchFamily="18" charset="0"/>
            </a:endParaRPr>
          </a:p>
          <a:p>
            <a:pPr marL="0" indent="0">
              <a:buNone/>
            </a:pPr>
            <a:r>
              <a:rPr lang="en-US" altLang="en-US" sz="1900" dirty="0">
                <a:latin typeface="Times New Roman" panose="02020603050405020304" pitchFamily="18" charset="0"/>
                <a:cs typeface="Times New Roman" panose="02020603050405020304" pitchFamily="18" charset="0"/>
                <a:sym typeface="+mn-ea"/>
              </a:rPr>
              <a:t>Apply log transformation to reduce skewness.</a:t>
            </a:r>
            <a:endParaRPr lang="en-US" altLang="en-US" sz="1900" dirty="0">
              <a:latin typeface="Times New Roman" panose="02020603050405020304" pitchFamily="18" charset="0"/>
              <a:cs typeface="Times New Roman" panose="02020603050405020304" pitchFamily="18" charset="0"/>
            </a:endParaRPr>
          </a:p>
          <a:p>
            <a:pPr marL="0" indent="0">
              <a:buNone/>
            </a:pPr>
            <a:r>
              <a:rPr lang="en-US" altLang="en-US" sz="1900" dirty="0">
                <a:latin typeface="Times New Roman" panose="02020603050405020304" pitchFamily="18" charset="0"/>
                <a:cs typeface="Times New Roman" panose="02020603050405020304" pitchFamily="18" charset="0"/>
                <a:sym typeface="+mn-ea"/>
              </a:rPr>
              <a:t>Use polynomial features or interaction terms to enrich inputs.</a:t>
            </a:r>
            <a:endParaRPr lang="en-US" altLang="en-US" sz="1900" dirty="0">
              <a:latin typeface="Times New Roman" panose="02020603050405020304" pitchFamily="18" charset="0"/>
              <a:cs typeface="Times New Roman" panose="02020603050405020304" pitchFamily="18" charset="0"/>
              <a:sym typeface="+mn-ea"/>
            </a:endParaRPr>
          </a:p>
          <a:p>
            <a:pPr marL="0" indent="0">
              <a:buNone/>
            </a:pPr>
            <a:endParaRPr lang="en-US" altLang="en-US" sz="1900" dirty="0">
              <a:latin typeface="Times New Roman" panose="02020603050405020304" pitchFamily="18" charset="0"/>
              <a:cs typeface="Times New Roman" panose="02020603050405020304" pitchFamily="18" charset="0"/>
              <a:sym typeface="+mn-ea"/>
            </a:endParaRPr>
          </a:p>
          <a:p>
            <a:pPr marL="0" indent="0">
              <a:buNone/>
            </a:pPr>
            <a:r>
              <a:rPr lang="en-US" altLang="en-US" sz="1900" b="1" dirty="0">
                <a:latin typeface="Times New Roman" panose="02020603050405020304" pitchFamily="18" charset="0"/>
                <a:cs typeface="Times New Roman" panose="02020603050405020304" pitchFamily="18" charset="0"/>
              </a:rPr>
              <a:t>Discretization/Binning:</a:t>
            </a:r>
            <a:endParaRPr lang="en-US" altLang="en-US" sz="1900" dirty="0">
              <a:latin typeface="Times New Roman" panose="02020603050405020304" pitchFamily="18" charset="0"/>
              <a:cs typeface="Times New Roman" panose="02020603050405020304" pitchFamily="18" charset="0"/>
            </a:endParaRPr>
          </a:p>
          <a:p>
            <a:pPr marL="0" indent="0">
              <a:buNone/>
            </a:pPr>
            <a:r>
              <a:rPr lang="en-US" altLang="en-US" sz="1900" dirty="0">
                <a:latin typeface="Times New Roman" panose="02020603050405020304" pitchFamily="18" charset="0"/>
                <a:cs typeface="Times New Roman" panose="02020603050405020304" pitchFamily="18" charset="0"/>
              </a:rPr>
              <a:t>Convert continuous data into discrete intervals (e.g., blood pressure ranges).</a:t>
            </a:r>
            <a:endParaRPr lang="en-US" altLang="en-US" sz="1900" dirty="0">
              <a:latin typeface="Times New Roman" panose="02020603050405020304" pitchFamily="18" charset="0"/>
              <a:cs typeface="Times New Roman" panose="02020603050405020304" pitchFamily="18" charset="0"/>
            </a:endParaRPr>
          </a:p>
          <a:p>
            <a:pPr marL="0" indent="0">
              <a:buNone/>
            </a:pPr>
            <a:r>
              <a:rPr lang="en-US" altLang="en-US" sz="1900" dirty="0">
                <a:latin typeface="Times New Roman" panose="02020603050405020304" pitchFamily="18" charset="0"/>
                <a:cs typeface="Times New Roman" panose="02020603050405020304" pitchFamily="18" charset="0"/>
              </a:rPr>
              <a:t>Data Augmentation (for images):</a:t>
            </a:r>
            <a:endParaRPr lang="en-US" altLang="en-US" sz="1900" dirty="0">
              <a:latin typeface="Times New Roman" panose="02020603050405020304" pitchFamily="18" charset="0"/>
              <a:cs typeface="Times New Roman" panose="02020603050405020304" pitchFamily="18" charset="0"/>
            </a:endParaRPr>
          </a:p>
          <a:p>
            <a:pPr marL="0" indent="0">
              <a:buNone/>
            </a:pPr>
            <a:r>
              <a:rPr lang="en-US" altLang="en-US" sz="1900" dirty="0">
                <a:latin typeface="Times New Roman" panose="02020603050405020304" pitchFamily="18" charset="0"/>
                <a:cs typeface="Times New Roman" panose="02020603050405020304" pitchFamily="18" charset="0"/>
              </a:rPr>
              <a:t>Apply transformations like rotation, flipping, zooming, or brightness adjustment.</a:t>
            </a:r>
            <a:endParaRPr lang="en-US" altLang="en-US" sz="1900" dirty="0">
              <a:latin typeface="Times New Roman" panose="02020603050405020304" pitchFamily="18" charset="0"/>
              <a:cs typeface="Times New Roman" panose="02020603050405020304" pitchFamily="18" charset="0"/>
            </a:endParaRPr>
          </a:p>
          <a:p>
            <a:pPr marL="0" indent="0">
              <a:buNone/>
            </a:pPr>
            <a:r>
              <a:rPr lang="en-US" altLang="en-US" sz="1900" dirty="0">
                <a:latin typeface="Times New Roman" panose="02020603050405020304" pitchFamily="18" charset="0"/>
                <a:cs typeface="Times New Roman" panose="02020603050405020304" pitchFamily="18" charset="0"/>
              </a:rPr>
              <a:t>Increases dataset size and prevents overfitting.</a:t>
            </a:r>
            <a:endParaRPr lang="en-US" altLang="en-US" sz="1900" dirty="0">
              <a:latin typeface="Times New Roman" panose="02020603050405020304" pitchFamily="18" charset="0"/>
              <a:cs typeface="Times New Roman" panose="02020603050405020304" pitchFamily="18" charset="0"/>
            </a:endParaRPr>
          </a:p>
          <a:p>
            <a:pPr marL="0" indent="0">
              <a:buNone/>
            </a:pPr>
            <a:endParaRPr lang="en-US" altLang="en-US" sz="7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en-IN" b="1" dirty="0">
                <a:latin typeface="Times New Roman" panose="02020603050405020304" pitchFamily="18" charset="0"/>
                <a:cs typeface="Times New Roman" panose="02020603050405020304" pitchFamily="18" charset="0"/>
                <a:sym typeface="+mn-ea"/>
              </a:rPr>
              <a:t>Feature Selection and Data Preprocessing</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3735" y="1793875"/>
            <a:ext cx="10515600" cy="4505325"/>
          </a:xfrm>
        </p:spPr>
        <p:txBody>
          <a:bodyPr>
            <a:normAutofit fontScale="80000"/>
          </a:bodyPr>
          <a:lstStyle/>
          <a:p>
            <a:pPr marL="0" indent="0">
              <a:buNone/>
            </a:pPr>
            <a:r>
              <a:rPr lang="en-US" altLang="en-US" sz="3335" b="1" dirty="0">
                <a:latin typeface="Times New Roman" panose="02020603050405020304" pitchFamily="18" charset="0"/>
                <a:cs typeface="Times New Roman" panose="02020603050405020304" pitchFamily="18" charset="0"/>
              </a:rPr>
              <a:t>Encoding Categorical Variables:</a:t>
            </a:r>
            <a:endParaRPr lang="en-US" altLang="en-US" sz="3335" dirty="0">
              <a:latin typeface="Times New Roman" panose="02020603050405020304" pitchFamily="18" charset="0"/>
              <a:cs typeface="Times New Roman" panose="02020603050405020304" pitchFamily="18" charset="0"/>
            </a:endParaRPr>
          </a:p>
          <a:p>
            <a:pPr marL="0" indent="0">
              <a:buNone/>
            </a:pPr>
            <a:r>
              <a:rPr lang="en-US" altLang="en-US" sz="3335" dirty="0">
                <a:latin typeface="Times New Roman" panose="02020603050405020304" pitchFamily="18" charset="0"/>
                <a:cs typeface="Times New Roman" panose="02020603050405020304" pitchFamily="18" charset="0"/>
              </a:rPr>
              <a:t>Label encoding for ordered categories (e.g., disease stages).</a:t>
            </a:r>
            <a:endParaRPr lang="en-US" altLang="en-US" sz="3335" dirty="0">
              <a:latin typeface="Times New Roman" panose="02020603050405020304" pitchFamily="18" charset="0"/>
              <a:cs typeface="Times New Roman" panose="02020603050405020304" pitchFamily="18" charset="0"/>
            </a:endParaRPr>
          </a:p>
          <a:p>
            <a:pPr marL="0" indent="0">
              <a:buNone/>
            </a:pPr>
            <a:r>
              <a:rPr lang="en-US" altLang="en-US" sz="3335" dirty="0">
                <a:latin typeface="Times New Roman" panose="02020603050405020304" pitchFamily="18" charset="0"/>
                <a:cs typeface="Times New Roman" panose="02020603050405020304" pitchFamily="18" charset="0"/>
              </a:rPr>
              <a:t>One-hot encoding for unordered labels (e.g., gender, city).</a:t>
            </a:r>
            <a:endParaRPr lang="en-US" altLang="en-US" sz="3335" dirty="0">
              <a:latin typeface="Times New Roman" panose="02020603050405020304" pitchFamily="18" charset="0"/>
              <a:cs typeface="Times New Roman" panose="02020603050405020304" pitchFamily="18" charset="0"/>
            </a:endParaRPr>
          </a:p>
          <a:p>
            <a:pPr marL="0" indent="0">
              <a:buNone/>
            </a:pPr>
            <a:r>
              <a:rPr lang="en-US" altLang="en-US" sz="3335" dirty="0">
                <a:latin typeface="Times New Roman" panose="02020603050405020304" pitchFamily="18" charset="0"/>
                <a:cs typeface="Times New Roman" panose="02020603050405020304" pitchFamily="18" charset="0"/>
              </a:rPr>
              <a:t>Target encoding for high-cardinality features.</a:t>
            </a:r>
            <a:endParaRPr lang="en-US" altLang="en-US" sz="3335" dirty="0">
              <a:latin typeface="Times New Roman" panose="02020603050405020304" pitchFamily="18" charset="0"/>
              <a:cs typeface="Times New Roman" panose="02020603050405020304" pitchFamily="18" charset="0"/>
            </a:endParaRPr>
          </a:p>
          <a:p>
            <a:pPr marL="0" indent="0">
              <a:buNone/>
            </a:pPr>
            <a:endParaRPr lang="en-US" altLang="en-US" sz="4445" dirty="0">
              <a:latin typeface="Times New Roman" panose="02020603050405020304" pitchFamily="18" charset="0"/>
              <a:cs typeface="Times New Roman" panose="02020603050405020304" pitchFamily="18" charset="0"/>
            </a:endParaRPr>
          </a:p>
          <a:p>
            <a:pPr marL="0" indent="0">
              <a:buNone/>
            </a:pPr>
            <a:r>
              <a:rPr lang="en-US" altLang="en-US" sz="3335" b="1" dirty="0">
                <a:latin typeface="Times New Roman" panose="02020603050405020304" pitchFamily="18" charset="0"/>
                <a:cs typeface="Times New Roman" panose="02020603050405020304" pitchFamily="18" charset="0"/>
              </a:rPr>
              <a:t>Noise Removal &amp; Signal Smoothing:</a:t>
            </a:r>
            <a:endParaRPr lang="en-US" altLang="en-US" sz="3335" b="1" dirty="0">
              <a:latin typeface="Times New Roman" panose="02020603050405020304" pitchFamily="18" charset="0"/>
              <a:cs typeface="Times New Roman" panose="02020603050405020304" pitchFamily="18" charset="0"/>
            </a:endParaRPr>
          </a:p>
          <a:p>
            <a:pPr marL="0" indent="0">
              <a:buNone/>
            </a:pPr>
            <a:r>
              <a:rPr lang="en-US" altLang="en-US" sz="3335" dirty="0">
                <a:latin typeface="Times New Roman" panose="02020603050405020304" pitchFamily="18" charset="0"/>
                <a:cs typeface="Times New Roman" panose="02020603050405020304" pitchFamily="18" charset="0"/>
              </a:rPr>
              <a:t>Use filtering (e.g., median filter, Gaussian filter) for imaging/sensor data.</a:t>
            </a:r>
            <a:endParaRPr lang="en-US" altLang="en-US" sz="3335" dirty="0">
              <a:latin typeface="Times New Roman" panose="02020603050405020304" pitchFamily="18" charset="0"/>
              <a:cs typeface="Times New Roman" panose="02020603050405020304" pitchFamily="18" charset="0"/>
            </a:endParaRPr>
          </a:p>
          <a:p>
            <a:pPr marL="0" indent="0">
              <a:buNone/>
            </a:pPr>
            <a:r>
              <a:rPr lang="en-US" altLang="en-US" sz="3335" dirty="0">
                <a:latin typeface="Times New Roman" panose="02020603050405020304" pitchFamily="18" charset="0"/>
                <a:cs typeface="Times New Roman" panose="02020603050405020304" pitchFamily="18" charset="0"/>
              </a:rPr>
              <a:t>Remove low-variance noise features that do not contribute to prediction.</a:t>
            </a:r>
            <a:endParaRPr lang="en-US" altLang="en-US" sz="3335"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08067"/>
          </a:xfrm>
        </p:spPr>
        <p:txBody>
          <a:bodyPr/>
          <a:lstStyle/>
          <a:p>
            <a:pPr algn="ctr"/>
            <a:r>
              <a:rPr lang="en-US" altLang="en-IN" b="1" dirty="0">
                <a:latin typeface="Times New Roman" panose="02020603050405020304" pitchFamily="18" charset="0"/>
                <a:cs typeface="Times New Roman" panose="02020603050405020304" pitchFamily="18" charset="0"/>
                <a:sym typeface="+mn-ea"/>
              </a:rPr>
              <a:t>Feature Selection and Data Preprocessing</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58290"/>
            <a:ext cx="10515600" cy="4909820"/>
          </a:xfrm>
        </p:spPr>
        <p:txBody>
          <a:bodyPr>
            <a:noAutofit/>
          </a:bodyPr>
          <a:lstStyle/>
          <a:p>
            <a:pPr marL="0" indent="0">
              <a:buNone/>
            </a:pPr>
            <a:r>
              <a:rPr lang="en-US" altLang="en-US" sz="2000" b="1" dirty="0">
                <a:latin typeface="Times New Roman" panose="02020603050405020304" pitchFamily="18" charset="0"/>
                <a:cs typeface="Times New Roman" panose="02020603050405020304" pitchFamily="18" charset="0"/>
              </a:rPr>
              <a:t> 2. Feature Selection </a:t>
            </a:r>
            <a:endParaRPr lang="en-US" altLang="en-US" sz="2000" b="1" dirty="0">
              <a:latin typeface="Times New Roman" panose="02020603050405020304" pitchFamily="18" charset="0"/>
              <a:cs typeface="Times New Roman" panose="02020603050405020304" pitchFamily="18" charset="0"/>
            </a:endParaRPr>
          </a:p>
          <a:p>
            <a:pPr marL="0" indent="0">
              <a:buNone/>
            </a:pPr>
            <a:r>
              <a:rPr lang="en-US" altLang="en-US" sz="2000" b="1" dirty="0">
                <a:latin typeface="Times New Roman" panose="02020603050405020304" pitchFamily="18" charset="0"/>
                <a:cs typeface="Times New Roman" panose="02020603050405020304" pitchFamily="18" charset="0"/>
              </a:rPr>
              <a:t>Domain Expertise:</a:t>
            </a:r>
            <a:endParaRPr lang="en-US" altLang="en-US" sz="2000" b="1" dirty="0">
              <a:latin typeface="Times New Roman" panose="02020603050405020304" pitchFamily="18" charset="0"/>
              <a:cs typeface="Times New Roman" panose="02020603050405020304" pitchFamily="18" charset="0"/>
            </a:endParaRPr>
          </a:p>
          <a:p>
            <a:pPr marL="0" indent="0">
              <a:buNone/>
            </a:pPr>
            <a:r>
              <a:rPr lang="en-US" altLang="en-US" sz="2000" dirty="0">
                <a:latin typeface="Times New Roman" panose="02020603050405020304" pitchFamily="18" charset="0"/>
                <a:cs typeface="Times New Roman" panose="02020603050405020304" pitchFamily="18" charset="0"/>
              </a:rPr>
              <a:t>Collaborate with medical professionals to identify clinically relevant attributes.</a:t>
            </a:r>
            <a:endParaRPr lang="en-US" altLang="en-US" sz="2000" dirty="0">
              <a:latin typeface="Times New Roman" panose="02020603050405020304" pitchFamily="18" charset="0"/>
              <a:cs typeface="Times New Roman" panose="02020603050405020304" pitchFamily="18" charset="0"/>
            </a:endParaRPr>
          </a:p>
          <a:p>
            <a:pPr marL="0" indent="0">
              <a:buNone/>
            </a:pPr>
            <a:r>
              <a:rPr lang="en-US" altLang="en-US" sz="2000" dirty="0">
                <a:latin typeface="Times New Roman" panose="02020603050405020304" pitchFamily="18" charset="0"/>
                <a:cs typeface="Times New Roman" panose="02020603050405020304" pitchFamily="18" charset="0"/>
              </a:rPr>
              <a:t>Example: age, blood sugar, BMI, tumor radius, family history.</a:t>
            </a:r>
            <a:endParaRPr lang="en-US" altLang="en-US" sz="2000" dirty="0">
              <a:latin typeface="Times New Roman" panose="02020603050405020304" pitchFamily="18" charset="0"/>
              <a:cs typeface="Times New Roman" panose="02020603050405020304" pitchFamily="18" charset="0"/>
            </a:endParaRPr>
          </a:p>
          <a:p>
            <a:pPr marL="0" indent="0">
              <a:buNone/>
            </a:pPr>
            <a:endParaRPr lang="en-US" altLang="en-US" sz="2000" dirty="0">
              <a:latin typeface="Times New Roman" panose="02020603050405020304" pitchFamily="18" charset="0"/>
              <a:cs typeface="Times New Roman" panose="02020603050405020304" pitchFamily="18" charset="0"/>
            </a:endParaRPr>
          </a:p>
          <a:p>
            <a:pPr marL="0" indent="0">
              <a:buNone/>
            </a:pPr>
            <a:r>
              <a:rPr lang="en-US" altLang="en-US" sz="2000" b="1" dirty="0">
                <a:latin typeface="Times New Roman" panose="02020603050405020304" pitchFamily="18" charset="0"/>
                <a:cs typeface="Times New Roman" panose="02020603050405020304" pitchFamily="18" charset="0"/>
              </a:rPr>
              <a:t>Filter Methods:</a:t>
            </a:r>
            <a:endParaRPr lang="en-US" altLang="en-US" sz="2000" b="1" dirty="0">
              <a:latin typeface="Times New Roman" panose="02020603050405020304" pitchFamily="18" charset="0"/>
              <a:cs typeface="Times New Roman" panose="02020603050405020304" pitchFamily="18" charset="0"/>
            </a:endParaRPr>
          </a:p>
          <a:p>
            <a:pPr marL="0" indent="0">
              <a:buNone/>
            </a:pPr>
            <a:r>
              <a:rPr lang="en-US" altLang="en-US" sz="2000" dirty="0">
                <a:latin typeface="Times New Roman" panose="02020603050405020304" pitchFamily="18" charset="0"/>
                <a:cs typeface="Times New Roman" panose="02020603050405020304" pitchFamily="18" charset="0"/>
              </a:rPr>
              <a:t>Use correlation matrix to find highly correlated features (remove redundancy).</a:t>
            </a:r>
            <a:endParaRPr lang="en-US" altLang="en-US" sz="2000" dirty="0">
              <a:latin typeface="Times New Roman" panose="02020603050405020304" pitchFamily="18" charset="0"/>
              <a:cs typeface="Times New Roman" panose="02020603050405020304" pitchFamily="18" charset="0"/>
            </a:endParaRPr>
          </a:p>
          <a:p>
            <a:pPr marL="0" indent="0">
              <a:buNone/>
            </a:pPr>
            <a:r>
              <a:rPr lang="en-US" altLang="en-US" sz="2000" dirty="0">
                <a:latin typeface="Times New Roman" panose="02020603050405020304" pitchFamily="18" charset="0"/>
                <a:cs typeface="Times New Roman" panose="02020603050405020304" pitchFamily="18" charset="0"/>
              </a:rPr>
              <a:t>Apply chi-square, mutual information, or ANOVA F-test for classification tasks.</a:t>
            </a:r>
            <a:endParaRPr lang="en-US" altLang="en-US" sz="2000" dirty="0">
              <a:latin typeface="Times New Roman" panose="02020603050405020304" pitchFamily="18" charset="0"/>
              <a:cs typeface="Times New Roman" panose="02020603050405020304" pitchFamily="18" charset="0"/>
            </a:endParaRPr>
          </a:p>
          <a:p>
            <a:pPr marL="0" indent="0">
              <a:buNone/>
            </a:pPr>
            <a:endParaRPr lang="en-US" altLang="en-US" sz="2000" dirty="0">
              <a:latin typeface="Times New Roman" panose="02020603050405020304" pitchFamily="18" charset="0"/>
              <a:cs typeface="Times New Roman" panose="02020603050405020304" pitchFamily="18" charset="0"/>
            </a:endParaRPr>
          </a:p>
          <a:p>
            <a:pPr marL="0" indent="0">
              <a:buNone/>
            </a:pPr>
            <a:r>
              <a:rPr lang="en-US" altLang="en-US" sz="2000" b="1" dirty="0">
                <a:latin typeface="Times New Roman" panose="02020603050405020304" pitchFamily="18" charset="0"/>
                <a:cs typeface="Times New Roman" panose="02020603050405020304" pitchFamily="18" charset="0"/>
              </a:rPr>
              <a:t>Wrapper Methods:</a:t>
            </a:r>
            <a:endParaRPr lang="en-US" altLang="en-US" sz="2000" b="1" dirty="0">
              <a:latin typeface="Times New Roman" panose="02020603050405020304" pitchFamily="18" charset="0"/>
              <a:cs typeface="Times New Roman" panose="02020603050405020304" pitchFamily="18" charset="0"/>
            </a:endParaRPr>
          </a:p>
          <a:p>
            <a:pPr marL="0" indent="0">
              <a:buNone/>
            </a:pPr>
            <a:r>
              <a:rPr lang="en-US" altLang="en-US" sz="2000" dirty="0">
                <a:latin typeface="Times New Roman" panose="02020603050405020304" pitchFamily="18" charset="0"/>
                <a:cs typeface="Times New Roman" panose="02020603050405020304" pitchFamily="18" charset="0"/>
              </a:rPr>
              <a:t>Use recursive feature elimination (RFE) with a base estimator like logistic regression or decision tree.</a:t>
            </a:r>
            <a:endParaRPr lang="en-US" altLang="en-US" sz="2000" dirty="0">
              <a:latin typeface="Times New Roman" panose="02020603050405020304" pitchFamily="18" charset="0"/>
              <a:cs typeface="Times New Roman" panose="02020603050405020304" pitchFamily="18" charset="0"/>
            </a:endParaRPr>
          </a:p>
          <a:p>
            <a:pPr marL="0" indent="0">
              <a:buNone/>
            </a:pPr>
            <a:r>
              <a:rPr lang="en-US" altLang="en-US" sz="2000" dirty="0">
                <a:latin typeface="Times New Roman" panose="02020603050405020304" pitchFamily="18" charset="0"/>
                <a:cs typeface="Times New Roman" panose="02020603050405020304" pitchFamily="18" charset="0"/>
              </a:rPr>
              <a:t>Select features that give the best model performance iteratively.</a:t>
            </a:r>
            <a:endParaRPr lang="en-US" altLang="en-US" sz="2000" dirty="0">
              <a:latin typeface="Times New Roman" panose="02020603050405020304" pitchFamily="18" charset="0"/>
              <a:cs typeface="Times New Roman" panose="02020603050405020304" pitchFamily="18" charset="0"/>
            </a:endParaRPr>
          </a:p>
          <a:p>
            <a:pPr marL="0" indent="0">
              <a:buNone/>
            </a:pPr>
            <a:endParaRPr lang="en-US" altLang="en-US" sz="1900" dirty="0">
              <a:latin typeface="Times New Roman" panose="02020603050405020304" pitchFamily="18" charset="0"/>
              <a:cs typeface="Times New Roman" panose="02020603050405020304" pitchFamily="18" charset="0"/>
            </a:endParaRPr>
          </a:p>
          <a:p>
            <a:pPr marL="0" indent="0">
              <a:buNone/>
            </a:pPr>
            <a:endParaRPr lang="en-US" altLang="en-US" sz="1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40765"/>
          </a:xfrm>
        </p:spPr>
        <p:txBody>
          <a:bodyPr/>
          <a:lstStyle/>
          <a:p>
            <a:pPr algn="ctr"/>
            <a:r>
              <a:rPr lang="en-US" altLang="en-IN" b="1" dirty="0">
                <a:latin typeface="Times New Roman" panose="02020603050405020304" pitchFamily="18" charset="0"/>
                <a:cs typeface="Times New Roman" panose="02020603050405020304" pitchFamily="18" charset="0"/>
                <a:sym typeface="+mn-ea"/>
              </a:rPr>
              <a:t>Challenges and Limitations</a:t>
            </a:r>
            <a:endParaRPr lang="en-IN" dirty="0">
              <a:latin typeface="Times New Roman" panose="02020603050405020304" pitchFamily="18" charset="0"/>
              <a:cs typeface="Times New Roman" panose="02020603050405020304" pitchFamily="18" charset="0"/>
            </a:endParaRPr>
          </a:p>
        </p:txBody>
      </p:sp>
      <p:sp>
        <p:nvSpPr>
          <p:cNvPr id="3" name="Content Placeholder 2"/>
          <p:cNvSpPr/>
          <p:nvPr>
            <p:ph idx="1"/>
          </p:nvPr>
        </p:nvSpPr>
        <p:spPr>
          <a:xfrm>
            <a:off x="847725" y="1545590"/>
            <a:ext cx="10515600" cy="4631690"/>
          </a:xfrm>
        </p:spPr>
        <p:txBody>
          <a:bodyPr>
            <a:normAutofit fontScale="25000"/>
          </a:bodyPr>
          <a:p>
            <a:pPr marL="0" indent="0">
              <a:buNone/>
            </a:pPr>
            <a:r>
              <a:rPr lang="en-US" altLang="en-US" sz="8000" b="1">
                <a:latin typeface="Times New Roman" panose="02020603050405020304" pitchFamily="18" charset="0"/>
                <a:cs typeface="Times New Roman" panose="02020603050405020304" pitchFamily="18" charset="0"/>
              </a:rPr>
              <a:t> 1. Data-Related Challenges</a:t>
            </a:r>
            <a:r>
              <a:rPr lang="en-IN" altLang="en-US" sz="8000" b="1">
                <a:latin typeface="Times New Roman" panose="02020603050405020304" pitchFamily="18" charset="0"/>
                <a:cs typeface="Times New Roman" panose="02020603050405020304" pitchFamily="18" charset="0"/>
              </a:rPr>
              <a:t>:</a:t>
            </a:r>
            <a:endParaRPr lang="en-US" altLang="en-US" sz="8000" b="1">
              <a:latin typeface="Times New Roman" panose="02020603050405020304" pitchFamily="18" charset="0"/>
              <a:cs typeface="Times New Roman" panose="02020603050405020304" pitchFamily="18" charset="0"/>
            </a:endParaRPr>
          </a:p>
          <a:p>
            <a:pPr marL="0" indent="0">
              <a:buNone/>
            </a:pPr>
            <a:r>
              <a:rPr lang="en-US" altLang="en-US" sz="8000">
                <a:latin typeface="Times New Roman" panose="02020603050405020304" pitchFamily="18" charset="0"/>
                <a:cs typeface="Times New Roman" panose="02020603050405020304" pitchFamily="18" charset="0"/>
              </a:rPr>
              <a:t>Limited availability of high-quality medical datasets</a:t>
            </a:r>
            <a:endParaRPr lang="en-US" altLang="en-US" sz="8000">
              <a:latin typeface="Times New Roman" panose="02020603050405020304" pitchFamily="18" charset="0"/>
              <a:cs typeface="Times New Roman" panose="02020603050405020304" pitchFamily="18" charset="0"/>
            </a:endParaRPr>
          </a:p>
          <a:p>
            <a:pPr marL="0" indent="0">
              <a:buNone/>
            </a:pPr>
            <a:r>
              <a:rPr lang="en-US" altLang="en-US" sz="8000">
                <a:latin typeface="Times New Roman" panose="02020603050405020304" pitchFamily="18" charset="0"/>
                <a:cs typeface="Times New Roman" panose="02020603050405020304" pitchFamily="18" charset="0"/>
              </a:rPr>
              <a:t>Class imbalance (e.g., more healthy cases than diseased ones)</a:t>
            </a:r>
            <a:endParaRPr lang="en-US" altLang="en-US" sz="8000">
              <a:latin typeface="Times New Roman" panose="02020603050405020304" pitchFamily="18" charset="0"/>
              <a:cs typeface="Times New Roman" panose="02020603050405020304" pitchFamily="18" charset="0"/>
            </a:endParaRPr>
          </a:p>
          <a:p>
            <a:pPr marL="0" indent="0">
              <a:buNone/>
            </a:pPr>
            <a:r>
              <a:rPr lang="en-US" altLang="en-US" sz="8000">
                <a:latin typeface="Times New Roman" panose="02020603050405020304" pitchFamily="18" charset="0"/>
                <a:cs typeface="Times New Roman" panose="02020603050405020304" pitchFamily="18" charset="0"/>
              </a:rPr>
              <a:t>Missing, noisy, or inconsistent data</a:t>
            </a:r>
            <a:endParaRPr lang="en-US" altLang="en-US" sz="8000">
              <a:latin typeface="Times New Roman" panose="02020603050405020304" pitchFamily="18" charset="0"/>
              <a:cs typeface="Times New Roman" panose="02020603050405020304" pitchFamily="18" charset="0"/>
            </a:endParaRPr>
          </a:p>
          <a:p>
            <a:pPr marL="0" indent="0">
              <a:buNone/>
            </a:pPr>
            <a:r>
              <a:rPr lang="en-US" altLang="en-US" sz="8000">
                <a:latin typeface="Times New Roman" panose="02020603050405020304" pitchFamily="18" charset="0"/>
                <a:cs typeface="Times New Roman" panose="02020603050405020304" pitchFamily="18" charset="0"/>
              </a:rPr>
              <a:t>Privacy and security concerns (e.g., HIPAA, GDPR)</a:t>
            </a:r>
            <a:endParaRPr lang="en-US" altLang="en-US" sz="8000">
              <a:latin typeface="Times New Roman" panose="02020603050405020304" pitchFamily="18" charset="0"/>
              <a:cs typeface="Times New Roman" panose="02020603050405020304" pitchFamily="18" charset="0"/>
            </a:endParaRPr>
          </a:p>
          <a:p>
            <a:pPr marL="0" indent="0">
              <a:buNone/>
            </a:pPr>
            <a:r>
              <a:rPr lang="en-US" altLang="en-US" sz="8000">
                <a:latin typeface="Times New Roman" panose="02020603050405020304" pitchFamily="18" charset="0"/>
                <a:cs typeface="Times New Roman" panose="02020603050405020304" pitchFamily="18" charset="0"/>
              </a:rPr>
              <a:t>Difficulty in obtaining labeled medical data (requires expert annotation)</a:t>
            </a:r>
            <a:endParaRPr lang="en-US" altLang="en-US" sz="8000">
              <a:latin typeface="Times New Roman" panose="02020603050405020304" pitchFamily="18" charset="0"/>
              <a:cs typeface="Times New Roman" panose="02020603050405020304" pitchFamily="18" charset="0"/>
            </a:endParaRPr>
          </a:p>
          <a:p>
            <a:pPr marL="0" indent="0">
              <a:buNone/>
            </a:pPr>
            <a:endParaRPr lang="en-US" altLang="en-US" sz="8000">
              <a:latin typeface="Times New Roman" panose="02020603050405020304" pitchFamily="18" charset="0"/>
              <a:cs typeface="Times New Roman" panose="02020603050405020304" pitchFamily="18" charset="0"/>
            </a:endParaRPr>
          </a:p>
          <a:p>
            <a:pPr marL="0" indent="0">
              <a:buNone/>
            </a:pPr>
            <a:r>
              <a:rPr lang="en-US" altLang="en-US" sz="8000" b="1">
                <a:latin typeface="Times New Roman" panose="02020603050405020304" pitchFamily="18" charset="0"/>
                <a:cs typeface="Times New Roman" panose="02020603050405020304" pitchFamily="18" charset="0"/>
              </a:rPr>
              <a:t>2. Model-Related Challenges</a:t>
            </a:r>
            <a:r>
              <a:rPr lang="en-IN" altLang="en-US" sz="8000" b="1">
                <a:latin typeface="Times New Roman" panose="02020603050405020304" pitchFamily="18" charset="0"/>
                <a:cs typeface="Times New Roman" panose="02020603050405020304" pitchFamily="18" charset="0"/>
              </a:rPr>
              <a:t>:</a:t>
            </a:r>
            <a:endParaRPr lang="en-US" altLang="en-US" sz="8000" b="1">
              <a:latin typeface="Times New Roman" panose="02020603050405020304" pitchFamily="18" charset="0"/>
              <a:cs typeface="Times New Roman" panose="02020603050405020304" pitchFamily="18" charset="0"/>
            </a:endParaRPr>
          </a:p>
          <a:p>
            <a:pPr marL="0" indent="0">
              <a:buNone/>
            </a:pPr>
            <a:r>
              <a:rPr lang="en-US" altLang="en-US" sz="8000">
                <a:latin typeface="Times New Roman" panose="02020603050405020304" pitchFamily="18" charset="0"/>
                <a:cs typeface="Times New Roman" panose="02020603050405020304" pitchFamily="18" charset="0"/>
              </a:rPr>
              <a:t>ANN is a "black-box" model – lacks interpretability</a:t>
            </a:r>
            <a:endParaRPr lang="en-US" altLang="en-US" sz="8000">
              <a:latin typeface="Times New Roman" panose="02020603050405020304" pitchFamily="18" charset="0"/>
              <a:cs typeface="Times New Roman" panose="02020603050405020304" pitchFamily="18" charset="0"/>
            </a:endParaRPr>
          </a:p>
          <a:p>
            <a:pPr marL="0" indent="0">
              <a:buNone/>
            </a:pPr>
            <a:r>
              <a:rPr lang="en-US" altLang="en-US" sz="8000">
                <a:latin typeface="Times New Roman" panose="02020603050405020304" pitchFamily="18" charset="0"/>
                <a:cs typeface="Times New Roman" panose="02020603050405020304" pitchFamily="18" charset="0"/>
              </a:rPr>
              <a:t>Overfitting on small or unbalanced datasets</a:t>
            </a:r>
            <a:endParaRPr lang="en-US" altLang="en-US" sz="8000">
              <a:latin typeface="Times New Roman" panose="02020603050405020304" pitchFamily="18" charset="0"/>
              <a:cs typeface="Times New Roman" panose="02020603050405020304" pitchFamily="18" charset="0"/>
            </a:endParaRPr>
          </a:p>
          <a:p>
            <a:pPr marL="0" indent="0">
              <a:buNone/>
            </a:pPr>
            <a:r>
              <a:rPr lang="en-US" altLang="en-US" sz="8000">
                <a:latin typeface="Times New Roman" panose="02020603050405020304" pitchFamily="18" charset="0"/>
                <a:cs typeface="Times New Roman" panose="02020603050405020304" pitchFamily="18" charset="0"/>
              </a:rPr>
              <a:t>Requires large computational power (e.g., GPUs)</a:t>
            </a:r>
            <a:endParaRPr lang="en-US" altLang="en-US" sz="8000">
              <a:latin typeface="Times New Roman" panose="02020603050405020304" pitchFamily="18" charset="0"/>
              <a:cs typeface="Times New Roman" panose="02020603050405020304" pitchFamily="18" charset="0"/>
            </a:endParaRPr>
          </a:p>
          <a:p>
            <a:pPr marL="0" indent="0">
              <a:buNone/>
            </a:pPr>
            <a:endParaRPr lang="en-US" altLang="en-US" sz="5000">
              <a:latin typeface="Times New Roman" panose="02020603050405020304" pitchFamily="18" charset="0"/>
              <a:cs typeface="Times New Roman" panose="02020603050405020304" pitchFamily="18" charset="0"/>
            </a:endParaRPr>
          </a:p>
          <a:p>
            <a:pPr marL="0" indent="0">
              <a:buNone/>
            </a:pPr>
            <a:endParaRPr lang="en-US" altLang="en-US" sz="2000">
              <a:latin typeface="Times New Roman" panose="02020603050405020304" pitchFamily="18" charset="0"/>
              <a:cs typeface="Times New Roman" panose="02020603050405020304" pitchFamily="18" charset="0"/>
            </a:endParaRPr>
          </a:p>
          <a:p>
            <a:pPr marL="0" indent="0">
              <a:buNone/>
            </a:pPr>
            <a:endParaRPr lang="en-US" altLang="en-US" sz="2000">
              <a:latin typeface="Times New Roman" panose="02020603050405020304" pitchFamily="18" charset="0"/>
              <a:cs typeface="Times New Roman" panose="02020603050405020304" pitchFamily="18" charset="0"/>
            </a:endParaRPr>
          </a:p>
          <a:p>
            <a:pPr marL="0" indent="0">
              <a:buNone/>
            </a:pPr>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1002030"/>
          </a:xfrm>
        </p:spPr>
        <p:txBody>
          <a:bodyPr/>
          <a:p>
            <a:r>
              <a:rPr lang="en-IN" altLang="en-US" b="1" dirty="0">
                <a:latin typeface="Times New Roman" panose="02020603050405020304" pitchFamily="18" charset="0"/>
                <a:cs typeface="Times New Roman" panose="02020603050405020304" pitchFamily="18" charset="0"/>
                <a:sym typeface="+mn-ea"/>
              </a:rPr>
              <a:t>              </a:t>
            </a:r>
            <a:r>
              <a:rPr lang="en-US" altLang="en-IN" b="1" dirty="0">
                <a:latin typeface="Times New Roman" panose="02020603050405020304" pitchFamily="18" charset="0"/>
                <a:cs typeface="Times New Roman" panose="02020603050405020304" pitchFamily="18" charset="0"/>
                <a:sym typeface="+mn-ea"/>
              </a:rPr>
              <a:t>Challenges and Limitations</a:t>
            </a:r>
            <a:endParaRPr lang="en-US"/>
          </a:p>
        </p:txBody>
      </p:sp>
      <p:sp>
        <p:nvSpPr>
          <p:cNvPr id="3" name="Content Placeholder 2"/>
          <p:cNvSpPr>
            <a:spLocks noGrp="1"/>
          </p:cNvSpPr>
          <p:nvPr>
            <p:ph idx="1"/>
          </p:nvPr>
        </p:nvSpPr>
        <p:spPr>
          <a:xfrm>
            <a:off x="838200" y="1540510"/>
            <a:ext cx="10515600" cy="4636770"/>
          </a:xfrm>
        </p:spPr>
        <p:txBody>
          <a:bodyPr>
            <a:normAutofit/>
          </a:bodyPr>
          <a:p>
            <a:pPr marL="0" indent="0">
              <a:buNone/>
            </a:pPr>
            <a:r>
              <a:rPr lang="en-US" altLang="en-US" sz="2000" b="1">
                <a:latin typeface="Times New Roman" panose="02020603050405020304" pitchFamily="18" charset="0"/>
                <a:cs typeface="Times New Roman" panose="02020603050405020304" pitchFamily="18" charset="0"/>
              </a:rPr>
              <a:t>3. Practical and Ethical Issues</a:t>
            </a:r>
            <a:r>
              <a:rPr lang="en-IN" altLang="en-US" sz="2000" b="1">
                <a:latin typeface="Times New Roman" panose="02020603050405020304" pitchFamily="18" charset="0"/>
                <a:cs typeface="Times New Roman" panose="02020603050405020304" pitchFamily="18" charset="0"/>
              </a:rPr>
              <a:t>:</a:t>
            </a:r>
            <a:endParaRPr lang="en-IN" altLang="en-US" sz="2000" b="1">
              <a:latin typeface="Times New Roman" panose="02020603050405020304" pitchFamily="18" charset="0"/>
              <a:cs typeface="Times New Roman" panose="02020603050405020304" pitchFamily="18" charset="0"/>
            </a:endParaRPr>
          </a:p>
          <a:p>
            <a:pPr marL="0" indent="0">
              <a:buNone/>
            </a:pP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Limited clinical validation in real-world hospital settings</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Lack of trust from medical professionals due to poor explainability</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Biased predictions if training data is not diverse</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Ethical concerns in automated decision-making (life-critical situations)</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Legal responsibility unclear if model gives wrong diagnosis</a:t>
            </a:r>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1116330"/>
          </a:xfrm>
        </p:spPr>
        <p:txBody>
          <a:bodyPr/>
          <a:p>
            <a:r>
              <a:rPr lang="en-IN" altLang="en-US"/>
              <a:t>                         </a:t>
            </a:r>
            <a:r>
              <a:rPr lang="en-US" altLang="en-IN" b="1" dirty="0">
                <a:latin typeface="Times New Roman" panose="02020603050405020304" pitchFamily="18" charset="0"/>
                <a:cs typeface="Times New Roman" panose="02020603050405020304" pitchFamily="18" charset="0"/>
                <a:sym typeface="+mn-ea"/>
              </a:rPr>
              <a:t>Conclusion</a:t>
            </a:r>
            <a:endParaRPr lang="en-IN" altLang="en-US"/>
          </a:p>
        </p:txBody>
      </p:sp>
      <p:sp>
        <p:nvSpPr>
          <p:cNvPr id="3" name="Content Placeholder 2"/>
          <p:cNvSpPr>
            <a:spLocks noGrp="1"/>
          </p:cNvSpPr>
          <p:nvPr>
            <p:ph idx="1"/>
          </p:nvPr>
        </p:nvSpPr>
        <p:spPr>
          <a:xfrm>
            <a:off x="838200" y="1358900"/>
            <a:ext cx="10515600" cy="5093970"/>
          </a:xfrm>
        </p:spPr>
        <p:txBody>
          <a:bodyPr>
            <a:noAutofit/>
          </a:bodyPr>
          <a:p>
            <a:r>
              <a:rPr lang="en-US" altLang="en-US" sz="2000">
                <a:latin typeface="Times New Roman" panose="02020603050405020304" pitchFamily="18" charset="0"/>
                <a:cs typeface="Times New Roman" panose="02020603050405020304" pitchFamily="18" charset="0"/>
              </a:rPr>
              <a:t>Artificial Neural Networks (ANNs) are powerful tools in medical diagnosis.</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They can analyze complex patterns in medical data with high accuracy.</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ANN models help in early disease detection, faster diagnosis, and decision support.</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Proper data preprocessing and feature selection are crucial for reliable results.</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Despite their potential, ANNs face challenges such as data privacy, limited interpretability, and clinical acceptance.</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Ongoing research is focused on improving model transparency and integrating AI safely into healthcare systems.</a:t>
            </a:r>
            <a:endParaRPr lang="en-US" altLang="en-US" sz="2000">
              <a:latin typeface="Times New Roman" panose="02020603050405020304" pitchFamily="18" charset="0"/>
              <a:cs typeface="Times New Roman" panose="02020603050405020304" pitchFamily="18" charset="0"/>
            </a:endParaRPr>
          </a:p>
          <a:p>
            <a:pPr marL="0" indent="0">
              <a:buNone/>
            </a:pPr>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7208</Words>
  <Application>WPS Presentation</Application>
  <PresentationFormat>Widescreen</PresentationFormat>
  <Paragraphs>190</Paragraphs>
  <Slides>14</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14</vt:i4>
      </vt:variant>
    </vt:vector>
  </HeadingPairs>
  <TitlesOfParts>
    <vt:vector size="30" baseType="lpstr">
      <vt:lpstr>Arial</vt:lpstr>
      <vt:lpstr>SimSun</vt:lpstr>
      <vt:lpstr>Wingdings</vt:lpstr>
      <vt:lpstr>Arial Black</vt:lpstr>
      <vt:lpstr>Times New Roman</vt:lpstr>
      <vt:lpstr>Microsoft YaHei</vt:lpstr>
      <vt:lpstr>Arial Unicode MS</vt:lpstr>
      <vt:lpstr>Calibri Light</vt:lpstr>
      <vt:lpstr>Calibri</vt:lpstr>
      <vt:lpstr>Lora</vt:lpstr>
      <vt:lpstr>Segoe Print</vt:lpstr>
      <vt:lpstr>Lora</vt:lpstr>
      <vt:lpstr>Lora</vt:lpstr>
      <vt:lpstr>MingLiU-ExtB</vt:lpstr>
      <vt:lpstr>等线</vt:lpstr>
      <vt:lpstr>Office Theme</vt:lpstr>
      <vt:lpstr> Introduction to AI(AI101B)  Predicting House Prices using supervise learning Session 2024-25 Even Semester</vt:lpstr>
      <vt:lpstr>Content</vt:lpstr>
      <vt:lpstr>Introduction</vt:lpstr>
      <vt:lpstr> </vt:lpstr>
      <vt:lpstr>Methodology</vt:lpstr>
      <vt:lpstr>Methodology</vt:lpstr>
      <vt:lpstr>                        Methodology</vt:lpstr>
      <vt:lpstr>Code Typed</vt:lpstr>
      <vt:lpstr>Code Typed</vt:lpstr>
      <vt:lpstr>Code Typed</vt:lpstr>
      <vt:lpstr>Code Typed</vt:lpstr>
      <vt:lpstr>Screenshots Output</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AI(AI101B) Healthcare Data Exploration Session 2024-25 Even Semester</dc:title>
  <dc:creator>Devansh kumar</dc:creator>
  <cp:lastModifiedBy>Sagar Gupta</cp:lastModifiedBy>
  <cp:revision>5</cp:revision>
  <dcterms:created xsi:type="dcterms:W3CDTF">2025-04-03T15:09:00Z</dcterms:created>
  <dcterms:modified xsi:type="dcterms:W3CDTF">2025-05-26T22:13:37Z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86C8305B00E7474B84FD1ADAB729648B_13</vt:lpwstr>
  </property>
  <property fmtid="{D5CDD505-2E9C-101B-9397-08002B2CF9AE}" pid="3" name="KSOProductBuildVer">
    <vt:lpwstr>1033-12.2.0.21179</vt:lpwstr>
  </property>
</Properties>
</file>